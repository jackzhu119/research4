
<file path=[Content_Types].xml><?xml version="1.0" encoding="utf-8"?>
<Types xmlns="http://schemas.openxmlformats.org/package/2006/content-types">
  <Override PartName="/ppt/slideMasters/slideMaster3.xml" ContentType="application/vnd.openxmlformats-officedocument.presentationml.slideMaster+xml"/>
  <Override PartName="/ppt/slides/slide47.xml" ContentType="application/vnd.openxmlformats-officedocument.presentationml.slide+xml"/>
  <Override PartName="/ppt/theme/theme5.xml" ContentType="application/vnd.openxmlformats-officedocument.theme+xml"/>
  <Override PartName="/ppt/slideLayouts/slideLayout57.xml" ContentType="application/vnd.openxmlformats-officedocument.presentationml.slideLayout+xml"/>
  <Override PartName="/ppt/slideLayouts/slideLayout157.xml" ContentType="application/vnd.openxmlformats-officedocument.presentationml.slideLayout+xml"/>
  <Override PartName="/ppt/slides/slide36.xml" ContentType="application/vnd.openxmlformats-officedocument.presentationml.slide+xml"/>
  <Override PartName="/ppt/slideLayouts/slideLayout46.xml" ContentType="application/vnd.openxmlformats-officedocument.presentationml.slideLayout+xml"/>
  <Override PartName="/ppt/slideLayouts/slideLayout93.xml" ContentType="application/vnd.openxmlformats-officedocument.presentationml.slideLayout+xml"/>
  <Override PartName="/ppt/slideLayouts/slideLayout135.xml" ContentType="application/vnd.openxmlformats-officedocument.presentationml.slideLayout+xml"/>
  <Override PartName="/ppt/slideLayouts/slideLayout146.xml" ContentType="application/vnd.openxmlformats-officedocument.presentationml.slideLayout+xml"/>
  <Override PartName="/ppt/slides/slide25.xml" ContentType="application/vnd.openxmlformats-officedocument.presentationml.slide+xml"/>
  <Override PartName="/ppt/slideLayouts/slideLayout2.xml" ContentType="application/vnd.openxmlformats-officedocument.presentationml.slideLayout+xml"/>
  <Override PartName="/ppt/slideLayouts/slideLayout35.xml" ContentType="application/vnd.openxmlformats-officedocument.presentationml.slideLayout+xml"/>
  <Override PartName="/ppt/slideLayouts/slideLayout82.xml" ContentType="application/vnd.openxmlformats-officedocument.presentationml.slideLayout+xml"/>
  <Override PartName="/ppt/slideLayouts/slideLayout124.xml" ContentType="application/vnd.openxmlformats-officedocument.presentationml.slideLayout+xml"/>
  <Override PartName="/ppt/slideLayouts/slideLayout171.xml" ContentType="application/vnd.openxmlformats-officedocument.presentationml.slideLayout+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4.xml" ContentType="application/vnd.openxmlformats-officedocument.presentationml.slideLayout+xml"/>
  <Override PartName="/ppt/slideLayouts/slideLayout60.xml" ContentType="application/vnd.openxmlformats-officedocument.presentationml.slideLayout+xml"/>
  <Override PartName="/ppt/slideLayouts/slideLayout71.xml" ContentType="application/vnd.openxmlformats-officedocument.presentationml.slideLayout+xml"/>
  <Override PartName="/ppt/slideLayouts/slideLayout113.xml" ContentType="application/vnd.openxmlformats-officedocument.presentationml.slideLayout+xml"/>
  <Override PartName="/ppt/slideLayouts/slideLayout160.xml" ContentType="application/vnd.openxmlformats-officedocument.presentationml.slideLayout+xml"/>
  <Override PartName="/ppt/theme/theme18.xml" ContentType="application/vnd.openxmlformats-officedocument.theme+xml"/>
  <Override PartName="/ppt/tableStyles.xml" ContentType="application/vnd.openxmlformats-officedocument.presentationml.tableStyles+xml"/>
  <Override PartName="/ppt/slideLayouts/slideLayout102.xml" ContentType="application/vnd.openxmlformats-officedocument.presentationml.slideLayout+xml"/>
  <Override PartName="/ppt/slideMasters/slideMaster8.xml" ContentType="application/vnd.openxmlformats-officedocument.presentationml.slideMaster+xml"/>
  <Override PartName="/ppt/slideMasters/slideMaster11.xml" ContentType="application/vnd.openxmlformats-officedocument.presentationml.slideMaster+xml"/>
  <Override PartName="/ppt/diagrams/layout1.xml" ContentType="application/vnd.openxmlformats-officedocument.drawingml.diagramLayout+xml"/>
  <Override PartName="/ppt/diagrams/data2.xml" ContentType="application/vnd.openxmlformats-officedocument.drawingml.diagramData+xml"/>
  <Override PartName="/ppt/slideLayouts/slideLayout87.xml" ContentType="application/vnd.openxmlformats-officedocument.presentationml.slideLayout+xml"/>
  <Override PartName="/ppt/slideLayouts/slideLayout98.xml" ContentType="application/vnd.openxmlformats-officedocument.presentationml.slideLayout+xml"/>
  <Override PartName="/ppt/theme/theme10.xml" ContentType="application/vnd.openxmlformats-officedocument.theme+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76.xml" ContentType="application/vnd.openxmlformats-officedocument.presentationml.slideLayout+xml"/>
  <Override PartName="/ppt/slideLayouts/slideLayout118.xml" ContentType="application/vnd.openxmlformats-officedocument.presentationml.slideLayout+xml"/>
  <Override PartName="/ppt/slideLayouts/slideLayout129.xml" ContentType="application/vnd.openxmlformats-officedocument.presentationml.slideLayout+xml"/>
  <Override PartName="/ppt/slideLayouts/slideLayout165.xml" ContentType="application/vnd.openxmlformats-officedocument.presentationml.slideLayout+xml"/>
  <Override PartName="/ppt/slideLayouts/slideLayout176.xml" ContentType="application/vnd.openxmlformats-officedocument.presentationml.slideLayout+xml"/>
  <Default Extension="png" ContentType="image/png"/>
  <Override PartName="/ppt/slideLayouts/slideLayout18.xml" ContentType="application/vnd.openxmlformats-officedocument.presentationml.slideLayout+xml"/>
  <Override PartName="/ppt/theme/theme2.xml" ContentType="application/vnd.openxmlformats-officedocument.theme+xml"/>
  <Override PartName="/ppt/slideLayouts/slideLayout65.xml" ContentType="application/vnd.openxmlformats-officedocument.presentationml.slideLayout+xml"/>
  <Override PartName="/ppt/slideLayouts/slideLayout107.xml" ContentType="application/vnd.openxmlformats-officedocument.presentationml.slideLayout+xml"/>
  <Override PartName="/ppt/slideLayouts/slideLayout154.xml" ContentType="application/vnd.openxmlformats-officedocument.presentationml.slideLayout+xml"/>
  <Override PartName="/ppt/slides/slide33.xml" ContentType="application/vnd.openxmlformats-officedocument.presentationml.slide+xml"/>
  <Override PartName="/ppt/slides/slide44.xml" ContentType="application/vnd.openxmlformats-officedocument.presentationml.slide+xml"/>
  <Override PartName="/ppt/slideLayouts/slideLayout43.xml" ContentType="application/vnd.openxmlformats-officedocument.presentationml.slideLayout+xml"/>
  <Override PartName="/ppt/slideLayouts/slideLayout54.xml" ContentType="application/vnd.openxmlformats-officedocument.presentationml.slideLayout+xml"/>
  <Override PartName="/ppt/slideLayouts/slideLayout90.xml" ContentType="application/vnd.openxmlformats-officedocument.presentationml.slideLayout+xml"/>
  <Override PartName="/ppt/slideLayouts/slideLayout143.xml" ContentType="application/vnd.openxmlformats-officedocument.presentationml.slideLayout+xml"/>
  <Default Extension="emf" ContentType="image/x-emf"/>
  <Override PartName="/ppt/presentation.xml" ContentType="application/vnd.openxmlformats-officedocument.presentationml.presentation.main+xml"/>
  <Override PartName="/ppt/slideMasters/slideMaster16.xml" ContentType="application/vnd.openxmlformats-officedocument.presentationml.slideMaster+xml"/>
  <Override PartName="/ppt/slides/slide22.xml" ContentType="application/vnd.openxmlformats-officedocument.presentationml.slide+xml"/>
  <Override PartName="/ppt/slideLayouts/slideLayout32.xml" ContentType="application/vnd.openxmlformats-officedocument.presentationml.slideLayout+xml"/>
  <Override PartName="/ppt/slideLayouts/slideLayout132.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Layouts/slideLayout21.xml" ContentType="application/vnd.openxmlformats-officedocument.presentationml.slideLayout+xml"/>
  <Override PartName="/ppt/slideLayouts/slideLayout110.xml" ContentType="application/vnd.openxmlformats-officedocument.presentationml.slideLayout+xml"/>
  <Override PartName="/ppt/slideLayouts/slideLayout121.xml" ContentType="application/vnd.openxmlformats-officedocument.presentationml.slideLayout+xml"/>
  <Override PartName="/ppt/slideLayouts/slideLayout10.xml" ContentType="application/vnd.openxmlformats-officedocument.presentationml.slideLayout+xml"/>
  <Override PartName="/ppt/theme/theme15.xml" ContentType="application/vnd.openxmlformats-officedocument.theme+xml"/>
  <Override PartName="/ppt/slideMasters/slideMaster5.xml" ContentType="application/vnd.openxmlformats-officedocument.presentationml.slideMaster+xml"/>
  <Override PartName="/ppt/slideLayouts/slideLayout59.xml" ContentType="application/vnd.openxmlformats-officedocument.presentationml.slideLayout+xml"/>
  <Override PartName="/ppt/theme/theme7.xml" ContentType="application/vnd.openxmlformats-officedocument.theme+xml"/>
  <Override PartName="/ppt/slideLayouts/slideLayout159.xml" ContentType="application/vnd.openxmlformats-officedocument.presentationml.slideLayout+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48.xml" ContentType="application/vnd.openxmlformats-officedocument.presentationml.slideLayout+xml"/>
  <Override PartName="/ppt/slideLayouts/slideLayout66.xml" ContentType="application/vnd.openxmlformats-officedocument.presentationml.slideLayout+xml"/>
  <Override PartName="/ppt/slideLayouts/slideLayout77.xml" ContentType="application/vnd.openxmlformats-officedocument.presentationml.slideLayout+xml"/>
  <Override PartName="/ppt/slideLayouts/slideLayout95.xml" ContentType="application/vnd.openxmlformats-officedocument.presentationml.slideLayout+xml"/>
  <Override PartName="/ppt/slideLayouts/slideLayout119.xml" ContentType="application/vnd.openxmlformats-officedocument.presentationml.slideLayout+xml"/>
  <Override PartName="/ppt/slideLayouts/slideLayout137.xml" ContentType="application/vnd.openxmlformats-officedocument.presentationml.slideLayout+xml"/>
  <Override PartName="/ppt/slideLayouts/slideLayout148.xml" ContentType="application/vnd.openxmlformats-officedocument.presentationml.slideLayout+xml"/>
  <Override PartName="/ppt/slideLayouts/slideLayout166.xml" ContentType="application/vnd.openxmlformats-officedocument.presentationml.slideLayout+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55.xml" ContentType="application/vnd.openxmlformats-officedocument.presentationml.slideLayout+xml"/>
  <Override PartName="/ppt/slideLayouts/slideLayout84.xml" ContentType="application/vnd.openxmlformats-officedocument.presentationml.slideLayout+xml"/>
  <Override PartName="/ppt/slideLayouts/slideLayout108.xml" ContentType="application/vnd.openxmlformats-officedocument.presentationml.slideLayout+xml"/>
  <Override PartName="/ppt/slideLayouts/slideLayout126.xml" ContentType="application/vnd.openxmlformats-officedocument.presentationml.slideLayout+xml"/>
  <Override PartName="/ppt/slideLayouts/slideLayout155.xml" ContentType="application/vnd.openxmlformats-officedocument.presentationml.slideLayout+xml"/>
  <Override PartName="/ppt/slideLayouts/slideLayout173.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44.xml" ContentType="application/vnd.openxmlformats-officedocument.presentationml.slideLayout+xml"/>
  <Override PartName="/ppt/slideLayouts/slideLayout62.xml" ContentType="application/vnd.openxmlformats-officedocument.presentationml.slideLayout+xml"/>
  <Override PartName="/ppt/slideLayouts/slideLayout73.xml" ContentType="application/vnd.openxmlformats-officedocument.presentationml.slideLayout+xml"/>
  <Override PartName="/ppt/slideLayouts/slideLayout91.xml" ContentType="application/vnd.openxmlformats-officedocument.presentationml.slideLayout+xml"/>
  <Override PartName="/ppt/slideLayouts/slideLayout115.xml" ContentType="application/vnd.openxmlformats-officedocument.presentationml.slideLayout+xml"/>
  <Override PartName="/ppt/slideLayouts/slideLayout133.xml" ContentType="application/vnd.openxmlformats-officedocument.presentationml.slideLayout+xml"/>
  <Override PartName="/ppt/slideLayouts/slideLayout144.xml" ContentType="application/vnd.openxmlformats-officedocument.presentationml.slideLayout+xml"/>
  <Override PartName="/ppt/slideLayouts/slideLayout162.xml" ContentType="application/vnd.openxmlformats-officedocument.presentationml.slideLayout+xml"/>
  <Default Extension="wmf" ContentType="image/x-wmf"/>
  <Default Extension="rels" ContentType="application/vnd.openxmlformats-package.relationships+xml"/>
  <Override PartName="/ppt/slideMasters/slideMaster17.xml" ContentType="application/vnd.openxmlformats-officedocument.presentationml.slideMaster+xml"/>
  <Override PartName="/ppt/slides/slide23.xml" ContentType="application/vnd.openxmlformats-officedocument.presentationml.slide+xml"/>
  <Override PartName="/ppt/slides/slide41.xml" ContentType="application/vnd.openxmlformats-officedocument.presentationml.slide+xml"/>
  <Override PartName="/ppt/slideLayouts/slideLayout22.xml" ContentType="application/vnd.openxmlformats-officedocument.presentationml.slideLayout+xml"/>
  <Override PartName="/ppt/slideLayouts/slideLayout33.xml" ContentType="application/vnd.openxmlformats-officedocument.presentationml.slideLayout+xml"/>
  <Override PartName="/ppt/slideLayouts/slideLayout51.xml" ContentType="application/vnd.openxmlformats-officedocument.presentationml.slideLayout+xml"/>
  <Override PartName="/ppt/slideLayouts/slideLayout80.xml" ContentType="application/vnd.openxmlformats-officedocument.presentationml.slideLayout+xml"/>
  <Override PartName="/ppt/slideLayouts/slideLayout104.xml" ContentType="application/vnd.openxmlformats-officedocument.presentationml.slideLayout+xml"/>
  <Override PartName="/ppt/slideLayouts/slideLayout122.xml" ContentType="application/vnd.openxmlformats-officedocument.presentationml.slideLayout+xml"/>
  <Override PartName="/ppt/slideLayouts/slideLayout140.xml" ContentType="application/vnd.openxmlformats-officedocument.presentationml.slideLayout+xml"/>
  <Override PartName="/ppt/slideLayouts/slideLayout151.xml" ContentType="application/vnd.openxmlformats-officedocument.presentationml.slideLayout+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Layouts/slideLayout40.xml" ContentType="application/vnd.openxmlformats-officedocument.presentationml.slideLayout+xml"/>
  <Override PartName="/ppt/slideLayouts/slideLayout111.xml" ContentType="application/vnd.openxmlformats-officedocument.presentationml.slideLayout+xml"/>
  <Override PartName="/ppt/theme/theme16.xml" ContentType="application/vnd.openxmlformats-officedocument.theme+xml"/>
  <Override PartName="/ppt/slideMasters/slideMaster13.xml" ContentType="application/vnd.openxmlformats-officedocument.presentationml.slideMaster+xml"/>
  <Override PartName="/ppt/slideLayouts/slideLayout100.xml" ContentType="application/vnd.openxmlformats-officedocument.presentationml.slideLayout+xml"/>
  <Override PartName="/ppt/slideMasters/slideMaster6.xml" ContentType="application/vnd.openxmlformats-officedocument.presentationml.slideMaster+xml"/>
  <Override PartName="/ppt/theme/theme8.xml" ContentType="application/vnd.openxmlformats-officedocument.theme+xml"/>
  <Override PartName="/ppt/slideLayouts/slideLayout89.xml" ContentType="application/vnd.openxmlformats-officedocument.presentationml.slideLayout+xml"/>
  <Override PartName="/ppt/theme/theme12.xml" ContentType="application/vnd.openxmlformats-officedocument.theme+xml"/>
  <Override PartName="/ppt/slides/slide7.xml" ContentType="application/vnd.openxmlformats-officedocument.presentationml.slide+xml"/>
  <Override PartName="/ppt/slideLayouts/slideLayout9.xml" ContentType="application/vnd.openxmlformats-officedocument.presentationml.slideLayout+xml"/>
  <Override PartName="/ppt/slideLayouts/slideLayout78.xml" ContentType="application/vnd.openxmlformats-officedocument.presentationml.slideLayout+xml"/>
  <Override PartName="/ppt/slideLayouts/slideLayout149.xml" ContentType="application/vnd.openxmlformats-officedocument.presentationml.slideLayout+xml"/>
  <Override PartName="/ppt/slideLayouts/slideLayout178.xml" ContentType="application/vnd.openxmlformats-officedocument.presentationml.slideLayout+xml"/>
  <Override PartName="/ppt/slideMasters/slideMaster2.xml" ContentType="application/vnd.openxmlformats-officedocument.presentationml.slideMaster+xml"/>
  <Override PartName="/ppt/slides/slide28.xml" ContentType="application/vnd.openxmlformats-officedocument.presentationml.slide+xml"/>
  <Override PartName="/ppt/slides/slide39.xml" ContentType="application/vnd.openxmlformats-officedocument.presentationml.slide+xml"/>
  <Override PartName="/ppt/slideLayouts/slideLayout3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67.xml" ContentType="application/vnd.openxmlformats-officedocument.presentationml.slideLayout+xml"/>
  <Override PartName="/ppt/slideLayouts/slideLayout85.xml" ContentType="application/vnd.openxmlformats-officedocument.presentationml.slideLayout+xml"/>
  <Override PartName="/ppt/slideLayouts/slideLayout96.xml" ContentType="application/vnd.openxmlformats-officedocument.presentationml.slideLayout+xml"/>
  <Override PartName="/ppt/slideLayouts/slideLayout109.xml" ContentType="application/vnd.openxmlformats-officedocument.presentationml.slideLayout+xml"/>
  <Override PartName="/ppt/slideLayouts/slideLayout138.xml" ContentType="application/vnd.openxmlformats-officedocument.presentationml.slideLayout+xml"/>
  <Override PartName="/ppt/slideLayouts/slideLayout156.xml" ContentType="application/vnd.openxmlformats-officedocument.presentationml.slideLayout+xml"/>
  <Override PartName="/ppt/slideLayouts/slideLayout167.xml" ContentType="application/vnd.openxmlformats-officedocument.presentationml.slideLayout+xml"/>
  <Override PartName="/ppt/diagrams/colors2.xml" ContentType="application/vnd.openxmlformats-officedocument.drawingml.diagramColors+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Layouts/slideLayout5.xml" ContentType="application/vnd.openxmlformats-officedocument.presentationml.slideLayout+xml"/>
  <Override PartName="/ppt/slideLayouts/slideLayout27.xml" ContentType="application/vnd.openxmlformats-officedocument.presentationml.slideLayout+xml"/>
  <Override PartName="/ppt/slideLayouts/slideLayout45.xml" ContentType="application/vnd.openxmlformats-officedocument.presentationml.slideLayout+xml"/>
  <Override PartName="/ppt/slideLayouts/slideLayout56.xml" ContentType="application/vnd.openxmlformats-officedocument.presentationml.slideLayout+xml"/>
  <Override PartName="/ppt/slideLayouts/slideLayout74.xml" ContentType="application/vnd.openxmlformats-officedocument.presentationml.slideLayout+xml"/>
  <Override PartName="/ppt/slideLayouts/slideLayout116.xml" ContentType="application/vnd.openxmlformats-officedocument.presentationml.slideLayout+xml"/>
  <Override PartName="/ppt/slideLayouts/slideLayout127.xml" ContentType="application/vnd.openxmlformats-officedocument.presentationml.slideLayout+xml"/>
  <Override PartName="/ppt/slideLayouts/slideLayout145.xml" ContentType="application/vnd.openxmlformats-officedocument.presentationml.slideLayout+xml"/>
  <Override PartName="/ppt/slideLayouts/slideLayout163.xml" ContentType="application/vnd.openxmlformats-officedocument.presentationml.slideLayout+xml"/>
  <Override PartName="/ppt/slideLayouts/slideLayout174.xml" ContentType="application/vnd.openxmlformats-officedocument.presentationml.slideLayout+xml"/>
  <Override PartName="/ppt/diagrams/drawing1.xml" ContentType="application/vnd.ms-office.drawingml.diagramDrawing+xml"/>
  <Override PartName="/ppt/slides/slide24.xml" ContentType="application/vnd.openxmlformats-officedocument.presentationml.slide+xml"/>
  <Override PartName="/ppt/slides/slide35.xml" ContentType="application/vnd.openxmlformats-officedocument.presentationml.slide+xml"/>
  <Override PartName="/ppt/slideLayouts/slideLayout16.xml" ContentType="application/vnd.openxmlformats-officedocument.presentationml.slideLayout+xml"/>
  <Override PartName="/ppt/slideLayouts/slideLayout34.xml" ContentType="application/vnd.openxmlformats-officedocument.presentationml.slideLayout+xml"/>
  <Override PartName="/ppt/slideLayouts/slideLayout63.xml" ContentType="application/vnd.openxmlformats-officedocument.presentationml.slideLayout+xml"/>
  <Override PartName="/ppt/slideLayouts/slideLayout81.xml" ContentType="application/vnd.openxmlformats-officedocument.presentationml.slideLayout+xml"/>
  <Override PartName="/ppt/slideLayouts/slideLayout92.xml" ContentType="application/vnd.openxmlformats-officedocument.presentationml.slideLayout+xml"/>
  <Override PartName="/ppt/slideLayouts/slideLayout105.xml" ContentType="application/vnd.openxmlformats-officedocument.presentationml.slideLayout+xml"/>
  <Override PartName="/ppt/slideLayouts/slideLayout134.xml" ContentType="application/vnd.openxmlformats-officedocument.presentationml.slideLayout+xml"/>
  <Override PartName="/ppt/slideLayouts/slideLayout152.xml" ContentType="application/vnd.openxmlformats-officedocument.presentationml.slideLayout+xml"/>
  <Default Extension="jpeg" ContentType="image/jpeg"/>
  <Override PartName="/ppt/diagrams/quickStyle1.xml" ContentType="application/vnd.openxmlformats-officedocument.drawingml.diagramStyle+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41.xml" ContentType="application/vnd.openxmlformats-officedocument.presentationml.slideLayout+xml"/>
  <Override PartName="/ppt/slideLayouts/slideLayout52.xml" ContentType="application/vnd.openxmlformats-officedocument.presentationml.slideLayout+xml"/>
  <Override PartName="/ppt/slideLayouts/slideLayout70.xml" ContentType="application/vnd.openxmlformats-officedocument.presentationml.slideLayout+xml"/>
  <Override PartName="/ppt/slideLayouts/slideLayout112.xml" ContentType="application/vnd.openxmlformats-officedocument.presentationml.slideLayout+xml"/>
  <Override PartName="/ppt/slideLayouts/slideLayout123.xml" ContentType="application/vnd.openxmlformats-officedocument.presentationml.slideLayout+xml"/>
  <Override PartName="/ppt/slideLayouts/slideLayout141.xml" ContentType="application/vnd.openxmlformats-officedocument.presentationml.slideLayout+xml"/>
  <Override PartName="/ppt/slideLayouts/slideLayout170.xml" ContentType="application/vnd.openxmlformats-officedocument.presentationml.slideLayout+xml"/>
  <Override PartName="/ppt/slideMasters/slideMaster14.xml" ContentType="application/vnd.openxmlformats-officedocument.presentationml.slideMaster+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30.xml" ContentType="application/vnd.openxmlformats-officedocument.presentationml.slideLayout+xml"/>
  <Override PartName="/ppt/slideLayouts/slideLayout101.xml" ContentType="application/vnd.openxmlformats-officedocument.presentationml.slideLayout+xml"/>
  <Override PartName="/ppt/slideLayouts/slideLayout130.xml" ContentType="application/vnd.openxmlformats-officedocument.presentationml.slideLayout+xml"/>
  <Override PartName="/ppt/theme/theme17.xml" ContentType="application/vnd.openxmlformats-officedocument.theme+xml"/>
  <Override PartName="/ppt/slideMasters/slideMaster7.xml" ContentType="application/vnd.openxmlformats-officedocument.presentationml.slideMaster+xml"/>
  <Override PartName="/ppt/slideMasters/slideMaster10.xml" ContentType="application/vnd.openxmlformats-officedocument.presentationml.slideMaster+xml"/>
  <Override PartName="/ppt/theme/theme9.xml" ContentType="application/vnd.openxmlformats-officedocument.theme+xml"/>
  <Override PartName="/ppt/theme/theme13.xml" ContentType="application/vnd.openxmlformats-officedocument.theme+xml"/>
  <Override PartName="/ppt/slideLayouts/slideLayout179.xml" ContentType="application/vnd.openxmlformats-officedocument.presentationml.slideLayout+xml"/>
  <Override PartName="/ppt/slides/slide8.xml" ContentType="application/vnd.openxmlformats-officedocument.presentationml.slide+xml"/>
  <Override PartName="/ppt/slideLayouts/slideLayout68.xml" ContentType="application/vnd.openxmlformats-officedocument.presentationml.slideLayout+xml"/>
  <Override PartName="/ppt/slideLayouts/slideLayout79.xml" ContentType="application/vnd.openxmlformats-officedocument.presentationml.slideLayout+xml"/>
  <Override PartName="/ppt/slideLayouts/slideLayout97.xml" ContentType="application/vnd.openxmlformats-officedocument.presentationml.slideLayout+xml"/>
  <Override PartName="/ppt/slideLayouts/slideLayout139.xml" ContentType="application/vnd.openxmlformats-officedocument.presentationml.slideLayout+xml"/>
  <Override PartName="/ppt/slideLayouts/slideLayout168.xml" ContentType="application/vnd.openxmlformats-officedocument.presentationml.slideLayout+xml"/>
  <Override PartName="/ppt/diagrams/data1.xml" ContentType="application/vnd.openxmlformats-officedocument.drawingml.diagramData+xml"/>
  <Override PartName="/ppt/slides/slide29.xml" ContentType="application/vnd.openxmlformats-officedocument.presentationml.slide+xml"/>
  <Override PartName="/ppt/slideLayouts/slideLayout39.xml" ContentType="application/vnd.openxmlformats-officedocument.presentationml.slideLayout+xml"/>
  <Override PartName="/ppt/slideLayouts/slideLayout86.xml" ContentType="application/vnd.openxmlformats-officedocument.presentationml.slideLayout+xml"/>
  <Override PartName="/ppt/slideLayouts/slideLayout128.xml" ContentType="application/vnd.openxmlformats-officedocument.presentationml.slideLayout+xml"/>
  <Override PartName="/ppt/slideLayouts/slideLayout175.xml" ContentType="application/vnd.openxmlformats-officedocument.presentationml.slideLayout+xml"/>
  <Override PartName="/ppt/diagrams/drawing2.xml" ContentType="application/vnd.ms-office.drawingml.diagramDrawing+xml"/>
  <Override PartName="/ppt/slides/slide4.xml" ContentType="application/vnd.openxmlformats-officedocument.presentationml.slide+xml"/>
  <Override PartName="/ppt/slides/slide18.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64.xml" ContentType="application/vnd.openxmlformats-officedocument.presentationml.slideLayout+xml"/>
  <Override PartName="/ppt/slideLayouts/slideLayout75.xml" ContentType="application/vnd.openxmlformats-officedocument.presentationml.slideLayout+xml"/>
  <Override PartName="/ppt/slideLayouts/slideLayout117.xml" ContentType="application/vnd.openxmlformats-officedocument.presentationml.slideLayout+xml"/>
  <Override PartName="/ppt/slideLayouts/slideLayout164.xml" ContentType="application/vnd.openxmlformats-officedocument.presentationml.slideLayout+xml"/>
  <Override PartName="/ppt/diagrams/quickStyle2.xml" ContentType="application/vnd.openxmlformats-officedocument.drawingml.diagramStyle+xml"/>
  <Override PartName="/ppt/slides/slide43.xml" ContentType="application/vnd.openxmlformats-officedocument.presentationml.slide+xml"/>
  <Override PartName="/ppt/theme/theme1.xml" ContentType="application/vnd.openxmlformats-officedocument.theme+xml"/>
  <Override PartName="/ppt/slideLayouts/slideLayout53.xml" ContentType="application/vnd.openxmlformats-officedocument.presentationml.slideLayout+xml"/>
  <Override PartName="/ppt/slideLayouts/slideLayout106.xml" ContentType="application/vnd.openxmlformats-officedocument.presentationml.slideLayout+xml"/>
  <Override PartName="/ppt/slideLayouts/slideLayout142.xml" ContentType="application/vnd.openxmlformats-officedocument.presentationml.slideLayout+xml"/>
  <Override PartName="/ppt/slideLayouts/slideLayout153.xml" ContentType="application/vnd.openxmlformats-officedocument.presentationml.slideLayout+xml"/>
  <Override PartName="/ppt/slides/slide32.xml" ContentType="application/vnd.openxmlformats-officedocument.presentationml.slide+xml"/>
  <Override PartName="/ppt/slideLayouts/slideLayout42.xml" ContentType="application/vnd.openxmlformats-officedocument.presentationml.slideLayout+xml"/>
  <Override PartName="/ppt/slideLayouts/slideLayout131.xml" ContentType="application/vnd.openxmlformats-officedocument.presentationml.slideLayout+xml"/>
  <Override PartName="/ppt/slideMasters/slideMaster15.xml" ContentType="application/vnd.openxmlformats-officedocument.presentationml.slideMaster+xml"/>
  <Override PartName="/ppt/slides/slide10.xml" ContentType="application/vnd.openxmlformats-officedocument.presentationml.slide+xml"/>
  <Override PartName="/ppt/slides/slide21.xml" ContentType="application/vnd.openxmlformats-officedocument.presentationml.slide+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slideLayouts/slideLayout120.xml" ContentType="application/vnd.openxmlformats-officedocument.presentationml.slideLayout+xml"/>
  <Override PartName="/docProps/custom.xml" ContentType="application/vnd.openxmlformats-officedocument.custom-properties+xml"/>
  <Override PartName="/ppt/theme/theme14.xml" ContentType="application/vnd.openxmlformats-officedocument.theme+xml"/>
  <Override PartName="/ppt/slideMasters/slideMaster4.xml" ContentType="application/vnd.openxmlformats-officedocument.presentationml.slideMaster+xml"/>
  <Override PartName="/ppt/slides/slide9.xml" ContentType="application/vnd.openxmlformats-officedocument.presentationml.slide+xml"/>
  <Override PartName="/ppt/viewProps.xml" ContentType="application/vnd.openxmlformats-officedocument.presentationml.viewProps+xml"/>
  <Override PartName="/ppt/theme/theme6.xml" ContentType="application/vnd.openxmlformats-officedocument.theme+xml"/>
  <Override PartName="/ppt/slideLayouts/slideLayout69.xml" ContentType="application/vnd.openxmlformats-officedocument.presentationml.slideLayout+xml"/>
  <Override PartName="/ppt/slideLayouts/slideLayout158.xml" ContentType="application/vnd.openxmlformats-officedocument.presentationml.slideLayout+xml"/>
  <Override PartName="/ppt/slideLayouts/slideLayout169.xml" ContentType="application/vnd.openxmlformats-officedocument.presentationml.slideLayout+xml"/>
  <Override PartName="/ppt/slides/slide48.xml" ContentType="application/vnd.openxmlformats-officedocument.presentationml.slide+xml"/>
  <Override PartName="/ppt/slideLayouts/slideLayout58.xml" ContentType="application/vnd.openxmlformats-officedocument.presentationml.slideLayout+xml"/>
  <Override PartName="/ppt/slideLayouts/slideLayout147.xml" ContentType="application/vnd.openxmlformats-officedocument.presentationml.slideLayout+xml"/>
  <Default Extension="bin" ContentType="application/vnd.openxmlformats-officedocument.oleObject"/>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36.xml" ContentType="application/vnd.openxmlformats-officedocument.presentationml.slideLayout+xml"/>
  <Override PartName="/ppt/slideLayouts/slideLayout47.xml" ContentType="application/vnd.openxmlformats-officedocument.presentationml.slideLayout+xml"/>
  <Override PartName="/ppt/slideLayouts/slideLayout83.xml" ContentType="application/vnd.openxmlformats-officedocument.presentationml.slideLayout+xml"/>
  <Override PartName="/ppt/slideLayouts/slideLayout94.xml" ContentType="application/vnd.openxmlformats-officedocument.presentationml.slideLayout+xml"/>
  <Override PartName="/ppt/slideLayouts/slideLayout136.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72.xml" ContentType="application/vnd.openxmlformats-officedocument.presentationml.slideLayout+xml"/>
  <Override PartName="/ppt/slideLayouts/slideLayout114.xml" ContentType="application/vnd.openxmlformats-officedocument.presentationml.slideLayout+xml"/>
  <Override PartName="/ppt/slideLayouts/slideLayout125.xml" ContentType="application/vnd.openxmlformats-officedocument.presentationml.slideLayout+xml"/>
  <Override PartName="/ppt/slideLayouts/slideLayout161.xml" ContentType="application/vnd.openxmlformats-officedocument.presentationml.slideLayout+xml"/>
  <Override PartName="/ppt/slideLayouts/slideLayout172.xml" ContentType="application/vnd.openxmlformats-officedocument.presentationml.slideLayout+xml"/>
  <Override PartName="/ppt/slideLayouts/slideLayout14.xml" ContentType="application/vnd.openxmlformats-officedocument.presentationml.slideLayout+xml"/>
  <Override PartName="/ppt/slideLayouts/slideLayout61.xml" ContentType="application/vnd.openxmlformats-officedocument.presentationml.slideLayout+xml"/>
  <Override PartName="/ppt/slideLayouts/slideLayout103.xml" ContentType="application/vnd.openxmlformats-officedocument.presentationml.slideLayout+xml"/>
  <Override PartName="/ppt/slideLayouts/slideLayout150.xml" ContentType="application/vnd.openxmlformats-officedocument.presentationml.slideLayout+xml"/>
  <Override PartName="/ppt/slides/slide40.xml" ContentType="application/vnd.openxmlformats-officedocument.presentationml.slide+xml"/>
  <Override PartName="/ppt/slideLayouts/slideLayout50.xml" ContentType="application/vnd.openxmlformats-officedocument.presentationml.slideLayout+xml"/>
  <Override PartName="/ppt/slideMasters/slideMaster9.xml" ContentType="application/vnd.openxmlformats-officedocument.presentationml.slideMaster+xml"/>
  <Override PartName="/ppt/slideMasters/slideMaster12.xml" ContentType="application/vnd.openxmlformats-officedocument.presentationml.slideMaster+xml"/>
  <Default Extension="vml" ContentType="application/vnd.openxmlformats-officedocument.vmlDrawing"/>
  <Override PartName="/ppt/diagrams/layout2.xml" ContentType="application/vnd.openxmlformats-officedocument.drawingml.diagramLayout+xml"/>
  <Override PartName="/ppt/slideLayouts/slideLayout99.xml" ContentType="application/vnd.openxmlformats-officedocument.presentationml.slideLayout+xml"/>
  <Override PartName="/ppt/slideLayouts/slideLayout88.xml" ContentType="application/vnd.openxmlformats-officedocument.presentationml.slideLayout+xml"/>
  <Override PartName="/ppt/theme/theme11.xml" ContentType="application/vnd.openxmlformats-officedocument.theme+xml"/>
  <Override PartName="/ppt/slideLayouts/slideLayout177.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2" r:id="rId3"/>
    <p:sldMasterId id="2147483683" r:id="rId4"/>
    <p:sldMasterId id="2147483694" r:id="rId5"/>
    <p:sldMasterId id="2147483705" r:id="rId6"/>
    <p:sldMasterId id="2147483716" r:id="rId7"/>
    <p:sldMasterId id="2147483727" r:id="rId8"/>
    <p:sldMasterId id="2147483738" r:id="rId9"/>
    <p:sldMasterId id="2147483749" r:id="rId10"/>
    <p:sldMasterId id="2147483760" r:id="rId11"/>
    <p:sldMasterId id="2147483772" r:id="rId12"/>
    <p:sldMasterId id="2147483784" r:id="rId13"/>
    <p:sldMasterId id="2147483796" r:id="rId14"/>
    <p:sldMasterId id="2147483808" r:id="rId15"/>
    <p:sldMasterId id="2147483820" r:id="rId16"/>
    <p:sldMasterId id="2147483832" r:id="rId17"/>
  </p:sldMasterIdLst>
  <p:notesMasterIdLst>
    <p:notesMasterId r:id="rId66"/>
  </p:notesMasterIdLst>
  <p:sldIdLst>
    <p:sldId id="256" r:id="rId18"/>
    <p:sldId id="303" r:id="rId19"/>
    <p:sldId id="302" r:id="rId20"/>
    <p:sldId id="257" r:id="rId21"/>
    <p:sldId id="258" r:id="rId22"/>
    <p:sldId id="259" r:id="rId23"/>
    <p:sldId id="261" r:id="rId24"/>
    <p:sldId id="279" r:id="rId25"/>
    <p:sldId id="263" r:id="rId26"/>
    <p:sldId id="280" r:id="rId27"/>
    <p:sldId id="264" r:id="rId28"/>
    <p:sldId id="281" r:id="rId29"/>
    <p:sldId id="284" r:id="rId30"/>
    <p:sldId id="283" r:id="rId31"/>
    <p:sldId id="282" r:id="rId32"/>
    <p:sldId id="291" r:id="rId33"/>
    <p:sldId id="290" r:id="rId34"/>
    <p:sldId id="289" r:id="rId35"/>
    <p:sldId id="288" r:id="rId36"/>
    <p:sldId id="292" r:id="rId37"/>
    <p:sldId id="299" r:id="rId38"/>
    <p:sldId id="298" r:id="rId39"/>
    <p:sldId id="296" r:id="rId40"/>
    <p:sldId id="304" r:id="rId41"/>
    <p:sldId id="306" r:id="rId42"/>
    <p:sldId id="295" r:id="rId43"/>
    <p:sldId id="301" r:id="rId44"/>
    <p:sldId id="294" r:id="rId45"/>
    <p:sldId id="308" r:id="rId46"/>
    <p:sldId id="307" r:id="rId47"/>
    <p:sldId id="300" r:id="rId48"/>
    <p:sldId id="309" r:id="rId49"/>
    <p:sldId id="310" r:id="rId50"/>
    <p:sldId id="311" r:id="rId51"/>
    <p:sldId id="312" r:id="rId52"/>
    <p:sldId id="313" r:id="rId53"/>
    <p:sldId id="314" r:id="rId54"/>
    <p:sldId id="315" r:id="rId55"/>
    <p:sldId id="316" r:id="rId56"/>
    <p:sldId id="317" r:id="rId57"/>
    <p:sldId id="318" r:id="rId58"/>
    <p:sldId id="319" r:id="rId59"/>
    <p:sldId id="320" r:id="rId60"/>
    <p:sldId id="321" r:id="rId61"/>
    <p:sldId id="322" r:id="rId62"/>
    <p:sldId id="323" r:id="rId63"/>
    <p:sldId id="324" r:id="rId64"/>
    <p:sldId id="325" r:id="rId6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varScale="1">
        <p:scale>
          <a:sx n="109" d="100"/>
          <a:sy n="109" d="100"/>
        </p:scale>
        <p:origin x="-594" y="-78"/>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 Target="slides/slide1.xml"/><Relationship Id="rId26" Type="http://schemas.openxmlformats.org/officeDocument/2006/relationships/slide" Target="slides/slide9.xml"/><Relationship Id="rId39" Type="http://schemas.openxmlformats.org/officeDocument/2006/relationships/slide" Target="slides/slide22.xml"/><Relationship Id="rId21" Type="http://schemas.openxmlformats.org/officeDocument/2006/relationships/slide" Target="slides/slide4.xml"/><Relationship Id="rId34" Type="http://schemas.openxmlformats.org/officeDocument/2006/relationships/slide" Target="slides/slide17.xml"/><Relationship Id="rId42" Type="http://schemas.openxmlformats.org/officeDocument/2006/relationships/slide" Target="slides/slide25.xml"/><Relationship Id="rId47" Type="http://schemas.openxmlformats.org/officeDocument/2006/relationships/slide" Target="slides/slide30.xml"/><Relationship Id="rId50" Type="http://schemas.openxmlformats.org/officeDocument/2006/relationships/slide" Target="slides/slide33.xml"/><Relationship Id="rId55" Type="http://schemas.openxmlformats.org/officeDocument/2006/relationships/slide" Target="slides/slide38.xml"/><Relationship Id="rId63" Type="http://schemas.openxmlformats.org/officeDocument/2006/relationships/slide" Target="slides/slide46.xml"/><Relationship Id="rId68" Type="http://schemas.openxmlformats.org/officeDocument/2006/relationships/viewProps" Target="view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9" Type="http://schemas.openxmlformats.org/officeDocument/2006/relationships/slide" Target="slides/slide12.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7.xml"/><Relationship Id="rId32" Type="http://schemas.openxmlformats.org/officeDocument/2006/relationships/slide" Target="slides/slide15.xml"/><Relationship Id="rId37" Type="http://schemas.openxmlformats.org/officeDocument/2006/relationships/slide" Target="slides/slide20.xml"/><Relationship Id="rId40" Type="http://schemas.openxmlformats.org/officeDocument/2006/relationships/slide" Target="slides/slide23.xml"/><Relationship Id="rId45" Type="http://schemas.openxmlformats.org/officeDocument/2006/relationships/slide" Target="slides/slide28.xml"/><Relationship Id="rId53" Type="http://schemas.openxmlformats.org/officeDocument/2006/relationships/slide" Target="slides/slide36.xml"/><Relationship Id="rId58" Type="http://schemas.openxmlformats.org/officeDocument/2006/relationships/slide" Target="slides/slide41.xml"/><Relationship Id="rId66"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6.xml"/><Relationship Id="rId28" Type="http://schemas.openxmlformats.org/officeDocument/2006/relationships/slide" Target="slides/slide11.xml"/><Relationship Id="rId36" Type="http://schemas.openxmlformats.org/officeDocument/2006/relationships/slide" Target="slides/slide19.xml"/><Relationship Id="rId49" Type="http://schemas.openxmlformats.org/officeDocument/2006/relationships/slide" Target="slides/slide32.xml"/><Relationship Id="rId57" Type="http://schemas.openxmlformats.org/officeDocument/2006/relationships/slide" Target="slides/slide40.xml"/><Relationship Id="rId61" Type="http://schemas.openxmlformats.org/officeDocument/2006/relationships/slide" Target="slides/slide44.xml"/><Relationship Id="rId10" Type="http://schemas.openxmlformats.org/officeDocument/2006/relationships/slideMaster" Target="slideMasters/slideMaster10.xml"/><Relationship Id="rId19" Type="http://schemas.openxmlformats.org/officeDocument/2006/relationships/slide" Target="slides/slide2.xml"/><Relationship Id="rId31" Type="http://schemas.openxmlformats.org/officeDocument/2006/relationships/slide" Target="slides/slide14.xml"/><Relationship Id="rId44" Type="http://schemas.openxmlformats.org/officeDocument/2006/relationships/slide" Target="slides/slide27.xml"/><Relationship Id="rId52" Type="http://schemas.openxmlformats.org/officeDocument/2006/relationships/slide" Target="slides/slide35.xml"/><Relationship Id="rId60" Type="http://schemas.openxmlformats.org/officeDocument/2006/relationships/slide" Target="slides/slide43.xml"/><Relationship Id="rId65" Type="http://schemas.openxmlformats.org/officeDocument/2006/relationships/slide" Target="slides/slide48.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5.xml"/><Relationship Id="rId27" Type="http://schemas.openxmlformats.org/officeDocument/2006/relationships/slide" Target="slides/slide10.xml"/><Relationship Id="rId30" Type="http://schemas.openxmlformats.org/officeDocument/2006/relationships/slide" Target="slides/slide13.xml"/><Relationship Id="rId35" Type="http://schemas.openxmlformats.org/officeDocument/2006/relationships/slide" Target="slides/slide18.xml"/><Relationship Id="rId43" Type="http://schemas.openxmlformats.org/officeDocument/2006/relationships/slide" Target="slides/slide26.xml"/><Relationship Id="rId48" Type="http://schemas.openxmlformats.org/officeDocument/2006/relationships/slide" Target="slides/slide31.xml"/><Relationship Id="rId56" Type="http://schemas.openxmlformats.org/officeDocument/2006/relationships/slide" Target="slides/slide39.xml"/><Relationship Id="rId64" Type="http://schemas.openxmlformats.org/officeDocument/2006/relationships/slide" Target="slides/slide47.xml"/><Relationship Id="rId69" Type="http://schemas.openxmlformats.org/officeDocument/2006/relationships/theme" Target="theme/theme1.xml"/><Relationship Id="rId8" Type="http://schemas.openxmlformats.org/officeDocument/2006/relationships/slideMaster" Target="slideMasters/slideMaster8.xml"/><Relationship Id="rId51" Type="http://schemas.openxmlformats.org/officeDocument/2006/relationships/slide" Target="slides/slide34.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 Target="slides/slide8.xml"/><Relationship Id="rId33" Type="http://schemas.openxmlformats.org/officeDocument/2006/relationships/slide" Target="slides/slide16.xml"/><Relationship Id="rId38" Type="http://schemas.openxmlformats.org/officeDocument/2006/relationships/slide" Target="slides/slide21.xml"/><Relationship Id="rId46" Type="http://schemas.openxmlformats.org/officeDocument/2006/relationships/slide" Target="slides/slide29.xml"/><Relationship Id="rId59" Type="http://schemas.openxmlformats.org/officeDocument/2006/relationships/slide" Target="slides/slide42.xml"/><Relationship Id="rId67" Type="http://schemas.openxmlformats.org/officeDocument/2006/relationships/presProps" Target="presProps.xml"/><Relationship Id="rId20" Type="http://schemas.openxmlformats.org/officeDocument/2006/relationships/slide" Target="slides/slide3.xml"/><Relationship Id="rId41" Type="http://schemas.openxmlformats.org/officeDocument/2006/relationships/slide" Target="slides/slide24.xml"/><Relationship Id="rId54" Type="http://schemas.openxmlformats.org/officeDocument/2006/relationships/slide" Target="slides/slide37.xml"/><Relationship Id="rId62" Type="http://schemas.openxmlformats.org/officeDocument/2006/relationships/slide" Target="slides/slide45.xml"/><Relationship Id="rId7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1">
  <dgm:title val=""/>
  <dgm:desc val=""/>
  <dgm:catLst>
    <dgm:cat type="accent1" pri="11100"/>
  </dgm:catLst>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85E81B4B-6ED7-4434-A3D7-F552FA33C65C}" type="doc">
      <dgm:prSet loTypeId="urn:microsoft.com/office/officeart/2008/layout/PictureStrips" loCatId="list" qsTypeId="urn:microsoft.com/office/officeart/2005/8/quickstyle/simple1#1" qsCatId="simple" csTypeId="urn:microsoft.com/office/officeart/2005/8/colors/colorful1#1" csCatId="colorful" phldr="1"/>
      <dgm:spPr/>
      <dgm:t>
        <a:bodyPr/>
        <a:lstStyle/>
        <a:p>
          <a:endParaRPr lang="zh-CN" altLang="en-US"/>
        </a:p>
      </dgm:t>
    </dgm:pt>
    <dgm:pt modelId="{59A4E151-4AFB-4D33-BE55-481515FE4528}">
      <dgm:prSet phldrT="[文本]"/>
      <dgm:spPr/>
      <dgm:t>
        <a:bodyPr/>
        <a:lstStyle/>
        <a:p>
          <a:r>
            <a:rPr lang="zh-CN" altLang="en-US" b="1" dirty="0" smtClean="0"/>
            <a:t>透射光谱法</a:t>
          </a:r>
        </a:p>
      </dgm:t>
    </dgm:pt>
    <dgm:pt modelId="{BF801495-B4C4-4DBF-B4EE-11A966FC0FAD}" type="parTrans" cxnId="{8BE5BE34-7E02-41FC-AF11-DC546BC7B07D}">
      <dgm:prSet/>
      <dgm:spPr/>
      <dgm:t>
        <a:bodyPr/>
        <a:lstStyle/>
        <a:p>
          <a:endParaRPr lang="zh-CN" altLang="en-US"/>
        </a:p>
      </dgm:t>
    </dgm:pt>
    <dgm:pt modelId="{DB206528-D9F3-4617-AB28-D8AA50CF97A8}" type="sibTrans" cxnId="{8BE5BE34-7E02-41FC-AF11-DC546BC7B07D}">
      <dgm:prSet/>
      <dgm:spPr/>
      <dgm:t>
        <a:bodyPr/>
        <a:lstStyle/>
        <a:p>
          <a:endParaRPr lang="zh-CN" altLang="en-US"/>
        </a:p>
      </dgm:t>
    </dgm:pt>
    <dgm:pt modelId="{32EDDFED-3071-48AE-A52D-8549BC4E98A4}">
      <dgm:prSet phldrT="[文本]"/>
      <dgm:spPr/>
      <dgm:t>
        <a:bodyPr/>
        <a:lstStyle/>
        <a:p>
          <a:r>
            <a:rPr lang="zh-CN" altLang="en-US" b="1" dirty="0" smtClean="0"/>
            <a:t>反射光谱法</a:t>
          </a:r>
          <a:r>
            <a:rPr lang="zh-CN" altLang="en-US" dirty="0" smtClean="0"/>
            <a:t>      </a:t>
          </a:r>
          <a:endParaRPr lang="zh-CN" altLang="en-US" dirty="0"/>
        </a:p>
      </dgm:t>
    </dgm:pt>
    <dgm:pt modelId="{EC71A2A6-36F0-4E29-89B8-D555DCC4698D}" type="parTrans" cxnId="{4C0F0CE7-5FAE-409D-9D3F-3CD199B7FACB}">
      <dgm:prSet/>
      <dgm:spPr/>
      <dgm:t>
        <a:bodyPr/>
        <a:lstStyle/>
        <a:p>
          <a:endParaRPr lang="zh-CN" altLang="en-US"/>
        </a:p>
      </dgm:t>
    </dgm:pt>
    <dgm:pt modelId="{74D5AE78-C85E-4797-A249-F027475E8ED2}" type="sibTrans" cxnId="{4C0F0CE7-5FAE-409D-9D3F-3CD199B7FACB}">
      <dgm:prSet/>
      <dgm:spPr/>
      <dgm:t>
        <a:bodyPr/>
        <a:lstStyle/>
        <a:p>
          <a:endParaRPr lang="zh-CN" altLang="en-US"/>
        </a:p>
      </dgm:t>
    </dgm:pt>
    <dgm:pt modelId="{4EB313AB-527F-40C1-9175-5547B94765E4}" type="pres">
      <dgm:prSet presAssocID="{85E81B4B-6ED7-4434-A3D7-F552FA33C65C}" presName="Name0" presStyleCnt="0">
        <dgm:presLayoutVars>
          <dgm:dir/>
          <dgm:resizeHandles val="exact"/>
        </dgm:presLayoutVars>
      </dgm:prSet>
      <dgm:spPr/>
      <dgm:t>
        <a:bodyPr/>
        <a:lstStyle/>
        <a:p>
          <a:endParaRPr lang="zh-CN" altLang="en-US"/>
        </a:p>
      </dgm:t>
    </dgm:pt>
    <dgm:pt modelId="{3849F257-A03B-4112-B8BD-552FEABEE471}" type="pres">
      <dgm:prSet presAssocID="{59A4E151-4AFB-4D33-BE55-481515FE4528}" presName="composite" presStyleCnt="0"/>
      <dgm:spPr/>
    </dgm:pt>
    <dgm:pt modelId="{F84E1BDD-6F85-4D36-96D1-7B8D51FFF439}" type="pres">
      <dgm:prSet presAssocID="{59A4E151-4AFB-4D33-BE55-481515FE4528}" presName="rect1" presStyleLbl="trAlignAcc1" presStyleIdx="0" presStyleCnt="2">
        <dgm:presLayoutVars>
          <dgm:bulletEnabled val="1"/>
        </dgm:presLayoutVars>
      </dgm:prSet>
      <dgm:spPr/>
      <dgm:t>
        <a:bodyPr/>
        <a:lstStyle/>
        <a:p>
          <a:endParaRPr lang="zh-CN" altLang="en-US"/>
        </a:p>
      </dgm:t>
    </dgm:pt>
    <dgm:pt modelId="{58D0DD71-778A-4499-B0D9-D5EA9546D504}" type="pres">
      <dgm:prSet presAssocID="{59A4E151-4AFB-4D33-BE55-481515FE4528}" presName="rect2" presStyleLbl="fgImgPlace1" presStyleIdx="0" presStyleCnt="2"/>
      <dgm:spPr/>
    </dgm:pt>
    <dgm:pt modelId="{6FB3EF91-84BF-4C83-8E40-F2A33DDB3279}" type="pres">
      <dgm:prSet presAssocID="{DB206528-D9F3-4617-AB28-D8AA50CF97A8}" presName="sibTrans" presStyleCnt="0"/>
      <dgm:spPr/>
    </dgm:pt>
    <dgm:pt modelId="{5CA602BF-C246-47DA-8A15-63FF2B5DA145}" type="pres">
      <dgm:prSet presAssocID="{32EDDFED-3071-48AE-A52D-8549BC4E98A4}" presName="composite" presStyleCnt="0"/>
      <dgm:spPr/>
    </dgm:pt>
    <dgm:pt modelId="{2C86467D-4820-452F-BF32-0134E34864C3}" type="pres">
      <dgm:prSet presAssocID="{32EDDFED-3071-48AE-A52D-8549BC4E98A4}" presName="rect1" presStyleLbl="trAlignAcc1" presStyleIdx="1" presStyleCnt="2">
        <dgm:presLayoutVars>
          <dgm:bulletEnabled val="1"/>
        </dgm:presLayoutVars>
      </dgm:prSet>
      <dgm:spPr/>
      <dgm:t>
        <a:bodyPr/>
        <a:lstStyle/>
        <a:p>
          <a:endParaRPr lang="zh-CN" altLang="en-US"/>
        </a:p>
      </dgm:t>
    </dgm:pt>
    <dgm:pt modelId="{0FF93320-ADD9-4588-B8A5-745A200C5C81}" type="pres">
      <dgm:prSet presAssocID="{32EDDFED-3071-48AE-A52D-8549BC4E98A4}" presName="rect2" presStyleLbl="fgImgPlace1" presStyleIdx="1" presStyleCnt="2"/>
      <dgm:spPr/>
    </dgm:pt>
  </dgm:ptLst>
  <dgm:cxnLst>
    <dgm:cxn modelId="{48B2FECF-DF6B-4EEF-8BC9-857840D51149}" type="presOf" srcId="{32EDDFED-3071-48AE-A52D-8549BC4E98A4}" destId="{2C86467D-4820-452F-BF32-0134E34864C3}" srcOrd="0" destOrd="0" presId="urn:microsoft.com/office/officeart/2008/layout/PictureStrips"/>
    <dgm:cxn modelId="{4C0F0CE7-5FAE-409D-9D3F-3CD199B7FACB}" srcId="{85E81B4B-6ED7-4434-A3D7-F552FA33C65C}" destId="{32EDDFED-3071-48AE-A52D-8549BC4E98A4}" srcOrd="1" destOrd="0" parTransId="{EC71A2A6-36F0-4E29-89B8-D555DCC4698D}" sibTransId="{74D5AE78-C85E-4797-A249-F027475E8ED2}"/>
    <dgm:cxn modelId="{AD13F533-4C6E-4B1E-BAB0-5AE199ACC05F}" type="presOf" srcId="{59A4E151-4AFB-4D33-BE55-481515FE4528}" destId="{F84E1BDD-6F85-4D36-96D1-7B8D51FFF439}" srcOrd="0" destOrd="0" presId="urn:microsoft.com/office/officeart/2008/layout/PictureStrips"/>
    <dgm:cxn modelId="{8BE5BE34-7E02-41FC-AF11-DC546BC7B07D}" srcId="{85E81B4B-6ED7-4434-A3D7-F552FA33C65C}" destId="{59A4E151-4AFB-4D33-BE55-481515FE4528}" srcOrd="0" destOrd="0" parTransId="{BF801495-B4C4-4DBF-B4EE-11A966FC0FAD}" sibTransId="{DB206528-D9F3-4617-AB28-D8AA50CF97A8}"/>
    <dgm:cxn modelId="{D6D1FFF5-9F99-4545-8D15-DB3E4FD34D9C}" type="presOf" srcId="{85E81B4B-6ED7-4434-A3D7-F552FA33C65C}" destId="{4EB313AB-527F-40C1-9175-5547B94765E4}" srcOrd="0" destOrd="0" presId="urn:microsoft.com/office/officeart/2008/layout/PictureStrips"/>
    <dgm:cxn modelId="{03640470-F7FB-4624-B3AB-4CE640EEBFE9}" type="presParOf" srcId="{4EB313AB-527F-40C1-9175-5547B94765E4}" destId="{3849F257-A03B-4112-B8BD-552FEABEE471}" srcOrd="0" destOrd="0" presId="urn:microsoft.com/office/officeart/2008/layout/PictureStrips"/>
    <dgm:cxn modelId="{61087E78-C143-4123-863B-F64DC1C7D5E4}" type="presParOf" srcId="{3849F257-A03B-4112-B8BD-552FEABEE471}" destId="{F84E1BDD-6F85-4D36-96D1-7B8D51FFF439}" srcOrd="0" destOrd="0" presId="urn:microsoft.com/office/officeart/2008/layout/PictureStrips"/>
    <dgm:cxn modelId="{EC173B81-0D8E-44DD-8AE1-B598CFF80DB8}" type="presParOf" srcId="{3849F257-A03B-4112-B8BD-552FEABEE471}" destId="{58D0DD71-778A-4499-B0D9-D5EA9546D504}" srcOrd="1" destOrd="0" presId="urn:microsoft.com/office/officeart/2008/layout/PictureStrips"/>
    <dgm:cxn modelId="{A1C43DEE-4C03-44DA-ADFE-6667F1E876C1}" type="presParOf" srcId="{4EB313AB-527F-40C1-9175-5547B94765E4}" destId="{6FB3EF91-84BF-4C83-8E40-F2A33DDB3279}" srcOrd="1" destOrd="0" presId="urn:microsoft.com/office/officeart/2008/layout/PictureStrips"/>
    <dgm:cxn modelId="{801B1171-CA72-4786-97CC-5A914AFA4C59}" type="presParOf" srcId="{4EB313AB-527F-40C1-9175-5547B94765E4}" destId="{5CA602BF-C246-47DA-8A15-63FF2B5DA145}" srcOrd="2" destOrd="0" presId="urn:microsoft.com/office/officeart/2008/layout/PictureStrips"/>
    <dgm:cxn modelId="{D319C4EE-E304-4E8D-83C0-7D8A5B289041}" type="presParOf" srcId="{5CA602BF-C246-47DA-8A15-63FF2B5DA145}" destId="{2C86467D-4820-452F-BF32-0134E34864C3}" srcOrd="0" destOrd="0" presId="urn:microsoft.com/office/officeart/2008/layout/PictureStrips"/>
    <dgm:cxn modelId="{393EB0A8-78B4-4265-855C-CB5FCF3F7C58}" type="presParOf" srcId="{5CA602BF-C246-47DA-8A15-63FF2B5DA145}" destId="{0FF93320-ADD9-4588-B8A5-745A200C5C81}" srcOrd="1" destOrd="0" presId="urn:microsoft.com/office/officeart/2008/layout/PictureStrips"/>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4E48783-4FF1-4646-9DB7-8DF011D2BB63}" type="doc">
      <dgm:prSet loTypeId="urn:microsoft.com/office/officeart/2008/layout/VerticalCurvedList#1" loCatId="list" qsTypeId="urn:microsoft.com/office/officeart/2005/8/quickstyle/simple1#1" qsCatId="simple" csTypeId="urn:microsoft.com/office/officeart/2005/8/colors/accent1_1#1" csCatId="accent1" phldr="1"/>
      <dgm:spPr/>
      <dgm:t>
        <a:bodyPr/>
        <a:lstStyle/>
        <a:p>
          <a:endParaRPr lang="zh-CN" altLang="en-US"/>
        </a:p>
      </dgm:t>
    </dgm:pt>
    <dgm:pt modelId="{C45D129D-B1A9-4533-9E2D-FBDD3F027F5E}">
      <dgm:prSet custT="1"/>
      <dgm:spPr/>
      <dgm:t>
        <a:bodyPr/>
        <a:lstStyle/>
        <a:p>
          <a:r>
            <a:rPr lang="zh-CN" altLang="en-US" sz="2400" b="1" cap="none" spc="0"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在发酵工业中</a:t>
          </a:r>
          <a:r>
            <a:rPr lang="en-US" altLang="en-US" sz="2400" b="1" cap="none" spc="0"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a:t>
          </a:r>
          <a:r>
            <a:rPr lang="zh-CN" altLang="en-US" sz="2400" b="1" cap="none" spc="0"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近红外技术用来测定发酵乳的蛋白质、脂肪含量和总固形物含量</a:t>
          </a:r>
          <a:endParaRPr lang="zh-CN" altLang="en-US" sz="2400"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dgm:t>
    </dgm:pt>
    <dgm:pt modelId="{C5B9A2AC-C468-460F-91A1-360CFA6F7B39}" type="parTrans" cxnId="{9F60406F-03A8-4C8A-AD3C-1081F85EE862}">
      <dgm:prSet/>
      <dgm:spPr/>
      <dgm:t>
        <a:bodyPr/>
        <a:lstStyle/>
        <a:p>
          <a:endParaRPr lang="zh-CN" altLang="en-US" b="1" cap="none" spc="0">
            <a:ln w="17780" cmpd="sng">
              <a:solidFill>
                <a:schemeClr val="tx1"/>
              </a:solidFill>
              <a:prstDash val="solid"/>
              <a:miter lim="800000"/>
            </a:ln>
            <a:solidFill>
              <a:schemeClr val="tx1"/>
            </a:solidFill>
            <a:effectLst>
              <a:outerShdw blurRad="55000" dist="50800" dir="5400000" algn="tl">
                <a:srgbClr val="000000">
                  <a:alpha val="33000"/>
                </a:srgbClr>
              </a:outerShdw>
            </a:effectLst>
          </a:endParaRPr>
        </a:p>
      </dgm:t>
    </dgm:pt>
    <dgm:pt modelId="{28E3A148-211B-490C-8F0D-906137900B02}" type="sibTrans" cxnId="{9F60406F-03A8-4C8A-AD3C-1081F85EE862}">
      <dgm:prSet/>
      <dgm:spPr/>
      <dgm:t>
        <a:bodyPr/>
        <a:lstStyle/>
        <a:p>
          <a:endParaRPr lang="zh-CN" altLang="en-US" b="1" cap="none" spc="0">
            <a:ln w="17780" cmpd="sng">
              <a:solidFill>
                <a:schemeClr val="tx1"/>
              </a:solidFill>
              <a:prstDash val="solid"/>
              <a:miter lim="800000"/>
            </a:ln>
            <a:solidFill>
              <a:schemeClr val="tx1"/>
            </a:solidFill>
            <a:effectLst>
              <a:outerShdw blurRad="55000" dist="50800" dir="5400000" algn="tl">
                <a:srgbClr val="000000">
                  <a:alpha val="33000"/>
                </a:srgbClr>
              </a:outerShdw>
            </a:effectLst>
          </a:endParaRPr>
        </a:p>
      </dgm:t>
    </dgm:pt>
    <dgm:pt modelId="{5E21ADBF-ED31-40D9-8A16-F6BC400B2F51}">
      <dgm:prSet custT="1"/>
      <dgm:spPr/>
      <dgm:t>
        <a:bodyPr/>
        <a:lstStyle/>
        <a:p>
          <a:r>
            <a:rPr lang="zh-CN" altLang="en-US" sz="2400" b="1" cap="none" spc="0"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用来测定葡萄酒发酵过程中各种香味成分及各种糖类的含量</a:t>
          </a:r>
          <a:endParaRPr lang="zh-CN" altLang="en-US" sz="2400"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dgm:t>
    </dgm:pt>
    <dgm:pt modelId="{831D22D3-4F7E-450F-8521-A3E74481C643}" type="parTrans" cxnId="{4AC55B80-A23D-4CAF-81D9-976154FC1DE4}">
      <dgm:prSet/>
      <dgm:spPr/>
      <dgm:t>
        <a:bodyPr/>
        <a:lstStyle/>
        <a:p>
          <a:endParaRPr lang="zh-CN" altLang="en-US" b="1" cap="none" spc="0">
            <a:ln w="17780" cmpd="sng">
              <a:solidFill>
                <a:schemeClr val="tx1"/>
              </a:solidFill>
              <a:prstDash val="solid"/>
              <a:miter lim="800000"/>
            </a:ln>
            <a:solidFill>
              <a:schemeClr val="tx1"/>
            </a:solidFill>
            <a:effectLst>
              <a:outerShdw blurRad="55000" dist="50800" dir="5400000" algn="tl">
                <a:srgbClr val="000000">
                  <a:alpha val="33000"/>
                </a:srgbClr>
              </a:outerShdw>
            </a:effectLst>
          </a:endParaRPr>
        </a:p>
      </dgm:t>
    </dgm:pt>
    <dgm:pt modelId="{1342862E-8B5E-407D-AB61-ADF1B2DB7045}" type="sibTrans" cxnId="{4AC55B80-A23D-4CAF-81D9-976154FC1DE4}">
      <dgm:prSet/>
      <dgm:spPr/>
      <dgm:t>
        <a:bodyPr/>
        <a:lstStyle/>
        <a:p>
          <a:endParaRPr lang="zh-CN" altLang="en-US" b="1" cap="none" spc="0">
            <a:ln w="17780" cmpd="sng">
              <a:solidFill>
                <a:schemeClr val="tx1"/>
              </a:solidFill>
              <a:prstDash val="solid"/>
              <a:miter lim="800000"/>
            </a:ln>
            <a:solidFill>
              <a:schemeClr val="tx1"/>
            </a:solidFill>
            <a:effectLst>
              <a:outerShdw blurRad="55000" dist="50800" dir="5400000" algn="tl">
                <a:srgbClr val="000000">
                  <a:alpha val="33000"/>
                </a:srgbClr>
              </a:outerShdw>
            </a:effectLst>
          </a:endParaRPr>
        </a:p>
      </dgm:t>
    </dgm:pt>
    <dgm:pt modelId="{F69CBC61-F1D5-40A0-A177-5E58F6D5A432}">
      <dgm:prSet custT="1"/>
      <dgm:spPr/>
      <dgm:t>
        <a:bodyPr/>
        <a:lstStyle/>
        <a:p>
          <a:r>
            <a:rPr lang="zh-CN" altLang="en-US" sz="2400" b="1" cap="none" spc="0"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食品中</a:t>
          </a:r>
          <a:r>
            <a:rPr lang="zh-CN" sz="2400" b="1" cap="none" spc="0"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盐分</a:t>
          </a:r>
          <a:r>
            <a:rPr lang="zh-CN" altLang="en-US" sz="2400" b="1" cap="none" spc="0"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、灰分的测定</a:t>
          </a:r>
          <a:r>
            <a:rPr lang="en-US" altLang="zh-CN" sz="2400" b="1" cap="none" spc="0"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a:t>
          </a:r>
          <a:r>
            <a:rPr lang="zh-CN" altLang="en-US" sz="2400" b="1" cap="none" spc="0"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以及葡萄酒中金属含量的测定</a:t>
          </a:r>
        </a:p>
      </dgm:t>
    </dgm:pt>
    <dgm:pt modelId="{45B438B5-7DF1-485A-ABF7-528BDADACA10}" type="parTrans" cxnId="{D9AACBC4-81EF-4288-BC31-3EE10C497A43}">
      <dgm:prSet/>
      <dgm:spPr/>
      <dgm:t>
        <a:bodyPr/>
        <a:lstStyle/>
        <a:p>
          <a:endParaRPr lang="zh-CN" altLang="en-US" b="1" cap="none" spc="0">
            <a:ln w="17780" cmpd="sng">
              <a:solidFill>
                <a:schemeClr val="tx1"/>
              </a:solidFill>
              <a:prstDash val="solid"/>
              <a:miter lim="800000"/>
            </a:ln>
            <a:solidFill>
              <a:schemeClr val="tx1"/>
            </a:solidFill>
            <a:effectLst>
              <a:outerShdw blurRad="55000" dist="50800" dir="5400000" algn="tl">
                <a:srgbClr val="000000">
                  <a:alpha val="33000"/>
                </a:srgbClr>
              </a:outerShdw>
            </a:effectLst>
          </a:endParaRPr>
        </a:p>
      </dgm:t>
    </dgm:pt>
    <dgm:pt modelId="{B6FF23F3-98F5-4E17-8793-9FF07F256289}" type="sibTrans" cxnId="{D9AACBC4-81EF-4288-BC31-3EE10C497A43}">
      <dgm:prSet/>
      <dgm:spPr/>
      <dgm:t>
        <a:bodyPr/>
        <a:lstStyle/>
        <a:p>
          <a:endParaRPr lang="zh-CN" altLang="en-US" b="1" cap="none" spc="0">
            <a:ln w="17780" cmpd="sng">
              <a:solidFill>
                <a:schemeClr val="tx1"/>
              </a:solidFill>
              <a:prstDash val="solid"/>
              <a:miter lim="800000"/>
            </a:ln>
            <a:solidFill>
              <a:schemeClr val="tx1"/>
            </a:solidFill>
            <a:effectLst>
              <a:outerShdw blurRad="55000" dist="50800" dir="5400000" algn="tl">
                <a:srgbClr val="000000">
                  <a:alpha val="33000"/>
                </a:srgbClr>
              </a:outerShdw>
            </a:effectLst>
          </a:endParaRPr>
        </a:p>
      </dgm:t>
    </dgm:pt>
    <dgm:pt modelId="{25D0FAEB-98F6-4B89-ABC1-6995DF330492}" type="pres">
      <dgm:prSet presAssocID="{A4E48783-4FF1-4646-9DB7-8DF011D2BB63}" presName="Name0" presStyleCnt="0">
        <dgm:presLayoutVars>
          <dgm:chMax val="7"/>
          <dgm:chPref val="7"/>
          <dgm:dir/>
        </dgm:presLayoutVars>
      </dgm:prSet>
      <dgm:spPr/>
      <dgm:t>
        <a:bodyPr/>
        <a:lstStyle/>
        <a:p>
          <a:endParaRPr lang="zh-CN" altLang="en-US"/>
        </a:p>
      </dgm:t>
    </dgm:pt>
    <dgm:pt modelId="{8EF05DB5-DEF3-42A5-9DA2-AAE6DEACBD00}" type="pres">
      <dgm:prSet presAssocID="{A4E48783-4FF1-4646-9DB7-8DF011D2BB63}" presName="Name1" presStyleCnt="0"/>
      <dgm:spPr/>
    </dgm:pt>
    <dgm:pt modelId="{637CB428-8BA0-434B-8A83-9A9ABB8ABC5D}" type="pres">
      <dgm:prSet presAssocID="{A4E48783-4FF1-4646-9DB7-8DF011D2BB63}" presName="cycle" presStyleCnt="0"/>
      <dgm:spPr/>
    </dgm:pt>
    <dgm:pt modelId="{FA0164C2-7D45-4678-B9A8-1059B64CAF9D}" type="pres">
      <dgm:prSet presAssocID="{A4E48783-4FF1-4646-9DB7-8DF011D2BB63}" presName="srcNode" presStyleLbl="node1" presStyleIdx="0" presStyleCnt="3"/>
      <dgm:spPr/>
    </dgm:pt>
    <dgm:pt modelId="{43FD0382-7A2F-453C-8E51-6DFA1C377634}" type="pres">
      <dgm:prSet presAssocID="{A4E48783-4FF1-4646-9DB7-8DF011D2BB63}" presName="conn" presStyleLbl="parChTrans1D2" presStyleIdx="0" presStyleCnt="1"/>
      <dgm:spPr/>
      <dgm:t>
        <a:bodyPr/>
        <a:lstStyle/>
        <a:p>
          <a:endParaRPr lang="zh-CN" altLang="en-US"/>
        </a:p>
      </dgm:t>
    </dgm:pt>
    <dgm:pt modelId="{B0617D10-8E4B-4EE4-AF16-F278F84D1833}" type="pres">
      <dgm:prSet presAssocID="{A4E48783-4FF1-4646-9DB7-8DF011D2BB63}" presName="extraNode" presStyleLbl="node1" presStyleIdx="0" presStyleCnt="3"/>
      <dgm:spPr/>
    </dgm:pt>
    <dgm:pt modelId="{D6B93F5F-DDD2-4893-8BA7-4BEA04F7484D}" type="pres">
      <dgm:prSet presAssocID="{A4E48783-4FF1-4646-9DB7-8DF011D2BB63}" presName="dstNode" presStyleLbl="node1" presStyleIdx="0" presStyleCnt="3"/>
      <dgm:spPr/>
    </dgm:pt>
    <dgm:pt modelId="{2CEEA2D6-EE3E-44BC-8291-273393B8432B}" type="pres">
      <dgm:prSet presAssocID="{C45D129D-B1A9-4533-9E2D-FBDD3F027F5E}" presName="text_1" presStyleLbl="node1" presStyleIdx="0" presStyleCnt="3">
        <dgm:presLayoutVars>
          <dgm:bulletEnabled val="1"/>
        </dgm:presLayoutVars>
      </dgm:prSet>
      <dgm:spPr/>
      <dgm:t>
        <a:bodyPr/>
        <a:lstStyle/>
        <a:p>
          <a:endParaRPr lang="zh-CN" altLang="en-US"/>
        </a:p>
      </dgm:t>
    </dgm:pt>
    <dgm:pt modelId="{B5552E71-07E0-4CA8-B981-8C9CE2341A15}" type="pres">
      <dgm:prSet presAssocID="{C45D129D-B1A9-4533-9E2D-FBDD3F027F5E}" presName="accent_1" presStyleCnt="0"/>
      <dgm:spPr/>
    </dgm:pt>
    <dgm:pt modelId="{8B89CC10-3A52-4F12-807F-757C09BADFF0}" type="pres">
      <dgm:prSet presAssocID="{C45D129D-B1A9-4533-9E2D-FBDD3F027F5E}" presName="accentRepeatNode" presStyleLbl="solidFgAcc1" presStyleIdx="0" presStyleCnt="3"/>
      <dgm:spPr/>
    </dgm:pt>
    <dgm:pt modelId="{D24BC3B9-C825-4F45-A42B-6D0DD96CA9D2}" type="pres">
      <dgm:prSet presAssocID="{5E21ADBF-ED31-40D9-8A16-F6BC400B2F51}" presName="text_2" presStyleLbl="node1" presStyleIdx="1" presStyleCnt="3" custLinFactNeighborX="1456" custLinFactNeighborY="-5555">
        <dgm:presLayoutVars>
          <dgm:bulletEnabled val="1"/>
        </dgm:presLayoutVars>
      </dgm:prSet>
      <dgm:spPr/>
      <dgm:t>
        <a:bodyPr/>
        <a:lstStyle/>
        <a:p>
          <a:endParaRPr lang="zh-CN" altLang="en-US"/>
        </a:p>
      </dgm:t>
    </dgm:pt>
    <dgm:pt modelId="{180A9259-DD81-4DBE-913D-321FE29642C6}" type="pres">
      <dgm:prSet presAssocID="{5E21ADBF-ED31-40D9-8A16-F6BC400B2F51}" presName="accent_2" presStyleCnt="0"/>
      <dgm:spPr/>
    </dgm:pt>
    <dgm:pt modelId="{1BCD5AA5-7D0C-4D04-9AFD-9CADD38BA0B7}" type="pres">
      <dgm:prSet presAssocID="{5E21ADBF-ED31-40D9-8A16-F6BC400B2F51}" presName="accentRepeatNode" presStyleLbl="solidFgAcc1" presStyleIdx="1" presStyleCnt="3"/>
      <dgm:spPr/>
    </dgm:pt>
    <dgm:pt modelId="{161E2045-F825-4452-A911-308FD2424CC4}" type="pres">
      <dgm:prSet presAssocID="{F69CBC61-F1D5-40A0-A177-5E58F6D5A432}" presName="text_3" presStyleLbl="node1" presStyleIdx="2" presStyleCnt="3">
        <dgm:presLayoutVars>
          <dgm:bulletEnabled val="1"/>
        </dgm:presLayoutVars>
      </dgm:prSet>
      <dgm:spPr/>
      <dgm:t>
        <a:bodyPr/>
        <a:lstStyle/>
        <a:p>
          <a:endParaRPr lang="zh-CN" altLang="en-US"/>
        </a:p>
      </dgm:t>
    </dgm:pt>
    <dgm:pt modelId="{8A93BE30-8639-4C3E-AA28-21BABFB43683}" type="pres">
      <dgm:prSet presAssocID="{F69CBC61-F1D5-40A0-A177-5E58F6D5A432}" presName="accent_3" presStyleCnt="0"/>
      <dgm:spPr/>
    </dgm:pt>
    <dgm:pt modelId="{275F542D-4B61-4889-AB61-35BC9C5857FE}" type="pres">
      <dgm:prSet presAssocID="{F69CBC61-F1D5-40A0-A177-5E58F6D5A432}" presName="accentRepeatNode" presStyleLbl="solidFgAcc1" presStyleIdx="2" presStyleCnt="3"/>
      <dgm:spPr/>
    </dgm:pt>
  </dgm:ptLst>
  <dgm:cxnLst>
    <dgm:cxn modelId="{3483A2C5-A85F-4B43-800E-DA766EFA3FBA}" type="presOf" srcId="{C45D129D-B1A9-4533-9E2D-FBDD3F027F5E}" destId="{2CEEA2D6-EE3E-44BC-8291-273393B8432B}" srcOrd="0" destOrd="0" presId="urn:microsoft.com/office/officeart/2008/layout/VerticalCurvedList#1"/>
    <dgm:cxn modelId="{E422A8D3-AA6D-4292-9D76-289035D63D76}" type="presOf" srcId="{28E3A148-211B-490C-8F0D-906137900B02}" destId="{43FD0382-7A2F-453C-8E51-6DFA1C377634}" srcOrd="0" destOrd="0" presId="urn:microsoft.com/office/officeart/2008/layout/VerticalCurvedList#1"/>
    <dgm:cxn modelId="{D9AACBC4-81EF-4288-BC31-3EE10C497A43}" srcId="{A4E48783-4FF1-4646-9DB7-8DF011D2BB63}" destId="{F69CBC61-F1D5-40A0-A177-5E58F6D5A432}" srcOrd="2" destOrd="0" parTransId="{45B438B5-7DF1-485A-ABF7-528BDADACA10}" sibTransId="{B6FF23F3-98F5-4E17-8793-9FF07F256289}"/>
    <dgm:cxn modelId="{88505FE6-36C6-418B-B980-95C2DE79FF18}" type="presOf" srcId="{F69CBC61-F1D5-40A0-A177-5E58F6D5A432}" destId="{161E2045-F825-4452-A911-308FD2424CC4}" srcOrd="0" destOrd="0" presId="urn:microsoft.com/office/officeart/2008/layout/VerticalCurvedList#1"/>
    <dgm:cxn modelId="{4AC55B80-A23D-4CAF-81D9-976154FC1DE4}" srcId="{A4E48783-4FF1-4646-9DB7-8DF011D2BB63}" destId="{5E21ADBF-ED31-40D9-8A16-F6BC400B2F51}" srcOrd="1" destOrd="0" parTransId="{831D22D3-4F7E-450F-8521-A3E74481C643}" sibTransId="{1342862E-8B5E-407D-AB61-ADF1B2DB7045}"/>
    <dgm:cxn modelId="{9F60406F-03A8-4C8A-AD3C-1081F85EE862}" srcId="{A4E48783-4FF1-4646-9DB7-8DF011D2BB63}" destId="{C45D129D-B1A9-4533-9E2D-FBDD3F027F5E}" srcOrd="0" destOrd="0" parTransId="{C5B9A2AC-C468-460F-91A1-360CFA6F7B39}" sibTransId="{28E3A148-211B-490C-8F0D-906137900B02}"/>
    <dgm:cxn modelId="{52A8556A-93CF-4A1D-9FB1-4E8038CF893E}" type="presOf" srcId="{5E21ADBF-ED31-40D9-8A16-F6BC400B2F51}" destId="{D24BC3B9-C825-4F45-A42B-6D0DD96CA9D2}" srcOrd="0" destOrd="0" presId="urn:microsoft.com/office/officeart/2008/layout/VerticalCurvedList#1"/>
    <dgm:cxn modelId="{A02FF486-59A9-442E-BF3C-CCCDCD2F6EC2}" type="presOf" srcId="{A4E48783-4FF1-4646-9DB7-8DF011D2BB63}" destId="{25D0FAEB-98F6-4B89-ABC1-6995DF330492}" srcOrd="0" destOrd="0" presId="urn:microsoft.com/office/officeart/2008/layout/VerticalCurvedList#1"/>
    <dgm:cxn modelId="{6BD44F09-5ED3-4D9A-816E-EA7C657DD40B}" type="presParOf" srcId="{25D0FAEB-98F6-4B89-ABC1-6995DF330492}" destId="{8EF05DB5-DEF3-42A5-9DA2-AAE6DEACBD00}" srcOrd="0" destOrd="0" presId="urn:microsoft.com/office/officeart/2008/layout/VerticalCurvedList#1"/>
    <dgm:cxn modelId="{01DA9039-4294-4C35-AEE4-4B6D6174FBFB}" type="presParOf" srcId="{8EF05DB5-DEF3-42A5-9DA2-AAE6DEACBD00}" destId="{637CB428-8BA0-434B-8A83-9A9ABB8ABC5D}" srcOrd="0" destOrd="0" presId="urn:microsoft.com/office/officeart/2008/layout/VerticalCurvedList#1"/>
    <dgm:cxn modelId="{80D219F2-A9F6-4849-A39B-39E175390D0D}" type="presParOf" srcId="{637CB428-8BA0-434B-8A83-9A9ABB8ABC5D}" destId="{FA0164C2-7D45-4678-B9A8-1059B64CAF9D}" srcOrd="0" destOrd="0" presId="urn:microsoft.com/office/officeart/2008/layout/VerticalCurvedList#1"/>
    <dgm:cxn modelId="{51206164-8A55-44F8-A358-C7422BE2F509}" type="presParOf" srcId="{637CB428-8BA0-434B-8A83-9A9ABB8ABC5D}" destId="{43FD0382-7A2F-453C-8E51-6DFA1C377634}" srcOrd="1" destOrd="0" presId="urn:microsoft.com/office/officeart/2008/layout/VerticalCurvedList#1"/>
    <dgm:cxn modelId="{ED1A5BE4-BF4F-41AB-8AF8-87F6900CFFC6}" type="presParOf" srcId="{637CB428-8BA0-434B-8A83-9A9ABB8ABC5D}" destId="{B0617D10-8E4B-4EE4-AF16-F278F84D1833}" srcOrd="2" destOrd="0" presId="urn:microsoft.com/office/officeart/2008/layout/VerticalCurvedList#1"/>
    <dgm:cxn modelId="{74D6AAAA-2557-4E72-980E-FBC6B4732A51}" type="presParOf" srcId="{637CB428-8BA0-434B-8A83-9A9ABB8ABC5D}" destId="{D6B93F5F-DDD2-4893-8BA7-4BEA04F7484D}" srcOrd="3" destOrd="0" presId="urn:microsoft.com/office/officeart/2008/layout/VerticalCurvedList#1"/>
    <dgm:cxn modelId="{57D14732-99B2-4157-8EC7-DCF536D42C83}" type="presParOf" srcId="{8EF05DB5-DEF3-42A5-9DA2-AAE6DEACBD00}" destId="{2CEEA2D6-EE3E-44BC-8291-273393B8432B}" srcOrd="1" destOrd="0" presId="urn:microsoft.com/office/officeart/2008/layout/VerticalCurvedList#1"/>
    <dgm:cxn modelId="{A423934C-509A-49B9-97DC-53F03BD2C475}" type="presParOf" srcId="{8EF05DB5-DEF3-42A5-9DA2-AAE6DEACBD00}" destId="{B5552E71-07E0-4CA8-B981-8C9CE2341A15}" srcOrd="2" destOrd="0" presId="urn:microsoft.com/office/officeart/2008/layout/VerticalCurvedList#1"/>
    <dgm:cxn modelId="{4EBB53B1-DE27-4AEC-96E5-91CF977D557E}" type="presParOf" srcId="{B5552E71-07E0-4CA8-B981-8C9CE2341A15}" destId="{8B89CC10-3A52-4F12-807F-757C09BADFF0}" srcOrd="0" destOrd="0" presId="urn:microsoft.com/office/officeart/2008/layout/VerticalCurvedList#1"/>
    <dgm:cxn modelId="{CB3256A8-71B6-4986-ACBC-668E7F2EAA28}" type="presParOf" srcId="{8EF05DB5-DEF3-42A5-9DA2-AAE6DEACBD00}" destId="{D24BC3B9-C825-4F45-A42B-6D0DD96CA9D2}" srcOrd="3" destOrd="0" presId="urn:microsoft.com/office/officeart/2008/layout/VerticalCurvedList#1"/>
    <dgm:cxn modelId="{6A38C227-0D5C-4C5A-BE4E-39B8D1A7FDAB}" type="presParOf" srcId="{8EF05DB5-DEF3-42A5-9DA2-AAE6DEACBD00}" destId="{180A9259-DD81-4DBE-913D-321FE29642C6}" srcOrd="4" destOrd="0" presId="urn:microsoft.com/office/officeart/2008/layout/VerticalCurvedList#1"/>
    <dgm:cxn modelId="{B6AA6DBB-2F4A-4DFD-A0CC-74792283D1C5}" type="presParOf" srcId="{180A9259-DD81-4DBE-913D-321FE29642C6}" destId="{1BCD5AA5-7D0C-4D04-9AFD-9CADD38BA0B7}" srcOrd="0" destOrd="0" presId="urn:microsoft.com/office/officeart/2008/layout/VerticalCurvedList#1"/>
    <dgm:cxn modelId="{227AD796-71B4-4C4A-8076-8CBA772FD5D1}" type="presParOf" srcId="{8EF05DB5-DEF3-42A5-9DA2-AAE6DEACBD00}" destId="{161E2045-F825-4452-A911-308FD2424CC4}" srcOrd="5" destOrd="0" presId="urn:microsoft.com/office/officeart/2008/layout/VerticalCurvedList#1"/>
    <dgm:cxn modelId="{8F6C39AF-16C5-43F0-9548-735CCC079A1D}" type="presParOf" srcId="{8EF05DB5-DEF3-42A5-9DA2-AAE6DEACBD00}" destId="{8A93BE30-8639-4C3E-AA28-21BABFB43683}" srcOrd="6" destOrd="0" presId="urn:microsoft.com/office/officeart/2008/layout/VerticalCurvedList#1"/>
    <dgm:cxn modelId="{011F73A1-05DC-4A04-A754-91BE8115B48B}" type="presParOf" srcId="{8A93BE30-8639-4C3E-AA28-21BABFB43683}" destId="{275F542D-4B61-4889-AB61-35BC9C5857FE}" srcOrd="0" destOrd="0" presId="urn:microsoft.com/office/officeart/2008/layout/VerticalCurvedList#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4E1BDD-6F85-4D36-96D1-7B8D51FFF439}">
      <dsp:nvSpPr>
        <dsp:cNvPr id="0" name=""/>
        <dsp:cNvSpPr/>
      </dsp:nvSpPr>
      <dsp:spPr>
        <a:xfrm>
          <a:off x="760617" y="268375"/>
          <a:ext cx="4546486" cy="1420776"/>
        </a:xfrm>
        <a:prstGeom prst="rect">
          <a:avLst/>
        </a:prstGeom>
        <a:solidFill>
          <a:schemeClr val="lt1">
            <a:alpha val="4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2340" tIns="201930" rIns="201930" bIns="201930" numCol="1" spcCol="1270" anchor="ctr" anchorCtr="0">
          <a:noAutofit/>
        </a:bodyPr>
        <a:lstStyle/>
        <a:p>
          <a:pPr lvl="0" algn="l" defTabSz="2355850">
            <a:lnSpc>
              <a:spcPct val="90000"/>
            </a:lnSpc>
            <a:spcBef>
              <a:spcPct val="0"/>
            </a:spcBef>
            <a:spcAft>
              <a:spcPct val="35000"/>
            </a:spcAft>
          </a:pPr>
          <a:r>
            <a:rPr lang="zh-CN" altLang="en-US" sz="5300" b="1" kern="1200" dirty="0" smtClean="0"/>
            <a:t>透射光谱法</a:t>
          </a:r>
        </a:p>
      </dsp:txBody>
      <dsp:txXfrm>
        <a:off x="760617" y="268375"/>
        <a:ext cx="4546486" cy="1420776"/>
      </dsp:txXfrm>
    </dsp:sp>
    <dsp:sp modelId="{58D0DD71-778A-4499-B0D9-D5EA9546D504}">
      <dsp:nvSpPr>
        <dsp:cNvPr id="0" name=""/>
        <dsp:cNvSpPr/>
      </dsp:nvSpPr>
      <dsp:spPr>
        <a:xfrm>
          <a:off x="571181" y="63151"/>
          <a:ext cx="994543" cy="1491815"/>
        </a:xfrm>
        <a:prstGeom prst="rect">
          <a:avLst/>
        </a:prstGeom>
        <a:solidFill>
          <a:schemeClr val="accent2">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C86467D-4820-452F-BF32-0134E34864C3}">
      <dsp:nvSpPr>
        <dsp:cNvPr id="0" name=""/>
        <dsp:cNvSpPr/>
      </dsp:nvSpPr>
      <dsp:spPr>
        <a:xfrm>
          <a:off x="760617" y="2056975"/>
          <a:ext cx="4546486" cy="1420776"/>
        </a:xfrm>
        <a:prstGeom prst="rect">
          <a:avLst/>
        </a:prstGeom>
        <a:solidFill>
          <a:schemeClr val="lt1">
            <a:alpha val="4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2340" tIns="201930" rIns="201930" bIns="201930" numCol="1" spcCol="1270" anchor="ctr" anchorCtr="0">
          <a:noAutofit/>
        </a:bodyPr>
        <a:lstStyle/>
        <a:p>
          <a:pPr lvl="0" algn="l" defTabSz="2355850">
            <a:lnSpc>
              <a:spcPct val="90000"/>
            </a:lnSpc>
            <a:spcBef>
              <a:spcPct val="0"/>
            </a:spcBef>
            <a:spcAft>
              <a:spcPct val="35000"/>
            </a:spcAft>
          </a:pPr>
          <a:r>
            <a:rPr lang="zh-CN" altLang="en-US" sz="5300" b="1" kern="1200" dirty="0" smtClean="0"/>
            <a:t>反射光谱法</a:t>
          </a:r>
          <a:r>
            <a:rPr lang="zh-CN" altLang="en-US" sz="5300" kern="1200" dirty="0" smtClean="0"/>
            <a:t>      </a:t>
          </a:r>
          <a:endParaRPr lang="zh-CN" altLang="en-US" sz="5300" kern="1200" dirty="0"/>
        </a:p>
      </dsp:txBody>
      <dsp:txXfrm>
        <a:off x="760617" y="2056975"/>
        <a:ext cx="4546486" cy="1420776"/>
      </dsp:txXfrm>
    </dsp:sp>
    <dsp:sp modelId="{0FF93320-ADD9-4588-B8A5-745A200C5C81}">
      <dsp:nvSpPr>
        <dsp:cNvPr id="0" name=""/>
        <dsp:cNvSpPr/>
      </dsp:nvSpPr>
      <dsp:spPr>
        <a:xfrm>
          <a:off x="571181" y="1851752"/>
          <a:ext cx="994543" cy="1491815"/>
        </a:xfrm>
        <a:prstGeom prst="rect">
          <a:avLst/>
        </a:prstGeom>
        <a:solidFill>
          <a:schemeClr val="accent3">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FD0382-7A2F-453C-8E51-6DFA1C377634}">
      <dsp:nvSpPr>
        <dsp:cNvPr id="0" name=""/>
        <dsp:cNvSpPr/>
      </dsp:nvSpPr>
      <dsp:spPr>
        <a:xfrm>
          <a:off x="-3251469" y="-500256"/>
          <a:ext cx="3877587" cy="3877587"/>
        </a:xfrm>
        <a:prstGeom prst="blockArc">
          <a:avLst>
            <a:gd name="adj1" fmla="val 18900000"/>
            <a:gd name="adj2" fmla="val 2700000"/>
            <a:gd name="adj3" fmla="val 557"/>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CEEA2D6-EE3E-44BC-8291-273393B8432B}">
      <dsp:nvSpPr>
        <dsp:cNvPr id="0" name=""/>
        <dsp:cNvSpPr/>
      </dsp:nvSpPr>
      <dsp:spPr>
        <a:xfrm>
          <a:off x="402601" y="287707"/>
          <a:ext cx="11344018" cy="575414"/>
        </a:xfrm>
        <a:prstGeom prst="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6735" tIns="60960" rIns="60960" bIns="60960" numCol="1" spcCol="1270" anchor="ctr" anchorCtr="0">
          <a:noAutofit/>
        </a:bodyPr>
        <a:lstStyle/>
        <a:p>
          <a:pPr lvl="0" algn="l" defTabSz="1066800">
            <a:lnSpc>
              <a:spcPct val="90000"/>
            </a:lnSpc>
            <a:spcBef>
              <a:spcPct val="0"/>
            </a:spcBef>
            <a:spcAft>
              <a:spcPct val="35000"/>
            </a:spcAft>
          </a:pPr>
          <a:r>
            <a:rPr lang="zh-CN" altLang="en-US" sz="2400" b="1" kern="1200" cap="none" spc="0"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在发酵工业中</a:t>
          </a:r>
          <a:r>
            <a:rPr lang="en-US" altLang="en-US" sz="2400" b="1" kern="1200" cap="none" spc="0"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a:t>
          </a:r>
          <a:r>
            <a:rPr lang="zh-CN" altLang="en-US" sz="2400" b="1" kern="1200" cap="none" spc="0"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近红外技术用来测定发酵乳的蛋白质、脂肪含量和总固形物含量</a:t>
          </a:r>
          <a:endParaRPr lang="zh-CN" altLang="en-US" sz="2400" b="1" kern="1200"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dsp:txBody>
      <dsp:txXfrm>
        <a:off x="402601" y="287707"/>
        <a:ext cx="11344018" cy="575414"/>
      </dsp:txXfrm>
    </dsp:sp>
    <dsp:sp modelId="{8B89CC10-3A52-4F12-807F-757C09BADFF0}">
      <dsp:nvSpPr>
        <dsp:cNvPr id="0" name=""/>
        <dsp:cNvSpPr/>
      </dsp:nvSpPr>
      <dsp:spPr>
        <a:xfrm>
          <a:off x="42966" y="215780"/>
          <a:ext cx="719268" cy="719268"/>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24BC3B9-C825-4F45-A42B-6D0DD96CA9D2}">
      <dsp:nvSpPr>
        <dsp:cNvPr id="0" name=""/>
        <dsp:cNvSpPr/>
      </dsp:nvSpPr>
      <dsp:spPr>
        <a:xfrm>
          <a:off x="648204" y="1118865"/>
          <a:ext cx="11134855" cy="575414"/>
        </a:xfrm>
        <a:prstGeom prst="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6735" tIns="60960" rIns="60960" bIns="60960" numCol="1" spcCol="1270" anchor="ctr" anchorCtr="0">
          <a:noAutofit/>
        </a:bodyPr>
        <a:lstStyle/>
        <a:p>
          <a:pPr lvl="0" algn="l" defTabSz="1066800">
            <a:lnSpc>
              <a:spcPct val="90000"/>
            </a:lnSpc>
            <a:spcBef>
              <a:spcPct val="0"/>
            </a:spcBef>
            <a:spcAft>
              <a:spcPct val="35000"/>
            </a:spcAft>
          </a:pPr>
          <a:r>
            <a:rPr lang="zh-CN" altLang="en-US" sz="2400" b="1" kern="1200" cap="none" spc="0"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用来测定葡萄酒发酵过程中各种香味成分及各种糖类的含量</a:t>
          </a:r>
          <a:endParaRPr lang="zh-CN" altLang="en-US" sz="2400" b="1" kern="1200"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dsp:txBody>
      <dsp:txXfrm>
        <a:off x="648204" y="1118865"/>
        <a:ext cx="11134855" cy="575414"/>
      </dsp:txXfrm>
    </dsp:sp>
    <dsp:sp modelId="{1BCD5AA5-7D0C-4D04-9AFD-9CADD38BA0B7}">
      <dsp:nvSpPr>
        <dsp:cNvPr id="0" name=""/>
        <dsp:cNvSpPr/>
      </dsp:nvSpPr>
      <dsp:spPr>
        <a:xfrm>
          <a:off x="252130" y="1078902"/>
          <a:ext cx="719268" cy="719268"/>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61E2045-F825-4452-A911-308FD2424CC4}">
      <dsp:nvSpPr>
        <dsp:cNvPr id="0" name=""/>
        <dsp:cNvSpPr/>
      </dsp:nvSpPr>
      <dsp:spPr>
        <a:xfrm>
          <a:off x="402601" y="2013951"/>
          <a:ext cx="11344018" cy="575414"/>
        </a:xfrm>
        <a:prstGeom prst="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6735" tIns="60960" rIns="60960" bIns="60960" numCol="1" spcCol="1270" anchor="ctr" anchorCtr="0">
          <a:noAutofit/>
        </a:bodyPr>
        <a:lstStyle/>
        <a:p>
          <a:pPr lvl="0" algn="l" defTabSz="1066800">
            <a:lnSpc>
              <a:spcPct val="90000"/>
            </a:lnSpc>
            <a:spcBef>
              <a:spcPct val="0"/>
            </a:spcBef>
            <a:spcAft>
              <a:spcPct val="35000"/>
            </a:spcAft>
          </a:pPr>
          <a:r>
            <a:rPr lang="zh-CN" altLang="en-US" sz="2400" b="1" kern="1200" cap="none" spc="0"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食品中</a:t>
          </a:r>
          <a:r>
            <a:rPr lang="zh-CN" sz="2400" b="1" kern="1200" cap="none" spc="0"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盐分</a:t>
          </a:r>
          <a:r>
            <a:rPr lang="zh-CN" altLang="en-US" sz="2400" b="1" kern="1200" cap="none" spc="0"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、灰分的测定</a:t>
          </a:r>
          <a:r>
            <a:rPr lang="en-US" altLang="zh-CN" sz="2400" b="1" kern="1200" cap="none" spc="0"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a:t>
          </a:r>
          <a:r>
            <a:rPr lang="zh-CN" altLang="en-US" sz="2400" b="1" kern="1200" cap="none" spc="0"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以及葡萄酒中金属含量的测定</a:t>
          </a:r>
        </a:p>
      </dsp:txBody>
      <dsp:txXfrm>
        <a:off x="402601" y="2013951"/>
        <a:ext cx="11344018" cy="575414"/>
      </dsp:txXfrm>
    </dsp:sp>
    <dsp:sp modelId="{275F542D-4B61-4889-AB61-35BC9C5857FE}">
      <dsp:nvSpPr>
        <dsp:cNvPr id="0" name=""/>
        <dsp:cNvSpPr/>
      </dsp:nvSpPr>
      <dsp:spPr>
        <a:xfrm>
          <a:off x="42966" y="1942024"/>
          <a:ext cx="719268" cy="719268"/>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PictureStrips">
  <dgm:title val=""/>
  <dgm:desc val=""/>
  <dgm:catLst>
    <dgm:cat type="list" pri="12500"/>
    <dgm:cat type="picture" pri="13000"/>
    <dgm:cat type="pictureconvert" pri="13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40" srcId="0" destId="10" srcOrd="0" destOrd="0"/>
        <dgm:cxn modelId="50" srcId="0" destId="20" srcOrd="1" destOrd="0"/>
        <dgm:cxn modelId="60" srcId="0" destId="30" srcOrd="2" destOrd="0"/>
        <dgm:cxn modelId="70" srcId="0" destId="40" srcOrd="2"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h" refFor="ch" refForName="composite" op="equ" fact="0.1"/>
      <dgm:constr type="h" for="ch" forName="sibTrans" refType="h" refFor="ch" refForName="composite" op="equ" fact="0.1"/>
      <dgm:constr type="w" for="ch" forName="sibTrans" refType="h" refFor="ch" refForName="sibTrans" op="equ"/>
    </dgm:constrLst>
    <dgm:forEach name="nodesForEach" axis="ch" ptType="node">
      <dgm:layoutNode name="composite">
        <dgm:alg type="composite">
          <dgm:param type="ar" val="3"/>
        </dgm:alg>
        <dgm:shape xmlns:r="http://schemas.openxmlformats.org/officeDocument/2006/relationships" r:blip="">
          <dgm:adjLst/>
        </dgm:shape>
        <dgm:choose name="Name4">
          <dgm:if name="Name5" func="var" arg="dir" op="equ" val="norm">
            <dgm:constrLst>
              <dgm:constr type="l" for="ch" forName="rect1" refType="w" fact="0.04"/>
              <dgm:constr type="t" for="ch" forName="rect1" refType="h" fact="0.13"/>
              <dgm:constr type="w" for="ch" forName="rect1" refType="w" fact="0.96"/>
              <dgm:constr type="h" for="ch" forName="rect1" refType="h" fact="0.9"/>
              <dgm:constr type="l" for="ch" forName="rect2" refType="w" fact="0"/>
              <dgm:constr type="t" for="ch" forName="rect2" refType="h" fact="0"/>
              <dgm:constr type="w" for="ch" forName="rect2" refType="w" fact="0.21"/>
              <dgm:constr type="h" for="ch" forName="rect2" refType="w" fact="0.315"/>
            </dgm:constrLst>
          </dgm:if>
          <dgm:else name="Name6">
            <dgm:constrLst>
              <dgm:constr type="l" for="ch" forName="rect1" refType="w" fact="0"/>
              <dgm:constr type="t" for="ch" forName="rect1" refType="h" fact="0.13"/>
              <dgm:constr type="w" for="ch" forName="rect1" refType="w" fact="0.96"/>
              <dgm:constr type="h" for="ch" forName="rect1" refType="h" fact="0.9"/>
              <dgm:constr type="l" for="ch" forName="rect2" refType="w" fact="0.79"/>
              <dgm:constr type="t" for="ch" forName="rect2" refType="h" fact="0"/>
              <dgm:constr type="w" for="ch" forName="rect2" refType="w" fact="0.21"/>
              <dgm:constr type="h" for="ch" forName="rect2" refType="w" fact="0.315"/>
            </dgm:constrLst>
          </dgm:else>
        </dgm:choose>
        <dgm:layoutNode name="rect1" styleLbl="trAlignAcc1">
          <dgm:varLst>
            <dgm:bulletEnabled val="1"/>
          </dgm:varLst>
          <dgm:alg type="tx">
            <dgm:param type="parTxLTRAlign" val="l"/>
          </dgm:alg>
          <dgm:shape xmlns:r="http://schemas.openxmlformats.org/officeDocument/2006/relationships" type="rect" r:blip="">
            <dgm:adjLst/>
          </dgm:shape>
          <dgm:presOf axis="desOrSelf" ptType="node"/>
          <dgm:choose name="Name7">
            <dgm:if name="Name8" func="var" arg="dir" op="equ" val="norm">
              <dgm:constrLst>
                <dgm:constr type="lMarg" refType="w" fact="0.6"/>
                <dgm:constr type="rMarg" refType="primFontSz" fact="0.3"/>
                <dgm:constr type="tMarg" refType="primFontSz" fact="0.3"/>
                <dgm:constr type="bMarg" refType="primFontSz" fact="0.3"/>
              </dgm:constrLst>
            </dgm:if>
            <dgm:else name="Name9">
              <dgm:constrLst>
                <dgm:constr type="lMarg" refType="primFontSz" fact="0.3"/>
                <dgm:constr type="rMarg" refType="w" fact="0.6"/>
                <dgm:constr type="tMarg" refType="primFontSz" fact="0.3"/>
                <dgm:constr type="bMarg" refType="primFontSz" fact="0.3"/>
              </dgm:constrLst>
            </dgm:else>
          </dgm:choose>
          <dgm:ruleLst>
            <dgm:rule type="primFontSz" val="5" fact="NaN" max="NaN"/>
          </dgm:ruleLst>
        </dgm:layoutNode>
        <dgm:layoutNode name="rect2" styleLbl="fg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VerticalCurvedList#1">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srcNode" val="srcNode"/>
            <dgm:param type="dstNode" val="dstNode"/>
            <dgm:param type="endSty" val="noArr"/>
            <dgm:param type="connRout" val="curve"/>
            <dgm:param type="begPts" val="ctr"/>
            <dgm:param type="endPts" val="ct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parTxRTLAlign" val="l"/>
                <dgm:param type="shpTxLTRAlignCh" val="l"/>
                <dgm:param type="shpTxRTLAlignCh" val="l"/>
              </dgm:alg>
            </dgm:if>
            <dgm:else name="Name2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parTxRTLAlign" val="l"/>
                <dgm:param type="shpTxLTRAlignCh" val="l"/>
                <dgm:param type="shpTxRTLAlignCh" val="l"/>
              </dgm:alg>
            </dgm:if>
            <dgm:else name="Name3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parTxRTLAlign" val="l"/>
                <dgm:param type="shpTxLTRAlignCh" val="l"/>
                <dgm:param type="shpTxRTLAlignCh" val="l"/>
              </dgm:alg>
            </dgm:if>
            <dgm:else name="Name3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parTxRTLAlign" val="l"/>
                <dgm:param type="shpTxLTRAlignCh" val="l"/>
                <dgm:param type="shpTxRTLAlignCh" val="l"/>
              </dgm:alg>
            </dgm:if>
            <dgm:else name="Name4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parTxRTLAlign" val="l"/>
                <dgm:param type="shpTxLTRAlignCh" val="l"/>
                <dgm:param type="shpTxRTLAlignCh" val="l"/>
              </dgm:alg>
            </dgm:if>
            <dgm:else name="Name4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parTxRTLAlign" val="l"/>
                <dgm:param type="shpTxLTRAlignCh" val="l"/>
                <dgm:param type="shpTxRTLAlignCh" val="l"/>
              </dgm:alg>
            </dgm:if>
            <dgm:else name="Name5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parTxRTLAlign" val="l"/>
                <dgm:param type="shpTxLTRAlignCh" val="l"/>
                <dgm:param type="shpTxRTLAlignCh" val="l"/>
              </dgm:alg>
            </dgm:if>
            <dgm:else name="Name5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wmf"/><Relationship Id="rId6" Type="http://schemas.openxmlformats.org/officeDocument/2006/relationships/image" Target="../media/image16.wmf"/><Relationship Id="rId5" Type="http://schemas.openxmlformats.org/officeDocument/2006/relationships/image" Target="../media/image15.wmf"/><Relationship Id="rId4" Type="http://schemas.openxmlformats.org/officeDocument/2006/relationships/image" Target="../media/image14.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 Id="rId4" Type="http://schemas.openxmlformats.org/officeDocument/2006/relationships/image" Target="../media/image20.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image" Target="../media/image24.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27.wmf"/><Relationship Id="rId1" Type="http://schemas.openxmlformats.org/officeDocument/2006/relationships/image" Target="../media/image26.wmf"/><Relationship Id="rId6" Type="http://schemas.openxmlformats.org/officeDocument/2006/relationships/image" Target="../media/image31.wmf"/><Relationship Id="rId5" Type="http://schemas.openxmlformats.org/officeDocument/2006/relationships/image" Target="../media/image30.wmf"/><Relationship Id="rId4" Type="http://schemas.openxmlformats.org/officeDocument/2006/relationships/image" Target="../media/image29.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32.wmf"/><Relationship Id="rId5" Type="http://schemas.openxmlformats.org/officeDocument/2006/relationships/image" Target="../media/image36.wmf"/><Relationship Id="rId4" Type="http://schemas.openxmlformats.org/officeDocument/2006/relationships/image" Target="../media/image3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657770-653C-4BD1-8CAE-5E52D2BB947D}" type="datetimeFigureOut">
              <a:rPr lang="zh-CN" altLang="en-US" smtClean="0"/>
              <a:pPr/>
              <a:t>2018/5/8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2EE9A7-CDE2-42EE-BCBD-90DBF6787F38}"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115CC407-D18C-48DF-B67F-198F953991DD}" type="datetimeFigureOut">
              <a:rPr lang="zh-CN" altLang="en-US" smtClean="0"/>
              <a:pPr/>
              <a:t>2018/5/8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C92786F-84DE-4014-89C7-D8455B582C8B}"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15CC407-D18C-48DF-B67F-198F953991DD}" type="datetimeFigureOut">
              <a:rPr lang="zh-CN" altLang="en-US" smtClean="0"/>
              <a:pPr/>
              <a:t>2018/5/8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C92786F-84DE-4014-89C7-D8455B582C8B}"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115CC407-D18C-48DF-B67F-198F953991DD}" type="datetimeFigureOut">
              <a:rPr lang="zh-CN" altLang="en-US" smtClean="0"/>
              <a:pPr/>
              <a:t>2018/5/8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C92786F-84DE-4014-89C7-D8455B582C8B}"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15CC407-D18C-48DF-B67F-198F953991DD}" type="datetimeFigureOut">
              <a:rPr lang="zh-CN" altLang="en-US" smtClean="0"/>
              <a:pPr/>
              <a:t>2018/5/8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C92786F-84DE-4014-89C7-D8455B582C8B}"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15CC407-D18C-48DF-B67F-198F953991DD}" type="datetimeFigureOut">
              <a:rPr lang="zh-CN" altLang="en-US" smtClean="0"/>
              <a:pPr/>
              <a:t>2018/5/8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C92786F-84DE-4014-89C7-D8455B582C8B}"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15CC407-D18C-48DF-B67F-198F953991DD}" type="datetimeFigureOut">
              <a:rPr lang="zh-CN" altLang="en-US" smtClean="0"/>
              <a:pPr/>
              <a:t>2018/5/8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C92786F-84DE-4014-89C7-D8455B582C8B}"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15CC407-D18C-48DF-B67F-198F953991DD}" type="datetimeFigureOut">
              <a:rPr lang="zh-CN" altLang="en-US" smtClean="0"/>
              <a:pPr/>
              <a:t>2018/5/8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C92786F-84DE-4014-89C7-D8455B582C8B}"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15CC407-D18C-48DF-B67F-198F953991DD}" type="datetimeFigureOut">
              <a:rPr lang="zh-CN" altLang="en-US" smtClean="0"/>
              <a:pPr/>
              <a:t>2018/5/8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C92786F-84DE-4014-89C7-D8455B582C8B}"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15CC407-D18C-48DF-B67F-198F953991DD}" type="datetimeFigureOut">
              <a:rPr lang="zh-CN" altLang="en-US" smtClean="0"/>
              <a:pPr/>
              <a:t>2018/5/8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C92786F-84DE-4014-89C7-D8455B582C8B}"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15CC407-D18C-48DF-B67F-198F953991DD}" type="datetimeFigureOut">
              <a:rPr lang="zh-CN" altLang="en-US" smtClean="0"/>
              <a:pPr/>
              <a:t>2018/5/8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C92786F-84DE-4014-89C7-D8455B582C8B}"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15CC407-D18C-48DF-B67F-198F953991DD}" type="datetimeFigureOut">
              <a:rPr lang="zh-CN" altLang="en-US" smtClean="0"/>
              <a:pPr/>
              <a:t>2018/5/8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C92786F-84DE-4014-89C7-D8455B582C8B}" type="slidenum">
              <a:rPr lang="zh-CN" altLang="en-US" smtClean="0"/>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theme" Target="../theme/theme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0.xml"/><Relationship Id="rId3" Type="http://schemas.openxmlformats.org/officeDocument/2006/relationships/slideLayout" Target="../slideLayouts/slideLayout35.xml"/><Relationship Id="rId7" Type="http://schemas.openxmlformats.org/officeDocument/2006/relationships/slideLayout" Target="../slideLayouts/slideLayout39.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theme" Target="../theme/theme4.xml"/><Relationship Id="rId5" Type="http://schemas.openxmlformats.org/officeDocument/2006/relationships/slideLayout" Target="../slideLayouts/slideLayout3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0.xml"/><Relationship Id="rId3" Type="http://schemas.openxmlformats.org/officeDocument/2006/relationships/slideLayout" Target="../slideLayouts/slideLayout45.xml"/><Relationship Id="rId7" Type="http://schemas.openxmlformats.org/officeDocument/2006/relationships/slideLayout" Target="../slideLayouts/slideLayout49.xml"/><Relationship Id="rId2" Type="http://schemas.openxmlformats.org/officeDocument/2006/relationships/slideLayout" Target="../slideLayouts/slideLayout44.xml"/><Relationship Id="rId1" Type="http://schemas.openxmlformats.org/officeDocument/2006/relationships/slideLayout" Target="../slideLayouts/slideLayout43.xml"/><Relationship Id="rId6" Type="http://schemas.openxmlformats.org/officeDocument/2006/relationships/slideLayout" Target="../slideLayouts/slideLayout48.xml"/><Relationship Id="rId11" Type="http://schemas.openxmlformats.org/officeDocument/2006/relationships/theme" Target="../theme/theme5.xml"/><Relationship Id="rId5" Type="http://schemas.openxmlformats.org/officeDocument/2006/relationships/slideLayout" Target="../slideLayouts/slideLayout47.xml"/><Relationship Id="rId10" Type="http://schemas.openxmlformats.org/officeDocument/2006/relationships/slideLayout" Target="../slideLayouts/slideLayout52.xml"/><Relationship Id="rId4" Type="http://schemas.openxmlformats.org/officeDocument/2006/relationships/slideLayout" Target="../slideLayouts/slideLayout46.xml"/><Relationship Id="rId9" Type="http://schemas.openxmlformats.org/officeDocument/2006/relationships/slideLayout" Target="../slideLayouts/slideLayout51.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0.xml"/><Relationship Id="rId3" Type="http://schemas.openxmlformats.org/officeDocument/2006/relationships/slideLayout" Target="../slideLayouts/slideLayout55.xml"/><Relationship Id="rId7" Type="http://schemas.openxmlformats.org/officeDocument/2006/relationships/slideLayout" Target="../slideLayouts/slideLayout59.xml"/><Relationship Id="rId2" Type="http://schemas.openxmlformats.org/officeDocument/2006/relationships/slideLayout" Target="../slideLayouts/slideLayout54.xml"/><Relationship Id="rId1" Type="http://schemas.openxmlformats.org/officeDocument/2006/relationships/slideLayout" Target="../slideLayouts/slideLayout53.xml"/><Relationship Id="rId6" Type="http://schemas.openxmlformats.org/officeDocument/2006/relationships/slideLayout" Target="../slideLayouts/slideLayout58.xml"/><Relationship Id="rId11" Type="http://schemas.openxmlformats.org/officeDocument/2006/relationships/theme" Target="../theme/theme6.xml"/><Relationship Id="rId5" Type="http://schemas.openxmlformats.org/officeDocument/2006/relationships/slideLayout" Target="../slideLayouts/slideLayout57.xml"/><Relationship Id="rId10" Type="http://schemas.openxmlformats.org/officeDocument/2006/relationships/slideLayout" Target="../slideLayouts/slideLayout62.xml"/><Relationship Id="rId4" Type="http://schemas.openxmlformats.org/officeDocument/2006/relationships/slideLayout" Target="../slideLayouts/slideLayout56.xml"/><Relationship Id="rId9" Type="http://schemas.openxmlformats.org/officeDocument/2006/relationships/slideLayout" Target="../slideLayouts/slideLayout61.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0.xml"/><Relationship Id="rId3" Type="http://schemas.openxmlformats.org/officeDocument/2006/relationships/slideLayout" Target="../slideLayouts/slideLayout65.xml"/><Relationship Id="rId7" Type="http://schemas.openxmlformats.org/officeDocument/2006/relationships/slideLayout" Target="../slideLayouts/slideLayout69.xml"/><Relationship Id="rId2" Type="http://schemas.openxmlformats.org/officeDocument/2006/relationships/slideLayout" Target="../slideLayouts/slideLayout64.xml"/><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theme" Target="../theme/theme7.xml"/><Relationship Id="rId5" Type="http://schemas.openxmlformats.org/officeDocument/2006/relationships/slideLayout" Target="../slideLayouts/slideLayout67.xml"/><Relationship Id="rId10" Type="http://schemas.openxmlformats.org/officeDocument/2006/relationships/slideLayout" Target="../slideLayouts/slideLayout72.xml"/><Relationship Id="rId4" Type="http://schemas.openxmlformats.org/officeDocument/2006/relationships/slideLayout" Target="../slideLayouts/slideLayout66.xml"/><Relationship Id="rId9" Type="http://schemas.openxmlformats.org/officeDocument/2006/relationships/slideLayout" Target="../slideLayouts/slideLayout71.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0.xml"/><Relationship Id="rId3" Type="http://schemas.openxmlformats.org/officeDocument/2006/relationships/slideLayout" Target="../slideLayouts/slideLayout75.xml"/><Relationship Id="rId7" Type="http://schemas.openxmlformats.org/officeDocument/2006/relationships/slideLayout" Target="../slideLayouts/slideLayout79.xml"/><Relationship Id="rId2" Type="http://schemas.openxmlformats.org/officeDocument/2006/relationships/slideLayout" Target="../slideLayouts/slideLayout74.xml"/><Relationship Id="rId1" Type="http://schemas.openxmlformats.org/officeDocument/2006/relationships/slideLayout" Target="../slideLayouts/slideLayout73.xml"/><Relationship Id="rId6" Type="http://schemas.openxmlformats.org/officeDocument/2006/relationships/slideLayout" Target="../slideLayouts/slideLayout78.xml"/><Relationship Id="rId11" Type="http://schemas.openxmlformats.org/officeDocument/2006/relationships/theme" Target="../theme/theme8.xml"/><Relationship Id="rId5" Type="http://schemas.openxmlformats.org/officeDocument/2006/relationships/slideLayout" Target="../slideLayouts/slideLayout77.xml"/><Relationship Id="rId10" Type="http://schemas.openxmlformats.org/officeDocument/2006/relationships/slideLayout" Target="../slideLayouts/slideLayout82.xml"/><Relationship Id="rId4" Type="http://schemas.openxmlformats.org/officeDocument/2006/relationships/slideLayout" Target="../slideLayouts/slideLayout76.xml"/><Relationship Id="rId9" Type="http://schemas.openxmlformats.org/officeDocument/2006/relationships/slideLayout" Target="../slideLayouts/slideLayout81.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90.xml"/><Relationship Id="rId3" Type="http://schemas.openxmlformats.org/officeDocument/2006/relationships/slideLayout" Target="../slideLayouts/slideLayout85.xml"/><Relationship Id="rId7" Type="http://schemas.openxmlformats.org/officeDocument/2006/relationships/slideLayout" Target="../slideLayouts/slideLayout89.xml"/><Relationship Id="rId2" Type="http://schemas.openxmlformats.org/officeDocument/2006/relationships/slideLayout" Target="../slideLayouts/slideLayout84.xml"/><Relationship Id="rId1" Type="http://schemas.openxmlformats.org/officeDocument/2006/relationships/slideLayout" Target="../slideLayouts/slideLayout83.xml"/><Relationship Id="rId6" Type="http://schemas.openxmlformats.org/officeDocument/2006/relationships/slideLayout" Target="../slideLayouts/slideLayout88.xml"/><Relationship Id="rId11" Type="http://schemas.openxmlformats.org/officeDocument/2006/relationships/theme" Target="../theme/theme9.xml"/><Relationship Id="rId5" Type="http://schemas.openxmlformats.org/officeDocument/2006/relationships/slideLayout" Target="../slideLayouts/slideLayout87.xml"/><Relationship Id="rId10" Type="http://schemas.openxmlformats.org/officeDocument/2006/relationships/slideLayout" Target="../slideLayouts/slideLayout92.xml"/><Relationship Id="rId4" Type="http://schemas.openxmlformats.org/officeDocument/2006/relationships/slideLayout" Target="../slideLayouts/slideLayout86.xml"/><Relationship Id="rId9" Type="http://schemas.openxmlformats.org/officeDocument/2006/relationships/slideLayout" Target="../slideLayouts/slideLayout91.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00.xml"/><Relationship Id="rId3" Type="http://schemas.openxmlformats.org/officeDocument/2006/relationships/slideLayout" Target="../slideLayouts/slideLayout95.xml"/><Relationship Id="rId7" Type="http://schemas.openxmlformats.org/officeDocument/2006/relationships/slideLayout" Target="../slideLayouts/slideLayout99.xml"/><Relationship Id="rId2" Type="http://schemas.openxmlformats.org/officeDocument/2006/relationships/slideLayout" Target="../slideLayouts/slideLayout94.xml"/><Relationship Id="rId1" Type="http://schemas.openxmlformats.org/officeDocument/2006/relationships/slideLayout" Target="../slideLayouts/slideLayout93.xml"/><Relationship Id="rId6" Type="http://schemas.openxmlformats.org/officeDocument/2006/relationships/slideLayout" Target="../slideLayouts/slideLayout98.xml"/><Relationship Id="rId11" Type="http://schemas.openxmlformats.org/officeDocument/2006/relationships/theme" Target="../theme/theme10.xml"/><Relationship Id="rId5" Type="http://schemas.openxmlformats.org/officeDocument/2006/relationships/slideLayout" Target="../slideLayouts/slideLayout97.xml"/><Relationship Id="rId10" Type="http://schemas.openxmlformats.org/officeDocument/2006/relationships/slideLayout" Target="../slideLayouts/slideLayout102.xml"/><Relationship Id="rId4" Type="http://schemas.openxmlformats.org/officeDocument/2006/relationships/slideLayout" Target="../slideLayouts/slideLayout96.xml"/><Relationship Id="rId9" Type="http://schemas.openxmlformats.org/officeDocument/2006/relationships/slideLayout" Target="../slideLayouts/slideLayout101.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10.xml"/><Relationship Id="rId3" Type="http://schemas.openxmlformats.org/officeDocument/2006/relationships/slideLayout" Target="../slideLayouts/slideLayout105.xml"/><Relationship Id="rId7" Type="http://schemas.openxmlformats.org/officeDocument/2006/relationships/slideLayout" Target="../slideLayouts/slideLayout109.xml"/><Relationship Id="rId12" Type="http://schemas.openxmlformats.org/officeDocument/2006/relationships/theme" Target="../theme/theme11.xml"/><Relationship Id="rId2" Type="http://schemas.openxmlformats.org/officeDocument/2006/relationships/slideLayout" Target="../slideLayouts/slideLayout104.xml"/><Relationship Id="rId1" Type="http://schemas.openxmlformats.org/officeDocument/2006/relationships/slideLayout" Target="../slideLayouts/slideLayout103.xml"/><Relationship Id="rId6" Type="http://schemas.openxmlformats.org/officeDocument/2006/relationships/slideLayout" Target="../slideLayouts/slideLayout108.xml"/><Relationship Id="rId11" Type="http://schemas.openxmlformats.org/officeDocument/2006/relationships/slideLayout" Target="../slideLayouts/slideLayout113.xml"/><Relationship Id="rId5" Type="http://schemas.openxmlformats.org/officeDocument/2006/relationships/slideLayout" Target="../slideLayouts/slideLayout107.xml"/><Relationship Id="rId10" Type="http://schemas.openxmlformats.org/officeDocument/2006/relationships/slideLayout" Target="../slideLayouts/slideLayout112.xml"/><Relationship Id="rId4" Type="http://schemas.openxmlformats.org/officeDocument/2006/relationships/slideLayout" Target="../slideLayouts/slideLayout106.xml"/><Relationship Id="rId9" Type="http://schemas.openxmlformats.org/officeDocument/2006/relationships/slideLayout" Target="../slideLayouts/slideLayout111.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21.xml"/><Relationship Id="rId3" Type="http://schemas.openxmlformats.org/officeDocument/2006/relationships/slideLayout" Target="../slideLayouts/slideLayout116.xml"/><Relationship Id="rId7" Type="http://schemas.openxmlformats.org/officeDocument/2006/relationships/slideLayout" Target="../slideLayouts/slideLayout120.xml"/><Relationship Id="rId12" Type="http://schemas.openxmlformats.org/officeDocument/2006/relationships/theme" Target="../theme/theme12.xml"/><Relationship Id="rId2" Type="http://schemas.openxmlformats.org/officeDocument/2006/relationships/slideLayout" Target="../slideLayouts/slideLayout115.xml"/><Relationship Id="rId1" Type="http://schemas.openxmlformats.org/officeDocument/2006/relationships/slideLayout" Target="../slideLayouts/slideLayout114.xml"/><Relationship Id="rId6" Type="http://schemas.openxmlformats.org/officeDocument/2006/relationships/slideLayout" Target="../slideLayouts/slideLayout119.xml"/><Relationship Id="rId11" Type="http://schemas.openxmlformats.org/officeDocument/2006/relationships/slideLayout" Target="../slideLayouts/slideLayout124.xml"/><Relationship Id="rId5" Type="http://schemas.openxmlformats.org/officeDocument/2006/relationships/slideLayout" Target="../slideLayouts/slideLayout118.xml"/><Relationship Id="rId10" Type="http://schemas.openxmlformats.org/officeDocument/2006/relationships/slideLayout" Target="../slideLayouts/slideLayout123.xml"/><Relationship Id="rId4" Type="http://schemas.openxmlformats.org/officeDocument/2006/relationships/slideLayout" Target="../slideLayouts/slideLayout117.xml"/><Relationship Id="rId9" Type="http://schemas.openxmlformats.org/officeDocument/2006/relationships/slideLayout" Target="../slideLayouts/slideLayout122.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32.xml"/><Relationship Id="rId3" Type="http://schemas.openxmlformats.org/officeDocument/2006/relationships/slideLayout" Target="../slideLayouts/slideLayout127.xml"/><Relationship Id="rId7" Type="http://schemas.openxmlformats.org/officeDocument/2006/relationships/slideLayout" Target="../slideLayouts/slideLayout131.xml"/><Relationship Id="rId12" Type="http://schemas.openxmlformats.org/officeDocument/2006/relationships/theme" Target="../theme/theme13.xml"/><Relationship Id="rId2" Type="http://schemas.openxmlformats.org/officeDocument/2006/relationships/slideLayout" Target="../slideLayouts/slideLayout126.xml"/><Relationship Id="rId1" Type="http://schemas.openxmlformats.org/officeDocument/2006/relationships/slideLayout" Target="../slideLayouts/slideLayout125.xml"/><Relationship Id="rId6" Type="http://schemas.openxmlformats.org/officeDocument/2006/relationships/slideLayout" Target="../slideLayouts/slideLayout130.xml"/><Relationship Id="rId11" Type="http://schemas.openxmlformats.org/officeDocument/2006/relationships/slideLayout" Target="../slideLayouts/slideLayout135.xml"/><Relationship Id="rId5" Type="http://schemas.openxmlformats.org/officeDocument/2006/relationships/slideLayout" Target="../slideLayouts/slideLayout129.xml"/><Relationship Id="rId10" Type="http://schemas.openxmlformats.org/officeDocument/2006/relationships/slideLayout" Target="../slideLayouts/slideLayout134.xml"/><Relationship Id="rId4" Type="http://schemas.openxmlformats.org/officeDocument/2006/relationships/slideLayout" Target="../slideLayouts/slideLayout128.xml"/><Relationship Id="rId9" Type="http://schemas.openxmlformats.org/officeDocument/2006/relationships/slideLayout" Target="../slideLayouts/slideLayout133.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143.xml"/><Relationship Id="rId3" Type="http://schemas.openxmlformats.org/officeDocument/2006/relationships/slideLayout" Target="../slideLayouts/slideLayout138.xml"/><Relationship Id="rId7" Type="http://schemas.openxmlformats.org/officeDocument/2006/relationships/slideLayout" Target="../slideLayouts/slideLayout142.xml"/><Relationship Id="rId12" Type="http://schemas.openxmlformats.org/officeDocument/2006/relationships/theme" Target="../theme/theme14.xml"/><Relationship Id="rId2" Type="http://schemas.openxmlformats.org/officeDocument/2006/relationships/slideLayout" Target="../slideLayouts/slideLayout137.xml"/><Relationship Id="rId1" Type="http://schemas.openxmlformats.org/officeDocument/2006/relationships/slideLayout" Target="../slideLayouts/slideLayout136.xml"/><Relationship Id="rId6" Type="http://schemas.openxmlformats.org/officeDocument/2006/relationships/slideLayout" Target="../slideLayouts/slideLayout141.xml"/><Relationship Id="rId11" Type="http://schemas.openxmlformats.org/officeDocument/2006/relationships/slideLayout" Target="../slideLayouts/slideLayout146.xml"/><Relationship Id="rId5" Type="http://schemas.openxmlformats.org/officeDocument/2006/relationships/slideLayout" Target="../slideLayouts/slideLayout140.xml"/><Relationship Id="rId10" Type="http://schemas.openxmlformats.org/officeDocument/2006/relationships/slideLayout" Target="../slideLayouts/slideLayout145.xml"/><Relationship Id="rId4" Type="http://schemas.openxmlformats.org/officeDocument/2006/relationships/slideLayout" Target="../slideLayouts/slideLayout139.xml"/><Relationship Id="rId9" Type="http://schemas.openxmlformats.org/officeDocument/2006/relationships/slideLayout" Target="../slideLayouts/slideLayout144.xml"/></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154.xml"/><Relationship Id="rId3" Type="http://schemas.openxmlformats.org/officeDocument/2006/relationships/slideLayout" Target="../slideLayouts/slideLayout149.xml"/><Relationship Id="rId7" Type="http://schemas.openxmlformats.org/officeDocument/2006/relationships/slideLayout" Target="../slideLayouts/slideLayout153.xml"/><Relationship Id="rId12" Type="http://schemas.openxmlformats.org/officeDocument/2006/relationships/theme" Target="../theme/theme15.xml"/><Relationship Id="rId2" Type="http://schemas.openxmlformats.org/officeDocument/2006/relationships/slideLayout" Target="../slideLayouts/slideLayout148.xml"/><Relationship Id="rId1" Type="http://schemas.openxmlformats.org/officeDocument/2006/relationships/slideLayout" Target="../slideLayouts/slideLayout147.xml"/><Relationship Id="rId6" Type="http://schemas.openxmlformats.org/officeDocument/2006/relationships/slideLayout" Target="../slideLayouts/slideLayout152.xml"/><Relationship Id="rId11" Type="http://schemas.openxmlformats.org/officeDocument/2006/relationships/slideLayout" Target="../slideLayouts/slideLayout157.xml"/><Relationship Id="rId5" Type="http://schemas.openxmlformats.org/officeDocument/2006/relationships/slideLayout" Target="../slideLayouts/slideLayout151.xml"/><Relationship Id="rId10" Type="http://schemas.openxmlformats.org/officeDocument/2006/relationships/slideLayout" Target="../slideLayouts/slideLayout156.xml"/><Relationship Id="rId4" Type="http://schemas.openxmlformats.org/officeDocument/2006/relationships/slideLayout" Target="../slideLayouts/slideLayout150.xml"/><Relationship Id="rId9" Type="http://schemas.openxmlformats.org/officeDocument/2006/relationships/slideLayout" Target="../slideLayouts/slideLayout155.xml"/></Relationships>
</file>

<file path=ppt/slideMasters/_rels/slideMaster16.xml.rels><?xml version="1.0" encoding="UTF-8" standalone="yes"?>
<Relationships xmlns="http://schemas.openxmlformats.org/package/2006/relationships"><Relationship Id="rId8" Type="http://schemas.openxmlformats.org/officeDocument/2006/relationships/slideLayout" Target="../slideLayouts/slideLayout165.xml"/><Relationship Id="rId3" Type="http://schemas.openxmlformats.org/officeDocument/2006/relationships/slideLayout" Target="../slideLayouts/slideLayout160.xml"/><Relationship Id="rId7" Type="http://schemas.openxmlformats.org/officeDocument/2006/relationships/slideLayout" Target="../slideLayouts/slideLayout164.xml"/><Relationship Id="rId12" Type="http://schemas.openxmlformats.org/officeDocument/2006/relationships/theme" Target="../theme/theme16.xml"/><Relationship Id="rId2" Type="http://schemas.openxmlformats.org/officeDocument/2006/relationships/slideLayout" Target="../slideLayouts/slideLayout159.xml"/><Relationship Id="rId1" Type="http://schemas.openxmlformats.org/officeDocument/2006/relationships/slideLayout" Target="../slideLayouts/slideLayout158.xml"/><Relationship Id="rId6" Type="http://schemas.openxmlformats.org/officeDocument/2006/relationships/slideLayout" Target="../slideLayouts/slideLayout163.xml"/><Relationship Id="rId11" Type="http://schemas.openxmlformats.org/officeDocument/2006/relationships/slideLayout" Target="../slideLayouts/slideLayout168.xml"/><Relationship Id="rId5" Type="http://schemas.openxmlformats.org/officeDocument/2006/relationships/slideLayout" Target="../slideLayouts/slideLayout162.xml"/><Relationship Id="rId10" Type="http://schemas.openxmlformats.org/officeDocument/2006/relationships/slideLayout" Target="../slideLayouts/slideLayout167.xml"/><Relationship Id="rId4" Type="http://schemas.openxmlformats.org/officeDocument/2006/relationships/slideLayout" Target="../slideLayouts/slideLayout161.xml"/><Relationship Id="rId9" Type="http://schemas.openxmlformats.org/officeDocument/2006/relationships/slideLayout" Target="../slideLayouts/slideLayout166.xml"/></Relationships>
</file>

<file path=ppt/slideMasters/_rels/slideMaster17.xml.rels><?xml version="1.0" encoding="UTF-8" standalone="yes"?>
<Relationships xmlns="http://schemas.openxmlformats.org/package/2006/relationships"><Relationship Id="rId8" Type="http://schemas.openxmlformats.org/officeDocument/2006/relationships/slideLayout" Target="../slideLayouts/slideLayout176.xml"/><Relationship Id="rId3" Type="http://schemas.openxmlformats.org/officeDocument/2006/relationships/slideLayout" Target="../slideLayouts/slideLayout171.xml"/><Relationship Id="rId7" Type="http://schemas.openxmlformats.org/officeDocument/2006/relationships/slideLayout" Target="../slideLayouts/slideLayout175.xml"/><Relationship Id="rId12" Type="http://schemas.openxmlformats.org/officeDocument/2006/relationships/theme" Target="../theme/theme17.xml"/><Relationship Id="rId2" Type="http://schemas.openxmlformats.org/officeDocument/2006/relationships/slideLayout" Target="../slideLayouts/slideLayout170.xml"/><Relationship Id="rId1" Type="http://schemas.openxmlformats.org/officeDocument/2006/relationships/slideLayout" Target="../slideLayouts/slideLayout169.xml"/><Relationship Id="rId6" Type="http://schemas.openxmlformats.org/officeDocument/2006/relationships/slideLayout" Target="../slideLayouts/slideLayout174.xml"/><Relationship Id="rId11" Type="http://schemas.openxmlformats.org/officeDocument/2006/relationships/slideLayout" Target="../slideLayouts/slideLayout179.xml"/><Relationship Id="rId5" Type="http://schemas.openxmlformats.org/officeDocument/2006/relationships/slideLayout" Target="../slideLayouts/slideLayout173.xml"/><Relationship Id="rId10" Type="http://schemas.openxmlformats.org/officeDocument/2006/relationships/slideLayout" Target="../slideLayouts/slideLayout178.xml"/><Relationship Id="rId4" Type="http://schemas.openxmlformats.org/officeDocument/2006/relationships/slideLayout" Target="../slideLayouts/slideLayout172.xml"/><Relationship Id="rId9" Type="http://schemas.openxmlformats.org/officeDocument/2006/relationships/slideLayout" Target="../slideLayouts/slideLayout17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5CC407-D18C-48DF-B67F-198F953991DD}" type="datetimeFigureOut">
              <a:rPr lang="zh-CN" altLang="en-US" smtClean="0"/>
              <a:pPr/>
              <a:t>2018/5/8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92786F-84DE-4014-89C7-D8455B582C8B}"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728" r:id="rId1"/>
    <p:sldLayoutId id="2147483729" r:id="rId2"/>
    <p:sldLayoutId id="2147483730" r:id="rId3"/>
    <p:sldLayoutId id="2147483731" r:id="rId4"/>
    <p:sldLayoutId id="2147483732" r:id="rId5"/>
    <p:sldLayoutId id="2147483733" r:id="rId6"/>
    <p:sldLayoutId id="2147483734" r:id="rId7"/>
    <p:sldLayoutId id="2147483735" r:id="rId8"/>
    <p:sldLayoutId id="2147483736" r:id="rId9"/>
    <p:sldLayoutId id="2147483737"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773" r:id="rId1"/>
    <p:sldLayoutId id="2147483774" r:id="rId2"/>
    <p:sldLayoutId id="2147483775" r:id="rId3"/>
    <p:sldLayoutId id="2147483776" r:id="rId4"/>
    <p:sldLayoutId id="2147483777" r:id="rId5"/>
    <p:sldLayoutId id="2147483778" r:id="rId6"/>
    <p:sldLayoutId id="2147483779" r:id="rId7"/>
    <p:sldLayoutId id="2147483780" r:id="rId8"/>
    <p:sldLayoutId id="2147483781" r:id="rId9"/>
    <p:sldLayoutId id="2147483782" r:id="rId10"/>
    <p:sldLayoutId id="21474837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785" r:id="rId1"/>
    <p:sldLayoutId id="2147483786" r:id="rId2"/>
    <p:sldLayoutId id="2147483787" r:id="rId3"/>
    <p:sldLayoutId id="2147483788" r:id="rId4"/>
    <p:sldLayoutId id="2147483789" r:id="rId5"/>
    <p:sldLayoutId id="2147483790" r:id="rId6"/>
    <p:sldLayoutId id="2147483791" r:id="rId7"/>
    <p:sldLayoutId id="2147483792" r:id="rId8"/>
    <p:sldLayoutId id="2147483793" r:id="rId9"/>
    <p:sldLayoutId id="2147483794" r:id="rId10"/>
    <p:sldLayoutId id="21474837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797" r:id="rId1"/>
    <p:sldLayoutId id="2147483798" r:id="rId2"/>
    <p:sldLayoutId id="2147483799" r:id="rId3"/>
    <p:sldLayoutId id="2147483800" r:id="rId4"/>
    <p:sldLayoutId id="2147483801" r:id="rId5"/>
    <p:sldLayoutId id="2147483802" r:id="rId6"/>
    <p:sldLayoutId id="2147483803" r:id="rId7"/>
    <p:sldLayoutId id="2147483804" r:id="rId8"/>
    <p:sldLayoutId id="2147483805" r:id="rId9"/>
    <p:sldLayoutId id="2147483806" r:id="rId10"/>
    <p:sldLayoutId id="21474838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809" r:id="rId1"/>
    <p:sldLayoutId id="2147483810" r:id="rId2"/>
    <p:sldLayoutId id="2147483811" r:id="rId3"/>
    <p:sldLayoutId id="2147483812" r:id="rId4"/>
    <p:sldLayoutId id="2147483813" r:id="rId5"/>
    <p:sldLayoutId id="2147483814" r:id="rId6"/>
    <p:sldLayoutId id="2147483815" r:id="rId7"/>
    <p:sldLayoutId id="2147483816" r:id="rId8"/>
    <p:sldLayoutId id="2147483817" r:id="rId9"/>
    <p:sldLayoutId id="2147483818" r:id="rId10"/>
    <p:sldLayoutId id="214748381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821" r:id="rId1"/>
    <p:sldLayoutId id="2147483822" r:id="rId2"/>
    <p:sldLayoutId id="2147483823" r:id="rId3"/>
    <p:sldLayoutId id="2147483824" r:id="rId4"/>
    <p:sldLayoutId id="2147483825" r:id="rId5"/>
    <p:sldLayoutId id="2147483826" r:id="rId6"/>
    <p:sldLayoutId id="2147483827" r:id="rId7"/>
    <p:sldLayoutId id="2147483828" r:id="rId8"/>
    <p:sldLayoutId id="2147483829" r:id="rId9"/>
    <p:sldLayoutId id="2147483830" r:id="rId10"/>
    <p:sldLayoutId id="214748383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5CC407-D18C-48DF-B67F-198F953991DD}" type="datetimeFigureOut">
              <a:rPr lang="zh-CN" altLang="en-US" smtClean="0">
                <a:solidFill>
                  <a:prstClr val="black">
                    <a:tint val="75000"/>
                  </a:prstClr>
                </a:solidFill>
              </a:rPr>
              <a:pPr/>
              <a:t>2018/5/8</a:t>
            </a:fld>
            <a:endParaRPr lang="zh-CN" altLang="en-US">
              <a:solidFill>
                <a:prstClr val="black">
                  <a:tint val="75000"/>
                </a:prstClr>
              </a:solidFill>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92786F-84DE-4014-89C7-D8455B582C8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833" r:id="rId1"/>
    <p:sldLayoutId id="2147483834" r:id="rId2"/>
    <p:sldLayoutId id="2147483835" r:id="rId3"/>
    <p:sldLayoutId id="2147483836" r:id="rId4"/>
    <p:sldLayoutId id="2147483837" r:id="rId5"/>
    <p:sldLayoutId id="2147483838" r:id="rId6"/>
    <p:sldLayoutId id="2147483839" r:id="rId7"/>
    <p:sldLayoutId id="2147483840" r:id="rId8"/>
    <p:sldLayoutId id="2147483841" r:id="rId9"/>
    <p:sldLayoutId id="2147483842" r:id="rId10"/>
    <p:sldLayoutId id="214748384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png"/><Relationship Id="rId7" Type="http://schemas.openxmlformats.org/officeDocument/2006/relationships/diagramColors" Target="../diagrams/colors1.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image" Target="../media/image7.png"/><Relationship Id="rId7"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oleObject" Target="../embeddings/oleObject3.bin"/><Relationship Id="rId5" Type="http://schemas.openxmlformats.org/officeDocument/2006/relationships/oleObject" Target="../embeddings/oleObject2.bin"/><Relationship Id="rId4" Type="http://schemas.openxmlformats.org/officeDocument/2006/relationships/oleObject" Target="../embeddings/oleObject1.bin"/><Relationship Id="rId9" Type="http://schemas.openxmlformats.org/officeDocument/2006/relationships/oleObject" Target="../embeddings/oleObject6.bin"/></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image" Target="../media/image7.png"/><Relationship Id="rId7" Type="http://schemas.openxmlformats.org/officeDocument/2006/relationships/oleObject" Target="../embeddings/oleObject9.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oleObject" Target="../embeddings/oleObject8.bin"/><Relationship Id="rId5" Type="http://schemas.openxmlformats.org/officeDocument/2006/relationships/image" Target="../media/image21.png"/><Relationship Id="rId4" Type="http://schemas.openxmlformats.org/officeDocument/2006/relationships/oleObject" Target="../embeddings/oleObject7.bin"/><Relationship Id="rId9"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7.xml"/><Relationship Id="rId1" Type="http://schemas.openxmlformats.org/officeDocument/2006/relationships/vmlDrawing" Target="../drawings/vmlDrawing3.vml"/><Relationship Id="rId5" Type="http://schemas.openxmlformats.org/officeDocument/2006/relationships/oleObject" Target="../embeddings/oleObject12.bin"/><Relationship Id="rId4" Type="http://schemas.openxmlformats.org/officeDocument/2006/relationships/oleObject" Target="../embeddings/oleObject11.bin"/></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17.bin"/><Relationship Id="rId3" Type="http://schemas.openxmlformats.org/officeDocument/2006/relationships/image" Target="../media/image7.png"/><Relationship Id="rId7" Type="http://schemas.openxmlformats.org/officeDocument/2006/relationships/oleObject" Target="../embeddings/oleObject16.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oleObject" Target="../embeddings/oleObject15.bin"/><Relationship Id="rId5" Type="http://schemas.openxmlformats.org/officeDocument/2006/relationships/oleObject" Target="../embeddings/oleObject14.bin"/><Relationship Id="rId4" Type="http://schemas.openxmlformats.org/officeDocument/2006/relationships/oleObject" Target="../embeddings/oleObject13.bin"/><Relationship Id="rId9" Type="http://schemas.openxmlformats.org/officeDocument/2006/relationships/oleObject" Target="../embeddings/oleObject18.bin"/></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23.bin"/><Relationship Id="rId3" Type="http://schemas.openxmlformats.org/officeDocument/2006/relationships/image" Target="../media/image7.png"/><Relationship Id="rId7" Type="http://schemas.openxmlformats.org/officeDocument/2006/relationships/oleObject" Target="../embeddings/oleObject22.bin"/><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oleObject" Target="../embeddings/oleObject21.bin"/><Relationship Id="rId5" Type="http://schemas.openxmlformats.org/officeDocument/2006/relationships/oleObject" Target="../embeddings/oleObject20.bin"/><Relationship Id="rId4" Type="http://schemas.openxmlformats.org/officeDocument/2006/relationships/oleObject" Target="../embeddings/oleObject19.bin"/></Relationships>
</file>

<file path=ppt/slides/_rels/slide1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40.wmf"/><Relationship Id="rId4" Type="http://schemas.openxmlformats.org/officeDocument/2006/relationships/image" Target="../media/image39.wmf"/></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40.wmf"/></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41.png"/></Relationships>
</file>

<file path=ppt/slides/_rels/slide2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Layout" Target="../slideLayouts/slideLayout24.xml"/><Relationship Id="rId4" Type="http://schemas.openxmlformats.org/officeDocument/2006/relationships/image" Target="../media/image43.png"/></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Layout" Target="../slideLayouts/slideLayout34.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Layout" Target="../slideLayouts/slideLayout52.xml"/></Relationships>
</file>

<file path=ppt/slides/_rels/slide3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62.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Layout" Target="../slideLayouts/slideLayout72.xml"/></Relationships>
</file>

<file path=ppt/slides/_rels/slide3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82.xml"/></Relationships>
</file>

<file path=ppt/slides/_rels/slide3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Layout" Target="../slideLayouts/slideLayout92.xml"/></Relationships>
</file>

<file path=ppt/slides/_rels/slide4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Layout" Target="../slideLayouts/slideLayout94.xml"/></Relationships>
</file>

<file path=ppt/slides/_rels/slide4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03.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120.xml"/><Relationship Id="rId5" Type="http://schemas.openxmlformats.org/officeDocument/2006/relationships/image" Target="../media/image9.png"/><Relationship Id="rId4" Type="http://schemas.openxmlformats.org/officeDocument/2006/relationships/image" Target="../media/image44.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131.xml"/><Relationship Id="rId4" Type="http://schemas.openxmlformats.org/officeDocument/2006/relationships/image" Target="../media/image9.png"/></Relationships>
</file>

<file path=ppt/slides/_rels/slide4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7.png"/><Relationship Id="rId1" Type="http://schemas.openxmlformats.org/officeDocument/2006/relationships/slideLayout" Target="../slideLayouts/slideLayout142.xml"/><Relationship Id="rId4" Type="http://schemas.openxmlformats.org/officeDocument/2006/relationships/image" Target="../media/image9.png"/></Relationships>
</file>

<file path=ppt/slides/_rels/slide4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153.xml"/></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159.xml"/><Relationship Id="rId4" Type="http://schemas.openxmlformats.org/officeDocument/2006/relationships/image" Target="../media/image46.png"/></Relationships>
</file>

<file path=ppt/slides/_rels/slide47.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2.png"/><Relationship Id="rId7" Type="http://schemas.openxmlformats.org/officeDocument/2006/relationships/diagramColors" Target="../diagrams/colors2.xml"/><Relationship Id="rId2" Type="http://schemas.openxmlformats.org/officeDocument/2006/relationships/image" Target="../media/image3.png"/><Relationship Id="rId1" Type="http://schemas.openxmlformats.org/officeDocument/2006/relationships/slideLayout" Target="../slideLayouts/slideLayout170.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4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0" y="0"/>
            <a:ext cx="12192000" cy="6858000"/>
          </a:xfrm>
          <a:prstGeom prst="rect">
            <a:avLst/>
          </a:prstGeom>
        </p:spPr>
      </p:pic>
      <p:sp>
        <p:nvSpPr>
          <p:cNvPr id="5" name="文本框 4"/>
          <p:cNvSpPr txBox="1"/>
          <p:nvPr/>
        </p:nvSpPr>
        <p:spPr>
          <a:xfrm>
            <a:off x="3730170" y="1877625"/>
            <a:ext cx="7663543" cy="1015663"/>
          </a:xfrm>
          <a:prstGeom prst="rect">
            <a:avLst/>
          </a:prstGeom>
          <a:noFill/>
        </p:spPr>
        <p:txBody>
          <a:bodyPr wrap="square" rtlCol="0">
            <a:spAutoFit/>
          </a:bodyPr>
          <a:lstStyle/>
          <a:p>
            <a:r>
              <a:rPr lang="zh-CN" altLang="en-US" sz="6000" dirty="0">
                <a:solidFill>
                  <a:schemeClr val="accent1">
                    <a:lumMod val="75000"/>
                  </a:schemeClr>
                </a:solidFill>
                <a:latin typeface="微软雅黑" panose="020B0503020204020204" pitchFamily="34" charset="-122"/>
                <a:ea typeface="微软雅黑" panose="020B0503020204020204" pitchFamily="34" charset="-122"/>
              </a:rPr>
              <a:t>近</a:t>
            </a:r>
            <a:r>
              <a:rPr lang="zh-CN" altLang="en-US" sz="6000" dirty="0">
                <a:solidFill>
                  <a:schemeClr val="accent2">
                    <a:lumMod val="75000"/>
                  </a:schemeClr>
                </a:solidFill>
                <a:latin typeface="微软雅黑" panose="020B0503020204020204" pitchFamily="34" charset="-122"/>
                <a:ea typeface="微软雅黑" panose="020B0503020204020204" pitchFamily="34" charset="-122"/>
              </a:rPr>
              <a:t>红</a:t>
            </a:r>
            <a:r>
              <a:rPr lang="zh-CN" altLang="en-US" sz="6000" dirty="0">
                <a:solidFill>
                  <a:schemeClr val="accent3">
                    <a:lumMod val="75000"/>
                  </a:schemeClr>
                </a:solidFill>
                <a:latin typeface="微软雅黑" panose="020B0503020204020204" pitchFamily="34" charset="-122"/>
                <a:ea typeface="微软雅黑" panose="020B0503020204020204" pitchFamily="34" charset="-122"/>
              </a:rPr>
              <a:t>外</a:t>
            </a:r>
            <a:r>
              <a:rPr lang="zh-CN" altLang="en-US" sz="6000" dirty="0">
                <a:solidFill>
                  <a:schemeClr val="accent4">
                    <a:lumMod val="75000"/>
                  </a:schemeClr>
                </a:solidFill>
                <a:latin typeface="微软雅黑" panose="020B0503020204020204" pitchFamily="34" charset="-122"/>
                <a:ea typeface="微软雅黑" panose="020B0503020204020204" pitchFamily="34" charset="-122"/>
              </a:rPr>
              <a:t>光</a:t>
            </a:r>
            <a:r>
              <a:rPr lang="zh-CN" altLang="en-US" sz="6000" dirty="0">
                <a:solidFill>
                  <a:schemeClr val="accent6">
                    <a:lumMod val="75000"/>
                  </a:schemeClr>
                </a:solidFill>
                <a:latin typeface="微软雅黑" panose="020B0503020204020204" pitchFamily="34" charset="-122"/>
                <a:ea typeface="微软雅黑" panose="020B0503020204020204" pitchFamily="34" charset="-122"/>
              </a:rPr>
              <a:t>谱</a:t>
            </a:r>
            <a:r>
              <a:rPr lang="zh-CN" altLang="en-US" sz="6000" dirty="0">
                <a:solidFill>
                  <a:schemeClr val="accent1">
                    <a:lumMod val="75000"/>
                  </a:schemeClr>
                </a:solidFill>
                <a:latin typeface="微软雅黑" panose="020B0503020204020204" pitchFamily="34" charset="-122"/>
                <a:ea typeface="微软雅黑" panose="020B0503020204020204" pitchFamily="34" charset="-122"/>
              </a:rPr>
              <a:t>分</a:t>
            </a:r>
            <a:r>
              <a:rPr lang="zh-CN" altLang="en-US" sz="6000" dirty="0">
                <a:solidFill>
                  <a:schemeClr val="bg1">
                    <a:lumMod val="50000"/>
                  </a:schemeClr>
                </a:solidFill>
                <a:latin typeface="微软雅黑" panose="020B0503020204020204" pitchFamily="34" charset="-122"/>
                <a:ea typeface="微软雅黑" panose="020B0503020204020204" pitchFamily="34" charset="-122"/>
              </a:rPr>
              <a:t>析</a:t>
            </a:r>
            <a:r>
              <a:rPr lang="zh-CN" altLang="en-US" sz="6000" dirty="0">
                <a:solidFill>
                  <a:schemeClr val="accent6">
                    <a:lumMod val="75000"/>
                  </a:schemeClr>
                </a:solidFill>
                <a:latin typeface="微软雅黑" panose="020B0503020204020204" pitchFamily="34" charset="-122"/>
                <a:ea typeface="微软雅黑" panose="020B0503020204020204" pitchFamily="34" charset="-122"/>
              </a:rPr>
              <a:t>技</a:t>
            </a:r>
            <a:r>
              <a:rPr lang="zh-CN" altLang="en-US" sz="6000" dirty="0">
                <a:solidFill>
                  <a:schemeClr val="accent4">
                    <a:lumMod val="75000"/>
                  </a:schemeClr>
                </a:solidFill>
                <a:latin typeface="微软雅黑" panose="020B0503020204020204" pitchFamily="34" charset="-122"/>
                <a:ea typeface="微软雅黑" panose="020B0503020204020204" pitchFamily="34" charset="-122"/>
              </a:rPr>
              <a:t>术</a:t>
            </a:r>
            <a:endParaRPr lang="zh-CN" altLang="en-US" sz="6000" b="1" dirty="0">
              <a:solidFill>
                <a:schemeClr val="accent4">
                  <a:lumMod val="75000"/>
                </a:scheme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rot="5400000">
            <a:off x="5830825" y="496825"/>
            <a:ext cx="530354" cy="12192000"/>
          </a:xfrm>
          <a:prstGeom prst="rect">
            <a:avLst/>
          </a:prstGeom>
        </p:spPr>
      </p:pic>
      <p:sp>
        <p:nvSpPr>
          <p:cNvPr id="6" name="Freeform 40"/>
          <p:cNvSpPr/>
          <p:nvPr/>
        </p:nvSpPr>
        <p:spPr bwMode="auto">
          <a:xfrm>
            <a:off x="7738288" y="1808372"/>
            <a:ext cx="2722124" cy="2444498"/>
          </a:xfrm>
          <a:custGeom>
            <a:avLst/>
            <a:gdLst>
              <a:gd name="T0" fmla="*/ 1149 w 1149"/>
              <a:gd name="T1" fmla="*/ 515 h 1030"/>
              <a:gd name="T2" fmla="*/ 1020 w 1149"/>
              <a:gd name="T3" fmla="*/ 412 h 1030"/>
              <a:gd name="T4" fmla="*/ 515 w 1149"/>
              <a:gd name="T5" fmla="*/ 0 h 1030"/>
              <a:gd name="T6" fmla="*/ 0 w 1149"/>
              <a:gd name="T7" fmla="*/ 515 h 1030"/>
              <a:gd name="T8" fmla="*/ 515 w 1149"/>
              <a:gd name="T9" fmla="*/ 1030 h 1030"/>
              <a:gd name="T10" fmla="*/ 1020 w 1149"/>
              <a:gd name="T11" fmla="*/ 618 h 1030"/>
              <a:gd name="T12" fmla="*/ 1149 w 1149"/>
              <a:gd name="T13" fmla="*/ 515 h 1030"/>
            </a:gdLst>
            <a:ahLst/>
            <a:cxnLst>
              <a:cxn ang="0">
                <a:pos x="T0" y="T1"/>
              </a:cxn>
              <a:cxn ang="0">
                <a:pos x="T2" y="T3"/>
              </a:cxn>
              <a:cxn ang="0">
                <a:pos x="T4" y="T5"/>
              </a:cxn>
              <a:cxn ang="0">
                <a:pos x="T6" y="T7"/>
              </a:cxn>
              <a:cxn ang="0">
                <a:pos x="T8" y="T9"/>
              </a:cxn>
              <a:cxn ang="0">
                <a:pos x="T10" y="T11"/>
              </a:cxn>
              <a:cxn ang="0">
                <a:pos x="T12" y="T13"/>
              </a:cxn>
            </a:cxnLst>
            <a:rect l="0" t="0" r="r" b="b"/>
            <a:pathLst>
              <a:path w="1149" h="1030">
                <a:moveTo>
                  <a:pt x="1149" y="515"/>
                </a:moveTo>
                <a:cubicBezTo>
                  <a:pt x="1020" y="412"/>
                  <a:pt x="1020" y="412"/>
                  <a:pt x="1020" y="412"/>
                </a:cubicBezTo>
                <a:cubicBezTo>
                  <a:pt x="972" y="177"/>
                  <a:pt x="764" y="0"/>
                  <a:pt x="515" y="0"/>
                </a:cubicBezTo>
                <a:cubicBezTo>
                  <a:pt x="231" y="0"/>
                  <a:pt x="0" y="231"/>
                  <a:pt x="0" y="515"/>
                </a:cubicBezTo>
                <a:cubicBezTo>
                  <a:pt x="0" y="799"/>
                  <a:pt x="231" y="1030"/>
                  <a:pt x="515" y="1030"/>
                </a:cubicBezTo>
                <a:cubicBezTo>
                  <a:pt x="764" y="1030"/>
                  <a:pt x="972" y="853"/>
                  <a:pt x="1020" y="618"/>
                </a:cubicBezTo>
                <a:lnTo>
                  <a:pt x="1149" y="515"/>
                </a:lnTo>
                <a:close/>
              </a:path>
            </a:pathLst>
          </a:custGeom>
          <a:gradFill flip="none" rotWithShape="1">
            <a:gsLst>
              <a:gs pos="100000">
                <a:srgbClr val="FFFFFF">
                  <a:lumMod val="100000"/>
                </a:srgbClr>
              </a:gs>
              <a:gs pos="0">
                <a:srgbClr val="D9D9DA"/>
              </a:gs>
            </a:gsLst>
            <a:lin ang="2700000" scaled="1"/>
            <a:tileRect/>
          </a:gradFill>
          <a:ln w="19050">
            <a:gradFill flip="none" rotWithShape="1">
              <a:gsLst>
                <a:gs pos="100000">
                  <a:srgbClr val="FFFFFF"/>
                </a:gs>
                <a:gs pos="0">
                  <a:srgbClr val="D9D9DA"/>
                </a:gs>
              </a:gsLst>
              <a:lin ang="135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7" name="Freeform 41"/>
          <p:cNvSpPr>
            <a:spLocks noEditPoints="1"/>
          </p:cNvSpPr>
          <p:nvPr/>
        </p:nvSpPr>
        <p:spPr bwMode="auto">
          <a:xfrm>
            <a:off x="7738288" y="1808372"/>
            <a:ext cx="2722124" cy="2444498"/>
          </a:xfrm>
          <a:custGeom>
            <a:avLst/>
            <a:gdLst>
              <a:gd name="T0" fmla="*/ 1020 w 1149"/>
              <a:gd name="T1" fmla="*/ 412 h 1030"/>
              <a:gd name="T2" fmla="*/ 515 w 1149"/>
              <a:gd name="T3" fmla="*/ 0 h 1030"/>
              <a:gd name="T4" fmla="*/ 0 w 1149"/>
              <a:gd name="T5" fmla="*/ 515 h 1030"/>
              <a:gd name="T6" fmla="*/ 515 w 1149"/>
              <a:gd name="T7" fmla="*/ 1030 h 1030"/>
              <a:gd name="T8" fmla="*/ 1020 w 1149"/>
              <a:gd name="T9" fmla="*/ 618 h 1030"/>
              <a:gd name="T10" fmla="*/ 1149 w 1149"/>
              <a:gd name="T11" fmla="*/ 515 h 1030"/>
              <a:gd name="T12" fmla="*/ 1020 w 1149"/>
              <a:gd name="T13" fmla="*/ 412 h 1030"/>
              <a:gd name="T14" fmla="*/ 515 w 1149"/>
              <a:gd name="T15" fmla="*/ 979 h 1030"/>
              <a:gd name="T16" fmla="*/ 51 w 1149"/>
              <a:gd name="T17" fmla="*/ 515 h 1030"/>
              <a:gd name="T18" fmla="*/ 515 w 1149"/>
              <a:gd name="T19" fmla="*/ 51 h 1030"/>
              <a:gd name="T20" fmla="*/ 979 w 1149"/>
              <a:gd name="T21" fmla="*/ 515 h 1030"/>
              <a:gd name="T22" fmla="*/ 515 w 1149"/>
              <a:gd name="T23" fmla="*/ 979 h 10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49" h="1030">
                <a:moveTo>
                  <a:pt x="1020" y="412"/>
                </a:moveTo>
                <a:cubicBezTo>
                  <a:pt x="972" y="177"/>
                  <a:pt x="764" y="0"/>
                  <a:pt x="515" y="0"/>
                </a:cubicBezTo>
                <a:cubicBezTo>
                  <a:pt x="231" y="0"/>
                  <a:pt x="0" y="231"/>
                  <a:pt x="0" y="515"/>
                </a:cubicBezTo>
                <a:cubicBezTo>
                  <a:pt x="0" y="799"/>
                  <a:pt x="231" y="1030"/>
                  <a:pt x="515" y="1030"/>
                </a:cubicBezTo>
                <a:cubicBezTo>
                  <a:pt x="764" y="1030"/>
                  <a:pt x="972" y="853"/>
                  <a:pt x="1020" y="618"/>
                </a:cubicBezTo>
                <a:cubicBezTo>
                  <a:pt x="1149" y="515"/>
                  <a:pt x="1149" y="515"/>
                  <a:pt x="1149" y="515"/>
                </a:cubicBezTo>
                <a:lnTo>
                  <a:pt x="1020" y="412"/>
                </a:lnTo>
                <a:close/>
                <a:moveTo>
                  <a:pt x="515" y="979"/>
                </a:moveTo>
                <a:cubicBezTo>
                  <a:pt x="259" y="979"/>
                  <a:pt x="51" y="771"/>
                  <a:pt x="51" y="515"/>
                </a:cubicBezTo>
                <a:cubicBezTo>
                  <a:pt x="51" y="259"/>
                  <a:pt x="259" y="51"/>
                  <a:pt x="515" y="51"/>
                </a:cubicBezTo>
                <a:cubicBezTo>
                  <a:pt x="771" y="51"/>
                  <a:pt x="979" y="259"/>
                  <a:pt x="979" y="515"/>
                </a:cubicBezTo>
                <a:cubicBezTo>
                  <a:pt x="979" y="771"/>
                  <a:pt x="771" y="979"/>
                  <a:pt x="515" y="979"/>
                </a:cubicBezTo>
                <a:close/>
              </a:path>
            </a:pathLst>
          </a:custGeom>
          <a:solidFill>
            <a:schemeClr val="accent3">
              <a:lumMod val="60000"/>
              <a:lumOff val="40000"/>
            </a:schemeClr>
          </a:solidFill>
          <a:ln>
            <a:noFill/>
          </a:ln>
          <a:effectLst>
            <a:outerShdw blurRad="50800" dist="38100" algn="l" rotWithShape="0">
              <a:prstClr val="black">
                <a:alpha val="40000"/>
              </a:prstClr>
            </a:outerShdw>
          </a:effectLst>
        </p:spPr>
        <p:txBody>
          <a:bodyPr vert="horz" wrap="square" lIns="91440" tIns="45720" rIns="91440" bIns="45720" numCol="1" anchor="t" anchorCtr="0" compatLnSpc="1"/>
          <a:lstStyle/>
          <a:p>
            <a:endParaRPr lang="zh-CN" altLang="en-US"/>
          </a:p>
        </p:txBody>
      </p:sp>
      <p:sp>
        <p:nvSpPr>
          <p:cNvPr id="8" name="Freeform 42"/>
          <p:cNvSpPr/>
          <p:nvPr/>
        </p:nvSpPr>
        <p:spPr bwMode="auto">
          <a:xfrm>
            <a:off x="5696982" y="1808372"/>
            <a:ext cx="2722124" cy="2444498"/>
          </a:xfrm>
          <a:custGeom>
            <a:avLst/>
            <a:gdLst>
              <a:gd name="T0" fmla="*/ 1149 w 1149"/>
              <a:gd name="T1" fmla="*/ 515 h 1030"/>
              <a:gd name="T2" fmla="*/ 1019 w 1149"/>
              <a:gd name="T3" fmla="*/ 412 h 1030"/>
              <a:gd name="T4" fmla="*/ 515 w 1149"/>
              <a:gd name="T5" fmla="*/ 0 h 1030"/>
              <a:gd name="T6" fmla="*/ 0 w 1149"/>
              <a:gd name="T7" fmla="*/ 515 h 1030"/>
              <a:gd name="T8" fmla="*/ 515 w 1149"/>
              <a:gd name="T9" fmla="*/ 1030 h 1030"/>
              <a:gd name="T10" fmla="*/ 1019 w 1149"/>
              <a:gd name="T11" fmla="*/ 618 h 1030"/>
              <a:gd name="T12" fmla="*/ 1149 w 1149"/>
              <a:gd name="T13" fmla="*/ 515 h 1030"/>
            </a:gdLst>
            <a:ahLst/>
            <a:cxnLst>
              <a:cxn ang="0">
                <a:pos x="T0" y="T1"/>
              </a:cxn>
              <a:cxn ang="0">
                <a:pos x="T2" y="T3"/>
              </a:cxn>
              <a:cxn ang="0">
                <a:pos x="T4" y="T5"/>
              </a:cxn>
              <a:cxn ang="0">
                <a:pos x="T6" y="T7"/>
              </a:cxn>
              <a:cxn ang="0">
                <a:pos x="T8" y="T9"/>
              </a:cxn>
              <a:cxn ang="0">
                <a:pos x="T10" y="T11"/>
              </a:cxn>
              <a:cxn ang="0">
                <a:pos x="T12" y="T13"/>
              </a:cxn>
            </a:cxnLst>
            <a:rect l="0" t="0" r="r" b="b"/>
            <a:pathLst>
              <a:path w="1149" h="1030">
                <a:moveTo>
                  <a:pt x="1149" y="515"/>
                </a:moveTo>
                <a:cubicBezTo>
                  <a:pt x="1019" y="412"/>
                  <a:pt x="1019" y="412"/>
                  <a:pt x="1019" y="412"/>
                </a:cubicBezTo>
                <a:cubicBezTo>
                  <a:pt x="971" y="177"/>
                  <a:pt x="764" y="0"/>
                  <a:pt x="515" y="0"/>
                </a:cubicBezTo>
                <a:cubicBezTo>
                  <a:pt x="231" y="0"/>
                  <a:pt x="0" y="231"/>
                  <a:pt x="0" y="515"/>
                </a:cubicBezTo>
                <a:cubicBezTo>
                  <a:pt x="0" y="799"/>
                  <a:pt x="231" y="1030"/>
                  <a:pt x="515" y="1030"/>
                </a:cubicBezTo>
                <a:cubicBezTo>
                  <a:pt x="764" y="1030"/>
                  <a:pt x="971" y="853"/>
                  <a:pt x="1019" y="618"/>
                </a:cubicBezTo>
                <a:lnTo>
                  <a:pt x="1149" y="515"/>
                </a:lnTo>
                <a:close/>
              </a:path>
            </a:pathLst>
          </a:custGeom>
          <a:gradFill flip="none" rotWithShape="1">
            <a:gsLst>
              <a:gs pos="100000">
                <a:srgbClr val="FFFFFF">
                  <a:lumMod val="100000"/>
                </a:srgbClr>
              </a:gs>
              <a:gs pos="0">
                <a:srgbClr val="D9D9DA"/>
              </a:gs>
            </a:gsLst>
            <a:lin ang="2700000" scaled="1"/>
            <a:tileRect/>
          </a:gradFill>
          <a:ln w="19050">
            <a:gradFill flip="none" rotWithShape="1">
              <a:gsLst>
                <a:gs pos="100000">
                  <a:srgbClr val="FFFFFF"/>
                </a:gs>
                <a:gs pos="0">
                  <a:srgbClr val="D9D9DA"/>
                </a:gs>
              </a:gsLst>
              <a:lin ang="135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43"/>
          <p:cNvSpPr>
            <a:spLocks noEditPoints="1"/>
          </p:cNvSpPr>
          <p:nvPr/>
        </p:nvSpPr>
        <p:spPr bwMode="auto">
          <a:xfrm>
            <a:off x="5696982" y="1808372"/>
            <a:ext cx="2722124" cy="2444498"/>
          </a:xfrm>
          <a:custGeom>
            <a:avLst/>
            <a:gdLst>
              <a:gd name="T0" fmla="*/ 1019 w 1149"/>
              <a:gd name="T1" fmla="*/ 412 h 1030"/>
              <a:gd name="T2" fmla="*/ 515 w 1149"/>
              <a:gd name="T3" fmla="*/ 0 h 1030"/>
              <a:gd name="T4" fmla="*/ 0 w 1149"/>
              <a:gd name="T5" fmla="*/ 515 h 1030"/>
              <a:gd name="T6" fmla="*/ 515 w 1149"/>
              <a:gd name="T7" fmla="*/ 1030 h 1030"/>
              <a:gd name="T8" fmla="*/ 1019 w 1149"/>
              <a:gd name="T9" fmla="*/ 618 h 1030"/>
              <a:gd name="T10" fmla="*/ 1149 w 1149"/>
              <a:gd name="T11" fmla="*/ 515 h 1030"/>
              <a:gd name="T12" fmla="*/ 1019 w 1149"/>
              <a:gd name="T13" fmla="*/ 412 h 1030"/>
              <a:gd name="T14" fmla="*/ 515 w 1149"/>
              <a:gd name="T15" fmla="*/ 979 h 1030"/>
              <a:gd name="T16" fmla="*/ 51 w 1149"/>
              <a:gd name="T17" fmla="*/ 515 h 1030"/>
              <a:gd name="T18" fmla="*/ 515 w 1149"/>
              <a:gd name="T19" fmla="*/ 51 h 1030"/>
              <a:gd name="T20" fmla="*/ 979 w 1149"/>
              <a:gd name="T21" fmla="*/ 515 h 1030"/>
              <a:gd name="T22" fmla="*/ 515 w 1149"/>
              <a:gd name="T23" fmla="*/ 979 h 10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49" h="1030">
                <a:moveTo>
                  <a:pt x="1019" y="412"/>
                </a:moveTo>
                <a:cubicBezTo>
                  <a:pt x="971" y="177"/>
                  <a:pt x="764" y="0"/>
                  <a:pt x="515" y="0"/>
                </a:cubicBezTo>
                <a:cubicBezTo>
                  <a:pt x="231" y="0"/>
                  <a:pt x="0" y="231"/>
                  <a:pt x="0" y="515"/>
                </a:cubicBezTo>
                <a:cubicBezTo>
                  <a:pt x="0" y="799"/>
                  <a:pt x="231" y="1030"/>
                  <a:pt x="515" y="1030"/>
                </a:cubicBezTo>
                <a:cubicBezTo>
                  <a:pt x="764" y="1030"/>
                  <a:pt x="971" y="853"/>
                  <a:pt x="1019" y="618"/>
                </a:cubicBezTo>
                <a:cubicBezTo>
                  <a:pt x="1149" y="515"/>
                  <a:pt x="1149" y="515"/>
                  <a:pt x="1149" y="515"/>
                </a:cubicBezTo>
                <a:lnTo>
                  <a:pt x="1019" y="412"/>
                </a:lnTo>
                <a:close/>
                <a:moveTo>
                  <a:pt x="515" y="979"/>
                </a:moveTo>
                <a:cubicBezTo>
                  <a:pt x="259" y="979"/>
                  <a:pt x="51" y="771"/>
                  <a:pt x="51" y="515"/>
                </a:cubicBezTo>
                <a:cubicBezTo>
                  <a:pt x="51" y="259"/>
                  <a:pt x="259" y="51"/>
                  <a:pt x="515" y="51"/>
                </a:cubicBezTo>
                <a:cubicBezTo>
                  <a:pt x="771" y="51"/>
                  <a:pt x="979" y="259"/>
                  <a:pt x="979" y="515"/>
                </a:cubicBezTo>
                <a:cubicBezTo>
                  <a:pt x="979" y="771"/>
                  <a:pt x="771" y="979"/>
                  <a:pt x="515" y="979"/>
                </a:cubicBezTo>
                <a:close/>
              </a:path>
            </a:pathLst>
          </a:custGeom>
          <a:solidFill>
            <a:schemeClr val="accent6">
              <a:lumMod val="40000"/>
              <a:lumOff val="60000"/>
            </a:schemeClr>
          </a:solidFill>
          <a:ln>
            <a:noFill/>
          </a:ln>
          <a:effectLst>
            <a:outerShdw blurRad="50800" dist="38100" algn="l" rotWithShape="0">
              <a:prstClr val="black">
                <a:alpha val="40000"/>
              </a:prstClr>
            </a:outerShdw>
          </a:effectLst>
        </p:spPr>
        <p:txBody>
          <a:bodyPr vert="horz" wrap="square" lIns="91440" tIns="45720" rIns="91440" bIns="45720" numCol="1" anchor="t" anchorCtr="0" compatLnSpc="1"/>
          <a:lstStyle/>
          <a:p>
            <a:endParaRPr lang="zh-CN" altLang="en-US"/>
          </a:p>
        </p:txBody>
      </p:sp>
      <p:sp>
        <p:nvSpPr>
          <p:cNvPr id="10" name="Freeform 44"/>
          <p:cNvSpPr/>
          <p:nvPr/>
        </p:nvSpPr>
        <p:spPr bwMode="auto">
          <a:xfrm>
            <a:off x="3654525" y="1808372"/>
            <a:ext cx="2719821" cy="2444498"/>
          </a:xfrm>
          <a:custGeom>
            <a:avLst/>
            <a:gdLst>
              <a:gd name="T0" fmla="*/ 1148 w 1148"/>
              <a:gd name="T1" fmla="*/ 515 h 1030"/>
              <a:gd name="T2" fmla="*/ 1019 w 1148"/>
              <a:gd name="T3" fmla="*/ 412 h 1030"/>
              <a:gd name="T4" fmla="*/ 515 w 1148"/>
              <a:gd name="T5" fmla="*/ 0 h 1030"/>
              <a:gd name="T6" fmla="*/ 0 w 1148"/>
              <a:gd name="T7" fmla="*/ 515 h 1030"/>
              <a:gd name="T8" fmla="*/ 515 w 1148"/>
              <a:gd name="T9" fmla="*/ 1030 h 1030"/>
              <a:gd name="T10" fmla="*/ 1019 w 1148"/>
              <a:gd name="T11" fmla="*/ 618 h 1030"/>
              <a:gd name="T12" fmla="*/ 1148 w 1148"/>
              <a:gd name="T13" fmla="*/ 515 h 1030"/>
            </a:gdLst>
            <a:ahLst/>
            <a:cxnLst>
              <a:cxn ang="0">
                <a:pos x="T0" y="T1"/>
              </a:cxn>
              <a:cxn ang="0">
                <a:pos x="T2" y="T3"/>
              </a:cxn>
              <a:cxn ang="0">
                <a:pos x="T4" y="T5"/>
              </a:cxn>
              <a:cxn ang="0">
                <a:pos x="T6" y="T7"/>
              </a:cxn>
              <a:cxn ang="0">
                <a:pos x="T8" y="T9"/>
              </a:cxn>
              <a:cxn ang="0">
                <a:pos x="T10" y="T11"/>
              </a:cxn>
              <a:cxn ang="0">
                <a:pos x="T12" y="T13"/>
              </a:cxn>
            </a:cxnLst>
            <a:rect l="0" t="0" r="r" b="b"/>
            <a:pathLst>
              <a:path w="1148" h="1030">
                <a:moveTo>
                  <a:pt x="1148" y="515"/>
                </a:moveTo>
                <a:cubicBezTo>
                  <a:pt x="1019" y="412"/>
                  <a:pt x="1019" y="412"/>
                  <a:pt x="1019" y="412"/>
                </a:cubicBezTo>
                <a:cubicBezTo>
                  <a:pt x="971" y="177"/>
                  <a:pt x="763" y="0"/>
                  <a:pt x="515" y="0"/>
                </a:cubicBezTo>
                <a:cubicBezTo>
                  <a:pt x="230" y="0"/>
                  <a:pt x="0" y="231"/>
                  <a:pt x="0" y="515"/>
                </a:cubicBezTo>
                <a:cubicBezTo>
                  <a:pt x="0" y="799"/>
                  <a:pt x="230" y="1030"/>
                  <a:pt x="515" y="1030"/>
                </a:cubicBezTo>
                <a:cubicBezTo>
                  <a:pt x="763" y="1030"/>
                  <a:pt x="971" y="853"/>
                  <a:pt x="1019" y="618"/>
                </a:cubicBezTo>
                <a:lnTo>
                  <a:pt x="1148" y="515"/>
                </a:lnTo>
                <a:close/>
              </a:path>
            </a:pathLst>
          </a:custGeom>
          <a:gradFill flip="none" rotWithShape="1">
            <a:gsLst>
              <a:gs pos="100000">
                <a:srgbClr val="FFFFFF">
                  <a:lumMod val="100000"/>
                </a:srgbClr>
              </a:gs>
              <a:gs pos="0">
                <a:srgbClr val="D9D9DA"/>
              </a:gs>
            </a:gsLst>
            <a:lin ang="2700000" scaled="1"/>
            <a:tileRect/>
          </a:gradFill>
          <a:ln w="19050">
            <a:gradFill flip="none" rotWithShape="1">
              <a:gsLst>
                <a:gs pos="100000">
                  <a:srgbClr val="FFFFFF"/>
                </a:gs>
                <a:gs pos="0">
                  <a:srgbClr val="D9D9DA"/>
                </a:gs>
              </a:gsLst>
              <a:lin ang="135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reeform 45"/>
          <p:cNvSpPr>
            <a:spLocks noEditPoints="1"/>
          </p:cNvSpPr>
          <p:nvPr/>
        </p:nvSpPr>
        <p:spPr bwMode="auto">
          <a:xfrm>
            <a:off x="3654525" y="1808372"/>
            <a:ext cx="2719821" cy="2444498"/>
          </a:xfrm>
          <a:custGeom>
            <a:avLst/>
            <a:gdLst>
              <a:gd name="T0" fmla="*/ 1019 w 1148"/>
              <a:gd name="T1" fmla="*/ 412 h 1030"/>
              <a:gd name="T2" fmla="*/ 515 w 1148"/>
              <a:gd name="T3" fmla="*/ 0 h 1030"/>
              <a:gd name="T4" fmla="*/ 0 w 1148"/>
              <a:gd name="T5" fmla="*/ 515 h 1030"/>
              <a:gd name="T6" fmla="*/ 515 w 1148"/>
              <a:gd name="T7" fmla="*/ 1030 h 1030"/>
              <a:gd name="T8" fmla="*/ 1019 w 1148"/>
              <a:gd name="T9" fmla="*/ 618 h 1030"/>
              <a:gd name="T10" fmla="*/ 1148 w 1148"/>
              <a:gd name="T11" fmla="*/ 515 h 1030"/>
              <a:gd name="T12" fmla="*/ 1019 w 1148"/>
              <a:gd name="T13" fmla="*/ 412 h 1030"/>
              <a:gd name="T14" fmla="*/ 515 w 1148"/>
              <a:gd name="T15" fmla="*/ 979 h 1030"/>
              <a:gd name="T16" fmla="*/ 51 w 1148"/>
              <a:gd name="T17" fmla="*/ 515 h 1030"/>
              <a:gd name="T18" fmla="*/ 515 w 1148"/>
              <a:gd name="T19" fmla="*/ 51 h 1030"/>
              <a:gd name="T20" fmla="*/ 979 w 1148"/>
              <a:gd name="T21" fmla="*/ 515 h 1030"/>
              <a:gd name="T22" fmla="*/ 515 w 1148"/>
              <a:gd name="T23" fmla="*/ 979 h 10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48" h="1030">
                <a:moveTo>
                  <a:pt x="1019" y="412"/>
                </a:moveTo>
                <a:cubicBezTo>
                  <a:pt x="971" y="177"/>
                  <a:pt x="763" y="0"/>
                  <a:pt x="515" y="0"/>
                </a:cubicBezTo>
                <a:cubicBezTo>
                  <a:pt x="230" y="0"/>
                  <a:pt x="0" y="231"/>
                  <a:pt x="0" y="515"/>
                </a:cubicBezTo>
                <a:cubicBezTo>
                  <a:pt x="0" y="799"/>
                  <a:pt x="230" y="1030"/>
                  <a:pt x="515" y="1030"/>
                </a:cubicBezTo>
                <a:cubicBezTo>
                  <a:pt x="763" y="1030"/>
                  <a:pt x="971" y="853"/>
                  <a:pt x="1019" y="618"/>
                </a:cubicBezTo>
                <a:cubicBezTo>
                  <a:pt x="1148" y="515"/>
                  <a:pt x="1148" y="515"/>
                  <a:pt x="1148" y="515"/>
                </a:cubicBezTo>
                <a:lnTo>
                  <a:pt x="1019" y="412"/>
                </a:lnTo>
                <a:close/>
                <a:moveTo>
                  <a:pt x="515" y="979"/>
                </a:moveTo>
                <a:cubicBezTo>
                  <a:pt x="258" y="979"/>
                  <a:pt x="51" y="771"/>
                  <a:pt x="51" y="515"/>
                </a:cubicBezTo>
                <a:cubicBezTo>
                  <a:pt x="51" y="259"/>
                  <a:pt x="258" y="51"/>
                  <a:pt x="515" y="51"/>
                </a:cubicBezTo>
                <a:cubicBezTo>
                  <a:pt x="771" y="51"/>
                  <a:pt x="979" y="259"/>
                  <a:pt x="979" y="515"/>
                </a:cubicBezTo>
                <a:cubicBezTo>
                  <a:pt x="979" y="771"/>
                  <a:pt x="771" y="979"/>
                  <a:pt x="515" y="979"/>
                </a:cubicBezTo>
                <a:close/>
              </a:path>
            </a:pathLst>
          </a:custGeom>
          <a:solidFill>
            <a:schemeClr val="accent4">
              <a:lumMod val="40000"/>
              <a:lumOff val="60000"/>
            </a:schemeClr>
          </a:solidFill>
          <a:ln>
            <a:noFill/>
          </a:ln>
          <a:effectLst>
            <a:outerShdw blurRad="50800" dist="38100" algn="l" rotWithShape="0">
              <a:prstClr val="black">
                <a:alpha val="40000"/>
              </a:prstClr>
            </a:outerShdw>
          </a:effectLst>
        </p:spPr>
        <p:txBody>
          <a:bodyPr vert="horz" wrap="square" lIns="91440" tIns="45720" rIns="91440" bIns="45720" numCol="1" anchor="t" anchorCtr="0" compatLnSpc="1"/>
          <a:lstStyle/>
          <a:p>
            <a:endParaRPr lang="zh-CN" altLang="en-US"/>
          </a:p>
        </p:txBody>
      </p:sp>
      <p:sp>
        <p:nvSpPr>
          <p:cNvPr id="12" name="Freeform 46"/>
          <p:cNvSpPr/>
          <p:nvPr/>
        </p:nvSpPr>
        <p:spPr bwMode="auto">
          <a:xfrm>
            <a:off x="1610916" y="1808372"/>
            <a:ext cx="2722124" cy="2444498"/>
          </a:xfrm>
          <a:custGeom>
            <a:avLst/>
            <a:gdLst>
              <a:gd name="T0" fmla="*/ 1149 w 1149"/>
              <a:gd name="T1" fmla="*/ 515 h 1030"/>
              <a:gd name="T2" fmla="*/ 1020 w 1149"/>
              <a:gd name="T3" fmla="*/ 412 h 1030"/>
              <a:gd name="T4" fmla="*/ 515 w 1149"/>
              <a:gd name="T5" fmla="*/ 0 h 1030"/>
              <a:gd name="T6" fmla="*/ 0 w 1149"/>
              <a:gd name="T7" fmla="*/ 515 h 1030"/>
              <a:gd name="T8" fmla="*/ 515 w 1149"/>
              <a:gd name="T9" fmla="*/ 1030 h 1030"/>
              <a:gd name="T10" fmla="*/ 1020 w 1149"/>
              <a:gd name="T11" fmla="*/ 618 h 1030"/>
              <a:gd name="T12" fmla="*/ 1149 w 1149"/>
              <a:gd name="T13" fmla="*/ 515 h 1030"/>
            </a:gdLst>
            <a:ahLst/>
            <a:cxnLst>
              <a:cxn ang="0">
                <a:pos x="T0" y="T1"/>
              </a:cxn>
              <a:cxn ang="0">
                <a:pos x="T2" y="T3"/>
              </a:cxn>
              <a:cxn ang="0">
                <a:pos x="T4" y="T5"/>
              </a:cxn>
              <a:cxn ang="0">
                <a:pos x="T6" y="T7"/>
              </a:cxn>
              <a:cxn ang="0">
                <a:pos x="T8" y="T9"/>
              </a:cxn>
              <a:cxn ang="0">
                <a:pos x="T10" y="T11"/>
              </a:cxn>
              <a:cxn ang="0">
                <a:pos x="T12" y="T13"/>
              </a:cxn>
            </a:cxnLst>
            <a:rect l="0" t="0" r="r" b="b"/>
            <a:pathLst>
              <a:path w="1149" h="1030">
                <a:moveTo>
                  <a:pt x="1149" y="515"/>
                </a:moveTo>
                <a:cubicBezTo>
                  <a:pt x="1020" y="412"/>
                  <a:pt x="1020" y="412"/>
                  <a:pt x="1020" y="412"/>
                </a:cubicBezTo>
                <a:cubicBezTo>
                  <a:pt x="972" y="177"/>
                  <a:pt x="764" y="0"/>
                  <a:pt x="515" y="0"/>
                </a:cubicBezTo>
                <a:cubicBezTo>
                  <a:pt x="231" y="0"/>
                  <a:pt x="0" y="231"/>
                  <a:pt x="0" y="515"/>
                </a:cubicBezTo>
                <a:cubicBezTo>
                  <a:pt x="0" y="799"/>
                  <a:pt x="231" y="1030"/>
                  <a:pt x="515" y="1030"/>
                </a:cubicBezTo>
                <a:cubicBezTo>
                  <a:pt x="764" y="1030"/>
                  <a:pt x="972" y="853"/>
                  <a:pt x="1020" y="618"/>
                </a:cubicBezTo>
                <a:lnTo>
                  <a:pt x="1149" y="515"/>
                </a:lnTo>
                <a:close/>
              </a:path>
            </a:pathLst>
          </a:custGeom>
          <a:gradFill flip="none" rotWithShape="1">
            <a:gsLst>
              <a:gs pos="100000">
                <a:srgbClr val="FFFFFF">
                  <a:lumMod val="100000"/>
                </a:srgbClr>
              </a:gs>
              <a:gs pos="0">
                <a:srgbClr val="D9D9DA"/>
              </a:gs>
            </a:gsLst>
            <a:lin ang="2700000" scaled="1"/>
            <a:tileRect/>
          </a:gradFill>
          <a:ln w="19050">
            <a:gradFill flip="none" rotWithShape="1">
              <a:gsLst>
                <a:gs pos="100000">
                  <a:srgbClr val="FFFFFF"/>
                </a:gs>
                <a:gs pos="0">
                  <a:srgbClr val="D9D9DA"/>
                </a:gs>
              </a:gsLst>
              <a:lin ang="135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Freeform 47"/>
          <p:cNvSpPr>
            <a:spLocks noEditPoints="1"/>
          </p:cNvSpPr>
          <p:nvPr/>
        </p:nvSpPr>
        <p:spPr bwMode="auto">
          <a:xfrm>
            <a:off x="1610916" y="1808372"/>
            <a:ext cx="2722124" cy="2444498"/>
          </a:xfrm>
          <a:custGeom>
            <a:avLst/>
            <a:gdLst>
              <a:gd name="T0" fmla="*/ 1020 w 1149"/>
              <a:gd name="T1" fmla="*/ 412 h 1030"/>
              <a:gd name="T2" fmla="*/ 515 w 1149"/>
              <a:gd name="T3" fmla="*/ 0 h 1030"/>
              <a:gd name="T4" fmla="*/ 0 w 1149"/>
              <a:gd name="T5" fmla="*/ 515 h 1030"/>
              <a:gd name="T6" fmla="*/ 515 w 1149"/>
              <a:gd name="T7" fmla="*/ 1030 h 1030"/>
              <a:gd name="T8" fmla="*/ 1020 w 1149"/>
              <a:gd name="T9" fmla="*/ 618 h 1030"/>
              <a:gd name="T10" fmla="*/ 1149 w 1149"/>
              <a:gd name="T11" fmla="*/ 515 h 1030"/>
              <a:gd name="T12" fmla="*/ 1020 w 1149"/>
              <a:gd name="T13" fmla="*/ 412 h 1030"/>
              <a:gd name="T14" fmla="*/ 515 w 1149"/>
              <a:gd name="T15" fmla="*/ 979 h 1030"/>
              <a:gd name="T16" fmla="*/ 51 w 1149"/>
              <a:gd name="T17" fmla="*/ 515 h 1030"/>
              <a:gd name="T18" fmla="*/ 515 w 1149"/>
              <a:gd name="T19" fmla="*/ 51 h 1030"/>
              <a:gd name="T20" fmla="*/ 979 w 1149"/>
              <a:gd name="T21" fmla="*/ 515 h 1030"/>
              <a:gd name="T22" fmla="*/ 515 w 1149"/>
              <a:gd name="T23" fmla="*/ 979 h 10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49" h="1030">
                <a:moveTo>
                  <a:pt x="1020" y="412"/>
                </a:moveTo>
                <a:cubicBezTo>
                  <a:pt x="972" y="177"/>
                  <a:pt x="764" y="0"/>
                  <a:pt x="515" y="0"/>
                </a:cubicBezTo>
                <a:cubicBezTo>
                  <a:pt x="231" y="0"/>
                  <a:pt x="0" y="231"/>
                  <a:pt x="0" y="515"/>
                </a:cubicBezTo>
                <a:cubicBezTo>
                  <a:pt x="0" y="799"/>
                  <a:pt x="231" y="1030"/>
                  <a:pt x="515" y="1030"/>
                </a:cubicBezTo>
                <a:cubicBezTo>
                  <a:pt x="764" y="1030"/>
                  <a:pt x="972" y="853"/>
                  <a:pt x="1020" y="618"/>
                </a:cubicBezTo>
                <a:cubicBezTo>
                  <a:pt x="1149" y="515"/>
                  <a:pt x="1149" y="515"/>
                  <a:pt x="1149" y="515"/>
                </a:cubicBezTo>
                <a:lnTo>
                  <a:pt x="1020" y="412"/>
                </a:lnTo>
                <a:close/>
                <a:moveTo>
                  <a:pt x="515" y="979"/>
                </a:moveTo>
                <a:cubicBezTo>
                  <a:pt x="259" y="979"/>
                  <a:pt x="51" y="771"/>
                  <a:pt x="51" y="515"/>
                </a:cubicBezTo>
                <a:cubicBezTo>
                  <a:pt x="51" y="259"/>
                  <a:pt x="259" y="51"/>
                  <a:pt x="515" y="51"/>
                </a:cubicBezTo>
                <a:cubicBezTo>
                  <a:pt x="771" y="51"/>
                  <a:pt x="979" y="259"/>
                  <a:pt x="979" y="515"/>
                </a:cubicBezTo>
                <a:cubicBezTo>
                  <a:pt x="979" y="771"/>
                  <a:pt x="771" y="979"/>
                  <a:pt x="515" y="979"/>
                </a:cubicBezTo>
                <a:close/>
              </a:path>
            </a:pathLst>
          </a:custGeom>
          <a:solidFill>
            <a:schemeClr val="accent2">
              <a:lumMod val="60000"/>
              <a:lumOff val="40000"/>
            </a:schemeClr>
          </a:solidFill>
          <a:ln>
            <a:noFill/>
          </a:ln>
          <a:effectLst>
            <a:outerShdw blurRad="50800" dist="38100" algn="l" rotWithShape="0">
              <a:prstClr val="black">
                <a:alpha val="40000"/>
              </a:prstClr>
            </a:outerShdw>
          </a:effectLst>
        </p:spPr>
        <p:txBody>
          <a:bodyPr vert="horz" wrap="square" lIns="91440" tIns="45720" rIns="91440" bIns="45720" numCol="1" anchor="t" anchorCtr="0" compatLnSpc="1"/>
          <a:lstStyle/>
          <a:p>
            <a:endParaRPr lang="zh-CN" altLang="en-US"/>
          </a:p>
        </p:txBody>
      </p:sp>
      <p:sp>
        <p:nvSpPr>
          <p:cNvPr id="25" name="TextBox 24"/>
          <p:cNvSpPr txBox="1"/>
          <p:nvPr/>
        </p:nvSpPr>
        <p:spPr>
          <a:xfrm>
            <a:off x="6375872" y="2368901"/>
            <a:ext cx="1364343" cy="1323439"/>
          </a:xfrm>
          <a:prstGeom prst="rect">
            <a:avLst/>
          </a:prstGeom>
          <a:noFill/>
        </p:spPr>
        <p:txBody>
          <a:bodyPr wrap="square" rtlCol="0">
            <a:spAutoFit/>
          </a:bodyPr>
          <a:lstStyle/>
          <a:p>
            <a:r>
              <a:rPr lang="zh-CN" altLang="en-US" sz="4000" b="1" dirty="0" smtClean="0">
                <a:solidFill>
                  <a:srgbClr val="FF0000"/>
                </a:solidFill>
              </a:rPr>
              <a:t>数据分析</a:t>
            </a:r>
            <a:endParaRPr lang="zh-CN" altLang="en-US" sz="4000" b="1" dirty="0">
              <a:solidFill>
                <a:srgbClr val="FF0000"/>
              </a:solidFill>
            </a:endParaRPr>
          </a:p>
        </p:txBody>
      </p:sp>
      <p:sp>
        <p:nvSpPr>
          <p:cNvPr id="26" name="TextBox 25"/>
          <p:cNvSpPr txBox="1"/>
          <p:nvPr/>
        </p:nvSpPr>
        <p:spPr>
          <a:xfrm>
            <a:off x="8419107" y="2676678"/>
            <a:ext cx="1494116" cy="707886"/>
          </a:xfrm>
          <a:prstGeom prst="rect">
            <a:avLst/>
          </a:prstGeom>
          <a:noFill/>
        </p:spPr>
        <p:txBody>
          <a:bodyPr wrap="square" rtlCol="0">
            <a:spAutoFit/>
          </a:bodyPr>
          <a:lstStyle/>
          <a:p>
            <a:r>
              <a:rPr lang="zh-CN" altLang="en-US" sz="4000" b="1" dirty="0" smtClean="0">
                <a:solidFill>
                  <a:srgbClr val="FF0000"/>
                </a:solidFill>
              </a:rPr>
              <a:t>应用</a:t>
            </a:r>
            <a:endParaRPr lang="zh-CN" altLang="en-US" sz="4000" b="1" dirty="0">
              <a:solidFill>
                <a:srgbClr val="FF0000"/>
              </a:solidFill>
            </a:endParaRPr>
          </a:p>
        </p:txBody>
      </p:sp>
      <p:sp>
        <p:nvSpPr>
          <p:cNvPr id="27" name="TextBox 26"/>
          <p:cNvSpPr txBox="1"/>
          <p:nvPr/>
        </p:nvSpPr>
        <p:spPr>
          <a:xfrm>
            <a:off x="2213393" y="2730906"/>
            <a:ext cx="1589315" cy="769441"/>
          </a:xfrm>
          <a:prstGeom prst="rect">
            <a:avLst/>
          </a:prstGeom>
          <a:noFill/>
        </p:spPr>
        <p:txBody>
          <a:bodyPr wrap="square" rtlCol="0">
            <a:spAutoFit/>
          </a:bodyPr>
          <a:lstStyle/>
          <a:p>
            <a:r>
              <a:rPr lang="zh-CN" altLang="en-US" sz="4400" b="1" dirty="0" smtClean="0">
                <a:solidFill>
                  <a:srgbClr val="FF0000"/>
                </a:solidFill>
              </a:rPr>
              <a:t>原理</a:t>
            </a:r>
            <a:endParaRPr lang="zh-CN" altLang="en-US" sz="2800" b="1" dirty="0">
              <a:solidFill>
                <a:srgbClr val="FF0000"/>
              </a:solidFill>
            </a:endParaRPr>
          </a:p>
        </p:txBody>
      </p:sp>
      <p:sp>
        <p:nvSpPr>
          <p:cNvPr id="28" name="TextBox 27"/>
          <p:cNvSpPr txBox="1"/>
          <p:nvPr/>
        </p:nvSpPr>
        <p:spPr>
          <a:xfrm>
            <a:off x="4333040" y="2453906"/>
            <a:ext cx="1204251" cy="1323439"/>
          </a:xfrm>
          <a:prstGeom prst="rect">
            <a:avLst/>
          </a:prstGeom>
          <a:noFill/>
        </p:spPr>
        <p:txBody>
          <a:bodyPr wrap="square" rtlCol="0">
            <a:spAutoFit/>
          </a:bodyPr>
          <a:lstStyle/>
          <a:p>
            <a:r>
              <a:rPr lang="zh-CN" altLang="en-US" sz="4000" b="1" dirty="0" smtClean="0">
                <a:solidFill>
                  <a:srgbClr val="FF0000"/>
                </a:solidFill>
              </a:rPr>
              <a:t>仪器结构</a:t>
            </a:r>
            <a:endParaRPr lang="zh-CN" altLang="en-US" sz="4000" b="1" dirty="0">
              <a:solidFill>
                <a:srgbClr val="FF0000"/>
              </a:solidFil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0" y="0"/>
            <a:ext cx="12192000" cy="6858000"/>
          </a:xfrm>
          <a:prstGeom prst="rect">
            <a:avLst/>
          </a:prstGeom>
        </p:spPr>
      </p:pic>
      <p:sp>
        <p:nvSpPr>
          <p:cNvPr id="5" name="文本框 4"/>
          <p:cNvSpPr txBox="1"/>
          <p:nvPr/>
        </p:nvSpPr>
        <p:spPr>
          <a:xfrm>
            <a:off x="3730170" y="1877625"/>
            <a:ext cx="7663543" cy="1015663"/>
          </a:xfrm>
          <a:prstGeom prst="rect">
            <a:avLst/>
          </a:prstGeom>
          <a:noFill/>
        </p:spPr>
        <p:txBody>
          <a:bodyPr wrap="square" rtlCol="0">
            <a:spAutoFit/>
          </a:bodyPr>
          <a:lstStyle/>
          <a:p>
            <a:r>
              <a:rPr lang="zh-CN" altLang="en-US" sz="6000" dirty="0" smtClean="0">
                <a:solidFill>
                  <a:srgbClr val="5B9BD5">
                    <a:lumMod val="75000"/>
                  </a:srgbClr>
                </a:solidFill>
                <a:latin typeface="微软雅黑" panose="020B0503020204020204" pitchFamily="34" charset="-122"/>
                <a:ea typeface="微软雅黑" panose="020B0503020204020204" pitchFamily="34" charset="-122"/>
              </a:rPr>
              <a:t>            原理</a:t>
            </a:r>
            <a:endParaRPr lang="zh-CN" altLang="en-US" sz="6000" b="1" dirty="0">
              <a:solidFill>
                <a:srgbClr val="FFC000">
                  <a:lumMod val="75000"/>
                </a:srgb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flipV="1">
            <a:off x="0" y="0"/>
            <a:ext cx="8688271" cy="914400"/>
          </a:xfrm>
          <a:prstGeom prst="rtTriangle">
            <a:avLst/>
          </a:prstGeom>
        </p:spPr>
      </p:pic>
      <p:pic>
        <p:nvPicPr>
          <p:cNvPr id="4" name="图片 3"/>
          <p:cNvPicPr>
            <a:picLocks noChangeAspect="1"/>
          </p:cNvPicPr>
          <p:nvPr/>
        </p:nvPicPr>
        <p:blipFill>
          <a:blip r:embed="rId3"/>
          <a:stretch>
            <a:fillRect/>
          </a:stretch>
        </p:blipFill>
        <p:spPr>
          <a:xfrm rot="5400000">
            <a:off x="5830825" y="496825"/>
            <a:ext cx="530354" cy="12192000"/>
          </a:xfrm>
          <a:prstGeom prst="rect">
            <a:avLst/>
          </a:prstGeom>
        </p:spPr>
      </p:pic>
      <p:sp>
        <p:nvSpPr>
          <p:cNvPr id="5" name="矩形 4"/>
          <p:cNvSpPr/>
          <p:nvPr/>
        </p:nvSpPr>
        <p:spPr>
          <a:xfrm>
            <a:off x="1" y="93666"/>
            <a:ext cx="7649027" cy="646331"/>
          </a:xfrm>
          <a:prstGeom prst="rect">
            <a:avLst/>
          </a:prstGeom>
        </p:spPr>
        <p:txBody>
          <a:bodyPr wrap="square">
            <a:spAutoFit/>
          </a:bodyPr>
          <a:lstStyle/>
          <a:p>
            <a:r>
              <a:rPr lang="zh-CN" altLang="en-US" sz="3600" b="1" dirty="0">
                <a:latin typeface="微软雅黑" panose="020B0503020204020204" pitchFamily="34" charset="-122"/>
                <a:ea typeface="微软雅黑" panose="020B0503020204020204" pitchFamily="34" charset="-122"/>
              </a:rPr>
              <a:t>一、近红外光谱分析技术的发展</a:t>
            </a:r>
            <a:endParaRPr lang="zh-CN" altLang="en-US" sz="36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86" name="Freeform 5"/>
          <p:cNvSpPr/>
          <p:nvPr/>
        </p:nvSpPr>
        <p:spPr bwMode="auto">
          <a:xfrm>
            <a:off x="1816100" y="5616802"/>
            <a:ext cx="9521825" cy="117475"/>
          </a:xfrm>
          <a:custGeom>
            <a:avLst/>
            <a:gdLst>
              <a:gd name="T0" fmla="*/ 0 w 5998"/>
              <a:gd name="T1" fmla="*/ 0 h 74"/>
              <a:gd name="T2" fmla="*/ 5998 w 5998"/>
              <a:gd name="T3" fmla="*/ 0 h 74"/>
              <a:gd name="T4" fmla="*/ 5998 w 5998"/>
              <a:gd name="T5" fmla="*/ 74 h 74"/>
              <a:gd name="T6" fmla="*/ 0 w 5998"/>
              <a:gd name="T7" fmla="*/ 74 h 74"/>
              <a:gd name="T8" fmla="*/ 0 w 5998"/>
              <a:gd name="T9" fmla="*/ 0 h 74"/>
              <a:gd name="T10" fmla="*/ 0 w 5998"/>
              <a:gd name="T11" fmla="*/ 0 h 74"/>
            </a:gdLst>
            <a:ahLst/>
            <a:cxnLst>
              <a:cxn ang="0">
                <a:pos x="T0" y="T1"/>
              </a:cxn>
              <a:cxn ang="0">
                <a:pos x="T2" y="T3"/>
              </a:cxn>
              <a:cxn ang="0">
                <a:pos x="T4" y="T5"/>
              </a:cxn>
              <a:cxn ang="0">
                <a:pos x="T6" y="T7"/>
              </a:cxn>
              <a:cxn ang="0">
                <a:pos x="T8" y="T9"/>
              </a:cxn>
              <a:cxn ang="0">
                <a:pos x="T10" y="T11"/>
              </a:cxn>
            </a:cxnLst>
            <a:rect l="0" t="0" r="r" b="b"/>
            <a:pathLst>
              <a:path w="5998" h="74">
                <a:moveTo>
                  <a:pt x="0" y="0"/>
                </a:moveTo>
                <a:lnTo>
                  <a:pt x="5998" y="0"/>
                </a:lnTo>
                <a:lnTo>
                  <a:pt x="5998" y="74"/>
                </a:lnTo>
                <a:lnTo>
                  <a:pt x="0" y="74"/>
                </a:lnTo>
                <a:lnTo>
                  <a:pt x="0" y="0"/>
                </a:lnTo>
                <a:lnTo>
                  <a:pt x="0" y="0"/>
                </a:lnTo>
                <a:close/>
              </a:path>
            </a:pathLst>
          </a:custGeom>
          <a:solidFill>
            <a:srgbClr val="898989"/>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7" name="Oval 6"/>
          <p:cNvSpPr>
            <a:spLocks noChangeArrowheads="1"/>
          </p:cNvSpPr>
          <p:nvPr/>
        </p:nvSpPr>
        <p:spPr bwMode="auto">
          <a:xfrm>
            <a:off x="1571625" y="5429477"/>
            <a:ext cx="488950" cy="492125"/>
          </a:xfrm>
          <a:prstGeom prst="ellipse">
            <a:avLst/>
          </a:prstGeom>
          <a:solidFill>
            <a:srgbClr val="898989"/>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8" name="Oval 7"/>
          <p:cNvSpPr>
            <a:spLocks noChangeArrowheads="1"/>
          </p:cNvSpPr>
          <p:nvPr/>
        </p:nvSpPr>
        <p:spPr bwMode="auto">
          <a:xfrm>
            <a:off x="1677988" y="5527902"/>
            <a:ext cx="284163" cy="285750"/>
          </a:xfrm>
          <a:prstGeom prst="ellipse">
            <a:avLst/>
          </a:prstGeom>
          <a:solidFill>
            <a:srgbClr val="FFFFFF"/>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9" name="Oval 8"/>
          <p:cNvSpPr>
            <a:spLocks noChangeArrowheads="1"/>
          </p:cNvSpPr>
          <p:nvPr/>
        </p:nvSpPr>
        <p:spPr bwMode="auto">
          <a:xfrm>
            <a:off x="1717675" y="5577115"/>
            <a:ext cx="195263" cy="196850"/>
          </a:xfrm>
          <a:prstGeom prst="ellipse">
            <a:avLst/>
          </a:prstGeom>
          <a:solidFill>
            <a:srgbClr val="74A7AE"/>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0" name="Oval 9"/>
          <p:cNvSpPr>
            <a:spLocks noChangeArrowheads="1"/>
          </p:cNvSpPr>
          <p:nvPr/>
        </p:nvSpPr>
        <p:spPr bwMode="auto">
          <a:xfrm>
            <a:off x="3155950" y="5429477"/>
            <a:ext cx="488950" cy="492125"/>
          </a:xfrm>
          <a:prstGeom prst="ellipse">
            <a:avLst/>
          </a:prstGeom>
          <a:solidFill>
            <a:srgbClr val="898989"/>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1" name="Oval 10"/>
          <p:cNvSpPr>
            <a:spLocks noChangeArrowheads="1"/>
          </p:cNvSpPr>
          <p:nvPr/>
        </p:nvSpPr>
        <p:spPr bwMode="auto">
          <a:xfrm>
            <a:off x="3254375" y="5527902"/>
            <a:ext cx="293688" cy="285750"/>
          </a:xfrm>
          <a:prstGeom prst="ellipse">
            <a:avLst/>
          </a:prstGeom>
          <a:solidFill>
            <a:srgbClr val="FFFFFF"/>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2" name="Oval 11"/>
          <p:cNvSpPr>
            <a:spLocks noChangeArrowheads="1"/>
          </p:cNvSpPr>
          <p:nvPr/>
        </p:nvSpPr>
        <p:spPr bwMode="auto">
          <a:xfrm>
            <a:off x="3303588" y="5577115"/>
            <a:ext cx="195263" cy="196850"/>
          </a:xfrm>
          <a:prstGeom prst="ellipse">
            <a:avLst/>
          </a:prstGeom>
          <a:solidFill>
            <a:srgbClr val="CCB77F"/>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3" name="Oval 12"/>
          <p:cNvSpPr>
            <a:spLocks noChangeArrowheads="1"/>
          </p:cNvSpPr>
          <p:nvPr/>
        </p:nvSpPr>
        <p:spPr bwMode="auto">
          <a:xfrm>
            <a:off x="4741863" y="5429477"/>
            <a:ext cx="488950" cy="492125"/>
          </a:xfrm>
          <a:prstGeom prst="ellipse">
            <a:avLst/>
          </a:prstGeom>
          <a:solidFill>
            <a:srgbClr val="898989"/>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4" name="Oval 13"/>
          <p:cNvSpPr>
            <a:spLocks noChangeArrowheads="1"/>
          </p:cNvSpPr>
          <p:nvPr/>
        </p:nvSpPr>
        <p:spPr bwMode="auto">
          <a:xfrm>
            <a:off x="4840288" y="5527902"/>
            <a:ext cx="282575" cy="285750"/>
          </a:xfrm>
          <a:prstGeom prst="ellipse">
            <a:avLst/>
          </a:prstGeom>
          <a:solidFill>
            <a:srgbClr val="FFFFFF"/>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5" name="Oval 14"/>
          <p:cNvSpPr>
            <a:spLocks noChangeArrowheads="1"/>
          </p:cNvSpPr>
          <p:nvPr/>
        </p:nvSpPr>
        <p:spPr bwMode="auto">
          <a:xfrm>
            <a:off x="4887913" y="5577115"/>
            <a:ext cx="187325" cy="196850"/>
          </a:xfrm>
          <a:prstGeom prst="ellipse">
            <a:avLst/>
          </a:prstGeom>
          <a:solidFill>
            <a:srgbClr val="EA502C"/>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6" name="Oval 15"/>
          <p:cNvSpPr>
            <a:spLocks noChangeArrowheads="1"/>
          </p:cNvSpPr>
          <p:nvPr/>
        </p:nvSpPr>
        <p:spPr bwMode="auto">
          <a:xfrm>
            <a:off x="6316663" y="5429477"/>
            <a:ext cx="490538" cy="492125"/>
          </a:xfrm>
          <a:prstGeom prst="ellipse">
            <a:avLst/>
          </a:prstGeom>
          <a:solidFill>
            <a:srgbClr val="898989"/>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7" name="Oval 16"/>
          <p:cNvSpPr>
            <a:spLocks noChangeArrowheads="1"/>
          </p:cNvSpPr>
          <p:nvPr/>
        </p:nvSpPr>
        <p:spPr bwMode="auto">
          <a:xfrm>
            <a:off x="6424613" y="5527902"/>
            <a:ext cx="284163" cy="285750"/>
          </a:xfrm>
          <a:prstGeom prst="ellipse">
            <a:avLst/>
          </a:prstGeom>
          <a:solidFill>
            <a:srgbClr val="FFFFFF"/>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8" name="Oval 17"/>
          <p:cNvSpPr>
            <a:spLocks noChangeArrowheads="1"/>
          </p:cNvSpPr>
          <p:nvPr/>
        </p:nvSpPr>
        <p:spPr bwMode="auto">
          <a:xfrm>
            <a:off x="6464300" y="5577115"/>
            <a:ext cx="195263" cy="196850"/>
          </a:xfrm>
          <a:prstGeom prst="ellipse">
            <a:avLst/>
          </a:prstGeom>
          <a:solidFill>
            <a:srgbClr val="7B6057"/>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9" name="Oval 18"/>
          <p:cNvSpPr>
            <a:spLocks noChangeArrowheads="1"/>
          </p:cNvSpPr>
          <p:nvPr/>
        </p:nvSpPr>
        <p:spPr bwMode="auto">
          <a:xfrm>
            <a:off x="7902575" y="5429477"/>
            <a:ext cx="488950" cy="492125"/>
          </a:xfrm>
          <a:prstGeom prst="ellipse">
            <a:avLst/>
          </a:prstGeom>
          <a:solidFill>
            <a:srgbClr val="898989"/>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0" name="Oval 19"/>
          <p:cNvSpPr>
            <a:spLocks noChangeArrowheads="1"/>
          </p:cNvSpPr>
          <p:nvPr/>
        </p:nvSpPr>
        <p:spPr bwMode="auto">
          <a:xfrm>
            <a:off x="8001000" y="5527902"/>
            <a:ext cx="284163" cy="285750"/>
          </a:xfrm>
          <a:prstGeom prst="ellipse">
            <a:avLst/>
          </a:prstGeom>
          <a:solidFill>
            <a:srgbClr val="FFFFFF"/>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1" name="Oval 20"/>
          <p:cNvSpPr>
            <a:spLocks noChangeArrowheads="1"/>
          </p:cNvSpPr>
          <p:nvPr/>
        </p:nvSpPr>
        <p:spPr bwMode="auto">
          <a:xfrm>
            <a:off x="8050213" y="5577115"/>
            <a:ext cx="195263" cy="196850"/>
          </a:xfrm>
          <a:prstGeom prst="ellipse">
            <a:avLst/>
          </a:prstGeom>
          <a:solidFill>
            <a:srgbClr val="74A7AE"/>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2" name="Oval 21"/>
          <p:cNvSpPr>
            <a:spLocks noChangeArrowheads="1"/>
          </p:cNvSpPr>
          <p:nvPr/>
        </p:nvSpPr>
        <p:spPr bwMode="auto">
          <a:xfrm>
            <a:off x="9478963" y="5429477"/>
            <a:ext cx="488950" cy="492125"/>
          </a:xfrm>
          <a:prstGeom prst="ellipse">
            <a:avLst/>
          </a:prstGeom>
          <a:solidFill>
            <a:srgbClr val="898989"/>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3" name="Oval 22"/>
          <p:cNvSpPr>
            <a:spLocks noChangeArrowheads="1"/>
          </p:cNvSpPr>
          <p:nvPr/>
        </p:nvSpPr>
        <p:spPr bwMode="auto">
          <a:xfrm>
            <a:off x="9585325" y="5527902"/>
            <a:ext cx="284163" cy="285750"/>
          </a:xfrm>
          <a:prstGeom prst="ellipse">
            <a:avLst/>
          </a:prstGeom>
          <a:solidFill>
            <a:srgbClr val="FFFFFF"/>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4" name="Oval 23"/>
          <p:cNvSpPr>
            <a:spLocks noChangeArrowheads="1"/>
          </p:cNvSpPr>
          <p:nvPr/>
        </p:nvSpPr>
        <p:spPr bwMode="auto">
          <a:xfrm>
            <a:off x="9625013" y="5577115"/>
            <a:ext cx="195263" cy="196850"/>
          </a:xfrm>
          <a:prstGeom prst="ellipse">
            <a:avLst/>
          </a:prstGeom>
          <a:solidFill>
            <a:srgbClr val="EA502C"/>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5" name="Oval 24"/>
          <p:cNvSpPr>
            <a:spLocks noChangeArrowheads="1"/>
          </p:cNvSpPr>
          <p:nvPr/>
        </p:nvSpPr>
        <p:spPr bwMode="auto">
          <a:xfrm>
            <a:off x="11063288" y="5429477"/>
            <a:ext cx="490538" cy="492125"/>
          </a:xfrm>
          <a:prstGeom prst="ellipse">
            <a:avLst/>
          </a:prstGeom>
          <a:solidFill>
            <a:srgbClr val="898989"/>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6" name="Oval 25"/>
          <p:cNvSpPr>
            <a:spLocks noChangeArrowheads="1"/>
          </p:cNvSpPr>
          <p:nvPr/>
        </p:nvSpPr>
        <p:spPr bwMode="auto">
          <a:xfrm>
            <a:off x="11161713" y="5527902"/>
            <a:ext cx="284163" cy="285750"/>
          </a:xfrm>
          <a:prstGeom prst="ellipse">
            <a:avLst/>
          </a:prstGeom>
          <a:solidFill>
            <a:srgbClr val="FFFFFF"/>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7" name="Oval 26"/>
          <p:cNvSpPr>
            <a:spLocks noChangeArrowheads="1"/>
          </p:cNvSpPr>
          <p:nvPr/>
        </p:nvSpPr>
        <p:spPr bwMode="auto">
          <a:xfrm>
            <a:off x="11210925" y="5577115"/>
            <a:ext cx="195263" cy="196850"/>
          </a:xfrm>
          <a:prstGeom prst="ellipse">
            <a:avLst/>
          </a:prstGeom>
          <a:solidFill>
            <a:srgbClr val="7B6057"/>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8" name="Freeform 27"/>
          <p:cNvSpPr/>
          <p:nvPr/>
        </p:nvSpPr>
        <p:spPr bwMode="auto">
          <a:xfrm>
            <a:off x="2039938" y="3884840"/>
            <a:ext cx="2701925" cy="1033463"/>
          </a:xfrm>
          <a:custGeom>
            <a:avLst/>
            <a:gdLst>
              <a:gd name="T0" fmla="*/ 0 w 1702"/>
              <a:gd name="T1" fmla="*/ 651 h 651"/>
              <a:gd name="T2" fmla="*/ 1702 w 1702"/>
              <a:gd name="T3" fmla="*/ 651 h 651"/>
              <a:gd name="T4" fmla="*/ 1702 w 1702"/>
              <a:gd name="T5" fmla="*/ 0 h 651"/>
              <a:gd name="T6" fmla="*/ 0 w 1702"/>
              <a:gd name="T7" fmla="*/ 0 h 651"/>
              <a:gd name="T8" fmla="*/ 0 w 1702"/>
              <a:gd name="T9" fmla="*/ 651 h 651"/>
              <a:gd name="T10" fmla="*/ 0 w 1702"/>
              <a:gd name="T11" fmla="*/ 651 h 651"/>
            </a:gdLst>
            <a:ahLst/>
            <a:cxnLst>
              <a:cxn ang="0">
                <a:pos x="T0" y="T1"/>
              </a:cxn>
              <a:cxn ang="0">
                <a:pos x="T2" y="T3"/>
              </a:cxn>
              <a:cxn ang="0">
                <a:pos x="T4" y="T5"/>
              </a:cxn>
              <a:cxn ang="0">
                <a:pos x="T6" y="T7"/>
              </a:cxn>
              <a:cxn ang="0">
                <a:pos x="T8" y="T9"/>
              </a:cxn>
              <a:cxn ang="0">
                <a:pos x="T10" y="T11"/>
              </a:cxn>
            </a:cxnLst>
            <a:rect l="0" t="0" r="r" b="b"/>
            <a:pathLst>
              <a:path w="1702" h="651">
                <a:moveTo>
                  <a:pt x="0" y="651"/>
                </a:moveTo>
                <a:lnTo>
                  <a:pt x="1702" y="651"/>
                </a:lnTo>
                <a:lnTo>
                  <a:pt x="1702" y="0"/>
                </a:lnTo>
                <a:lnTo>
                  <a:pt x="0" y="0"/>
                </a:lnTo>
                <a:lnTo>
                  <a:pt x="0" y="651"/>
                </a:lnTo>
                <a:lnTo>
                  <a:pt x="0" y="651"/>
                </a:lnTo>
                <a:close/>
              </a:path>
            </a:pathLst>
          </a:custGeom>
          <a:solidFill>
            <a:srgbClr val="CCB77F"/>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9" name="Freeform 28"/>
          <p:cNvSpPr/>
          <p:nvPr/>
        </p:nvSpPr>
        <p:spPr bwMode="auto">
          <a:xfrm>
            <a:off x="9693275" y="4346802"/>
            <a:ext cx="58738" cy="1328738"/>
          </a:xfrm>
          <a:custGeom>
            <a:avLst/>
            <a:gdLst>
              <a:gd name="T0" fmla="*/ 37 w 37"/>
              <a:gd name="T1" fmla="*/ 837 h 837"/>
              <a:gd name="T2" fmla="*/ 0 w 37"/>
              <a:gd name="T3" fmla="*/ 837 h 837"/>
              <a:gd name="T4" fmla="*/ 0 w 37"/>
              <a:gd name="T5" fmla="*/ 0 h 837"/>
              <a:gd name="T6" fmla="*/ 37 w 37"/>
              <a:gd name="T7" fmla="*/ 0 h 837"/>
              <a:gd name="T8" fmla="*/ 37 w 37"/>
              <a:gd name="T9" fmla="*/ 837 h 837"/>
              <a:gd name="T10" fmla="*/ 37 w 37"/>
              <a:gd name="T11" fmla="*/ 837 h 837"/>
            </a:gdLst>
            <a:ahLst/>
            <a:cxnLst>
              <a:cxn ang="0">
                <a:pos x="T0" y="T1"/>
              </a:cxn>
              <a:cxn ang="0">
                <a:pos x="T2" y="T3"/>
              </a:cxn>
              <a:cxn ang="0">
                <a:pos x="T4" y="T5"/>
              </a:cxn>
              <a:cxn ang="0">
                <a:pos x="T6" y="T7"/>
              </a:cxn>
              <a:cxn ang="0">
                <a:pos x="T8" y="T9"/>
              </a:cxn>
              <a:cxn ang="0">
                <a:pos x="T10" y="T11"/>
              </a:cxn>
            </a:cxnLst>
            <a:rect l="0" t="0" r="r" b="b"/>
            <a:pathLst>
              <a:path w="37" h="837">
                <a:moveTo>
                  <a:pt x="37" y="837"/>
                </a:moveTo>
                <a:lnTo>
                  <a:pt x="0" y="837"/>
                </a:lnTo>
                <a:lnTo>
                  <a:pt x="0" y="0"/>
                </a:lnTo>
                <a:lnTo>
                  <a:pt x="37" y="0"/>
                </a:lnTo>
                <a:lnTo>
                  <a:pt x="37" y="837"/>
                </a:lnTo>
                <a:lnTo>
                  <a:pt x="37" y="837"/>
                </a:lnTo>
                <a:close/>
              </a:path>
            </a:pathLst>
          </a:custGeom>
          <a:solidFill>
            <a:srgbClr val="EA502C"/>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0" name="Freeform 29"/>
          <p:cNvSpPr/>
          <p:nvPr/>
        </p:nvSpPr>
        <p:spPr bwMode="auto">
          <a:xfrm>
            <a:off x="8353425" y="3884840"/>
            <a:ext cx="2709863" cy="1033463"/>
          </a:xfrm>
          <a:custGeom>
            <a:avLst/>
            <a:gdLst>
              <a:gd name="T0" fmla="*/ 0 w 1707"/>
              <a:gd name="T1" fmla="*/ 651 h 651"/>
              <a:gd name="T2" fmla="*/ 1707 w 1707"/>
              <a:gd name="T3" fmla="*/ 651 h 651"/>
              <a:gd name="T4" fmla="*/ 1707 w 1707"/>
              <a:gd name="T5" fmla="*/ 0 h 651"/>
              <a:gd name="T6" fmla="*/ 0 w 1707"/>
              <a:gd name="T7" fmla="*/ 0 h 651"/>
              <a:gd name="T8" fmla="*/ 0 w 1707"/>
              <a:gd name="T9" fmla="*/ 651 h 651"/>
              <a:gd name="T10" fmla="*/ 0 w 1707"/>
              <a:gd name="T11" fmla="*/ 651 h 651"/>
            </a:gdLst>
            <a:ahLst/>
            <a:cxnLst>
              <a:cxn ang="0">
                <a:pos x="T0" y="T1"/>
              </a:cxn>
              <a:cxn ang="0">
                <a:pos x="T2" y="T3"/>
              </a:cxn>
              <a:cxn ang="0">
                <a:pos x="T4" y="T5"/>
              </a:cxn>
              <a:cxn ang="0">
                <a:pos x="T6" y="T7"/>
              </a:cxn>
              <a:cxn ang="0">
                <a:pos x="T8" y="T9"/>
              </a:cxn>
              <a:cxn ang="0">
                <a:pos x="T10" y="T11"/>
              </a:cxn>
            </a:cxnLst>
            <a:rect l="0" t="0" r="r" b="b"/>
            <a:pathLst>
              <a:path w="1707" h="651">
                <a:moveTo>
                  <a:pt x="0" y="651"/>
                </a:moveTo>
                <a:lnTo>
                  <a:pt x="1707" y="651"/>
                </a:lnTo>
                <a:lnTo>
                  <a:pt x="1707" y="0"/>
                </a:lnTo>
                <a:lnTo>
                  <a:pt x="0" y="0"/>
                </a:lnTo>
                <a:lnTo>
                  <a:pt x="0" y="651"/>
                </a:lnTo>
                <a:lnTo>
                  <a:pt x="0" y="651"/>
                </a:lnTo>
                <a:close/>
              </a:path>
            </a:pathLst>
          </a:custGeom>
          <a:solidFill>
            <a:srgbClr val="EA502C"/>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1" name="Freeform 30"/>
          <p:cNvSpPr/>
          <p:nvPr/>
        </p:nvSpPr>
        <p:spPr bwMode="auto">
          <a:xfrm>
            <a:off x="5211763" y="3884840"/>
            <a:ext cx="2700338" cy="1033463"/>
          </a:xfrm>
          <a:custGeom>
            <a:avLst/>
            <a:gdLst>
              <a:gd name="T0" fmla="*/ 0 w 1701"/>
              <a:gd name="T1" fmla="*/ 651 h 651"/>
              <a:gd name="T2" fmla="*/ 1701 w 1701"/>
              <a:gd name="T3" fmla="*/ 651 h 651"/>
              <a:gd name="T4" fmla="*/ 1701 w 1701"/>
              <a:gd name="T5" fmla="*/ 0 h 651"/>
              <a:gd name="T6" fmla="*/ 0 w 1701"/>
              <a:gd name="T7" fmla="*/ 0 h 651"/>
              <a:gd name="T8" fmla="*/ 0 w 1701"/>
              <a:gd name="T9" fmla="*/ 651 h 651"/>
              <a:gd name="T10" fmla="*/ 0 w 1701"/>
              <a:gd name="T11" fmla="*/ 651 h 651"/>
            </a:gdLst>
            <a:ahLst/>
            <a:cxnLst>
              <a:cxn ang="0">
                <a:pos x="T0" y="T1"/>
              </a:cxn>
              <a:cxn ang="0">
                <a:pos x="T2" y="T3"/>
              </a:cxn>
              <a:cxn ang="0">
                <a:pos x="T4" y="T5"/>
              </a:cxn>
              <a:cxn ang="0">
                <a:pos x="T6" y="T7"/>
              </a:cxn>
              <a:cxn ang="0">
                <a:pos x="T8" y="T9"/>
              </a:cxn>
              <a:cxn ang="0">
                <a:pos x="T10" y="T11"/>
              </a:cxn>
            </a:cxnLst>
            <a:rect l="0" t="0" r="r" b="b"/>
            <a:pathLst>
              <a:path w="1701" h="651">
                <a:moveTo>
                  <a:pt x="0" y="651"/>
                </a:moveTo>
                <a:lnTo>
                  <a:pt x="1701" y="651"/>
                </a:lnTo>
                <a:lnTo>
                  <a:pt x="1701" y="0"/>
                </a:lnTo>
                <a:lnTo>
                  <a:pt x="0" y="0"/>
                </a:lnTo>
                <a:lnTo>
                  <a:pt x="0" y="651"/>
                </a:lnTo>
                <a:lnTo>
                  <a:pt x="0" y="651"/>
                </a:lnTo>
                <a:close/>
              </a:path>
            </a:pathLst>
          </a:custGeom>
          <a:solidFill>
            <a:srgbClr val="7B6057"/>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2" name="Freeform 31"/>
          <p:cNvSpPr/>
          <p:nvPr/>
        </p:nvSpPr>
        <p:spPr bwMode="auto">
          <a:xfrm>
            <a:off x="1571625" y="2429102"/>
            <a:ext cx="2709863" cy="1042988"/>
          </a:xfrm>
          <a:custGeom>
            <a:avLst/>
            <a:gdLst>
              <a:gd name="T0" fmla="*/ 0 w 1707"/>
              <a:gd name="T1" fmla="*/ 657 h 657"/>
              <a:gd name="T2" fmla="*/ 1707 w 1707"/>
              <a:gd name="T3" fmla="*/ 657 h 657"/>
              <a:gd name="T4" fmla="*/ 1707 w 1707"/>
              <a:gd name="T5" fmla="*/ 0 h 657"/>
              <a:gd name="T6" fmla="*/ 0 w 1707"/>
              <a:gd name="T7" fmla="*/ 0 h 657"/>
              <a:gd name="T8" fmla="*/ 0 w 1707"/>
              <a:gd name="T9" fmla="*/ 657 h 657"/>
              <a:gd name="T10" fmla="*/ 0 w 1707"/>
              <a:gd name="T11" fmla="*/ 657 h 657"/>
            </a:gdLst>
            <a:ahLst/>
            <a:cxnLst>
              <a:cxn ang="0">
                <a:pos x="T0" y="T1"/>
              </a:cxn>
              <a:cxn ang="0">
                <a:pos x="T2" y="T3"/>
              </a:cxn>
              <a:cxn ang="0">
                <a:pos x="T4" y="T5"/>
              </a:cxn>
              <a:cxn ang="0">
                <a:pos x="T6" y="T7"/>
              </a:cxn>
              <a:cxn ang="0">
                <a:pos x="T8" y="T9"/>
              </a:cxn>
              <a:cxn ang="0">
                <a:pos x="T10" y="T11"/>
              </a:cxn>
            </a:cxnLst>
            <a:rect l="0" t="0" r="r" b="b"/>
            <a:pathLst>
              <a:path w="1707" h="657">
                <a:moveTo>
                  <a:pt x="0" y="657"/>
                </a:moveTo>
                <a:lnTo>
                  <a:pt x="1707" y="657"/>
                </a:lnTo>
                <a:lnTo>
                  <a:pt x="1707" y="0"/>
                </a:lnTo>
                <a:lnTo>
                  <a:pt x="0" y="0"/>
                </a:lnTo>
                <a:lnTo>
                  <a:pt x="0" y="657"/>
                </a:lnTo>
                <a:lnTo>
                  <a:pt x="0" y="657"/>
                </a:lnTo>
                <a:close/>
              </a:path>
            </a:pathLst>
          </a:custGeom>
          <a:solidFill>
            <a:srgbClr val="74A7AE"/>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3" name="Freeform 32"/>
          <p:cNvSpPr/>
          <p:nvPr/>
        </p:nvSpPr>
        <p:spPr bwMode="auto">
          <a:xfrm>
            <a:off x="7932738" y="2429102"/>
            <a:ext cx="2709863" cy="1042988"/>
          </a:xfrm>
          <a:custGeom>
            <a:avLst/>
            <a:gdLst>
              <a:gd name="T0" fmla="*/ 0 w 1707"/>
              <a:gd name="T1" fmla="*/ 657 h 657"/>
              <a:gd name="T2" fmla="*/ 1707 w 1707"/>
              <a:gd name="T3" fmla="*/ 657 h 657"/>
              <a:gd name="T4" fmla="*/ 1707 w 1707"/>
              <a:gd name="T5" fmla="*/ 0 h 657"/>
              <a:gd name="T6" fmla="*/ 0 w 1707"/>
              <a:gd name="T7" fmla="*/ 0 h 657"/>
              <a:gd name="T8" fmla="*/ 0 w 1707"/>
              <a:gd name="T9" fmla="*/ 657 h 657"/>
              <a:gd name="T10" fmla="*/ 0 w 1707"/>
              <a:gd name="T11" fmla="*/ 657 h 657"/>
            </a:gdLst>
            <a:ahLst/>
            <a:cxnLst>
              <a:cxn ang="0">
                <a:pos x="T0" y="T1"/>
              </a:cxn>
              <a:cxn ang="0">
                <a:pos x="T2" y="T3"/>
              </a:cxn>
              <a:cxn ang="0">
                <a:pos x="T4" y="T5"/>
              </a:cxn>
              <a:cxn ang="0">
                <a:pos x="T6" y="T7"/>
              </a:cxn>
              <a:cxn ang="0">
                <a:pos x="T8" y="T9"/>
              </a:cxn>
              <a:cxn ang="0">
                <a:pos x="T10" y="T11"/>
              </a:cxn>
            </a:cxnLst>
            <a:rect l="0" t="0" r="r" b="b"/>
            <a:pathLst>
              <a:path w="1707" h="657">
                <a:moveTo>
                  <a:pt x="0" y="657"/>
                </a:moveTo>
                <a:lnTo>
                  <a:pt x="1707" y="657"/>
                </a:lnTo>
                <a:lnTo>
                  <a:pt x="1707" y="0"/>
                </a:lnTo>
                <a:lnTo>
                  <a:pt x="0" y="0"/>
                </a:lnTo>
                <a:lnTo>
                  <a:pt x="0" y="657"/>
                </a:lnTo>
                <a:lnTo>
                  <a:pt x="0" y="657"/>
                </a:lnTo>
                <a:close/>
              </a:path>
            </a:pathLst>
          </a:custGeom>
          <a:solidFill>
            <a:srgbClr val="74A7AE"/>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4" name="Freeform 33"/>
          <p:cNvSpPr/>
          <p:nvPr/>
        </p:nvSpPr>
        <p:spPr bwMode="auto">
          <a:xfrm>
            <a:off x="4760913" y="2429102"/>
            <a:ext cx="2711450" cy="1042988"/>
          </a:xfrm>
          <a:custGeom>
            <a:avLst/>
            <a:gdLst>
              <a:gd name="T0" fmla="*/ 0 w 1708"/>
              <a:gd name="T1" fmla="*/ 657 h 657"/>
              <a:gd name="T2" fmla="*/ 1708 w 1708"/>
              <a:gd name="T3" fmla="*/ 657 h 657"/>
              <a:gd name="T4" fmla="*/ 1708 w 1708"/>
              <a:gd name="T5" fmla="*/ 0 h 657"/>
              <a:gd name="T6" fmla="*/ 0 w 1708"/>
              <a:gd name="T7" fmla="*/ 0 h 657"/>
              <a:gd name="T8" fmla="*/ 0 w 1708"/>
              <a:gd name="T9" fmla="*/ 657 h 657"/>
              <a:gd name="T10" fmla="*/ 0 w 1708"/>
              <a:gd name="T11" fmla="*/ 657 h 657"/>
            </a:gdLst>
            <a:ahLst/>
            <a:cxnLst>
              <a:cxn ang="0">
                <a:pos x="T0" y="T1"/>
              </a:cxn>
              <a:cxn ang="0">
                <a:pos x="T2" y="T3"/>
              </a:cxn>
              <a:cxn ang="0">
                <a:pos x="T4" y="T5"/>
              </a:cxn>
              <a:cxn ang="0">
                <a:pos x="T6" y="T7"/>
              </a:cxn>
              <a:cxn ang="0">
                <a:pos x="T8" y="T9"/>
              </a:cxn>
              <a:cxn ang="0">
                <a:pos x="T10" y="T11"/>
              </a:cxn>
            </a:cxnLst>
            <a:rect l="0" t="0" r="r" b="b"/>
            <a:pathLst>
              <a:path w="1708" h="657">
                <a:moveTo>
                  <a:pt x="0" y="657"/>
                </a:moveTo>
                <a:lnTo>
                  <a:pt x="1708" y="657"/>
                </a:lnTo>
                <a:lnTo>
                  <a:pt x="1708" y="0"/>
                </a:lnTo>
                <a:lnTo>
                  <a:pt x="0" y="0"/>
                </a:lnTo>
                <a:lnTo>
                  <a:pt x="0" y="657"/>
                </a:lnTo>
                <a:lnTo>
                  <a:pt x="0" y="657"/>
                </a:lnTo>
                <a:close/>
              </a:path>
            </a:pathLst>
          </a:custGeom>
          <a:solidFill>
            <a:srgbClr val="EA502C"/>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 name="Freeform 34"/>
          <p:cNvSpPr/>
          <p:nvPr/>
        </p:nvSpPr>
        <p:spPr bwMode="auto">
          <a:xfrm>
            <a:off x="8118475" y="3167290"/>
            <a:ext cx="58738" cy="2508250"/>
          </a:xfrm>
          <a:custGeom>
            <a:avLst/>
            <a:gdLst>
              <a:gd name="T0" fmla="*/ 37 w 37"/>
              <a:gd name="T1" fmla="*/ 1580 h 1580"/>
              <a:gd name="T2" fmla="*/ 0 w 37"/>
              <a:gd name="T3" fmla="*/ 1580 h 1580"/>
              <a:gd name="T4" fmla="*/ 0 w 37"/>
              <a:gd name="T5" fmla="*/ 0 h 1580"/>
              <a:gd name="T6" fmla="*/ 37 w 37"/>
              <a:gd name="T7" fmla="*/ 0 h 1580"/>
              <a:gd name="T8" fmla="*/ 37 w 37"/>
              <a:gd name="T9" fmla="*/ 1580 h 1580"/>
              <a:gd name="T10" fmla="*/ 37 w 37"/>
              <a:gd name="T11" fmla="*/ 1580 h 1580"/>
            </a:gdLst>
            <a:ahLst/>
            <a:cxnLst>
              <a:cxn ang="0">
                <a:pos x="T0" y="T1"/>
              </a:cxn>
              <a:cxn ang="0">
                <a:pos x="T2" y="T3"/>
              </a:cxn>
              <a:cxn ang="0">
                <a:pos x="T4" y="T5"/>
              </a:cxn>
              <a:cxn ang="0">
                <a:pos x="T6" y="T7"/>
              </a:cxn>
              <a:cxn ang="0">
                <a:pos x="T8" y="T9"/>
              </a:cxn>
              <a:cxn ang="0">
                <a:pos x="T10" y="T11"/>
              </a:cxn>
            </a:cxnLst>
            <a:rect l="0" t="0" r="r" b="b"/>
            <a:pathLst>
              <a:path w="37" h="1580">
                <a:moveTo>
                  <a:pt x="37" y="1580"/>
                </a:moveTo>
                <a:lnTo>
                  <a:pt x="0" y="1580"/>
                </a:lnTo>
                <a:lnTo>
                  <a:pt x="0" y="0"/>
                </a:lnTo>
                <a:lnTo>
                  <a:pt x="37" y="0"/>
                </a:lnTo>
                <a:lnTo>
                  <a:pt x="37" y="1580"/>
                </a:lnTo>
                <a:lnTo>
                  <a:pt x="37" y="1580"/>
                </a:lnTo>
                <a:close/>
              </a:path>
            </a:pathLst>
          </a:custGeom>
          <a:solidFill>
            <a:srgbClr val="74A7AE"/>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6" name="Freeform 35"/>
          <p:cNvSpPr/>
          <p:nvPr/>
        </p:nvSpPr>
        <p:spPr bwMode="auto">
          <a:xfrm>
            <a:off x="6532563" y="4346802"/>
            <a:ext cx="58738" cy="1328738"/>
          </a:xfrm>
          <a:custGeom>
            <a:avLst/>
            <a:gdLst>
              <a:gd name="T0" fmla="*/ 37 w 37"/>
              <a:gd name="T1" fmla="*/ 837 h 837"/>
              <a:gd name="T2" fmla="*/ 0 w 37"/>
              <a:gd name="T3" fmla="*/ 837 h 837"/>
              <a:gd name="T4" fmla="*/ 0 w 37"/>
              <a:gd name="T5" fmla="*/ 0 h 837"/>
              <a:gd name="T6" fmla="*/ 37 w 37"/>
              <a:gd name="T7" fmla="*/ 0 h 837"/>
              <a:gd name="T8" fmla="*/ 37 w 37"/>
              <a:gd name="T9" fmla="*/ 837 h 837"/>
              <a:gd name="T10" fmla="*/ 37 w 37"/>
              <a:gd name="T11" fmla="*/ 837 h 837"/>
            </a:gdLst>
            <a:ahLst/>
            <a:cxnLst>
              <a:cxn ang="0">
                <a:pos x="T0" y="T1"/>
              </a:cxn>
              <a:cxn ang="0">
                <a:pos x="T2" y="T3"/>
              </a:cxn>
              <a:cxn ang="0">
                <a:pos x="T4" y="T5"/>
              </a:cxn>
              <a:cxn ang="0">
                <a:pos x="T6" y="T7"/>
              </a:cxn>
              <a:cxn ang="0">
                <a:pos x="T8" y="T9"/>
              </a:cxn>
              <a:cxn ang="0">
                <a:pos x="T10" y="T11"/>
              </a:cxn>
            </a:cxnLst>
            <a:rect l="0" t="0" r="r" b="b"/>
            <a:pathLst>
              <a:path w="37" h="837">
                <a:moveTo>
                  <a:pt x="37" y="837"/>
                </a:moveTo>
                <a:lnTo>
                  <a:pt x="0" y="837"/>
                </a:lnTo>
                <a:lnTo>
                  <a:pt x="0" y="0"/>
                </a:lnTo>
                <a:lnTo>
                  <a:pt x="37" y="0"/>
                </a:lnTo>
                <a:lnTo>
                  <a:pt x="37" y="837"/>
                </a:lnTo>
                <a:lnTo>
                  <a:pt x="37" y="837"/>
                </a:lnTo>
                <a:close/>
              </a:path>
            </a:pathLst>
          </a:custGeom>
          <a:solidFill>
            <a:srgbClr val="7B6057"/>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 name="Freeform 36"/>
          <p:cNvSpPr/>
          <p:nvPr/>
        </p:nvSpPr>
        <p:spPr bwMode="auto">
          <a:xfrm>
            <a:off x="4946650" y="2989490"/>
            <a:ext cx="69850" cy="2686050"/>
          </a:xfrm>
          <a:custGeom>
            <a:avLst/>
            <a:gdLst>
              <a:gd name="T0" fmla="*/ 44 w 44"/>
              <a:gd name="T1" fmla="*/ 1692 h 1692"/>
              <a:gd name="T2" fmla="*/ 0 w 44"/>
              <a:gd name="T3" fmla="*/ 1692 h 1692"/>
              <a:gd name="T4" fmla="*/ 0 w 44"/>
              <a:gd name="T5" fmla="*/ 0 h 1692"/>
              <a:gd name="T6" fmla="*/ 44 w 44"/>
              <a:gd name="T7" fmla="*/ 0 h 1692"/>
              <a:gd name="T8" fmla="*/ 44 w 44"/>
              <a:gd name="T9" fmla="*/ 1692 h 1692"/>
              <a:gd name="T10" fmla="*/ 44 w 44"/>
              <a:gd name="T11" fmla="*/ 1692 h 1692"/>
            </a:gdLst>
            <a:ahLst/>
            <a:cxnLst>
              <a:cxn ang="0">
                <a:pos x="T0" y="T1"/>
              </a:cxn>
              <a:cxn ang="0">
                <a:pos x="T2" y="T3"/>
              </a:cxn>
              <a:cxn ang="0">
                <a:pos x="T4" y="T5"/>
              </a:cxn>
              <a:cxn ang="0">
                <a:pos x="T6" y="T7"/>
              </a:cxn>
              <a:cxn ang="0">
                <a:pos x="T8" y="T9"/>
              </a:cxn>
              <a:cxn ang="0">
                <a:pos x="T10" y="T11"/>
              </a:cxn>
            </a:cxnLst>
            <a:rect l="0" t="0" r="r" b="b"/>
            <a:pathLst>
              <a:path w="44" h="1692">
                <a:moveTo>
                  <a:pt x="44" y="1692"/>
                </a:moveTo>
                <a:lnTo>
                  <a:pt x="0" y="1692"/>
                </a:lnTo>
                <a:lnTo>
                  <a:pt x="0" y="0"/>
                </a:lnTo>
                <a:lnTo>
                  <a:pt x="44" y="0"/>
                </a:lnTo>
                <a:lnTo>
                  <a:pt x="44" y="1692"/>
                </a:lnTo>
                <a:lnTo>
                  <a:pt x="44" y="1692"/>
                </a:lnTo>
                <a:close/>
              </a:path>
            </a:pathLst>
          </a:custGeom>
          <a:solidFill>
            <a:srgbClr val="EA502C"/>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8" name="Freeform 37"/>
          <p:cNvSpPr/>
          <p:nvPr/>
        </p:nvSpPr>
        <p:spPr bwMode="auto">
          <a:xfrm>
            <a:off x="3371850" y="3992790"/>
            <a:ext cx="58738" cy="1682750"/>
          </a:xfrm>
          <a:custGeom>
            <a:avLst/>
            <a:gdLst>
              <a:gd name="T0" fmla="*/ 37 w 37"/>
              <a:gd name="T1" fmla="*/ 1060 h 1060"/>
              <a:gd name="T2" fmla="*/ 0 w 37"/>
              <a:gd name="T3" fmla="*/ 1060 h 1060"/>
              <a:gd name="T4" fmla="*/ 0 w 37"/>
              <a:gd name="T5" fmla="*/ 0 h 1060"/>
              <a:gd name="T6" fmla="*/ 37 w 37"/>
              <a:gd name="T7" fmla="*/ 0 h 1060"/>
              <a:gd name="T8" fmla="*/ 37 w 37"/>
              <a:gd name="T9" fmla="*/ 1060 h 1060"/>
              <a:gd name="T10" fmla="*/ 37 w 37"/>
              <a:gd name="T11" fmla="*/ 1060 h 1060"/>
            </a:gdLst>
            <a:ahLst/>
            <a:cxnLst>
              <a:cxn ang="0">
                <a:pos x="T0" y="T1"/>
              </a:cxn>
              <a:cxn ang="0">
                <a:pos x="T2" y="T3"/>
              </a:cxn>
              <a:cxn ang="0">
                <a:pos x="T4" y="T5"/>
              </a:cxn>
              <a:cxn ang="0">
                <a:pos x="T6" y="T7"/>
              </a:cxn>
              <a:cxn ang="0">
                <a:pos x="T8" y="T9"/>
              </a:cxn>
              <a:cxn ang="0">
                <a:pos x="T10" y="T11"/>
              </a:cxn>
            </a:cxnLst>
            <a:rect l="0" t="0" r="r" b="b"/>
            <a:pathLst>
              <a:path w="37" h="1060">
                <a:moveTo>
                  <a:pt x="37" y="1060"/>
                </a:moveTo>
                <a:lnTo>
                  <a:pt x="0" y="1060"/>
                </a:lnTo>
                <a:lnTo>
                  <a:pt x="0" y="0"/>
                </a:lnTo>
                <a:lnTo>
                  <a:pt x="37" y="0"/>
                </a:lnTo>
                <a:lnTo>
                  <a:pt x="37" y="1060"/>
                </a:lnTo>
                <a:lnTo>
                  <a:pt x="37" y="1060"/>
                </a:lnTo>
                <a:close/>
              </a:path>
            </a:pathLst>
          </a:custGeom>
          <a:solidFill>
            <a:srgbClr val="CCB77F"/>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9" name="Freeform 38"/>
          <p:cNvSpPr/>
          <p:nvPr/>
        </p:nvSpPr>
        <p:spPr bwMode="auto">
          <a:xfrm>
            <a:off x="1785938" y="2635477"/>
            <a:ext cx="58738" cy="3040063"/>
          </a:xfrm>
          <a:custGeom>
            <a:avLst/>
            <a:gdLst>
              <a:gd name="T0" fmla="*/ 37 w 37"/>
              <a:gd name="T1" fmla="*/ 1915 h 1915"/>
              <a:gd name="T2" fmla="*/ 0 w 37"/>
              <a:gd name="T3" fmla="*/ 1915 h 1915"/>
              <a:gd name="T4" fmla="*/ 0 w 37"/>
              <a:gd name="T5" fmla="*/ 0 h 1915"/>
              <a:gd name="T6" fmla="*/ 37 w 37"/>
              <a:gd name="T7" fmla="*/ 0 h 1915"/>
              <a:gd name="T8" fmla="*/ 37 w 37"/>
              <a:gd name="T9" fmla="*/ 1915 h 1915"/>
              <a:gd name="T10" fmla="*/ 37 w 37"/>
              <a:gd name="T11" fmla="*/ 1915 h 1915"/>
            </a:gdLst>
            <a:ahLst/>
            <a:cxnLst>
              <a:cxn ang="0">
                <a:pos x="T0" y="T1"/>
              </a:cxn>
              <a:cxn ang="0">
                <a:pos x="T2" y="T3"/>
              </a:cxn>
              <a:cxn ang="0">
                <a:pos x="T4" y="T5"/>
              </a:cxn>
              <a:cxn ang="0">
                <a:pos x="T6" y="T7"/>
              </a:cxn>
              <a:cxn ang="0">
                <a:pos x="T8" y="T9"/>
              </a:cxn>
              <a:cxn ang="0">
                <a:pos x="T10" y="T11"/>
              </a:cxn>
            </a:cxnLst>
            <a:rect l="0" t="0" r="r" b="b"/>
            <a:pathLst>
              <a:path w="37" h="1915">
                <a:moveTo>
                  <a:pt x="37" y="1915"/>
                </a:moveTo>
                <a:lnTo>
                  <a:pt x="0" y="1915"/>
                </a:lnTo>
                <a:lnTo>
                  <a:pt x="0" y="0"/>
                </a:lnTo>
                <a:lnTo>
                  <a:pt x="37" y="0"/>
                </a:lnTo>
                <a:lnTo>
                  <a:pt x="37" y="1915"/>
                </a:lnTo>
                <a:lnTo>
                  <a:pt x="37" y="1915"/>
                </a:lnTo>
                <a:close/>
              </a:path>
            </a:pathLst>
          </a:custGeom>
          <a:solidFill>
            <a:srgbClr val="74A7AE"/>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0" name="文本框 94"/>
          <p:cNvSpPr txBox="1"/>
          <p:nvPr/>
        </p:nvSpPr>
        <p:spPr>
          <a:xfrm>
            <a:off x="1571624" y="2635839"/>
            <a:ext cx="2709863" cy="590931"/>
          </a:xfrm>
          <a:prstGeom prst="rect">
            <a:avLst/>
          </a:prstGeom>
          <a:noFill/>
        </p:spPr>
        <p:txBody>
          <a:bodyPr wrap="square" rtlCol="0">
            <a:spAutoFit/>
          </a:bodyPr>
          <a:lstStyle/>
          <a:p>
            <a:pPr lvl="0" algn="ctr" defTabSz="800100">
              <a:lnSpc>
                <a:spcPct val="90000"/>
              </a:lnSpc>
              <a:spcBef>
                <a:spcPct val="0"/>
              </a:spcBef>
              <a:spcAft>
                <a:spcPct val="35000"/>
              </a:spcAft>
            </a:pPr>
            <a:r>
              <a:rPr lang="en-US" altLang="zh-CN" sz="3600" b="1" dirty="0">
                <a:solidFill>
                  <a:schemeClr val="bg1"/>
                </a:solidFill>
                <a:latin typeface="微软雅黑" panose="020B0503020204020204" pitchFamily="34" charset="-122"/>
                <a:ea typeface="微软雅黑" panose="020B0503020204020204" pitchFamily="34" charset="-122"/>
              </a:rPr>
              <a:t>1800</a:t>
            </a:r>
            <a:r>
              <a:rPr lang="zh-CN" altLang="en-US" sz="3600" b="1" dirty="0">
                <a:solidFill>
                  <a:schemeClr val="bg1"/>
                </a:solidFill>
                <a:latin typeface="微软雅黑" panose="020B0503020204020204" pitchFamily="34" charset="-122"/>
                <a:ea typeface="微软雅黑" panose="020B0503020204020204" pitchFamily="34" charset="-122"/>
              </a:rPr>
              <a:t>年发现</a:t>
            </a:r>
          </a:p>
        </p:txBody>
      </p:sp>
      <p:sp>
        <p:nvSpPr>
          <p:cNvPr id="121" name="文本框 95"/>
          <p:cNvSpPr txBox="1"/>
          <p:nvPr/>
        </p:nvSpPr>
        <p:spPr>
          <a:xfrm>
            <a:off x="4730751" y="2429102"/>
            <a:ext cx="2730501" cy="1089529"/>
          </a:xfrm>
          <a:prstGeom prst="rect">
            <a:avLst/>
          </a:prstGeom>
          <a:noFill/>
        </p:spPr>
        <p:txBody>
          <a:bodyPr wrap="square" rtlCol="0">
            <a:spAutoFit/>
          </a:bodyPr>
          <a:lstStyle/>
          <a:p>
            <a:pPr lvl="0" algn="ctr" defTabSz="800100">
              <a:lnSpc>
                <a:spcPct val="90000"/>
              </a:lnSpc>
              <a:spcBef>
                <a:spcPct val="0"/>
              </a:spcBef>
              <a:spcAft>
                <a:spcPct val="35000"/>
              </a:spcAft>
            </a:pPr>
            <a:r>
              <a:rPr lang="en-US" altLang="zh-CN" sz="3600" b="1" dirty="0" smtClean="0">
                <a:solidFill>
                  <a:schemeClr val="bg1"/>
                </a:solidFill>
                <a:latin typeface="微软雅黑" panose="020B0503020204020204" pitchFamily="34" charset="-122"/>
                <a:ea typeface="微软雅黑" panose="020B0503020204020204" pitchFamily="34" charset="-122"/>
              </a:rPr>
              <a:t>20</a:t>
            </a:r>
            <a:r>
              <a:rPr lang="en-US" altLang="zh-CN" sz="3600" b="1" dirty="0">
                <a:solidFill>
                  <a:schemeClr val="bg1"/>
                </a:solidFill>
                <a:latin typeface="微软雅黑" panose="020B0503020204020204" pitchFamily="34" charset="-122"/>
                <a:ea typeface="微软雅黑" panose="020B0503020204020204" pitchFamily="34" charset="-122"/>
              </a:rPr>
              <a:t>s</a:t>
            </a:r>
            <a:r>
              <a:rPr lang="en-US" altLang="zh-CN" sz="3600" b="1" dirty="0" smtClean="0">
                <a:solidFill>
                  <a:schemeClr val="bg1"/>
                </a:solidFill>
                <a:latin typeface="微软雅黑" panose="020B0503020204020204" pitchFamily="34" charset="-122"/>
                <a:ea typeface="微软雅黑" panose="020B0503020204020204" pitchFamily="34" charset="-122"/>
              </a:rPr>
              <a:t>50</a:t>
            </a:r>
            <a:r>
              <a:rPr lang="zh-CN" altLang="en-US" sz="3600" b="1" dirty="0">
                <a:solidFill>
                  <a:schemeClr val="bg1"/>
                </a:solidFill>
                <a:latin typeface="微软雅黑" panose="020B0503020204020204" pitchFamily="34" charset="-122"/>
                <a:ea typeface="微软雅黑" panose="020B0503020204020204" pitchFamily="34" charset="-122"/>
              </a:rPr>
              <a:t>年代中后期</a:t>
            </a:r>
          </a:p>
        </p:txBody>
      </p:sp>
      <p:sp>
        <p:nvSpPr>
          <p:cNvPr id="122" name="文本框 96"/>
          <p:cNvSpPr txBox="1"/>
          <p:nvPr/>
        </p:nvSpPr>
        <p:spPr>
          <a:xfrm>
            <a:off x="8079243" y="2429102"/>
            <a:ext cx="2366962" cy="1089529"/>
          </a:xfrm>
          <a:prstGeom prst="rect">
            <a:avLst/>
          </a:prstGeom>
          <a:noFill/>
        </p:spPr>
        <p:txBody>
          <a:bodyPr wrap="square" rtlCol="0">
            <a:spAutoFit/>
          </a:bodyPr>
          <a:lstStyle/>
          <a:p>
            <a:pPr lvl="0" algn="ctr" defTabSz="800100">
              <a:lnSpc>
                <a:spcPct val="90000"/>
              </a:lnSpc>
              <a:spcBef>
                <a:spcPct val="0"/>
              </a:spcBef>
              <a:spcAft>
                <a:spcPct val="35000"/>
              </a:spcAft>
            </a:pPr>
            <a:r>
              <a:rPr lang="en-US" altLang="zh-CN" sz="3600" b="1" dirty="0" smtClean="0">
                <a:solidFill>
                  <a:schemeClr val="bg1"/>
                </a:solidFill>
                <a:latin typeface="微软雅黑" panose="020B0503020204020204" pitchFamily="34" charset="-122"/>
                <a:ea typeface="微软雅黑" panose="020B0503020204020204" pitchFamily="34" charset="-122"/>
              </a:rPr>
              <a:t>20s80</a:t>
            </a:r>
            <a:r>
              <a:rPr lang="zh-CN" altLang="en-US" sz="3600" b="1" dirty="0">
                <a:solidFill>
                  <a:schemeClr val="bg1"/>
                </a:solidFill>
                <a:latin typeface="微软雅黑" panose="020B0503020204020204" pitchFamily="34" charset="-122"/>
                <a:ea typeface="微软雅黑" panose="020B0503020204020204" pitchFamily="34" charset="-122"/>
              </a:rPr>
              <a:t>年代后</a:t>
            </a:r>
          </a:p>
        </p:txBody>
      </p:sp>
      <p:sp>
        <p:nvSpPr>
          <p:cNvPr id="123" name="文本框 97"/>
          <p:cNvSpPr txBox="1"/>
          <p:nvPr/>
        </p:nvSpPr>
        <p:spPr>
          <a:xfrm>
            <a:off x="2060575" y="4093949"/>
            <a:ext cx="2681288" cy="590931"/>
          </a:xfrm>
          <a:prstGeom prst="rect">
            <a:avLst/>
          </a:prstGeom>
          <a:noFill/>
        </p:spPr>
        <p:txBody>
          <a:bodyPr wrap="square" rtlCol="0">
            <a:spAutoFit/>
          </a:bodyPr>
          <a:lstStyle/>
          <a:p>
            <a:pPr lvl="0" algn="ctr" defTabSz="800100">
              <a:lnSpc>
                <a:spcPct val="90000"/>
              </a:lnSpc>
              <a:spcBef>
                <a:spcPct val="0"/>
              </a:spcBef>
              <a:spcAft>
                <a:spcPct val="35000"/>
              </a:spcAft>
            </a:pPr>
            <a:r>
              <a:rPr lang="en-US" altLang="zh-CN" sz="3600" b="1" dirty="0" smtClean="0">
                <a:solidFill>
                  <a:schemeClr val="bg1"/>
                </a:solidFill>
                <a:latin typeface="微软雅黑" panose="020B0503020204020204" pitchFamily="34" charset="-122"/>
                <a:ea typeface="微软雅黑" panose="020B0503020204020204" pitchFamily="34" charset="-122"/>
              </a:rPr>
              <a:t>19</a:t>
            </a:r>
            <a:r>
              <a:rPr lang="en-US" altLang="zh-CN" sz="3600" b="1" dirty="0">
                <a:solidFill>
                  <a:schemeClr val="bg1"/>
                </a:solidFill>
                <a:latin typeface="微软雅黑" panose="020B0503020204020204" pitchFamily="34" charset="-122"/>
                <a:ea typeface="微软雅黑" panose="020B0503020204020204" pitchFamily="34" charset="-122"/>
              </a:rPr>
              <a:t>s</a:t>
            </a:r>
            <a:r>
              <a:rPr lang="en-US" altLang="zh-CN" sz="3600" b="1" dirty="0" smtClean="0">
                <a:solidFill>
                  <a:schemeClr val="bg1"/>
                </a:solidFill>
                <a:latin typeface="微软雅黑" panose="020B0503020204020204" pitchFamily="34" charset="-122"/>
                <a:ea typeface="微软雅黑" panose="020B0503020204020204" pitchFamily="34" charset="-122"/>
              </a:rPr>
              <a:t>80</a:t>
            </a:r>
            <a:r>
              <a:rPr lang="zh-CN" altLang="en-US" sz="3600" b="1" dirty="0">
                <a:solidFill>
                  <a:schemeClr val="bg1"/>
                </a:solidFill>
                <a:latin typeface="微软雅黑" panose="020B0503020204020204" pitchFamily="34" charset="-122"/>
                <a:ea typeface="微软雅黑" panose="020B0503020204020204" pitchFamily="34" charset="-122"/>
              </a:rPr>
              <a:t>年代</a:t>
            </a:r>
          </a:p>
        </p:txBody>
      </p:sp>
      <p:sp>
        <p:nvSpPr>
          <p:cNvPr id="124" name="文本框 98"/>
          <p:cNvSpPr txBox="1"/>
          <p:nvPr/>
        </p:nvSpPr>
        <p:spPr>
          <a:xfrm>
            <a:off x="5407820" y="3908048"/>
            <a:ext cx="2366962" cy="1089529"/>
          </a:xfrm>
          <a:prstGeom prst="rect">
            <a:avLst/>
          </a:prstGeom>
          <a:noFill/>
        </p:spPr>
        <p:txBody>
          <a:bodyPr wrap="square" rtlCol="0">
            <a:spAutoFit/>
          </a:bodyPr>
          <a:lstStyle/>
          <a:p>
            <a:pPr lvl="0" algn="ctr" defTabSz="800100">
              <a:lnSpc>
                <a:spcPct val="90000"/>
              </a:lnSpc>
              <a:spcBef>
                <a:spcPct val="0"/>
              </a:spcBef>
              <a:spcAft>
                <a:spcPct val="35000"/>
              </a:spcAft>
            </a:pPr>
            <a:r>
              <a:rPr lang="en-US" altLang="zh-CN" sz="3600" b="1" dirty="0">
                <a:solidFill>
                  <a:schemeClr val="bg1"/>
                </a:solidFill>
                <a:latin typeface="微软雅黑" panose="020B0503020204020204" pitchFamily="34" charset="-122"/>
                <a:ea typeface="微软雅黑" panose="020B0503020204020204" pitchFamily="34" charset="-122"/>
              </a:rPr>
              <a:t>20</a:t>
            </a:r>
            <a:r>
              <a:rPr lang="zh-CN" altLang="en-US" sz="3600" b="1" dirty="0">
                <a:solidFill>
                  <a:schemeClr val="bg1"/>
                </a:solidFill>
                <a:latin typeface="微软雅黑" panose="020B0503020204020204" pitchFamily="34" charset="-122"/>
                <a:ea typeface="微软雅黑" panose="020B0503020204020204" pitchFamily="34" charset="-122"/>
              </a:rPr>
              <a:t>世纪</a:t>
            </a:r>
            <a:r>
              <a:rPr lang="en-US" altLang="zh-CN" sz="3600" b="1" dirty="0">
                <a:solidFill>
                  <a:schemeClr val="bg1"/>
                </a:solidFill>
                <a:latin typeface="微软雅黑" panose="020B0503020204020204" pitchFamily="34" charset="-122"/>
                <a:ea typeface="微软雅黑" panose="020B0503020204020204" pitchFamily="34" charset="-122"/>
              </a:rPr>
              <a:t>60</a:t>
            </a:r>
            <a:r>
              <a:rPr lang="zh-CN" altLang="en-US" sz="3600" b="1" dirty="0">
                <a:solidFill>
                  <a:schemeClr val="bg1"/>
                </a:solidFill>
                <a:latin typeface="微软雅黑" panose="020B0503020204020204" pitchFamily="34" charset="-122"/>
                <a:ea typeface="微软雅黑" panose="020B0503020204020204" pitchFamily="34" charset="-122"/>
              </a:rPr>
              <a:t>年代中期</a:t>
            </a:r>
          </a:p>
        </p:txBody>
      </p:sp>
      <p:sp>
        <p:nvSpPr>
          <p:cNvPr id="125" name="文本框 99"/>
          <p:cNvSpPr txBox="1"/>
          <p:nvPr/>
        </p:nvSpPr>
        <p:spPr>
          <a:xfrm>
            <a:off x="8568532" y="3908047"/>
            <a:ext cx="2366962" cy="1089529"/>
          </a:xfrm>
          <a:prstGeom prst="rect">
            <a:avLst/>
          </a:prstGeom>
          <a:noFill/>
        </p:spPr>
        <p:txBody>
          <a:bodyPr wrap="square" rtlCol="0">
            <a:spAutoFit/>
          </a:bodyPr>
          <a:lstStyle/>
          <a:p>
            <a:pPr lvl="0" algn="ctr" defTabSz="800100">
              <a:lnSpc>
                <a:spcPct val="90000"/>
              </a:lnSpc>
              <a:spcBef>
                <a:spcPct val="0"/>
              </a:spcBef>
              <a:spcAft>
                <a:spcPct val="35000"/>
              </a:spcAft>
            </a:pPr>
            <a:r>
              <a:rPr lang="en-US" altLang="zh-CN" sz="3600" b="1" dirty="0">
                <a:solidFill>
                  <a:schemeClr val="bg1"/>
                </a:solidFill>
                <a:latin typeface="微软雅黑" panose="020B0503020204020204" pitchFamily="34" charset="-122"/>
                <a:ea typeface="微软雅黑" panose="020B0503020204020204" pitchFamily="34" charset="-122"/>
              </a:rPr>
              <a:t>20</a:t>
            </a:r>
            <a:r>
              <a:rPr lang="zh-CN" altLang="en-US" sz="3600" b="1" dirty="0">
                <a:solidFill>
                  <a:schemeClr val="bg1"/>
                </a:solidFill>
                <a:latin typeface="微软雅黑" panose="020B0503020204020204" pitchFamily="34" charset="-122"/>
                <a:ea typeface="微软雅黑" panose="020B0503020204020204" pitchFamily="34" charset="-122"/>
              </a:rPr>
              <a:t>世纪</a:t>
            </a:r>
            <a:r>
              <a:rPr lang="en-US" altLang="zh-CN" sz="3600" b="1" dirty="0">
                <a:solidFill>
                  <a:schemeClr val="bg1"/>
                </a:solidFill>
                <a:latin typeface="微软雅黑" panose="020B0503020204020204" pitchFamily="34" charset="-122"/>
                <a:ea typeface="微软雅黑" panose="020B0503020204020204" pitchFamily="34" charset="-122"/>
              </a:rPr>
              <a:t>90</a:t>
            </a:r>
            <a:r>
              <a:rPr lang="zh-CN" altLang="en-US" sz="3600" b="1" dirty="0">
                <a:solidFill>
                  <a:schemeClr val="bg1"/>
                </a:solidFill>
                <a:latin typeface="微软雅黑" panose="020B0503020204020204" pitchFamily="34" charset="-122"/>
                <a:ea typeface="微软雅黑" panose="020B0503020204020204" pitchFamily="34" charset="-122"/>
              </a:rPr>
              <a:t>年代</a:t>
            </a:r>
          </a:p>
        </p:txBody>
      </p:sp>
      <p:sp>
        <p:nvSpPr>
          <p:cNvPr id="2" name="TextBox 1"/>
          <p:cNvSpPr txBox="1"/>
          <p:nvPr/>
        </p:nvSpPr>
        <p:spPr>
          <a:xfrm>
            <a:off x="725487" y="1016000"/>
            <a:ext cx="5292725" cy="646331"/>
          </a:xfrm>
          <a:prstGeom prst="rect">
            <a:avLst/>
          </a:prstGeom>
          <a:noFill/>
        </p:spPr>
        <p:txBody>
          <a:bodyPr wrap="square" rtlCol="0">
            <a:spAutoFit/>
          </a:bodyPr>
          <a:lstStyle/>
          <a:p>
            <a:r>
              <a:rPr lang="zh-CN" altLang="en-US" sz="3600" b="1" dirty="0">
                <a:solidFill>
                  <a:schemeClr val="accent2">
                    <a:lumMod val="75000"/>
                  </a:schemeClr>
                </a:solidFill>
                <a:latin typeface="微软雅黑" panose="020B0503020204020204" pitchFamily="34" charset="-122"/>
                <a:ea typeface="微软雅黑" panose="020B0503020204020204" pitchFamily="34" charset="-122"/>
              </a:rPr>
              <a:t>可简单概括</a:t>
            </a:r>
            <a:r>
              <a:rPr lang="zh-CN" altLang="en-US" sz="3600" b="1" dirty="0" smtClean="0">
                <a:solidFill>
                  <a:schemeClr val="accent2">
                    <a:lumMod val="75000"/>
                  </a:schemeClr>
                </a:solidFill>
                <a:latin typeface="微软雅黑" panose="020B0503020204020204" pitchFamily="34" charset="-122"/>
                <a:ea typeface="微软雅黑" panose="020B0503020204020204" pitchFamily="34" charset="-122"/>
              </a:rPr>
              <a:t>为：</a:t>
            </a:r>
            <a:endParaRPr lang="zh-CN" altLang="en-US" sz="3600" b="1" dirty="0">
              <a:solidFill>
                <a:schemeClr val="accent2">
                  <a:lumMod val="75000"/>
                </a:scheme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flipV="1">
            <a:off x="0" y="0"/>
            <a:ext cx="8688271" cy="914400"/>
          </a:xfrm>
          <a:prstGeom prst="rtTriangle">
            <a:avLst/>
          </a:prstGeom>
        </p:spPr>
      </p:pic>
      <p:pic>
        <p:nvPicPr>
          <p:cNvPr id="4" name="图片 3"/>
          <p:cNvPicPr>
            <a:picLocks noChangeAspect="1"/>
          </p:cNvPicPr>
          <p:nvPr/>
        </p:nvPicPr>
        <p:blipFill>
          <a:blip r:embed="rId3"/>
          <a:stretch>
            <a:fillRect/>
          </a:stretch>
        </p:blipFill>
        <p:spPr>
          <a:xfrm rot="5400000">
            <a:off x="5830825" y="496825"/>
            <a:ext cx="530354" cy="12192000"/>
          </a:xfrm>
          <a:prstGeom prst="rect">
            <a:avLst/>
          </a:prstGeom>
        </p:spPr>
      </p:pic>
      <p:sp>
        <p:nvSpPr>
          <p:cNvPr id="5" name="矩形 4"/>
          <p:cNvSpPr/>
          <p:nvPr/>
        </p:nvSpPr>
        <p:spPr>
          <a:xfrm>
            <a:off x="2" y="93666"/>
            <a:ext cx="6096000" cy="646331"/>
          </a:xfrm>
          <a:prstGeom prst="rect">
            <a:avLst/>
          </a:prstGeom>
        </p:spPr>
        <p:txBody>
          <a:bodyPr>
            <a:spAutoFit/>
          </a:bodyPr>
          <a:lstStyle/>
          <a:p>
            <a:r>
              <a:rPr lang="zh-CN" altLang="en-US" sz="3600" b="1" dirty="0">
                <a:latin typeface="微软雅黑" panose="020B0503020204020204" pitchFamily="34" charset="-122"/>
                <a:ea typeface="微软雅黑" panose="020B0503020204020204" pitchFamily="34" charset="-122"/>
              </a:rPr>
              <a:t>二、近红外光谱的产生</a:t>
            </a:r>
            <a:endParaRPr lang="zh-CN" altLang="en-US" sz="36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61" name="Freeform 5"/>
          <p:cNvSpPr/>
          <p:nvPr/>
        </p:nvSpPr>
        <p:spPr bwMode="auto">
          <a:xfrm>
            <a:off x="268637" y="1066682"/>
            <a:ext cx="4686300" cy="1169988"/>
          </a:xfrm>
          <a:custGeom>
            <a:avLst/>
            <a:gdLst>
              <a:gd name="T0" fmla="*/ 20 w 532"/>
              <a:gd name="T1" fmla="*/ 0 h 133"/>
              <a:gd name="T2" fmla="*/ 512 w 532"/>
              <a:gd name="T3" fmla="*/ 0 h 133"/>
              <a:gd name="T4" fmla="*/ 532 w 532"/>
              <a:gd name="T5" fmla="*/ 19 h 133"/>
              <a:gd name="T6" fmla="*/ 532 w 532"/>
              <a:gd name="T7" fmla="*/ 113 h 133"/>
              <a:gd name="T8" fmla="*/ 512 w 532"/>
              <a:gd name="T9" fmla="*/ 133 h 133"/>
              <a:gd name="T10" fmla="*/ 20 w 532"/>
              <a:gd name="T11" fmla="*/ 133 h 133"/>
              <a:gd name="T12" fmla="*/ 0 w 532"/>
              <a:gd name="T13" fmla="*/ 113 h 133"/>
              <a:gd name="T14" fmla="*/ 0 w 532"/>
              <a:gd name="T15" fmla="*/ 19 h 133"/>
              <a:gd name="T16" fmla="*/ 20 w 532"/>
              <a:gd name="T17" fmla="*/ 0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2" h="133">
                <a:moveTo>
                  <a:pt x="20" y="0"/>
                </a:moveTo>
                <a:cubicBezTo>
                  <a:pt x="512" y="0"/>
                  <a:pt x="512" y="0"/>
                  <a:pt x="512" y="0"/>
                </a:cubicBezTo>
                <a:cubicBezTo>
                  <a:pt x="523" y="0"/>
                  <a:pt x="532" y="9"/>
                  <a:pt x="532" y="19"/>
                </a:cubicBezTo>
                <a:cubicBezTo>
                  <a:pt x="532" y="113"/>
                  <a:pt x="532" y="113"/>
                  <a:pt x="532" y="113"/>
                </a:cubicBezTo>
                <a:cubicBezTo>
                  <a:pt x="532" y="124"/>
                  <a:pt x="523" y="133"/>
                  <a:pt x="512" y="133"/>
                </a:cubicBezTo>
                <a:cubicBezTo>
                  <a:pt x="20" y="133"/>
                  <a:pt x="20" y="133"/>
                  <a:pt x="20" y="133"/>
                </a:cubicBezTo>
                <a:cubicBezTo>
                  <a:pt x="9" y="133"/>
                  <a:pt x="0" y="124"/>
                  <a:pt x="0" y="113"/>
                </a:cubicBezTo>
                <a:cubicBezTo>
                  <a:pt x="0" y="19"/>
                  <a:pt x="0" y="19"/>
                  <a:pt x="0" y="19"/>
                </a:cubicBezTo>
                <a:cubicBezTo>
                  <a:pt x="0" y="9"/>
                  <a:pt x="9" y="0"/>
                  <a:pt x="20" y="0"/>
                </a:cubicBezTo>
                <a:close/>
              </a:path>
            </a:pathLst>
          </a:custGeom>
          <a:solidFill>
            <a:srgbClr val="727171"/>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2" name="Freeform 6"/>
          <p:cNvSpPr/>
          <p:nvPr/>
        </p:nvSpPr>
        <p:spPr bwMode="auto">
          <a:xfrm>
            <a:off x="313087" y="1111132"/>
            <a:ext cx="4597400" cy="1081088"/>
          </a:xfrm>
          <a:custGeom>
            <a:avLst/>
            <a:gdLst>
              <a:gd name="T0" fmla="*/ 15 w 522"/>
              <a:gd name="T1" fmla="*/ 0 h 123"/>
              <a:gd name="T2" fmla="*/ 508 w 522"/>
              <a:gd name="T3" fmla="*/ 0 h 123"/>
              <a:gd name="T4" fmla="*/ 509 w 522"/>
              <a:gd name="T5" fmla="*/ 0 h 123"/>
              <a:gd name="T6" fmla="*/ 521 w 522"/>
              <a:gd name="T7" fmla="*/ 9 h 123"/>
              <a:gd name="T8" fmla="*/ 522 w 522"/>
              <a:gd name="T9" fmla="*/ 14 h 123"/>
              <a:gd name="T10" fmla="*/ 522 w 522"/>
              <a:gd name="T11" fmla="*/ 109 h 123"/>
              <a:gd name="T12" fmla="*/ 522 w 522"/>
              <a:gd name="T13" fmla="*/ 111 h 123"/>
              <a:gd name="T14" fmla="*/ 512 w 522"/>
              <a:gd name="T15" fmla="*/ 122 h 123"/>
              <a:gd name="T16" fmla="*/ 507 w 522"/>
              <a:gd name="T17" fmla="*/ 123 h 123"/>
              <a:gd name="T18" fmla="*/ 14 w 522"/>
              <a:gd name="T19" fmla="*/ 123 h 123"/>
              <a:gd name="T20" fmla="*/ 13 w 522"/>
              <a:gd name="T21" fmla="*/ 123 h 123"/>
              <a:gd name="T22" fmla="*/ 1 w 522"/>
              <a:gd name="T23" fmla="*/ 114 h 123"/>
              <a:gd name="T24" fmla="*/ 0 w 522"/>
              <a:gd name="T25" fmla="*/ 108 h 123"/>
              <a:gd name="T26" fmla="*/ 0 w 522"/>
              <a:gd name="T27" fmla="*/ 14 h 123"/>
              <a:gd name="T28" fmla="*/ 0 w 522"/>
              <a:gd name="T29" fmla="*/ 12 h 123"/>
              <a:gd name="T30" fmla="*/ 10 w 522"/>
              <a:gd name="T31" fmla="*/ 1 h 123"/>
              <a:gd name="T32" fmla="*/ 15 w 522"/>
              <a:gd name="T33" fmla="*/ 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2" h="123">
                <a:moveTo>
                  <a:pt x="15" y="0"/>
                </a:moveTo>
                <a:cubicBezTo>
                  <a:pt x="508" y="0"/>
                  <a:pt x="508" y="0"/>
                  <a:pt x="508" y="0"/>
                </a:cubicBezTo>
                <a:cubicBezTo>
                  <a:pt x="509" y="0"/>
                  <a:pt x="509" y="0"/>
                  <a:pt x="509" y="0"/>
                </a:cubicBezTo>
                <a:cubicBezTo>
                  <a:pt x="515" y="1"/>
                  <a:pt x="519" y="4"/>
                  <a:pt x="521" y="9"/>
                </a:cubicBezTo>
                <a:cubicBezTo>
                  <a:pt x="522" y="11"/>
                  <a:pt x="522" y="13"/>
                  <a:pt x="522" y="14"/>
                </a:cubicBezTo>
                <a:cubicBezTo>
                  <a:pt x="522" y="109"/>
                  <a:pt x="522" y="109"/>
                  <a:pt x="522" y="109"/>
                </a:cubicBezTo>
                <a:cubicBezTo>
                  <a:pt x="522" y="111"/>
                  <a:pt x="522" y="111"/>
                  <a:pt x="522" y="111"/>
                </a:cubicBezTo>
                <a:cubicBezTo>
                  <a:pt x="521" y="116"/>
                  <a:pt x="517" y="120"/>
                  <a:pt x="512" y="122"/>
                </a:cubicBezTo>
                <a:cubicBezTo>
                  <a:pt x="511" y="123"/>
                  <a:pt x="509" y="123"/>
                  <a:pt x="507" y="123"/>
                </a:cubicBezTo>
                <a:cubicBezTo>
                  <a:pt x="14" y="123"/>
                  <a:pt x="14" y="123"/>
                  <a:pt x="14" y="123"/>
                </a:cubicBezTo>
                <a:cubicBezTo>
                  <a:pt x="13" y="123"/>
                  <a:pt x="13" y="123"/>
                  <a:pt x="13" y="123"/>
                </a:cubicBezTo>
                <a:cubicBezTo>
                  <a:pt x="7" y="122"/>
                  <a:pt x="3" y="119"/>
                  <a:pt x="1" y="114"/>
                </a:cubicBezTo>
                <a:cubicBezTo>
                  <a:pt x="0" y="112"/>
                  <a:pt x="0" y="110"/>
                  <a:pt x="0" y="108"/>
                </a:cubicBezTo>
                <a:cubicBezTo>
                  <a:pt x="0" y="14"/>
                  <a:pt x="0" y="14"/>
                  <a:pt x="0" y="14"/>
                </a:cubicBezTo>
                <a:cubicBezTo>
                  <a:pt x="0" y="12"/>
                  <a:pt x="0" y="12"/>
                  <a:pt x="0" y="12"/>
                </a:cubicBezTo>
                <a:cubicBezTo>
                  <a:pt x="1" y="7"/>
                  <a:pt x="5" y="3"/>
                  <a:pt x="10" y="1"/>
                </a:cubicBezTo>
                <a:cubicBezTo>
                  <a:pt x="11" y="0"/>
                  <a:pt x="13" y="0"/>
                  <a:pt x="15" y="0"/>
                </a:cubicBezTo>
                <a:close/>
              </a:path>
            </a:pathLst>
          </a:custGeom>
          <a:solidFill>
            <a:schemeClr val="accent2">
              <a:lumMod val="40000"/>
              <a:lumOff val="60000"/>
            </a:schemeClr>
          </a:solidFill>
          <a:ln>
            <a:noFill/>
          </a:ln>
        </p:spPr>
        <p:txBody>
          <a:bodyPr vert="horz" wrap="square" lIns="91440" tIns="45720" rIns="91440" bIns="45720" numCol="1" anchor="t" anchorCtr="0" compatLnSpc="1"/>
          <a:lstStyle/>
          <a:p>
            <a:endParaRPr lang="zh-CN" altLang="en-US"/>
          </a:p>
        </p:txBody>
      </p:sp>
      <p:sp>
        <p:nvSpPr>
          <p:cNvPr id="63" name="Freeform 7"/>
          <p:cNvSpPr/>
          <p:nvPr/>
        </p:nvSpPr>
        <p:spPr bwMode="auto">
          <a:xfrm>
            <a:off x="444849" y="776169"/>
            <a:ext cx="1762125" cy="1749425"/>
          </a:xfrm>
          <a:custGeom>
            <a:avLst/>
            <a:gdLst>
              <a:gd name="T0" fmla="*/ 117 w 200"/>
              <a:gd name="T1" fmla="*/ 7 h 199"/>
              <a:gd name="T2" fmla="*/ 193 w 200"/>
              <a:gd name="T3" fmla="*/ 83 h 199"/>
              <a:gd name="T4" fmla="*/ 195 w 200"/>
              <a:gd name="T5" fmla="*/ 85 h 199"/>
              <a:gd name="T6" fmla="*/ 199 w 200"/>
              <a:gd name="T7" fmla="*/ 94 h 199"/>
              <a:gd name="T8" fmla="*/ 199 w 200"/>
              <a:gd name="T9" fmla="*/ 96 h 199"/>
              <a:gd name="T10" fmla="*/ 198 w 200"/>
              <a:gd name="T11" fmla="*/ 108 h 199"/>
              <a:gd name="T12" fmla="*/ 197 w 200"/>
              <a:gd name="T13" fmla="*/ 110 h 199"/>
              <a:gd name="T14" fmla="*/ 192 w 200"/>
              <a:gd name="T15" fmla="*/ 117 h 199"/>
              <a:gd name="T16" fmla="*/ 116 w 200"/>
              <a:gd name="T17" fmla="*/ 193 h 199"/>
              <a:gd name="T18" fmla="*/ 114 w 200"/>
              <a:gd name="T19" fmla="*/ 194 h 199"/>
              <a:gd name="T20" fmla="*/ 106 w 200"/>
              <a:gd name="T21" fmla="*/ 198 h 199"/>
              <a:gd name="T22" fmla="*/ 103 w 200"/>
              <a:gd name="T23" fmla="*/ 199 h 199"/>
              <a:gd name="T24" fmla="*/ 92 w 200"/>
              <a:gd name="T25" fmla="*/ 198 h 199"/>
              <a:gd name="T26" fmla="*/ 90 w 200"/>
              <a:gd name="T27" fmla="*/ 197 h 199"/>
              <a:gd name="T28" fmla="*/ 83 w 200"/>
              <a:gd name="T29" fmla="*/ 192 h 199"/>
              <a:gd name="T30" fmla="*/ 7 w 200"/>
              <a:gd name="T31" fmla="*/ 116 h 199"/>
              <a:gd name="T32" fmla="*/ 5 w 200"/>
              <a:gd name="T33" fmla="*/ 114 h 199"/>
              <a:gd name="T34" fmla="*/ 1 w 200"/>
              <a:gd name="T35" fmla="*/ 105 h 199"/>
              <a:gd name="T36" fmla="*/ 1 w 200"/>
              <a:gd name="T37" fmla="*/ 103 h 199"/>
              <a:gd name="T38" fmla="*/ 2 w 200"/>
              <a:gd name="T39" fmla="*/ 91 h 199"/>
              <a:gd name="T40" fmla="*/ 3 w 200"/>
              <a:gd name="T41" fmla="*/ 89 h 199"/>
              <a:gd name="T42" fmla="*/ 7 w 200"/>
              <a:gd name="T43" fmla="*/ 82 h 199"/>
              <a:gd name="T44" fmla="*/ 83 w 200"/>
              <a:gd name="T45" fmla="*/ 6 h 199"/>
              <a:gd name="T46" fmla="*/ 85 w 200"/>
              <a:gd name="T47" fmla="*/ 5 h 199"/>
              <a:gd name="T48" fmla="*/ 94 w 200"/>
              <a:gd name="T49" fmla="*/ 1 h 199"/>
              <a:gd name="T50" fmla="*/ 96 w 200"/>
              <a:gd name="T51" fmla="*/ 0 h 199"/>
              <a:gd name="T52" fmla="*/ 108 w 200"/>
              <a:gd name="T53" fmla="*/ 1 h 199"/>
              <a:gd name="T54" fmla="*/ 110 w 200"/>
              <a:gd name="T55" fmla="*/ 2 h 199"/>
              <a:gd name="T56" fmla="*/ 117 w 200"/>
              <a:gd name="T57" fmla="*/ 7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00" h="199">
                <a:moveTo>
                  <a:pt x="117" y="7"/>
                </a:moveTo>
                <a:cubicBezTo>
                  <a:pt x="193" y="83"/>
                  <a:pt x="193" y="83"/>
                  <a:pt x="193" y="83"/>
                </a:cubicBezTo>
                <a:cubicBezTo>
                  <a:pt x="195" y="85"/>
                  <a:pt x="195" y="85"/>
                  <a:pt x="195" y="85"/>
                </a:cubicBezTo>
                <a:cubicBezTo>
                  <a:pt x="196" y="88"/>
                  <a:pt x="198" y="90"/>
                  <a:pt x="199" y="94"/>
                </a:cubicBezTo>
                <a:cubicBezTo>
                  <a:pt x="199" y="96"/>
                  <a:pt x="199" y="96"/>
                  <a:pt x="199" y="96"/>
                </a:cubicBezTo>
                <a:cubicBezTo>
                  <a:pt x="200" y="100"/>
                  <a:pt x="199" y="104"/>
                  <a:pt x="198" y="108"/>
                </a:cubicBezTo>
                <a:cubicBezTo>
                  <a:pt x="197" y="110"/>
                  <a:pt x="197" y="110"/>
                  <a:pt x="197" y="110"/>
                </a:cubicBezTo>
                <a:cubicBezTo>
                  <a:pt x="196" y="112"/>
                  <a:pt x="194" y="115"/>
                  <a:pt x="192" y="117"/>
                </a:cubicBezTo>
                <a:cubicBezTo>
                  <a:pt x="116" y="193"/>
                  <a:pt x="116" y="193"/>
                  <a:pt x="116" y="193"/>
                </a:cubicBezTo>
                <a:cubicBezTo>
                  <a:pt x="114" y="194"/>
                  <a:pt x="114" y="194"/>
                  <a:pt x="114" y="194"/>
                </a:cubicBezTo>
                <a:cubicBezTo>
                  <a:pt x="112" y="196"/>
                  <a:pt x="109" y="197"/>
                  <a:pt x="106" y="198"/>
                </a:cubicBezTo>
                <a:cubicBezTo>
                  <a:pt x="103" y="199"/>
                  <a:pt x="103" y="199"/>
                  <a:pt x="103" y="199"/>
                </a:cubicBezTo>
                <a:cubicBezTo>
                  <a:pt x="99" y="199"/>
                  <a:pt x="96" y="199"/>
                  <a:pt x="92" y="198"/>
                </a:cubicBezTo>
                <a:cubicBezTo>
                  <a:pt x="90" y="197"/>
                  <a:pt x="90" y="197"/>
                  <a:pt x="90" y="197"/>
                </a:cubicBezTo>
                <a:cubicBezTo>
                  <a:pt x="87" y="195"/>
                  <a:pt x="85" y="194"/>
                  <a:pt x="83" y="192"/>
                </a:cubicBezTo>
                <a:cubicBezTo>
                  <a:pt x="7" y="116"/>
                  <a:pt x="7" y="116"/>
                  <a:pt x="7" y="116"/>
                </a:cubicBezTo>
                <a:cubicBezTo>
                  <a:pt x="5" y="114"/>
                  <a:pt x="5" y="114"/>
                  <a:pt x="5" y="114"/>
                </a:cubicBezTo>
                <a:cubicBezTo>
                  <a:pt x="3" y="111"/>
                  <a:pt x="2" y="109"/>
                  <a:pt x="1" y="105"/>
                </a:cubicBezTo>
                <a:cubicBezTo>
                  <a:pt x="1" y="103"/>
                  <a:pt x="1" y="103"/>
                  <a:pt x="1" y="103"/>
                </a:cubicBezTo>
                <a:cubicBezTo>
                  <a:pt x="0" y="99"/>
                  <a:pt x="0" y="95"/>
                  <a:pt x="2" y="91"/>
                </a:cubicBezTo>
                <a:cubicBezTo>
                  <a:pt x="3" y="89"/>
                  <a:pt x="3" y="89"/>
                  <a:pt x="3" y="89"/>
                </a:cubicBezTo>
                <a:cubicBezTo>
                  <a:pt x="4" y="86"/>
                  <a:pt x="5" y="84"/>
                  <a:pt x="7" y="82"/>
                </a:cubicBezTo>
                <a:cubicBezTo>
                  <a:pt x="83" y="6"/>
                  <a:pt x="83" y="6"/>
                  <a:pt x="83" y="6"/>
                </a:cubicBezTo>
                <a:cubicBezTo>
                  <a:pt x="85" y="5"/>
                  <a:pt x="85" y="5"/>
                  <a:pt x="85" y="5"/>
                </a:cubicBezTo>
                <a:cubicBezTo>
                  <a:pt x="88" y="3"/>
                  <a:pt x="91" y="2"/>
                  <a:pt x="94" y="1"/>
                </a:cubicBezTo>
                <a:cubicBezTo>
                  <a:pt x="96" y="0"/>
                  <a:pt x="96" y="0"/>
                  <a:pt x="96" y="0"/>
                </a:cubicBezTo>
                <a:cubicBezTo>
                  <a:pt x="100" y="0"/>
                  <a:pt x="104" y="0"/>
                  <a:pt x="108" y="1"/>
                </a:cubicBezTo>
                <a:cubicBezTo>
                  <a:pt x="110" y="2"/>
                  <a:pt x="110" y="2"/>
                  <a:pt x="110" y="2"/>
                </a:cubicBezTo>
                <a:cubicBezTo>
                  <a:pt x="113" y="4"/>
                  <a:pt x="115" y="5"/>
                  <a:pt x="117" y="7"/>
                </a:cubicBezTo>
                <a:close/>
              </a:path>
            </a:pathLst>
          </a:custGeom>
          <a:solidFill>
            <a:srgbClr val="FFFFFF"/>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4" name="Freeform 8"/>
          <p:cNvSpPr/>
          <p:nvPr/>
        </p:nvSpPr>
        <p:spPr bwMode="auto">
          <a:xfrm>
            <a:off x="471837" y="803157"/>
            <a:ext cx="1700213" cy="1697038"/>
          </a:xfrm>
          <a:custGeom>
            <a:avLst/>
            <a:gdLst>
              <a:gd name="T0" fmla="*/ 111 w 193"/>
              <a:gd name="T1" fmla="*/ 8 h 193"/>
              <a:gd name="T2" fmla="*/ 186 w 193"/>
              <a:gd name="T3" fmla="*/ 83 h 193"/>
              <a:gd name="T4" fmla="*/ 186 w 193"/>
              <a:gd name="T5" fmla="*/ 110 h 193"/>
              <a:gd name="T6" fmla="*/ 111 w 193"/>
              <a:gd name="T7" fmla="*/ 185 h 193"/>
              <a:gd name="T8" fmla="*/ 83 w 193"/>
              <a:gd name="T9" fmla="*/ 185 h 193"/>
              <a:gd name="T10" fmla="*/ 8 w 193"/>
              <a:gd name="T11" fmla="*/ 110 h 193"/>
              <a:gd name="T12" fmla="*/ 8 w 193"/>
              <a:gd name="T13" fmla="*/ 83 h 193"/>
              <a:gd name="T14" fmla="*/ 83 w 193"/>
              <a:gd name="T15" fmla="*/ 8 h 193"/>
              <a:gd name="T16" fmla="*/ 111 w 193"/>
              <a:gd name="T17" fmla="*/ 8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3" h="193">
                <a:moveTo>
                  <a:pt x="111" y="8"/>
                </a:moveTo>
                <a:cubicBezTo>
                  <a:pt x="186" y="83"/>
                  <a:pt x="186" y="83"/>
                  <a:pt x="186" y="83"/>
                </a:cubicBezTo>
                <a:cubicBezTo>
                  <a:pt x="193" y="90"/>
                  <a:pt x="193" y="103"/>
                  <a:pt x="186" y="110"/>
                </a:cubicBezTo>
                <a:cubicBezTo>
                  <a:pt x="111" y="185"/>
                  <a:pt x="111" y="185"/>
                  <a:pt x="111" y="185"/>
                </a:cubicBezTo>
                <a:cubicBezTo>
                  <a:pt x="103" y="193"/>
                  <a:pt x="91" y="193"/>
                  <a:pt x="83" y="185"/>
                </a:cubicBezTo>
                <a:cubicBezTo>
                  <a:pt x="8" y="110"/>
                  <a:pt x="8" y="110"/>
                  <a:pt x="8" y="110"/>
                </a:cubicBezTo>
                <a:cubicBezTo>
                  <a:pt x="0" y="103"/>
                  <a:pt x="0" y="90"/>
                  <a:pt x="8" y="83"/>
                </a:cubicBezTo>
                <a:cubicBezTo>
                  <a:pt x="83" y="8"/>
                  <a:pt x="83" y="8"/>
                  <a:pt x="83" y="8"/>
                </a:cubicBezTo>
                <a:cubicBezTo>
                  <a:pt x="91" y="0"/>
                  <a:pt x="103" y="0"/>
                  <a:pt x="111" y="8"/>
                </a:cubicBezTo>
                <a:close/>
              </a:path>
            </a:pathLst>
          </a:custGeom>
          <a:solidFill>
            <a:schemeClr val="tx2">
              <a:lumMod val="40000"/>
              <a:lumOff val="60000"/>
            </a:schemeClr>
          </a:solidFill>
          <a:ln>
            <a:noFill/>
          </a:ln>
        </p:spPr>
        <p:txBody>
          <a:bodyPr vert="horz" wrap="square" lIns="91440" tIns="45720" rIns="91440" bIns="45720" numCol="1" anchor="t" anchorCtr="0" compatLnSpc="1"/>
          <a:lstStyle/>
          <a:p>
            <a:endParaRPr lang="zh-CN" altLang="en-US"/>
          </a:p>
        </p:txBody>
      </p:sp>
      <p:sp>
        <p:nvSpPr>
          <p:cNvPr id="65" name="Freeform 9"/>
          <p:cNvSpPr/>
          <p:nvPr/>
        </p:nvSpPr>
        <p:spPr bwMode="auto">
          <a:xfrm>
            <a:off x="675037" y="1004769"/>
            <a:ext cx="1303338" cy="1292225"/>
          </a:xfrm>
          <a:custGeom>
            <a:avLst/>
            <a:gdLst>
              <a:gd name="T0" fmla="*/ 410 w 821"/>
              <a:gd name="T1" fmla="*/ 0 h 814"/>
              <a:gd name="T2" fmla="*/ 821 w 821"/>
              <a:gd name="T3" fmla="*/ 404 h 814"/>
              <a:gd name="T4" fmla="*/ 410 w 821"/>
              <a:gd name="T5" fmla="*/ 814 h 814"/>
              <a:gd name="T6" fmla="*/ 0 w 821"/>
              <a:gd name="T7" fmla="*/ 404 h 814"/>
              <a:gd name="T8" fmla="*/ 410 w 821"/>
              <a:gd name="T9" fmla="*/ 0 h 814"/>
              <a:gd name="T10" fmla="*/ 410 w 821"/>
              <a:gd name="T11" fmla="*/ 0 h 814"/>
            </a:gdLst>
            <a:ahLst/>
            <a:cxnLst>
              <a:cxn ang="0">
                <a:pos x="T0" y="T1"/>
              </a:cxn>
              <a:cxn ang="0">
                <a:pos x="T2" y="T3"/>
              </a:cxn>
              <a:cxn ang="0">
                <a:pos x="T4" y="T5"/>
              </a:cxn>
              <a:cxn ang="0">
                <a:pos x="T6" y="T7"/>
              </a:cxn>
              <a:cxn ang="0">
                <a:pos x="T8" y="T9"/>
              </a:cxn>
              <a:cxn ang="0">
                <a:pos x="T10" y="T11"/>
              </a:cxn>
            </a:cxnLst>
            <a:rect l="0" t="0" r="r" b="b"/>
            <a:pathLst>
              <a:path w="821" h="814">
                <a:moveTo>
                  <a:pt x="410" y="0"/>
                </a:moveTo>
                <a:lnTo>
                  <a:pt x="821" y="404"/>
                </a:lnTo>
                <a:lnTo>
                  <a:pt x="410" y="814"/>
                </a:lnTo>
                <a:lnTo>
                  <a:pt x="0" y="404"/>
                </a:lnTo>
                <a:lnTo>
                  <a:pt x="410" y="0"/>
                </a:lnTo>
                <a:lnTo>
                  <a:pt x="410" y="0"/>
                </a:lnTo>
                <a:close/>
              </a:path>
            </a:pathLst>
          </a:custGeom>
          <a:solidFill>
            <a:srgbClr val="FFFFFF"/>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6" name="Freeform 10"/>
          <p:cNvSpPr/>
          <p:nvPr/>
        </p:nvSpPr>
        <p:spPr bwMode="auto">
          <a:xfrm>
            <a:off x="735362" y="1057157"/>
            <a:ext cx="1181100" cy="1179513"/>
          </a:xfrm>
          <a:custGeom>
            <a:avLst/>
            <a:gdLst>
              <a:gd name="T0" fmla="*/ 372 w 744"/>
              <a:gd name="T1" fmla="*/ 0 h 743"/>
              <a:gd name="T2" fmla="*/ 744 w 744"/>
              <a:gd name="T3" fmla="*/ 371 h 743"/>
              <a:gd name="T4" fmla="*/ 372 w 744"/>
              <a:gd name="T5" fmla="*/ 743 h 743"/>
              <a:gd name="T6" fmla="*/ 0 w 744"/>
              <a:gd name="T7" fmla="*/ 371 h 743"/>
              <a:gd name="T8" fmla="*/ 372 w 744"/>
              <a:gd name="T9" fmla="*/ 0 h 743"/>
              <a:gd name="T10" fmla="*/ 372 w 744"/>
              <a:gd name="T11" fmla="*/ 0 h 743"/>
            </a:gdLst>
            <a:ahLst/>
            <a:cxnLst>
              <a:cxn ang="0">
                <a:pos x="T0" y="T1"/>
              </a:cxn>
              <a:cxn ang="0">
                <a:pos x="T2" y="T3"/>
              </a:cxn>
              <a:cxn ang="0">
                <a:pos x="T4" y="T5"/>
              </a:cxn>
              <a:cxn ang="0">
                <a:pos x="T6" y="T7"/>
              </a:cxn>
              <a:cxn ang="0">
                <a:pos x="T8" y="T9"/>
              </a:cxn>
              <a:cxn ang="0">
                <a:pos x="T10" y="T11"/>
              </a:cxn>
            </a:cxnLst>
            <a:rect l="0" t="0" r="r" b="b"/>
            <a:pathLst>
              <a:path w="744" h="743">
                <a:moveTo>
                  <a:pt x="372" y="0"/>
                </a:moveTo>
                <a:lnTo>
                  <a:pt x="744" y="371"/>
                </a:lnTo>
                <a:lnTo>
                  <a:pt x="372" y="743"/>
                </a:lnTo>
                <a:lnTo>
                  <a:pt x="0" y="371"/>
                </a:lnTo>
                <a:lnTo>
                  <a:pt x="372" y="0"/>
                </a:lnTo>
                <a:lnTo>
                  <a:pt x="372" y="0"/>
                </a:lnTo>
                <a:close/>
              </a:path>
            </a:pathLst>
          </a:custGeom>
          <a:solidFill>
            <a:schemeClr val="bg1">
              <a:lumMod val="75000"/>
            </a:schemeClr>
          </a:solidFill>
          <a:ln>
            <a:noFill/>
          </a:ln>
        </p:spPr>
        <p:txBody>
          <a:bodyPr vert="horz" wrap="square" lIns="91440" tIns="45720" rIns="91440" bIns="45720" numCol="1" anchor="t" anchorCtr="0" compatLnSpc="1"/>
          <a:lstStyle/>
          <a:p>
            <a:endParaRPr lang="zh-CN" altLang="en-US"/>
          </a:p>
        </p:txBody>
      </p:sp>
      <p:sp>
        <p:nvSpPr>
          <p:cNvPr id="67" name="Freeform 11"/>
          <p:cNvSpPr/>
          <p:nvPr/>
        </p:nvSpPr>
        <p:spPr bwMode="auto">
          <a:xfrm>
            <a:off x="2311749" y="1233369"/>
            <a:ext cx="44450" cy="827088"/>
          </a:xfrm>
          <a:custGeom>
            <a:avLst/>
            <a:gdLst>
              <a:gd name="T0" fmla="*/ 0 w 28"/>
              <a:gd name="T1" fmla="*/ 521 h 521"/>
              <a:gd name="T2" fmla="*/ 0 w 28"/>
              <a:gd name="T3" fmla="*/ 0 h 521"/>
              <a:gd name="T4" fmla="*/ 28 w 28"/>
              <a:gd name="T5" fmla="*/ 0 h 521"/>
              <a:gd name="T6" fmla="*/ 28 w 28"/>
              <a:gd name="T7" fmla="*/ 521 h 521"/>
              <a:gd name="T8" fmla="*/ 0 w 28"/>
              <a:gd name="T9" fmla="*/ 521 h 521"/>
              <a:gd name="T10" fmla="*/ 0 w 28"/>
              <a:gd name="T11" fmla="*/ 521 h 521"/>
            </a:gdLst>
            <a:ahLst/>
            <a:cxnLst>
              <a:cxn ang="0">
                <a:pos x="T0" y="T1"/>
              </a:cxn>
              <a:cxn ang="0">
                <a:pos x="T2" y="T3"/>
              </a:cxn>
              <a:cxn ang="0">
                <a:pos x="T4" y="T5"/>
              </a:cxn>
              <a:cxn ang="0">
                <a:pos x="T6" y="T7"/>
              </a:cxn>
              <a:cxn ang="0">
                <a:pos x="T8" y="T9"/>
              </a:cxn>
              <a:cxn ang="0">
                <a:pos x="T10" y="T11"/>
              </a:cxn>
            </a:cxnLst>
            <a:rect l="0" t="0" r="r" b="b"/>
            <a:pathLst>
              <a:path w="28" h="521">
                <a:moveTo>
                  <a:pt x="0" y="521"/>
                </a:moveTo>
                <a:lnTo>
                  <a:pt x="0" y="0"/>
                </a:lnTo>
                <a:lnTo>
                  <a:pt x="28" y="0"/>
                </a:lnTo>
                <a:lnTo>
                  <a:pt x="28" y="521"/>
                </a:lnTo>
                <a:lnTo>
                  <a:pt x="0" y="521"/>
                </a:lnTo>
                <a:lnTo>
                  <a:pt x="0" y="521"/>
                </a:lnTo>
                <a:close/>
              </a:path>
            </a:pathLst>
          </a:custGeom>
          <a:solidFill>
            <a:srgbClr val="58919A"/>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8" name="Freeform 12"/>
          <p:cNvSpPr/>
          <p:nvPr/>
        </p:nvSpPr>
        <p:spPr bwMode="auto">
          <a:xfrm>
            <a:off x="1149699" y="1409582"/>
            <a:ext cx="220663" cy="474663"/>
          </a:xfrm>
          <a:custGeom>
            <a:avLst/>
            <a:gdLst>
              <a:gd name="T0" fmla="*/ 78 w 139"/>
              <a:gd name="T1" fmla="*/ 299 h 299"/>
              <a:gd name="T2" fmla="*/ 139 w 139"/>
              <a:gd name="T3" fmla="*/ 299 h 299"/>
              <a:gd name="T4" fmla="*/ 139 w 139"/>
              <a:gd name="T5" fmla="*/ 0 h 299"/>
              <a:gd name="T6" fmla="*/ 89 w 139"/>
              <a:gd name="T7" fmla="*/ 0 h 299"/>
              <a:gd name="T8" fmla="*/ 0 w 139"/>
              <a:gd name="T9" fmla="*/ 66 h 299"/>
              <a:gd name="T10" fmla="*/ 28 w 139"/>
              <a:gd name="T11" fmla="*/ 111 h 299"/>
              <a:gd name="T12" fmla="*/ 78 w 139"/>
              <a:gd name="T13" fmla="*/ 66 h 299"/>
              <a:gd name="T14" fmla="*/ 78 w 139"/>
              <a:gd name="T15" fmla="*/ 299 h 299"/>
              <a:gd name="T16" fmla="*/ 78 w 139"/>
              <a:gd name="T17" fmla="*/ 299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9" h="299">
                <a:moveTo>
                  <a:pt x="78" y="299"/>
                </a:moveTo>
                <a:lnTo>
                  <a:pt x="139" y="299"/>
                </a:lnTo>
                <a:lnTo>
                  <a:pt x="139" y="0"/>
                </a:lnTo>
                <a:lnTo>
                  <a:pt x="89" y="0"/>
                </a:lnTo>
                <a:lnTo>
                  <a:pt x="0" y="66"/>
                </a:lnTo>
                <a:lnTo>
                  <a:pt x="28" y="111"/>
                </a:lnTo>
                <a:lnTo>
                  <a:pt x="78" y="66"/>
                </a:lnTo>
                <a:lnTo>
                  <a:pt x="78" y="299"/>
                </a:lnTo>
                <a:lnTo>
                  <a:pt x="78" y="299"/>
                </a:lnTo>
                <a:close/>
              </a:path>
            </a:pathLst>
          </a:custGeom>
          <a:solidFill>
            <a:srgbClr val="FFFFFF"/>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ln>
                <a:solidFill>
                  <a:schemeClr val="bg2">
                    <a:lumMod val="25000"/>
                  </a:schemeClr>
                </a:solidFill>
              </a:ln>
              <a:solidFill>
                <a:schemeClr val="tx1">
                  <a:lumMod val="75000"/>
                  <a:lumOff val="25000"/>
                </a:schemeClr>
              </a:solidFill>
            </a:endParaRPr>
          </a:p>
        </p:txBody>
      </p:sp>
      <p:sp>
        <p:nvSpPr>
          <p:cNvPr id="69" name="Freeform 13"/>
          <p:cNvSpPr/>
          <p:nvPr/>
        </p:nvSpPr>
        <p:spPr bwMode="auto">
          <a:xfrm>
            <a:off x="7193875" y="1083538"/>
            <a:ext cx="4686300" cy="1177925"/>
          </a:xfrm>
          <a:custGeom>
            <a:avLst/>
            <a:gdLst>
              <a:gd name="T0" fmla="*/ 512 w 532"/>
              <a:gd name="T1" fmla="*/ 0 h 134"/>
              <a:gd name="T2" fmla="*/ 20 w 532"/>
              <a:gd name="T3" fmla="*/ 0 h 134"/>
              <a:gd name="T4" fmla="*/ 0 w 532"/>
              <a:gd name="T5" fmla="*/ 20 h 134"/>
              <a:gd name="T6" fmla="*/ 0 w 532"/>
              <a:gd name="T7" fmla="*/ 114 h 134"/>
              <a:gd name="T8" fmla="*/ 20 w 532"/>
              <a:gd name="T9" fmla="*/ 134 h 134"/>
              <a:gd name="T10" fmla="*/ 512 w 532"/>
              <a:gd name="T11" fmla="*/ 134 h 134"/>
              <a:gd name="T12" fmla="*/ 532 w 532"/>
              <a:gd name="T13" fmla="*/ 114 h 134"/>
              <a:gd name="T14" fmla="*/ 532 w 532"/>
              <a:gd name="T15" fmla="*/ 20 h 134"/>
              <a:gd name="T16" fmla="*/ 512 w 532"/>
              <a:gd name="T17" fmla="*/ 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2" h="134">
                <a:moveTo>
                  <a:pt x="512" y="0"/>
                </a:moveTo>
                <a:cubicBezTo>
                  <a:pt x="20" y="0"/>
                  <a:pt x="20" y="0"/>
                  <a:pt x="20" y="0"/>
                </a:cubicBezTo>
                <a:cubicBezTo>
                  <a:pt x="9" y="0"/>
                  <a:pt x="0" y="9"/>
                  <a:pt x="0" y="20"/>
                </a:cubicBezTo>
                <a:cubicBezTo>
                  <a:pt x="0" y="114"/>
                  <a:pt x="0" y="114"/>
                  <a:pt x="0" y="114"/>
                </a:cubicBezTo>
                <a:cubicBezTo>
                  <a:pt x="0" y="125"/>
                  <a:pt x="9" y="134"/>
                  <a:pt x="20" y="134"/>
                </a:cubicBezTo>
                <a:cubicBezTo>
                  <a:pt x="512" y="134"/>
                  <a:pt x="512" y="134"/>
                  <a:pt x="512" y="134"/>
                </a:cubicBezTo>
                <a:cubicBezTo>
                  <a:pt x="523" y="134"/>
                  <a:pt x="532" y="125"/>
                  <a:pt x="532" y="114"/>
                </a:cubicBezTo>
                <a:cubicBezTo>
                  <a:pt x="532" y="20"/>
                  <a:pt x="532" y="20"/>
                  <a:pt x="532" y="20"/>
                </a:cubicBezTo>
                <a:cubicBezTo>
                  <a:pt x="532" y="9"/>
                  <a:pt x="523" y="0"/>
                  <a:pt x="512" y="0"/>
                </a:cubicBezTo>
                <a:close/>
              </a:path>
            </a:pathLst>
          </a:custGeom>
          <a:solidFill>
            <a:srgbClr val="727171"/>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0" name="Freeform 14"/>
          <p:cNvSpPr/>
          <p:nvPr/>
        </p:nvSpPr>
        <p:spPr bwMode="auto">
          <a:xfrm>
            <a:off x="7238325" y="1127988"/>
            <a:ext cx="4597400" cy="1090613"/>
          </a:xfrm>
          <a:custGeom>
            <a:avLst/>
            <a:gdLst>
              <a:gd name="T0" fmla="*/ 507 w 522"/>
              <a:gd name="T1" fmla="*/ 0 h 124"/>
              <a:gd name="T2" fmla="*/ 14 w 522"/>
              <a:gd name="T3" fmla="*/ 0 h 124"/>
              <a:gd name="T4" fmla="*/ 13 w 522"/>
              <a:gd name="T5" fmla="*/ 0 h 124"/>
              <a:gd name="T6" fmla="*/ 1 w 522"/>
              <a:gd name="T7" fmla="*/ 10 h 124"/>
              <a:gd name="T8" fmla="*/ 0 w 522"/>
              <a:gd name="T9" fmla="*/ 15 h 124"/>
              <a:gd name="T10" fmla="*/ 0 w 522"/>
              <a:gd name="T11" fmla="*/ 110 h 124"/>
              <a:gd name="T12" fmla="*/ 0 w 522"/>
              <a:gd name="T13" fmla="*/ 111 h 124"/>
              <a:gd name="T14" fmla="*/ 10 w 522"/>
              <a:gd name="T15" fmla="*/ 123 h 124"/>
              <a:gd name="T16" fmla="*/ 15 w 522"/>
              <a:gd name="T17" fmla="*/ 124 h 124"/>
              <a:gd name="T18" fmla="*/ 508 w 522"/>
              <a:gd name="T19" fmla="*/ 124 h 124"/>
              <a:gd name="T20" fmla="*/ 509 w 522"/>
              <a:gd name="T21" fmla="*/ 124 h 124"/>
              <a:gd name="T22" fmla="*/ 521 w 522"/>
              <a:gd name="T23" fmla="*/ 114 h 124"/>
              <a:gd name="T24" fmla="*/ 522 w 522"/>
              <a:gd name="T25" fmla="*/ 109 h 124"/>
              <a:gd name="T26" fmla="*/ 522 w 522"/>
              <a:gd name="T27" fmla="*/ 14 h 124"/>
              <a:gd name="T28" fmla="*/ 522 w 522"/>
              <a:gd name="T29" fmla="*/ 13 h 124"/>
              <a:gd name="T30" fmla="*/ 512 w 522"/>
              <a:gd name="T31" fmla="*/ 1 h 124"/>
              <a:gd name="T32" fmla="*/ 507 w 522"/>
              <a:gd name="T33" fmla="*/ 0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2" h="124">
                <a:moveTo>
                  <a:pt x="507" y="0"/>
                </a:moveTo>
                <a:cubicBezTo>
                  <a:pt x="14" y="0"/>
                  <a:pt x="14" y="0"/>
                  <a:pt x="14" y="0"/>
                </a:cubicBezTo>
                <a:cubicBezTo>
                  <a:pt x="13" y="0"/>
                  <a:pt x="13" y="0"/>
                  <a:pt x="13" y="0"/>
                </a:cubicBezTo>
                <a:cubicBezTo>
                  <a:pt x="7" y="1"/>
                  <a:pt x="3" y="5"/>
                  <a:pt x="1" y="10"/>
                </a:cubicBezTo>
                <a:cubicBezTo>
                  <a:pt x="0" y="12"/>
                  <a:pt x="0" y="13"/>
                  <a:pt x="0" y="15"/>
                </a:cubicBezTo>
                <a:cubicBezTo>
                  <a:pt x="0" y="110"/>
                  <a:pt x="0" y="110"/>
                  <a:pt x="0" y="110"/>
                </a:cubicBezTo>
                <a:cubicBezTo>
                  <a:pt x="0" y="111"/>
                  <a:pt x="0" y="111"/>
                  <a:pt x="0" y="111"/>
                </a:cubicBezTo>
                <a:cubicBezTo>
                  <a:pt x="1" y="117"/>
                  <a:pt x="5" y="121"/>
                  <a:pt x="10" y="123"/>
                </a:cubicBezTo>
                <a:cubicBezTo>
                  <a:pt x="11" y="124"/>
                  <a:pt x="13" y="124"/>
                  <a:pt x="15" y="124"/>
                </a:cubicBezTo>
                <a:cubicBezTo>
                  <a:pt x="508" y="124"/>
                  <a:pt x="508" y="124"/>
                  <a:pt x="508" y="124"/>
                </a:cubicBezTo>
                <a:cubicBezTo>
                  <a:pt x="509" y="124"/>
                  <a:pt x="509" y="124"/>
                  <a:pt x="509" y="124"/>
                </a:cubicBezTo>
                <a:cubicBezTo>
                  <a:pt x="515" y="123"/>
                  <a:pt x="519" y="119"/>
                  <a:pt x="521" y="114"/>
                </a:cubicBezTo>
                <a:cubicBezTo>
                  <a:pt x="522" y="112"/>
                  <a:pt x="522" y="111"/>
                  <a:pt x="522" y="109"/>
                </a:cubicBezTo>
                <a:cubicBezTo>
                  <a:pt x="522" y="14"/>
                  <a:pt x="522" y="14"/>
                  <a:pt x="522" y="14"/>
                </a:cubicBezTo>
                <a:cubicBezTo>
                  <a:pt x="522" y="13"/>
                  <a:pt x="522" y="13"/>
                  <a:pt x="522" y="13"/>
                </a:cubicBezTo>
                <a:cubicBezTo>
                  <a:pt x="521" y="7"/>
                  <a:pt x="517" y="3"/>
                  <a:pt x="512" y="1"/>
                </a:cubicBezTo>
                <a:cubicBezTo>
                  <a:pt x="511" y="1"/>
                  <a:pt x="509" y="0"/>
                  <a:pt x="507" y="0"/>
                </a:cubicBezTo>
                <a:close/>
              </a:path>
            </a:pathLst>
          </a:custGeom>
          <a:solidFill>
            <a:schemeClr val="accent2">
              <a:lumMod val="40000"/>
              <a:lumOff val="60000"/>
            </a:schemeClr>
          </a:solidFill>
          <a:ln>
            <a:noFill/>
          </a:ln>
        </p:spPr>
        <p:txBody>
          <a:bodyPr vert="horz" wrap="square" lIns="91440" tIns="45720" rIns="91440" bIns="45720" numCol="1" anchor="t" anchorCtr="0" compatLnSpc="1"/>
          <a:lstStyle/>
          <a:p>
            <a:endParaRPr lang="zh-CN" altLang="en-US"/>
          </a:p>
        </p:txBody>
      </p:sp>
      <p:sp>
        <p:nvSpPr>
          <p:cNvPr id="71" name="Freeform 15"/>
          <p:cNvSpPr/>
          <p:nvPr/>
        </p:nvSpPr>
        <p:spPr bwMode="auto">
          <a:xfrm>
            <a:off x="9941837" y="793025"/>
            <a:ext cx="1762125" cy="1758950"/>
          </a:xfrm>
          <a:custGeom>
            <a:avLst/>
            <a:gdLst>
              <a:gd name="T0" fmla="*/ 83 w 200"/>
              <a:gd name="T1" fmla="*/ 8 h 200"/>
              <a:gd name="T2" fmla="*/ 7 w 200"/>
              <a:gd name="T3" fmla="*/ 84 h 200"/>
              <a:gd name="T4" fmla="*/ 5 w 200"/>
              <a:gd name="T5" fmla="*/ 86 h 200"/>
              <a:gd name="T6" fmla="*/ 1 w 200"/>
              <a:gd name="T7" fmla="*/ 94 h 200"/>
              <a:gd name="T8" fmla="*/ 1 w 200"/>
              <a:gd name="T9" fmla="*/ 97 h 200"/>
              <a:gd name="T10" fmla="*/ 2 w 200"/>
              <a:gd name="T11" fmla="*/ 108 h 200"/>
              <a:gd name="T12" fmla="*/ 3 w 200"/>
              <a:gd name="T13" fmla="*/ 110 h 200"/>
              <a:gd name="T14" fmla="*/ 8 w 200"/>
              <a:gd name="T15" fmla="*/ 117 h 200"/>
              <a:gd name="T16" fmla="*/ 84 w 200"/>
              <a:gd name="T17" fmla="*/ 193 h 200"/>
              <a:gd name="T18" fmla="*/ 86 w 200"/>
              <a:gd name="T19" fmla="*/ 195 h 200"/>
              <a:gd name="T20" fmla="*/ 94 w 200"/>
              <a:gd name="T21" fmla="*/ 199 h 200"/>
              <a:gd name="T22" fmla="*/ 97 w 200"/>
              <a:gd name="T23" fmla="*/ 199 h 200"/>
              <a:gd name="T24" fmla="*/ 108 w 200"/>
              <a:gd name="T25" fmla="*/ 198 h 200"/>
              <a:gd name="T26" fmla="*/ 110 w 200"/>
              <a:gd name="T27" fmla="*/ 197 h 200"/>
              <a:gd name="T28" fmla="*/ 117 w 200"/>
              <a:gd name="T29" fmla="*/ 192 h 200"/>
              <a:gd name="T30" fmla="*/ 193 w 200"/>
              <a:gd name="T31" fmla="*/ 117 h 200"/>
              <a:gd name="T32" fmla="*/ 195 w 200"/>
              <a:gd name="T33" fmla="*/ 115 h 200"/>
              <a:gd name="T34" fmla="*/ 199 w 200"/>
              <a:gd name="T35" fmla="*/ 106 h 200"/>
              <a:gd name="T36" fmla="*/ 199 w 200"/>
              <a:gd name="T37" fmla="*/ 104 h 200"/>
              <a:gd name="T38" fmla="*/ 198 w 200"/>
              <a:gd name="T39" fmla="*/ 92 h 200"/>
              <a:gd name="T40" fmla="*/ 197 w 200"/>
              <a:gd name="T41" fmla="*/ 90 h 200"/>
              <a:gd name="T42" fmla="*/ 192 w 200"/>
              <a:gd name="T43" fmla="*/ 83 h 200"/>
              <a:gd name="T44" fmla="*/ 117 w 200"/>
              <a:gd name="T45" fmla="*/ 7 h 200"/>
              <a:gd name="T46" fmla="*/ 115 w 200"/>
              <a:gd name="T47" fmla="*/ 5 h 200"/>
              <a:gd name="T48" fmla="*/ 106 w 200"/>
              <a:gd name="T49" fmla="*/ 1 h 200"/>
              <a:gd name="T50" fmla="*/ 104 w 200"/>
              <a:gd name="T51" fmla="*/ 1 h 200"/>
              <a:gd name="T52" fmla="*/ 92 w 200"/>
              <a:gd name="T53" fmla="*/ 2 h 200"/>
              <a:gd name="T54" fmla="*/ 90 w 200"/>
              <a:gd name="T55" fmla="*/ 3 h 200"/>
              <a:gd name="T56" fmla="*/ 83 w 200"/>
              <a:gd name="T57" fmla="*/ 8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00" h="200">
                <a:moveTo>
                  <a:pt x="83" y="8"/>
                </a:moveTo>
                <a:cubicBezTo>
                  <a:pt x="7" y="84"/>
                  <a:pt x="7" y="84"/>
                  <a:pt x="7" y="84"/>
                </a:cubicBezTo>
                <a:cubicBezTo>
                  <a:pt x="5" y="86"/>
                  <a:pt x="5" y="86"/>
                  <a:pt x="5" y="86"/>
                </a:cubicBezTo>
                <a:cubicBezTo>
                  <a:pt x="3" y="88"/>
                  <a:pt x="2" y="91"/>
                  <a:pt x="1" y="94"/>
                </a:cubicBezTo>
                <a:cubicBezTo>
                  <a:pt x="1" y="97"/>
                  <a:pt x="1" y="97"/>
                  <a:pt x="1" y="97"/>
                </a:cubicBezTo>
                <a:cubicBezTo>
                  <a:pt x="0" y="101"/>
                  <a:pt x="1" y="104"/>
                  <a:pt x="2" y="108"/>
                </a:cubicBezTo>
                <a:cubicBezTo>
                  <a:pt x="3" y="110"/>
                  <a:pt x="3" y="110"/>
                  <a:pt x="3" y="110"/>
                </a:cubicBezTo>
                <a:cubicBezTo>
                  <a:pt x="4" y="113"/>
                  <a:pt x="6" y="115"/>
                  <a:pt x="8" y="117"/>
                </a:cubicBezTo>
                <a:cubicBezTo>
                  <a:pt x="84" y="193"/>
                  <a:pt x="84" y="193"/>
                  <a:pt x="84" y="193"/>
                </a:cubicBezTo>
                <a:cubicBezTo>
                  <a:pt x="86" y="195"/>
                  <a:pt x="86" y="195"/>
                  <a:pt x="86" y="195"/>
                </a:cubicBezTo>
                <a:cubicBezTo>
                  <a:pt x="88" y="197"/>
                  <a:pt x="91" y="198"/>
                  <a:pt x="94" y="199"/>
                </a:cubicBezTo>
                <a:cubicBezTo>
                  <a:pt x="97" y="199"/>
                  <a:pt x="97" y="199"/>
                  <a:pt x="97" y="199"/>
                </a:cubicBezTo>
                <a:cubicBezTo>
                  <a:pt x="101" y="200"/>
                  <a:pt x="104" y="199"/>
                  <a:pt x="108" y="198"/>
                </a:cubicBezTo>
                <a:cubicBezTo>
                  <a:pt x="110" y="197"/>
                  <a:pt x="110" y="197"/>
                  <a:pt x="110" y="197"/>
                </a:cubicBezTo>
                <a:cubicBezTo>
                  <a:pt x="113" y="196"/>
                  <a:pt x="115" y="194"/>
                  <a:pt x="117" y="192"/>
                </a:cubicBezTo>
                <a:cubicBezTo>
                  <a:pt x="193" y="117"/>
                  <a:pt x="193" y="117"/>
                  <a:pt x="193" y="117"/>
                </a:cubicBezTo>
                <a:cubicBezTo>
                  <a:pt x="195" y="115"/>
                  <a:pt x="195" y="115"/>
                  <a:pt x="195" y="115"/>
                </a:cubicBezTo>
                <a:cubicBezTo>
                  <a:pt x="197" y="112"/>
                  <a:pt x="198" y="109"/>
                  <a:pt x="199" y="106"/>
                </a:cubicBezTo>
                <a:cubicBezTo>
                  <a:pt x="199" y="104"/>
                  <a:pt x="199" y="104"/>
                  <a:pt x="199" y="104"/>
                </a:cubicBezTo>
                <a:cubicBezTo>
                  <a:pt x="200" y="99"/>
                  <a:pt x="200" y="96"/>
                  <a:pt x="198" y="92"/>
                </a:cubicBezTo>
                <a:cubicBezTo>
                  <a:pt x="197" y="90"/>
                  <a:pt x="197" y="90"/>
                  <a:pt x="197" y="90"/>
                </a:cubicBezTo>
                <a:cubicBezTo>
                  <a:pt x="196" y="87"/>
                  <a:pt x="195" y="85"/>
                  <a:pt x="192" y="83"/>
                </a:cubicBezTo>
                <a:cubicBezTo>
                  <a:pt x="117" y="7"/>
                  <a:pt x="117" y="7"/>
                  <a:pt x="117" y="7"/>
                </a:cubicBezTo>
                <a:cubicBezTo>
                  <a:pt x="115" y="5"/>
                  <a:pt x="115" y="5"/>
                  <a:pt x="115" y="5"/>
                </a:cubicBezTo>
                <a:cubicBezTo>
                  <a:pt x="112" y="3"/>
                  <a:pt x="109" y="2"/>
                  <a:pt x="106" y="1"/>
                </a:cubicBezTo>
                <a:cubicBezTo>
                  <a:pt x="104" y="1"/>
                  <a:pt x="104" y="1"/>
                  <a:pt x="104" y="1"/>
                </a:cubicBezTo>
                <a:cubicBezTo>
                  <a:pt x="100" y="0"/>
                  <a:pt x="96" y="1"/>
                  <a:pt x="92" y="2"/>
                </a:cubicBezTo>
                <a:cubicBezTo>
                  <a:pt x="90" y="3"/>
                  <a:pt x="90" y="3"/>
                  <a:pt x="90" y="3"/>
                </a:cubicBezTo>
                <a:cubicBezTo>
                  <a:pt x="87" y="4"/>
                  <a:pt x="85" y="6"/>
                  <a:pt x="83" y="8"/>
                </a:cubicBezTo>
                <a:close/>
              </a:path>
            </a:pathLst>
          </a:custGeom>
          <a:solidFill>
            <a:srgbClr val="FFFFFF"/>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2" name="Freeform 16"/>
          <p:cNvSpPr/>
          <p:nvPr/>
        </p:nvSpPr>
        <p:spPr bwMode="auto">
          <a:xfrm>
            <a:off x="9976762" y="829538"/>
            <a:ext cx="1700213" cy="1697038"/>
          </a:xfrm>
          <a:custGeom>
            <a:avLst/>
            <a:gdLst>
              <a:gd name="T0" fmla="*/ 82 w 193"/>
              <a:gd name="T1" fmla="*/ 7 h 193"/>
              <a:gd name="T2" fmla="*/ 7 w 193"/>
              <a:gd name="T3" fmla="*/ 82 h 193"/>
              <a:gd name="T4" fmla="*/ 7 w 193"/>
              <a:gd name="T5" fmla="*/ 110 h 193"/>
              <a:gd name="T6" fmla="*/ 82 w 193"/>
              <a:gd name="T7" fmla="*/ 185 h 193"/>
              <a:gd name="T8" fmla="*/ 110 w 193"/>
              <a:gd name="T9" fmla="*/ 185 h 193"/>
              <a:gd name="T10" fmla="*/ 185 w 193"/>
              <a:gd name="T11" fmla="*/ 110 h 193"/>
              <a:gd name="T12" fmla="*/ 185 w 193"/>
              <a:gd name="T13" fmla="*/ 82 h 193"/>
              <a:gd name="T14" fmla="*/ 110 w 193"/>
              <a:gd name="T15" fmla="*/ 7 h 193"/>
              <a:gd name="T16" fmla="*/ 82 w 193"/>
              <a:gd name="T17" fmla="*/ 7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3" h="193">
                <a:moveTo>
                  <a:pt x="82" y="7"/>
                </a:moveTo>
                <a:cubicBezTo>
                  <a:pt x="7" y="82"/>
                  <a:pt x="7" y="82"/>
                  <a:pt x="7" y="82"/>
                </a:cubicBezTo>
                <a:cubicBezTo>
                  <a:pt x="0" y="90"/>
                  <a:pt x="0" y="102"/>
                  <a:pt x="7" y="110"/>
                </a:cubicBezTo>
                <a:cubicBezTo>
                  <a:pt x="82" y="185"/>
                  <a:pt x="82" y="185"/>
                  <a:pt x="82" y="185"/>
                </a:cubicBezTo>
                <a:cubicBezTo>
                  <a:pt x="90" y="193"/>
                  <a:pt x="102" y="193"/>
                  <a:pt x="110" y="185"/>
                </a:cubicBezTo>
                <a:cubicBezTo>
                  <a:pt x="185" y="110"/>
                  <a:pt x="185" y="110"/>
                  <a:pt x="185" y="110"/>
                </a:cubicBezTo>
                <a:cubicBezTo>
                  <a:pt x="193" y="102"/>
                  <a:pt x="193" y="90"/>
                  <a:pt x="185" y="82"/>
                </a:cubicBezTo>
                <a:cubicBezTo>
                  <a:pt x="110" y="7"/>
                  <a:pt x="110" y="7"/>
                  <a:pt x="110" y="7"/>
                </a:cubicBezTo>
                <a:cubicBezTo>
                  <a:pt x="102" y="0"/>
                  <a:pt x="90" y="0"/>
                  <a:pt x="82" y="7"/>
                </a:cubicBezTo>
                <a:close/>
              </a:path>
            </a:pathLst>
          </a:custGeom>
          <a:solidFill>
            <a:schemeClr val="tx2">
              <a:lumMod val="40000"/>
              <a:lumOff val="60000"/>
            </a:schemeClr>
          </a:solidFill>
          <a:ln>
            <a:noFill/>
          </a:ln>
        </p:spPr>
        <p:txBody>
          <a:bodyPr vert="horz" wrap="square" lIns="91440" tIns="45720" rIns="91440" bIns="45720" numCol="1" anchor="t" anchorCtr="0" compatLnSpc="1"/>
          <a:lstStyle/>
          <a:p>
            <a:endParaRPr lang="zh-CN" altLang="en-US"/>
          </a:p>
        </p:txBody>
      </p:sp>
      <p:sp>
        <p:nvSpPr>
          <p:cNvPr id="73" name="Freeform 17"/>
          <p:cNvSpPr/>
          <p:nvPr/>
        </p:nvSpPr>
        <p:spPr bwMode="auto">
          <a:xfrm>
            <a:off x="10170437" y="1021625"/>
            <a:ext cx="1303338" cy="1301750"/>
          </a:xfrm>
          <a:custGeom>
            <a:avLst/>
            <a:gdLst>
              <a:gd name="T0" fmla="*/ 411 w 821"/>
              <a:gd name="T1" fmla="*/ 0 h 820"/>
              <a:gd name="T2" fmla="*/ 0 w 821"/>
              <a:gd name="T3" fmla="*/ 410 h 820"/>
              <a:gd name="T4" fmla="*/ 411 w 821"/>
              <a:gd name="T5" fmla="*/ 820 h 820"/>
              <a:gd name="T6" fmla="*/ 821 w 821"/>
              <a:gd name="T7" fmla="*/ 410 h 820"/>
              <a:gd name="T8" fmla="*/ 411 w 821"/>
              <a:gd name="T9" fmla="*/ 0 h 820"/>
              <a:gd name="T10" fmla="*/ 411 w 821"/>
              <a:gd name="T11" fmla="*/ 0 h 820"/>
            </a:gdLst>
            <a:ahLst/>
            <a:cxnLst>
              <a:cxn ang="0">
                <a:pos x="T0" y="T1"/>
              </a:cxn>
              <a:cxn ang="0">
                <a:pos x="T2" y="T3"/>
              </a:cxn>
              <a:cxn ang="0">
                <a:pos x="T4" y="T5"/>
              </a:cxn>
              <a:cxn ang="0">
                <a:pos x="T6" y="T7"/>
              </a:cxn>
              <a:cxn ang="0">
                <a:pos x="T8" y="T9"/>
              </a:cxn>
              <a:cxn ang="0">
                <a:pos x="T10" y="T11"/>
              </a:cxn>
            </a:cxnLst>
            <a:rect l="0" t="0" r="r" b="b"/>
            <a:pathLst>
              <a:path w="821" h="820">
                <a:moveTo>
                  <a:pt x="411" y="0"/>
                </a:moveTo>
                <a:lnTo>
                  <a:pt x="0" y="410"/>
                </a:lnTo>
                <a:lnTo>
                  <a:pt x="411" y="820"/>
                </a:lnTo>
                <a:lnTo>
                  <a:pt x="821" y="410"/>
                </a:lnTo>
                <a:lnTo>
                  <a:pt x="411" y="0"/>
                </a:lnTo>
                <a:lnTo>
                  <a:pt x="411" y="0"/>
                </a:lnTo>
                <a:close/>
              </a:path>
            </a:pathLst>
          </a:custGeom>
          <a:solidFill>
            <a:srgbClr val="FFFFFF"/>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4" name="Freeform 18"/>
          <p:cNvSpPr/>
          <p:nvPr/>
        </p:nvSpPr>
        <p:spPr bwMode="auto">
          <a:xfrm>
            <a:off x="10232350" y="1083538"/>
            <a:ext cx="1181100" cy="1177925"/>
          </a:xfrm>
          <a:custGeom>
            <a:avLst/>
            <a:gdLst>
              <a:gd name="T0" fmla="*/ 372 w 744"/>
              <a:gd name="T1" fmla="*/ 0 h 742"/>
              <a:gd name="T2" fmla="*/ 0 w 744"/>
              <a:gd name="T3" fmla="*/ 371 h 742"/>
              <a:gd name="T4" fmla="*/ 372 w 744"/>
              <a:gd name="T5" fmla="*/ 742 h 742"/>
              <a:gd name="T6" fmla="*/ 744 w 744"/>
              <a:gd name="T7" fmla="*/ 371 h 742"/>
              <a:gd name="T8" fmla="*/ 372 w 744"/>
              <a:gd name="T9" fmla="*/ 0 h 742"/>
              <a:gd name="T10" fmla="*/ 372 w 744"/>
              <a:gd name="T11" fmla="*/ 0 h 742"/>
            </a:gdLst>
            <a:ahLst/>
            <a:cxnLst>
              <a:cxn ang="0">
                <a:pos x="T0" y="T1"/>
              </a:cxn>
              <a:cxn ang="0">
                <a:pos x="T2" y="T3"/>
              </a:cxn>
              <a:cxn ang="0">
                <a:pos x="T4" y="T5"/>
              </a:cxn>
              <a:cxn ang="0">
                <a:pos x="T6" y="T7"/>
              </a:cxn>
              <a:cxn ang="0">
                <a:pos x="T8" y="T9"/>
              </a:cxn>
              <a:cxn ang="0">
                <a:pos x="T10" y="T11"/>
              </a:cxn>
            </a:cxnLst>
            <a:rect l="0" t="0" r="r" b="b"/>
            <a:pathLst>
              <a:path w="744" h="742">
                <a:moveTo>
                  <a:pt x="372" y="0"/>
                </a:moveTo>
                <a:lnTo>
                  <a:pt x="0" y="371"/>
                </a:lnTo>
                <a:lnTo>
                  <a:pt x="372" y="742"/>
                </a:lnTo>
                <a:lnTo>
                  <a:pt x="744" y="371"/>
                </a:lnTo>
                <a:lnTo>
                  <a:pt x="372" y="0"/>
                </a:lnTo>
                <a:lnTo>
                  <a:pt x="372" y="0"/>
                </a:lnTo>
                <a:close/>
              </a:path>
            </a:pathLst>
          </a:custGeom>
          <a:solidFill>
            <a:schemeClr val="bg1">
              <a:lumMod val="75000"/>
            </a:schemeClr>
          </a:solidFill>
          <a:ln>
            <a:noFill/>
          </a:ln>
        </p:spPr>
        <p:txBody>
          <a:bodyPr vert="horz" wrap="square" lIns="91440" tIns="45720" rIns="91440" bIns="45720" numCol="1" anchor="t" anchorCtr="0" compatLnSpc="1"/>
          <a:lstStyle/>
          <a:p>
            <a:endParaRPr lang="zh-CN" altLang="en-US"/>
          </a:p>
        </p:txBody>
      </p:sp>
      <p:sp>
        <p:nvSpPr>
          <p:cNvPr id="75" name="Freeform 19"/>
          <p:cNvSpPr/>
          <p:nvPr/>
        </p:nvSpPr>
        <p:spPr bwMode="auto">
          <a:xfrm>
            <a:off x="9792612" y="1259750"/>
            <a:ext cx="44450" cy="827088"/>
          </a:xfrm>
          <a:custGeom>
            <a:avLst/>
            <a:gdLst>
              <a:gd name="T0" fmla="*/ 28 w 28"/>
              <a:gd name="T1" fmla="*/ 521 h 521"/>
              <a:gd name="T2" fmla="*/ 28 w 28"/>
              <a:gd name="T3" fmla="*/ 0 h 521"/>
              <a:gd name="T4" fmla="*/ 0 w 28"/>
              <a:gd name="T5" fmla="*/ 0 h 521"/>
              <a:gd name="T6" fmla="*/ 0 w 28"/>
              <a:gd name="T7" fmla="*/ 521 h 521"/>
              <a:gd name="T8" fmla="*/ 28 w 28"/>
              <a:gd name="T9" fmla="*/ 521 h 521"/>
              <a:gd name="T10" fmla="*/ 28 w 28"/>
              <a:gd name="T11" fmla="*/ 521 h 521"/>
            </a:gdLst>
            <a:ahLst/>
            <a:cxnLst>
              <a:cxn ang="0">
                <a:pos x="T0" y="T1"/>
              </a:cxn>
              <a:cxn ang="0">
                <a:pos x="T2" y="T3"/>
              </a:cxn>
              <a:cxn ang="0">
                <a:pos x="T4" y="T5"/>
              </a:cxn>
              <a:cxn ang="0">
                <a:pos x="T6" y="T7"/>
              </a:cxn>
              <a:cxn ang="0">
                <a:pos x="T8" y="T9"/>
              </a:cxn>
              <a:cxn ang="0">
                <a:pos x="T10" y="T11"/>
              </a:cxn>
            </a:cxnLst>
            <a:rect l="0" t="0" r="r" b="b"/>
            <a:pathLst>
              <a:path w="28" h="521">
                <a:moveTo>
                  <a:pt x="28" y="521"/>
                </a:moveTo>
                <a:lnTo>
                  <a:pt x="28" y="0"/>
                </a:lnTo>
                <a:lnTo>
                  <a:pt x="0" y="0"/>
                </a:lnTo>
                <a:lnTo>
                  <a:pt x="0" y="521"/>
                </a:lnTo>
                <a:lnTo>
                  <a:pt x="28" y="521"/>
                </a:lnTo>
                <a:lnTo>
                  <a:pt x="28" y="521"/>
                </a:lnTo>
                <a:close/>
              </a:path>
            </a:pathLst>
          </a:custGeom>
          <a:solidFill>
            <a:srgbClr val="D5331C"/>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6" name="Freeform 20"/>
          <p:cNvSpPr/>
          <p:nvPr/>
        </p:nvSpPr>
        <p:spPr bwMode="auto">
          <a:xfrm>
            <a:off x="10681612" y="1418500"/>
            <a:ext cx="317500" cy="474663"/>
          </a:xfrm>
          <a:custGeom>
            <a:avLst/>
            <a:gdLst>
              <a:gd name="T0" fmla="*/ 0 w 36"/>
              <a:gd name="T1" fmla="*/ 54 h 54"/>
              <a:gd name="T2" fmla="*/ 36 w 36"/>
              <a:gd name="T3" fmla="*/ 54 h 54"/>
              <a:gd name="T4" fmla="*/ 36 w 36"/>
              <a:gd name="T5" fmla="*/ 46 h 54"/>
              <a:gd name="T6" fmla="*/ 14 w 36"/>
              <a:gd name="T7" fmla="*/ 46 h 54"/>
              <a:gd name="T8" fmla="*/ 26 w 36"/>
              <a:gd name="T9" fmla="*/ 33 h 54"/>
              <a:gd name="T10" fmla="*/ 35 w 36"/>
              <a:gd name="T11" fmla="*/ 15 h 54"/>
              <a:gd name="T12" fmla="*/ 30 w 36"/>
              <a:gd name="T13" fmla="*/ 3 h 54"/>
              <a:gd name="T14" fmla="*/ 18 w 36"/>
              <a:gd name="T15" fmla="*/ 0 h 54"/>
              <a:gd name="T16" fmla="*/ 1 w 36"/>
              <a:gd name="T17" fmla="*/ 4 h 54"/>
              <a:gd name="T18" fmla="*/ 2 w 36"/>
              <a:gd name="T19" fmla="*/ 13 h 54"/>
              <a:gd name="T20" fmla="*/ 15 w 36"/>
              <a:gd name="T21" fmla="*/ 9 h 54"/>
              <a:gd name="T22" fmla="*/ 23 w 36"/>
              <a:gd name="T23" fmla="*/ 16 h 54"/>
              <a:gd name="T24" fmla="*/ 14 w 36"/>
              <a:gd name="T25" fmla="*/ 32 h 54"/>
              <a:gd name="T26" fmla="*/ 0 w 36"/>
              <a:gd name="T27" fmla="*/ 45 h 54"/>
              <a:gd name="T28" fmla="*/ 0 w 36"/>
              <a:gd name="T29"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6" h="54">
                <a:moveTo>
                  <a:pt x="0" y="54"/>
                </a:moveTo>
                <a:cubicBezTo>
                  <a:pt x="36" y="54"/>
                  <a:pt x="36" y="54"/>
                  <a:pt x="36" y="54"/>
                </a:cubicBezTo>
                <a:cubicBezTo>
                  <a:pt x="36" y="46"/>
                  <a:pt x="36" y="46"/>
                  <a:pt x="36" y="46"/>
                </a:cubicBezTo>
                <a:cubicBezTo>
                  <a:pt x="14" y="46"/>
                  <a:pt x="14" y="46"/>
                  <a:pt x="14" y="46"/>
                </a:cubicBezTo>
                <a:cubicBezTo>
                  <a:pt x="19" y="41"/>
                  <a:pt x="22" y="38"/>
                  <a:pt x="26" y="33"/>
                </a:cubicBezTo>
                <a:cubicBezTo>
                  <a:pt x="33" y="25"/>
                  <a:pt x="35" y="21"/>
                  <a:pt x="35" y="15"/>
                </a:cubicBezTo>
                <a:cubicBezTo>
                  <a:pt x="35" y="10"/>
                  <a:pt x="33" y="6"/>
                  <a:pt x="30" y="3"/>
                </a:cubicBezTo>
                <a:cubicBezTo>
                  <a:pt x="27" y="1"/>
                  <a:pt x="23" y="0"/>
                  <a:pt x="18" y="0"/>
                </a:cubicBezTo>
                <a:cubicBezTo>
                  <a:pt x="12" y="0"/>
                  <a:pt x="8" y="1"/>
                  <a:pt x="1" y="4"/>
                </a:cubicBezTo>
                <a:cubicBezTo>
                  <a:pt x="2" y="13"/>
                  <a:pt x="2" y="13"/>
                  <a:pt x="2" y="13"/>
                </a:cubicBezTo>
                <a:cubicBezTo>
                  <a:pt x="7" y="10"/>
                  <a:pt x="11" y="9"/>
                  <a:pt x="15" y="9"/>
                </a:cubicBezTo>
                <a:cubicBezTo>
                  <a:pt x="20" y="9"/>
                  <a:pt x="23" y="12"/>
                  <a:pt x="23" y="16"/>
                </a:cubicBezTo>
                <a:cubicBezTo>
                  <a:pt x="23" y="20"/>
                  <a:pt x="21" y="25"/>
                  <a:pt x="14" y="32"/>
                </a:cubicBezTo>
                <a:cubicBezTo>
                  <a:pt x="11" y="36"/>
                  <a:pt x="5" y="41"/>
                  <a:pt x="0" y="45"/>
                </a:cubicBezTo>
                <a:cubicBezTo>
                  <a:pt x="0" y="54"/>
                  <a:pt x="0" y="54"/>
                  <a:pt x="0" y="54"/>
                </a:cubicBezTo>
                <a:close/>
              </a:path>
            </a:pathLst>
          </a:custGeom>
          <a:solidFill>
            <a:srgbClr val="FFFFFF"/>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7" name="文本框 75"/>
          <p:cNvSpPr txBox="1"/>
          <p:nvPr/>
        </p:nvSpPr>
        <p:spPr>
          <a:xfrm>
            <a:off x="7389822" y="1344097"/>
            <a:ext cx="2366962" cy="769441"/>
          </a:xfrm>
          <a:prstGeom prst="rect">
            <a:avLst/>
          </a:prstGeom>
          <a:noFill/>
        </p:spPr>
        <p:txBody>
          <a:bodyPr wrap="square" rtlCol="0">
            <a:spAutoFit/>
          </a:bodyPr>
          <a:lstStyle/>
          <a:p>
            <a:pPr algn="ctr"/>
            <a:r>
              <a:rPr lang="zh-CN" altLang="en-US" sz="4400" b="1" dirty="0" smtClean="0">
                <a:solidFill>
                  <a:schemeClr val="accent2">
                    <a:lumMod val="50000"/>
                  </a:schemeClr>
                </a:solidFill>
                <a:latin typeface="微软雅黑" panose="020B0503020204020204" pitchFamily="34" charset="-122"/>
                <a:ea typeface="微软雅黑" panose="020B0503020204020204" pitchFamily="34" charset="-122"/>
                <a:cs typeface="Arial Unicode MS" panose="020B0604020202020204" pitchFamily="34" charset="-122"/>
              </a:rPr>
              <a:t>分类</a:t>
            </a:r>
            <a:endParaRPr lang="zh-CN" altLang="en-US" sz="4400" b="1" dirty="0">
              <a:solidFill>
                <a:schemeClr val="accent2">
                  <a:lumMod val="50000"/>
                </a:schemeClr>
              </a:solidFill>
              <a:latin typeface="微软雅黑" panose="020B0503020204020204" pitchFamily="34" charset="-122"/>
              <a:ea typeface="微软雅黑" panose="020B0503020204020204" pitchFamily="34" charset="-122"/>
              <a:cs typeface="Arial Unicode MS" panose="020B0604020202020204" pitchFamily="34" charset="-122"/>
            </a:endParaRPr>
          </a:p>
        </p:txBody>
      </p:sp>
      <p:sp>
        <p:nvSpPr>
          <p:cNvPr id="78" name="文本框 76"/>
          <p:cNvSpPr txBox="1"/>
          <p:nvPr/>
        </p:nvSpPr>
        <p:spPr>
          <a:xfrm>
            <a:off x="2462108" y="1293337"/>
            <a:ext cx="2366962" cy="769441"/>
          </a:xfrm>
          <a:prstGeom prst="rect">
            <a:avLst/>
          </a:prstGeom>
          <a:noFill/>
        </p:spPr>
        <p:txBody>
          <a:bodyPr wrap="square" rtlCol="0">
            <a:spAutoFit/>
          </a:bodyPr>
          <a:lstStyle/>
          <a:p>
            <a:pPr algn="ctr"/>
            <a:r>
              <a:rPr lang="zh-CN" altLang="en-US" sz="4400" b="1" dirty="0">
                <a:solidFill>
                  <a:schemeClr val="accent2">
                    <a:lumMod val="50000"/>
                  </a:schemeClr>
                </a:solidFill>
                <a:latin typeface="微软雅黑" panose="020B0503020204020204" pitchFamily="34" charset="-122"/>
                <a:ea typeface="微软雅黑" panose="020B0503020204020204" pitchFamily="34" charset="-122"/>
              </a:rPr>
              <a:t>区域</a:t>
            </a:r>
            <a:endParaRPr lang="zh-CN" altLang="en-US" sz="4400" b="1" dirty="0">
              <a:solidFill>
                <a:schemeClr val="accent2">
                  <a:lumMod val="50000"/>
                </a:schemeClr>
              </a:solidFill>
              <a:latin typeface="微软雅黑" panose="020B0503020204020204" pitchFamily="34" charset="-122"/>
              <a:ea typeface="微软雅黑" panose="020B0503020204020204" pitchFamily="34" charset="-122"/>
              <a:cs typeface="Arial Unicode MS" panose="020B0604020202020204" pitchFamily="34" charset="-122"/>
            </a:endParaRPr>
          </a:p>
        </p:txBody>
      </p:sp>
      <p:sp>
        <p:nvSpPr>
          <p:cNvPr id="2" name="TextBox 1"/>
          <p:cNvSpPr txBox="1"/>
          <p:nvPr/>
        </p:nvSpPr>
        <p:spPr>
          <a:xfrm>
            <a:off x="268637" y="2699657"/>
            <a:ext cx="4898449" cy="2985433"/>
          </a:xfrm>
          <a:prstGeom prst="rect">
            <a:avLst/>
          </a:prstGeom>
          <a:noFill/>
        </p:spPr>
        <p:txBody>
          <a:bodyPr wrap="square" rtlCol="0">
            <a:spAutoFit/>
          </a:bodyPr>
          <a:lstStyle/>
          <a:p>
            <a:r>
              <a:rPr lang="zh-CN" altLang="en-US" sz="2800" b="1" dirty="0">
                <a:latin typeface="宋体" panose="02010600030101010101" pitchFamily="2" charset="-122"/>
                <a:ea typeface="宋体" panose="02010600030101010101" pitchFamily="2" charset="-122"/>
              </a:rPr>
              <a:t>介于可见光与中红外之间的近红外波段。整个谱区波长范围根据</a:t>
            </a:r>
            <a:r>
              <a:rPr lang="en-US" altLang="zh-CN" sz="2800" b="1" dirty="0">
                <a:latin typeface="宋体" panose="02010600030101010101" pitchFamily="2" charset="-122"/>
                <a:ea typeface="宋体" panose="02010600030101010101" pitchFamily="2" charset="-122"/>
              </a:rPr>
              <a:t>ASTM</a:t>
            </a:r>
            <a:r>
              <a:rPr lang="zh-CN" altLang="en-US" sz="2800" b="1" dirty="0">
                <a:latin typeface="宋体" panose="02010600030101010101" pitchFamily="2" charset="-122"/>
                <a:ea typeface="宋体" panose="02010600030101010101" pitchFamily="2" charset="-122"/>
              </a:rPr>
              <a:t>定义为</a:t>
            </a:r>
            <a:r>
              <a:rPr lang="en-US" altLang="zh-CN" sz="2800" b="1" dirty="0">
                <a:latin typeface="宋体" panose="02010600030101010101" pitchFamily="2" charset="-122"/>
                <a:ea typeface="宋体" panose="02010600030101010101" pitchFamily="2" charset="-122"/>
              </a:rPr>
              <a:t>780-2526nm,</a:t>
            </a:r>
            <a:r>
              <a:rPr lang="zh-CN" altLang="en-US" sz="2800" b="1" dirty="0">
                <a:latin typeface="宋体" panose="02010600030101010101" pitchFamily="2" charset="-122"/>
                <a:ea typeface="宋体" panose="02010600030101010101" pitchFamily="2" charset="-122"/>
              </a:rPr>
              <a:t>在</a:t>
            </a:r>
            <a:r>
              <a:rPr lang="zh-CN" altLang="en-US" sz="2800" b="1" dirty="0">
                <a:solidFill>
                  <a:srgbClr val="FF0000"/>
                </a:solidFill>
                <a:latin typeface="宋体" panose="02010600030101010101" pitchFamily="2" charset="-122"/>
                <a:ea typeface="宋体" panose="02010600030101010101" pitchFamily="2" charset="-122"/>
              </a:rPr>
              <a:t>一般应用中将波长在</a:t>
            </a:r>
            <a:r>
              <a:rPr lang="en-US" altLang="zh-CN" sz="2800" b="1" dirty="0">
                <a:solidFill>
                  <a:srgbClr val="FF0000"/>
                </a:solidFill>
                <a:latin typeface="宋体" panose="02010600030101010101" pitchFamily="2" charset="-122"/>
                <a:ea typeface="宋体" panose="02010600030101010101" pitchFamily="2" charset="-122"/>
              </a:rPr>
              <a:t>700-2500nm</a:t>
            </a:r>
            <a:r>
              <a:rPr lang="zh-CN" altLang="en-US" sz="2800" b="1" dirty="0">
                <a:latin typeface="宋体" panose="02010600030101010101" pitchFamily="2" charset="-122"/>
                <a:ea typeface="宋体" panose="02010600030101010101" pitchFamily="2" charset="-122"/>
              </a:rPr>
              <a:t>（波数</a:t>
            </a:r>
            <a:r>
              <a:rPr lang="en-US" altLang="zh-CN" sz="2800" b="1" dirty="0">
                <a:latin typeface="宋体" panose="02010600030101010101" pitchFamily="2" charset="-122"/>
                <a:ea typeface="宋体" panose="02010600030101010101" pitchFamily="2" charset="-122"/>
              </a:rPr>
              <a:t>14286-4000cm</a:t>
            </a:r>
            <a:r>
              <a:rPr lang="en-US" altLang="zh-CN" sz="2800" b="1" baseline="30000" dirty="0">
                <a:latin typeface="宋体" panose="02010600030101010101" pitchFamily="2" charset="-122"/>
                <a:ea typeface="宋体" panose="02010600030101010101" pitchFamily="2" charset="-122"/>
              </a:rPr>
              <a:t>-1</a:t>
            </a:r>
            <a:r>
              <a:rPr lang="zh-CN" altLang="en-US" sz="2800" b="1" dirty="0">
                <a:latin typeface="宋体" panose="02010600030101010101" pitchFamily="2" charset="-122"/>
                <a:ea typeface="宋体" panose="02010600030101010101" pitchFamily="2" charset="-122"/>
              </a:rPr>
              <a:t>）</a:t>
            </a:r>
            <a:r>
              <a:rPr lang="zh-CN" altLang="en-US" sz="2800" b="1" dirty="0">
                <a:solidFill>
                  <a:srgbClr val="FF0000"/>
                </a:solidFill>
                <a:latin typeface="宋体" panose="02010600030101010101" pitchFamily="2" charset="-122"/>
                <a:ea typeface="宋体" panose="02010600030101010101" pitchFamily="2" charset="-122"/>
              </a:rPr>
              <a:t>作为近红外谱区</a:t>
            </a:r>
            <a:r>
              <a:rPr lang="zh-CN" altLang="en-US" sz="2800" b="1" dirty="0">
                <a:latin typeface="宋体" panose="02010600030101010101" pitchFamily="2" charset="-122"/>
                <a:ea typeface="宋体" panose="02010600030101010101" pitchFamily="2" charset="-122"/>
              </a:rPr>
              <a:t>。</a:t>
            </a:r>
          </a:p>
          <a:p>
            <a:endParaRPr lang="zh-CN" altLang="en-US" sz="2000" dirty="0"/>
          </a:p>
        </p:txBody>
      </p:sp>
      <p:sp>
        <p:nvSpPr>
          <p:cNvPr id="3" name="TextBox 2"/>
          <p:cNvSpPr txBox="1"/>
          <p:nvPr/>
        </p:nvSpPr>
        <p:spPr>
          <a:xfrm>
            <a:off x="7678056" y="2699657"/>
            <a:ext cx="3321055" cy="2554545"/>
          </a:xfrm>
          <a:prstGeom prst="rect">
            <a:avLst/>
          </a:prstGeom>
          <a:noFill/>
        </p:spPr>
        <p:txBody>
          <a:bodyPr wrap="square" rtlCol="0">
            <a:spAutoFit/>
          </a:bodyPr>
          <a:lstStyle/>
          <a:p>
            <a:r>
              <a:rPr lang="zh-CN" altLang="en-US" sz="3200" b="1" dirty="0" smtClean="0">
                <a:latin typeface="宋体" panose="02010600030101010101" pitchFamily="2" charset="-122"/>
                <a:ea typeface="宋体" panose="02010600030101010101" pitchFamily="2" charset="-122"/>
              </a:rPr>
              <a:t>①</a:t>
            </a:r>
            <a:r>
              <a:rPr lang="zh-CN" altLang="en-US" sz="3200" b="1" dirty="0">
                <a:solidFill>
                  <a:srgbClr val="FF0000"/>
                </a:solidFill>
                <a:latin typeface="宋体" panose="02010600030101010101" pitchFamily="2" charset="-122"/>
                <a:ea typeface="宋体" panose="02010600030101010101" pitchFamily="2" charset="-122"/>
              </a:rPr>
              <a:t>短波</a:t>
            </a:r>
            <a:r>
              <a:rPr lang="zh-CN" altLang="en-US" sz="3200" b="1" dirty="0" smtClean="0">
                <a:solidFill>
                  <a:srgbClr val="FF0000"/>
                </a:solidFill>
                <a:latin typeface="宋体" panose="02010600030101010101" pitchFamily="2" charset="-122"/>
                <a:ea typeface="宋体" panose="02010600030101010101" pitchFamily="2" charset="-122"/>
              </a:rPr>
              <a:t>近红外    </a:t>
            </a:r>
            <a:r>
              <a:rPr lang="zh-CN" altLang="en-US" sz="3200" b="1" dirty="0" smtClean="0">
                <a:latin typeface="宋体" panose="02010600030101010101" pitchFamily="2" charset="-122"/>
                <a:ea typeface="宋体" panose="02010600030101010101" pitchFamily="2" charset="-122"/>
              </a:rPr>
              <a:t>（</a:t>
            </a:r>
            <a:r>
              <a:rPr lang="en-US" altLang="zh-CN" sz="3200" b="1" dirty="0">
                <a:latin typeface="宋体" panose="02010600030101010101" pitchFamily="2" charset="-122"/>
                <a:ea typeface="宋体" panose="02010600030101010101" pitchFamily="2" charset="-122"/>
              </a:rPr>
              <a:t>700-1100nm</a:t>
            </a:r>
            <a:r>
              <a:rPr lang="zh-CN" altLang="en-US" sz="3200" b="1" dirty="0">
                <a:latin typeface="宋体" panose="02010600030101010101" pitchFamily="2" charset="-122"/>
                <a:ea typeface="宋体" panose="02010600030101010101" pitchFamily="2" charset="-122"/>
              </a:rPr>
              <a:t>）</a:t>
            </a:r>
            <a:r>
              <a:rPr lang="en-US" altLang="zh-CN" sz="3200" b="1" dirty="0">
                <a:latin typeface="宋体" panose="02010600030101010101" pitchFamily="2" charset="-122"/>
                <a:ea typeface="宋体" panose="02010600030101010101" pitchFamily="2" charset="-122"/>
              </a:rPr>
              <a:t>               </a:t>
            </a:r>
          </a:p>
          <a:p>
            <a:r>
              <a:rPr lang="en-US" altLang="zh-CN" sz="3200" b="1" dirty="0">
                <a:latin typeface="宋体" panose="02010600030101010101" pitchFamily="2" charset="-122"/>
                <a:ea typeface="宋体" panose="02010600030101010101" pitchFamily="2" charset="-122"/>
              </a:rPr>
              <a:t>           </a:t>
            </a:r>
            <a:endParaRPr lang="en-US" altLang="zh-CN" sz="3200" b="1" dirty="0" smtClean="0">
              <a:latin typeface="宋体" panose="02010600030101010101" pitchFamily="2" charset="-122"/>
              <a:ea typeface="宋体" panose="02010600030101010101" pitchFamily="2" charset="-122"/>
            </a:endParaRPr>
          </a:p>
          <a:p>
            <a:r>
              <a:rPr lang="zh-CN" altLang="en-US" sz="3200" b="1" dirty="0" smtClean="0">
                <a:latin typeface="宋体" panose="02010600030101010101" pitchFamily="2" charset="-122"/>
                <a:ea typeface="宋体" panose="02010600030101010101" pitchFamily="2" charset="-122"/>
              </a:rPr>
              <a:t>②</a:t>
            </a:r>
            <a:r>
              <a:rPr lang="zh-CN" altLang="en-US" sz="3200" b="1" dirty="0">
                <a:solidFill>
                  <a:srgbClr val="FF0000"/>
                </a:solidFill>
                <a:latin typeface="宋体" panose="02010600030101010101" pitchFamily="2" charset="-122"/>
                <a:ea typeface="宋体" panose="02010600030101010101" pitchFamily="2" charset="-122"/>
              </a:rPr>
              <a:t>长波</a:t>
            </a:r>
            <a:r>
              <a:rPr lang="zh-CN" altLang="en-US" sz="3200" b="1" dirty="0" smtClean="0">
                <a:solidFill>
                  <a:srgbClr val="FF0000"/>
                </a:solidFill>
                <a:latin typeface="宋体" panose="02010600030101010101" pitchFamily="2" charset="-122"/>
                <a:ea typeface="宋体" panose="02010600030101010101" pitchFamily="2" charset="-122"/>
              </a:rPr>
              <a:t>近红外 </a:t>
            </a:r>
            <a:r>
              <a:rPr lang="zh-CN" altLang="en-US" sz="3200" b="1" dirty="0" smtClean="0">
                <a:latin typeface="宋体" panose="02010600030101010101" pitchFamily="2" charset="-122"/>
                <a:ea typeface="宋体" panose="02010600030101010101" pitchFamily="2" charset="-122"/>
              </a:rPr>
              <a:t>（</a:t>
            </a:r>
            <a:r>
              <a:rPr lang="en-US" altLang="zh-CN" sz="3200" b="1" dirty="0">
                <a:latin typeface="宋体" panose="02010600030101010101" pitchFamily="2" charset="-122"/>
                <a:ea typeface="宋体" panose="02010600030101010101" pitchFamily="2" charset="-122"/>
              </a:rPr>
              <a:t>1100-2500nm</a:t>
            </a:r>
            <a:r>
              <a:rPr lang="zh-CN" altLang="en-US" sz="3200" b="1" dirty="0">
                <a:latin typeface="宋体" panose="02010600030101010101" pitchFamily="2" charset="-122"/>
                <a:ea typeface="宋体" panose="02010600030101010101" pitchFamily="2" charset="-122"/>
              </a:rPr>
              <a:t>）</a:t>
            </a:r>
            <a:r>
              <a:rPr lang="en-US" altLang="zh-CN" sz="3200" b="1" dirty="0">
                <a:latin typeface="宋体" panose="02010600030101010101" pitchFamily="2" charset="-122"/>
                <a:ea typeface="宋体" panose="02010600030101010101" pitchFamily="2" charset="-122"/>
              </a:rPr>
              <a:t>            </a:t>
            </a:r>
            <a:endParaRPr lang="zh-CN" altLang="en-US" sz="3200" b="1"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flipV="1">
            <a:off x="0" y="0"/>
            <a:ext cx="8688271" cy="914400"/>
          </a:xfrm>
          <a:prstGeom prst="rtTriangle">
            <a:avLst/>
          </a:prstGeom>
        </p:spPr>
      </p:pic>
      <p:pic>
        <p:nvPicPr>
          <p:cNvPr id="4" name="图片 3"/>
          <p:cNvPicPr>
            <a:picLocks noChangeAspect="1"/>
          </p:cNvPicPr>
          <p:nvPr/>
        </p:nvPicPr>
        <p:blipFill>
          <a:blip r:embed="rId3"/>
          <a:stretch>
            <a:fillRect/>
          </a:stretch>
        </p:blipFill>
        <p:spPr>
          <a:xfrm rot="5400000">
            <a:off x="5830825" y="496825"/>
            <a:ext cx="530354" cy="12192000"/>
          </a:xfrm>
          <a:prstGeom prst="rect">
            <a:avLst/>
          </a:prstGeom>
        </p:spPr>
      </p:pic>
      <p:sp>
        <p:nvSpPr>
          <p:cNvPr id="5" name="矩形 4"/>
          <p:cNvSpPr/>
          <p:nvPr/>
        </p:nvSpPr>
        <p:spPr>
          <a:xfrm>
            <a:off x="2" y="93666"/>
            <a:ext cx="6096000" cy="646331"/>
          </a:xfrm>
          <a:prstGeom prst="rect">
            <a:avLst/>
          </a:prstGeom>
        </p:spPr>
        <p:txBody>
          <a:bodyPr>
            <a:spAutoFit/>
          </a:bodyPr>
          <a:lstStyle/>
          <a:p>
            <a:r>
              <a:rPr lang="zh-CN" altLang="en-US" sz="3600" b="1" dirty="0">
                <a:latin typeface="黑体" panose="02010609060101010101" pitchFamily="49" charset="-122"/>
                <a:ea typeface="黑体" panose="02010609060101010101" pitchFamily="49" charset="-122"/>
              </a:rPr>
              <a:t>三、近红外光谱的产生</a:t>
            </a:r>
            <a:endParaRPr lang="zh-CN" altLang="en-US" sz="36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p:txBody>
      </p:sp>
      <p:sp>
        <p:nvSpPr>
          <p:cNvPr id="24" name="圆角矩形 23"/>
          <p:cNvSpPr/>
          <p:nvPr/>
        </p:nvSpPr>
        <p:spPr>
          <a:xfrm>
            <a:off x="2" y="4832574"/>
            <a:ext cx="12191997" cy="1495074"/>
          </a:xfrm>
          <a:prstGeom prst="roundRect">
            <a:avLst>
              <a:gd name="adj" fmla="val 4575"/>
            </a:avLst>
          </a:prstGeom>
          <a:solidFill>
            <a:srgbClr val="AACED2"/>
          </a:solidFill>
          <a:ln w="12700" cap="flat" cmpd="sng" algn="ctr">
            <a:noFill/>
            <a:prstDash val="solid"/>
            <a:miter lim="800000"/>
          </a:ln>
          <a:effectLst/>
        </p:spPr>
        <p:txBody>
          <a:bodyPr rtlCol="0" anchor="ctr"/>
          <a:lstStyle/>
          <a:p>
            <a:pPr marL="0" marR="0" lvl="0" indent="0" algn="ctr" defTabSz="913765" eaLnBrk="1" fontAlgn="auto" latinLnBrk="0" hangingPunct="1">
              <a:lnSpc>
                <a:spcPct val="100000"/>
              </a:lnSpc>
              <a:spcBef>
                <a:spcPts val="0"/>
              </a:spcBef>
              <a:spcAft>
                <a:spcPts val="0"/>
              </a:spcAft>
              <a:buClrTx/>
              <a:buSzTx/>
              <a:buFontTx/>
              <a:buNone/>
              <a:defRPr/>
            </a:pPr>
            <a:endParaRPr kumimoji="1" lang="zh-CN" altLang="en-US" sz="1800" b="0" i="0" u="none" strike="noStrike" kern="0" cap="none" spc="0" normalizeH="0" baseline="0" noProof="0">
              <a:ln>
                <a:noFill/>
              </a:ln>
              <a:solidFill>
                <a:srgbClr val="FFFFFF"/>
              </a:solidFill>
              <a:effectLst/>
              <a:uLnTx/>
              <a:uFillTx/>
              <a:latin typeface="Century Gothic"/>
              <a:ea typeface="微软雅黑" panose="020B0503020204020204" pitchFamily="34" charset="-122"/>
              <a:cs typeface="+mn-cs"/>
            </a:endParaRP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2028702" y="914400"/>
            <a:ext cx="8134600" cy="391817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 name="TextBox 1"/>
          <p:cNvSpPr txBox="1"/>
          <p:nvPr/>
        </p:nvSpPr>
        <p:spPr>
          <a:xfrm>
            <a:off x="-3" y="4818059"/>
            <a:ext cx="12192002" cy="1661993"/>
          </a:xfrm>
          <a:prstGeom prst="rect">
            <a:avLst/>
          </a:prstGeom>
          <a:solidFill>
            <a:schemeClr val="accent1">
              <a:lumMod val="20000"/>
              <a:lumOff val="80000"/>
            </a:schemeClr>
          </a:solidFill>
        </p:spPr>
        <p:txBody>
          <a:bodyPr wrap="square" rtlCol="0">
            <a:spAutoFit/>
          </a:bodyPr>
          <a:lstStyle/>
          <a:p>
            <a:r>
              <a:rPr lang="zh-CN" altLang="en-US" sz="2800" b="1" dirty="0">
                <a:latin typeface="宋体" panose="02010600030101010101" pitchFamily="2" charset="-122"/>
                <a:ea typeface="宋体" panose="02010600030101010101" pitchFamily="2" charset="-122"/>
                <a:sym typeface="+mn-ea"/>
              </a:rPr>
              <a:t>分子在近红外谱区的</a:t>
            </a:r>
            <a:r>
              <a:rPr lang="zh-CN" altLang="en-US" sz="2800" b="1" dirty="0">
                <a:solidFill>
                  <a:srgbClr val="FF0000"/>
                </a:solidFill>
                <a:latin typeface="宋体" panose="02010600030101010101" pitchFamily="2" charset="-122"/>
                <a:ea typeface="宋体" panose="02010600030101010101" pitchFamily="2" charset="-122"/>
                <a:sym typeface="+mn-ea"/>
              </a:rPr>
              <a:t>吸收</a:t>
            </a:r>
            <a:r>
              <a:rPr lang="zh-CN" altLang="en-US" sz="2800" b="1" dirty="0">
                <a:latin typeface="宋体" panose="02010600030101010101" pitchFamily="2" charset="-122"/>
                <a:ea typeface="宋体" panose="02010600030101010101" pitchFamily="2" charset="-122"/>
                <a:sym typeface="+mn-ea"/>
              </a:rPr>
              <a:t>主要是由于</a:t>
            </a:r>
            <a:r>
              <a:rPr lang="zh-CN" altLang="en-US" sz="2800" b="1" dirty="0">
                <a:solidFill>
                  <a:srgbClr val="FF0000"/>
                </a:solidFill>
                <a:latin typeface="宋体" panose="02010600030101010101" pitchFamily="2" charset="-122"/>
                <a:ea typeface="宋体" panose="02010600030101010101" pitchFamily="2" charset="-122"/>
                <a:sym typeface="+mn-ea"/>
              </a:rPr>
              <a:t>分子内部振动状态</a:t>
            </a:r>
            <a:r>
              <a:rPr lang="zh-CN" altLang="en-US" sz="2800" b="1" dirty="0">
                <a:latin typeface="宋体" panose="02010600030101010101" pitchFamily="2" charset="-122"/>
                <a:ea typeface="宋体" panose="02010600030101010101" pitchFamily="2" charset="-122"/>
                <a:sym typeface="+mn-ea"/>
              </a:rPr>
              <a:t>的</a:t>
            </a:r>
            <a:r>
              <a:rPr lang="zh-CN" altLang="en-US" sz="2800" b="1" dirty="0">
                <a:solidFill>
                  <a:srgbClr val="FF0000"/>
                </a:solidFill>
                <a:latin typeface="宋体" panose="02010600030101010101" pitchFamily="2" charset="-122"/>
                <a:ea typeface="宋体" panose="02010600030101010101" pitchFamily="2" charset="-122"/>
                <a:sym typeface="+mn-ea"/>
              </a:rPr>
              <a:t>变化而产生</a:t>
            </a:r>
            <a:r>
              <a:rPr lang="zh-CN" altLang="en-US" sz="2800" b="1" dirty="0">
                <a:latin typeface="宋体" panose="02010600030101010101" pitchFamily="2" charset="-122"/>
                <a:ea typeface="宋体" panose="02010600030101010101" pitchFamily="2" charset="-122"/>
                <a:sym typeface="+mn-ea"/>
              </a:rPr>
              <a:t>的，</a:t>
            </a:r>
            <a:r>
              <a:rPr lang="zh-CN" altLang="en-US" sz="2800" b="1" dirty="0">
                <a:solidFill>
                  <a:srgbClr val="FF0000"/>
                </a:solidFill>
                <a:latin typeface="宋体" panose="02010600030101010101" pitchFamily="2" charset="-122"/>
                <a:ea typeface="宋体" panose="02010600030101010101" pitchFamily="2" charset="-122"/>
                <a:sym typeface="+mn-ea"/>
              </a:rPr>
              <a:t>近红外区</a:t>
            </a:r>
            <a:r>
              <a:rPr lang="zh-CN" altLang="en-US" sz="2800" b="1" dirty="0">
                <a:latin typeface="宋体" panose="02010600030101010101" pitchFamily="2" charset="-122"/>
                <a:ea typeface="宋体" panose="02010600030101010101" pitchFamily="2" charset="-122"/>
                <a:sym typeface="+mn-ea"/>
              </a:rPr>
              <a:t>主要对应的是能量更高的</a:t>
            </a:r>
            <a:r>
              <a:rPr lang="zh-CN" altLang="en-US" sz="2800" b="1" dirty="0">
                <a:solidFill>
                  <a:srgbClr val="FF0000"/>
                </a:solidFill>
                <a:latin typeface="宋体" panose="02010600030101010101" pitchFamily="2" charset="-122"/>
                <a:ea typeface="宋体" panose="02010600030101010101" pitchFamily="2" charset="-122"/>
                <a:sym typeface="+mn-ea"/>
              </a:rPr>
              <a:t>合频</a:t>
            </a:r>
            <a:r>
              <a:rPr lang="zh-CN" altLang="en-US" sz="2800" b="1" dirty="0">
                <a:latin typeface="宋体" panose="02010600030101010101" pitchFamily="2" charset="-122"/>
                <a:ea typeface="宋体" panose="02010600030101010101" pitchFamily="2" charset="-122"/>
                <a:sym typeface="+mn-ea"/>
              </a:rPr>
              <a:t>或</a:t>
            </a:r>
            <a:r>
              <a:rPr lang="zh-CN" altLang="en-US" sz="2800" b="1" dirty="0">
                <a:solidFill>
                  <a:srgbClr val="FF0000"/>
                </a:solidFill>
                <a:latin typeface="宋体" panose="02010600030101010101" pitchFamily="2" charset="-122"/>
                <a:ea typeface="宋体" panose="02010600030101010101" pitchFamily="2" charset="-122"/>
                <a:sym typeface="+mn-ea"/>
              </a:rPr>
              <a:t>倍频吸收</a:t>
            </a:r>
            <a:r>
              <a:rPr lang="zh-CN" altLang="en-US" sz="2800" b="1" dirty="0">
                <a:latin typeface="宋体" panose="02010600030101010101" pitchFamily="2" charset="-122"/>
                <a:ea typeface="宋体" panose="02010600030101010101" pitchFamily="2" charset="-122"/>
                <a:sym typeface="+mn-ea"/>
              </a:rPr>
              <a:t>，这主要是由于在分子振动中存在</a:t>
            </a:r>
            <a:r>
              <a:rPr lang="zh-CN" altLang="en-US" sz="2800" b="1" dirty="0">
                <a:solidFill>
                  <a:srgbClr val="FF0000"/>
                </a:solidFill>
                <a:latin typeface="宋体" panose="02010600030101010101" pitchFamily="2" charset="-122"/>
                <a:ea typeface="宋体" panose="02010600030101010101" pitchFamily="2" charset="-122"/>
                <a:sym typeface="+mn-ea"/>
              </a:rPr>
              <a:t>谐性振动</a:t>
            </a:r>
            <a:r>
              <a:rPr lang="zh-CN" altLang="en-US" sz="2800" b="1" dirty="0">
                <a:latin typeface="宋体" panose="02010600030101010101" pitchFamily="2" charset="-122"/>
                <a:ea typeface="宋体" panose="02010600030101010101" pitchFamily="2" charset="-122"/>
                <a:sym typeface="+mn-ea"/>
              </a:rPr>
              <a:t>和</a:t>
            </a:r>
            <a:r>
              <a:rPr lang="zh-CN" altLang="en-US" sz="2800" b="1" dirty="0">
                <a:solidFill>
                  <a:srgbClr val="FF0000"/>
                </a:solidFill>
                <a:latin typeface="宋体" panose="02010600030101010101" pitchFamily="2" charset="-122"/>
                <a:ea typeface="宋体" panose="02010600030101010101" pitchFamily="2" charset="-122"/>
                <a:sym typeface="+mn-ea"/>
              </a:rPr>
              <a:t>非谐性</a:t>
            </a:r>
            <a:r>
              <a:rPr lang="zh-CN" altLang="en-US" sz="2800" b="1" dirty="0" smtClean="0">
                <a:solidFill>
                  <a:srgbClr val="FF0000"/>
                </a:solidFill>
                <a:latin typeface="宋体" panose="02010600030101010101" pitchFamily="2" charset="-122"/>
                <a:ea typeface="宋体" panose="02010600030101010101" pitchFamily="2" charset="-122"/>
                <a:sym typeface="+mn-ea"/>
              </a:rPr>
              <a:t>振动。</a:t>
            </a:r>
            <a:endParaRPr lang="en-US" altLang="zh-CN" sz="2800" b="1" dirty="0">
              <a:latin typeface="宋体" panose="02010600030101010101" pitchFamily="2" charset="-122"/>
              <a:ea typeface="宋体" panose="02010600030101010101" pitchFamily="2" charset="-122"/>
            </a:endParaRPr>
          </a:p>
          <a:p>
            <a:endParaRPr lang="zh-CN" alt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flipV="1">
            <a:off x="0" y="0"/>
            <a:ext cx="8688271" cy="914400"/>
          </a:xfrm>
          <a:prstGeom prst="rtTriangle">
            <a:avLst/>
          </a:prstGeom>
        </p:spPr>
      </p:pic>
      <p:pic>
        <p:nvPicPr>
          <p:cNvPr id="4" name="图片 3"/>
          <p:cNvPicPr>
            <a:picLocks noChangeAspect="1"/>
          </p:cNvPicPr>
          <p:nvPr/>
        </p:nvPicPr>
        <p:blipFill>
          <a:blip r:embed="rId3"/>
          <a:stretch>
            <a:fillRect/>
          </a:stretch>
        </p:blipFill>
        <p:spPr>
          <a:xfrm rot="5400000">
            <a:off x="5830825" y="496825"/>
            <a:ext cx="530354" cy="12192000"/>
          </a:xfrm>
          <a:prstGeom prst="rect">
            <a:avLst/>
          </a:prstGeom>
        </p:spPr>
      </p:pic>
      <p:sp>
        <p:nvSpPr>
          <p:cNvPr id="5" name="矩形 4"/>
          <p:cNvSpPr/>
          <p:nvPr/>
        </p:nvSpPr>
        <p:spPr>
          <a:xfrm>
            <a:off x="2" y="93666"/>
            <a:ext cx="6096000" cy="646331"/>
          </a:xfrm>
          <a:prstGeom prst="rect">
            <a:avLst/>
          </a:prstGeom>
        </p:spPr>
        <p:txBody>
          <a:bodyPr>
            <a:spAutoFit/>
          </a:bodyPr>
          <a:lstStyle/>
          <a:p>
            <a:pPr lvl="1">
              <a:buFont typeface="Wingdings" panose="05000000000000000000" pitchFamily="2" charset="2"/>
              <a:buChar char="u"/>
            </a:pPr>
            <a:r>
              <a:rPr lang="zh-CN" altLang="en-US" sz="3600" b="1" dirty="0">
                <a:latin typeface="微软雅黑" panose="020B0503020204020204" pitchFamily="34" charset="-122"/>
                <a:ea typeface="微软雅黑" panose="020B0503020204020204" pitchFamily="34" charset="-122"/>
                <a:sym typeface="+mn-ea"/>
              </a:rPr>
              <a:t>能量跃迁</a:t>
            </a:r>
            <a:r>
              <a:rPr lang="en-US" altLang="zh-CN" sz="3600" b="1" dirty="0">
                <a:latin typeface="微软雅黑" panose="020B0503020204020204" pitchFamily="34" charset="-122"/>
                <a:ea typeface="微软雅黑" panose="020B0503020204020204" pitchFamily="34" charset="-122"/>
                <a:sym typeface="+mn-ea"/>
              </a:rPr>
              <a:t>: </a:t>
            </a:r>
          </a:p>
        </p:txBody>
      </p:sp>
      <p:pic>
        <p:nvPicPr>
          <p:cNvPr id="7" name="图片 6"/>
          <p:cNvPicPr>
            <a:picLocks noChangeAspect="1"/>
          </p:cNvPicPr>
          <p:nvPr/>
        </p:nvPicPr>
        <p:blipFill rotWithShape="1">
          <a:blip r:embed="rId4"/>
          <a:srcRect l="47675"/>
          <a:stretch>
            <a:fillRect/>
          </a:stretch>
        </p:blipFill>
        <p:spPr>
          <a:xfrm>
            <a:off x="27195" y="2281670"/>
            <a:ext cx="1428902" cy="2730910"/>
          </a:xfrm>
          <a:prstGeom prst="rect">
            <a:avLst/>
          </a:prstGeom>
          <a:effectLst>
            <a:outerShdw blurRad="63500" sx="102000" sy="102000" algn="ctr" rotWithShape="0">
              <a:prstClr val="black">
                <a:alpha val="40000"/>
              </a:prstClr>
            </a:outerShdw>
          </a:effectLst>
        </p:spPr>
      </p:pic>
      <p:sp>
        <p:nvSpPr>
          <p:cNvPr id="8" name="椭圆 7"/>
          <p:cNvSpPr/>
          <p:nvPr/>
        </p:nvSpPr>
        <p:spPr>
          <a:xfrm>
            <a:off x="2412999" y="1581061"/>
            <a:ext cx="918803" cy="91880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b="1" dirty="0">
                <a:latin typeface="微软雅黑" panose="020B0503020204020204" pitchFamily="34" charset="-122"/>
                <a:ea typeface="微软雅黑" panose="020B0503020204020204" pitchFamily="34" charset="-122"/>
              </a:rPr>
              <a:t>A</a:t>
            </a:r>
            <a:endParaRPr lang="zh-HK" altLang="en-US" sz="3600" b="1" dirty="0">
              <a:latin typeface="微软雅黑" panose="020B0503020204020204" pitchFamily="34" charset="-122"/>
              <a:ea typeface="微软雅黑" panose="020B0503020204020204" pitchFamily="34" charset="-122"/>
            </a:endParaRPr>
          </a:p>
        </p:txBody>
      </p:sp>
      <p:sp>
        <p:nvSpPr>
          <p:cNvPr id="9" name="椭圆 8"/>
          <p:cNvSpPr/>
          <p:nvPr/>
        </p:nvSpPr>
        <p:spPr>
          <a:xfrm>
            <a:off x="3331803" y="3238110"/>
            <a:ext cx="918803" cy="91880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b="1" dirty="0">
                <a:latin typeface="微软雅黑" panose="020B0503020204020204" pitchFamily="34" charset="-122"/>
                <a:ea typeface="微软雅黑" panose="020B0503020204020204" pitchFamily="34" charset="-122"/>
              </a:rPr>
              <a:t>B</a:t>
            </a:r>
            <a:endParaRPr lang="zh-HK" altLang="en-US" sz="3600" b="1" dirty="0">
              <a:latin typeface="微软雅黑" panose="020B0503020204020204" pitchFamily="34" charset="-122"/>
              <a:ea typeface="微软雅黑" panose="020B0503020204020204" pitchFamily="34" charset="-122"/>
            </a:endParaRPr>
          </a:p>
        </p:txBody>
      </p:sp>
      <p:sp>
        <p:nvSpPr>
          <p:cNvPr id="10" name="椭圆 9"/>
          <p:cNvSpPr/>
          <p:nvPr/>
        </p:nvSpPr>
        <p:spPr>
          <a:xfrm>
            <a:off x="2412999" y="4895159"/>
            <a:ext cx="918803" cy="91880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b="1" dirty="0">
                <a:latin typeface="微软雅黑" panose="020B0503020204020204" pitchFamily="34" charset="-122"/>
                <a:ea typeface="微软雅黑" panose="020B0503020204020204" pitchFamily="34" charset="-122"/>
              </a:rPr>
              <a:t>C</a:t>
            </a:r>
            <a:endParaRPr lang="zh-HK" altLang="en-US" sz="3600" b="1" dirty="0">
              <a:latin typeface="微软雅黑" panose="020B0503020204020204" pitchFamily="34" charset="-122"/>
              <a:ea typeface="微软雅黑" panose="020B0503020204020204" pitchFamily="34" charset="-122"/>
            </a:endParaRPr>
          </a:p>
        </p:txBody>
      </p:sp>
      <p:cxnSp>
        <p:nvCxnSpPr>
          <p:cNvPr id="11" name="直接连接符 10"/>
          <p:cNvCxnSpPr/>
          <p:nvPr/>
        </p:nvCxnSpPr>
        <p:spPr>
          <a:xfrm flipV="1">
            <a:off x="1428902" y="2317321"/>
            <a:ext cx="812800" cy="482600"/>
          </a:xfrm>
          <a:prstGeom prst="line">
            <a:avLst/>
          </a:prstGeom>
          <a:ln w="28575">
            <a:solidFill>
              <a:srgbClr val="0174AB"/>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1663700" y="3697511"/>
            <a:ext cx="1460500" cy="0"/>
          </a:xfrm>
          <a:prstGeom prst="line">
            <a:avLst/>
          </a:prstGeom>
          <a:ln w="28575">
            <a:solidFill>
              <a:srgbClr val="0174AB"/>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1428902" y="4595102"/>
            <a:ext cx="812800" cy="482600"/>
          </a:xfrm>
          <a:prstGeom prst="line">
            <a:avLst/>
          </a:prstGeom>
          <a:ln w="28575">
            <a:solidFill>
              <a:srgbClr val="0174AB"/>
            </a:solidFill>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3791205" y="1399603"/>
            <a:ext cx="7892796" cy="1354217"/>
          </a:xfrm>
          <a:prstGeom prst="rect">
            <a:avLst/>
          </a:prstGeom>
        </p:spPr>
        <p:txBody>
          <a:bodyPr wrap="square">
            <a:spAutoFit/>
          </a:bodyPr>
          <a:lstStyle/>
          <a:p>
            <a:pPr algn="ctr"/>
            <a:r>
              <a:rPr lang="zh-CN" altLang="en-US" sz="3200" b="1" dirty="0">
                <a:solidFill>
                  <a:schemeClr val="accent6">
                    <a:lumMod val="75000"/>
                  </a:schemeClr>
                </a:solidFill>
                <a:latin typeface="宋体" panose="02010600030101010101" pitchFamily="2" charset="-122"/>
                <a:ea typeface="宋体" panose="02010600030101010101" pitchFamily="2" charset="-122"/>
                <a:sym typeface="+mn-ea"/>
              </a:rPr>
              <a:t>基频</a:t>
            </a:r>
            <a:r>
              <a:rPr lang="zh-CN" altLang="en-US" sz="3200" b="1" dirty="0" smtClean="0">
                <a:solidFill>
                  <a:schemeClr val="accent6">
                    <a:lumMod val="75000"/>
                  </a:schemeClr>
                </a:solidFill>
                <a:latin typeface="宋体" panose="02010600030101010101" pitchFamily="2" charset="-122"/>
                <a:ea typeface="宋体" panose="02010600030101010101" pitchFamily="2" charset="-122"/>
                <a:sym typeface="+mn-ea"/>
              </a:rPr>
              <a:t>跃迁</a:t>
            </a:r>
            <a:r>
              <a:rPr lang="zh-CN" altLang="en-US" sz="3200" dirty="0" smtClean="0">
                <a:solidFill>
                  <a:schemeClr val="accent6">
                    <a:lumMod val="75000"/>
                  </a:schemeClr>
                </a:solidFill>
                <a:latin typeface="宋体" panose="02010600030101010101" pitchFamily="2" charset="-122"/>
                <a:ea typeface="宋体" panose="02010600030101010101" pitchFamily="2" charset="-122"/>
                <a:sym typeface="+mn-ea"/>
              </a:rPr>
              <a:t>（</a:t>
            </a:r>
            <a:r>
              <a:rPr lang="zh-CN" altLang="en-US" sz="3200" dirty="0">
                <a:solidFill>
                  <a:schemeClr val="accent6">
                    <a:lumMod val="75000"/>
                  </a:schemeClr>
                </a:solidFill>
                <a:latin typeface="宋体" panose="02010600030101010101" pitchFamily="2" charset="-122"/>
                <a:ea typeface="宋体" panose="02010600030101010101" pitchFamily="2" charset="-122"/>
                <a:sym typeface="+mn-ea"/>
              </a:rPr>
              <a:t>对应分子振动状态在相邻</a:t>
            </a:r>
            <a:r>
              <a:rPr lang="zh-CN" altLang="en-US" sz="3200" dirty="0" smtClean="0">
                <a:solidFill>
                  <a:schemeClr val="accent6">
                    <a:lumMod val="75000"/>
                  </a:schemeClr>
                </a:solidFill>
                <a:latin typeface="宋体" panose="02010600030101010101" pitchFamily="2" charset="-122"/>
                <a:ea typeface="宋体" panose="02010600030101010101" pitchFamily="2" charset="-122"/>
                <a:sym typeface="+mn-ea"/>
              </a:rPr>
              <a:t>振动</a:t>
            </a:r>
            <a:endParaRPr lang="en-US" altLang="zh-CN" sz="3200" dirty="0" smtClean="0">
              <a:solidFill>
                <a:schemeClr val="accent6">
                  <a:lumMod val="75000"/>
                </a:schemeClr>
              </a:solidFill>
              <a:latin typeface="宋体" panose="02010600030101010101" pitchFamily="2" charset="-122"/>
              <a:ea typeface="宋体" panose="02010600030101010101" pitchFamily="2" charset="-122"/>
              <a:sym typeface="+mn-ea"/>
            </a:endParaRPr>
          </a:p>
          <a:p>
            <a:pPr algn="ctr"/>
            <a:r>
              <a:rPr lang="zh-CN" altLang="en-US" sz="3200" dirty="0" smtClean="0">
                <a:solidFill>
                  <a:schemeClr val="accent6">
                    <a:lumMod val="75000"/>
                  </a:schemeClr>
                </a:solidFill>
                <a:latin typeface="宋体" panose="02010600030101010101" pitchFamily="2" charset="-122"/>
                <a:ea typeface="宋体" panose="02010600030101010101" pitchFamily="2" charset="-122"/>
                <a:sym typeface="+mn-ea"/>
              </a:rPr>
              <a:t>能级</a:t>
            </a:r>
            <a:r>
              <a:rPr lang="zh-CN" altLang="en-US" sz="3200" dirty="0">
                <a:solidFill>
                  <a:schemeClr val="accent6">
                    <a:lumMod val="75000"/>
                  </a:schemeClr>
                </a:solidFill>
                <a:latin typeface="宋体" panose="02010600030101010101" pitchFamily="2" charset="-122"/>
                <a:ea typeface="宋体" panose="02010600030101010101" pitchFamily="2" charset="-122"/>
                <a:sym typeface="+mn-ea"/>
              </a:rPr>
              <a:t>间的跃迁）</a:t>
            </a:r>
            <a:endParaRPr lang="zh-HK" altLang="en-US" sz="3200" dirty="0">
              <a:solidFill>
                <a:schemeClr val="accent6">
                  <a:lumMod val="75000"/>
                </a:schemeClr>
              </a:solidFill>
              <a:latin typeface="宋体" panose="02010600030101010101" pitchFamily="2" charset="-122"/>
              <a:ea typeface="宋体" panose="02010600030101010101" pitchFamily="2" charset="-122"/>
            </a:endParaRPr>
          </a:p>
          <a:p>
            <a:pPr algn="ctr"/>
            <a:endParaRPr lang="zh-CN" altLang="en-US" dirty="0"/>
          </a:p>
        </p:txBody>
      </p:sp>
      <p:sp>
        <p:nvSpPr>
          <p:cNvPr id="15" name="矩形 14"/>
          <p:cNvSpPr/>
          <p:nvPr/>
        </p:nvSpPr>
        <p:spPr>
          <a:xfrm>
            <a:off x="4064609" y="3117330"/>
            <a:ext cx="7750020" cy="1077218"/>
          </a:xfrm>
          <a:prstGeom prst="rect">
            <a:avLst/>
          </a:prstGeom>
        </p:spPr>
        <p:txBody>
          <a:bodyPr wrap="square">
            <a:spAutoFit/>
          </a:bodyPr>
          <a:lstStyle/>
          <a:p>
            <a:pPr marL="0" lvl="1" indent="0" algn="ctr">
              <a:buFont typeface="Wingdings" panose="05000000000000000000" pitchFamily="2" charset="2"/>
              <a:buNone/>
            </a:pPr>
            <a:r>
              <a:rPr lang="zh-CN" altLang="en-US" sz="3200" b="1" dirty="0">
                <a:solidFill>
                  <a:schemeClr val="accent6">
                    <a:lumMod val="75000"/>
                  </a:schemeClr>
                </a:solidFill>
                <a:latin typeface="宋体" panose="02010600030101010101" pitchFamily="2" charset="-122"/>
                <a:ea typeface="宋体" panose="02010600030101010101" pitchFamily="2" charset="-122"/>
                <a:sym typeface="+mn-ea"/>
              </a:rPr>
              <a:t>倍频跃迁</a:t>
            </a:r>
            <a:r>
              <a:rPr lang="zh-CN" altLang="en-US" sz="3200" dirty="0">
                <a:solidFill>
                  <a:schemeClr val="accent6">
                    <a:lumMod val="75000"/>
                  </a:schemeClr>
                </a:solidFill>
                <a:latin typeface="宋体" panose="02010600030101010101" pitchFamily="2" charset="-122"/>
                <a:ea typeface="宋体" panose="02010600030101010101" pitchFamily="2" charset="-122"/>
                <a:sym typeface="+mn-ea"/>
              </a:rPr>
              <a:t>（对应于分子振动状态在相隔</a:t>
            </a:r>
            <a:r>
              <a:rPr lang="zh-CN" altLang="en-US" sz="3200" dirty="0" smtClean="0">
                <a:solidFill>
                  <a:schemeClr val="accent6">
                    <a:lumMod val="75000"/>
                  </a:schemeClr>
                </a:solidFill>
                <a:latin typeface="宋体" panose="02010600030101010101" pitchFamily="2" charset="-122"/>
                <a:ea typeface="宋体" panose="02010600030101010101" pitchFamily="2" charset="-122"/>
                <a:sym typeface="+mn-ea"/>
              </a:rPr>
              <a:t>一  个</a:t>
            </a:r>
            <a:r>
              <a:rPr lang="zh-CN" altLang="en-US" sz="3200" dirty="0">
                <a:solidFill>
                  <a:schemeClr val="accent6">
                    <a:lumMod val="75000"/>
                  </a:schemeClr>
                </a:solidFill>
                <a:latin typeface="宋体" panose="02010600030101010101" pitchFamily="2" charset="-122"/>
                <a:ea typeface="宋体" panose="02010600030101010101" pitchFamily="2" charset="-122"/>
                <a:sym typeface="+mn-ea"/>
              </a:rPr>
              <a:t>或几个振动能级之间的跃迁）</a:t>
            </a:r>
          </a:p>
        </p:txBody>
      </p:sp>
      <p:sp>
        <p:nvSpPr>
          <p:cNvPr id="16" name="矩形 15"/>
          <p:cNvSpPr/>
          <p:nvPr/>
        </p:nvSpPr>
        <p:spPr>
          <a:xfrm>
            <a:off x="3503099" y="4870476"/>
            <a:ext cx="8311530" cy="1077218"/>
          </a:xfrm>
          <a:prstGeom prst="rect">
            <a:avLst/>
          </a:prstGeom>
        </p:spPr>
        <p:txBody>
          <a:bodyPr wrap="square">
            <a:spAutoFit/>
          </a:bodyPr>
          <a:lstStyle/>
          <a:p>
            <a:pPr marL="0" lvl="1" indent="0" algn="ctr">
              <a:buFont typeface="Wingdings" panose="05000000000000000000" pitchFamily="2" charset="2"/>
              <a:buNone/>
            </a:pPr>
            <a:r>
              <a:rPr lang="zh-CN" altLang="en-US" sz="3200" b="1" dirty="0">
                <a:solidFill>
                  <a:schemeClr val="accent6">
                    <a:lumMod val="75000"/>
                  </a:schemeClr>
                </a:solidFill>
                <a:latin typeface="宋体" panose="02010600030101010101" pitchFamily="2" charset="-122"/>
                <a:ea typeface="宋体" panose="02010600030101010101" pitchFamily="2" charset="-122"/>
                <a:sym typeface="+mn-ea"/>
              </a:rPr>
              <a:t>合频跃迁</a:t>
            </a:r>
            <a:r>
              <a:rPr lang="zh-CN" altLang="en-US" sz="3200" dirty="0">
                <a:solidFill>
                  <a:schemeClr val="accent6">
                    <a:lumMod val="75000"/>
                  </a:schemeClr>
                </a:solidFill>
                <a:latin typeface="宋体" panose="02010600030101010101" pitchFamily="2" charset="-122"/>
                <a:ea typeface="宋体" panose="02010600030101010101" pitchFamily="2" charset="-122"/>
                <a:sym typeface="+mn-ea"/>
              </a:rPr>
              <a:t>（对应于分子两种振动状态的能级同时发生跃迁）</a:t>
            </a:r>
            <a:endParaRPr lang="zh-CN" altLang="en-US" sz="3200" dirty="0">
              <a:solidFill>
                <a:schemeClr val="accent6">
                  <a:lumMod val="75000"/>
                </a:schemeClr>
              </a:solidFill>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7036482" y="324917"/>
            <a:ext cx="3921804" cy="594522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5" name="TextBox 4"/>
          <p:cNvSpPr txBox="1"/>
          <p:nvPr/>
        </p:nvSpPr>
        <p:spPr>
          <a:xfrm>
            <a:off x="391887" y="295887"/>
            <a:ext cx="6066970" cy="6278642"/>
          </a:xfrm>
          <a:prstGeom prst="rect">
            <a:avLst/>
          </a:prstGeom>
          <a:noFill/>
        </p:spPr>
        <p:txBody>
          <a:bodyPr wrap="square" rtlCol="0">
            <a:spAutoFit/>
          </a:bodyPr>
          <a:lstStyle/>
          <a:p>
            <a:r>
              <a:rPr lang="zh-CN" altLang="en-US" sz="3200" dirty="0">
                <a:latin typeface="黑体" panose="02010609060101010101" pitchFamily="49" charset="-122"/>
                <a:ea typeface="黑体" panose="02010609060101010101" pitchFamily="49" charset="-122"/>
              </a:rPr>
              <a:t>在实际体系中，由于分子振动并不完全符合简谐振点模式，</a:t>
            </a:r>
            <a:r>
              <a:rPr lang="zh-CN" altLang="en-US" sz="3200" dirty="0">
                <a:solidFill>
                  <a:srgbClr val="FF0000"/>
                </a:solidFill>
                <a:latin typeface="黑体" panose="02010609060101010101" pitchFamily="49" charset="-122"/>
                <a:ea typeface="黑体" panose="02010609060101010101" pitchFamily="49" charset="-122"/>
              </a:rPr>
              <a:t>存在非谐性振动</a:t>
            </a:r>
            <a:r>
              <a:rPr lang="zh-CN" altLang="en-US" sz="3200" dirty="0">
                <a:latin typeface="黑体" panose="02010609060101010101" pitchFamily="49" charset="-122"/>
                <a:ea typeface="黑体" panose="02010609060101010101" pitchFamily="49" charset="-122"/>
              </a:rPr>
              <a:t>的情况，即从最低振动能级，不仅可以向</a:t>
            </a:r>
            <a:r>
              <a:rPr lang="zh-CN" altLang="en-US" sz="3200" dirty="0">
                <a:solidFill>
                  <a:srgbClr val="FF0000"/>
                </a:solidFill>
                <a:latin typeface="黑体" panose="02010609060101010101" pitchFamily="49" charset="-122"/>
                <a:ea typeface="黑体" panose="02010609060101010101" pitchFamily="49" charset="-122"/>
              </a:rPr>
              <a:t>第一激发能级跃迁</a:t>
            </a:r>
            <a:r>
              <a:rPr lang="zh-CN" altLang="en-US" sz="3200" dirty="0">
                <a:latin typeface="黑体" panose="02010609060101010101" pitchFamily="49" charset="-122"/>
                <a:ea typeface="黑体" panose="02010609060101010101" pitchFamily="49" charset="-122"/>
              </a:rPr>
              <a:t>（谐性</a:t>
            </a:r>
            <a:r>
              <a:rPr lang="en-US" altLang="zh-CN" sz="3200" dirty="0">
                <a:latin typeface="黑体" panose="02010609060101010101" pitchFamily="49" charset="-122"/>
                <a:ea typeface="黑体" panose="02010609060101010101" pitchFamily="49" charset="-122"/>
              </a:rPr>
              <a:t>),</a:t>
            </a:r>
            <a:r>
              <a:rPr lang="zh-CN" altLang="en-US" sz="3200" dirty="0">
                <a:solidFill>
                  <a:srgbClr val="FF0000"/>
                </a:solidFill>
                <a:latin typeface="黑体" panose="02010609060101010101" pitchFamily="49" charset="-122"/>
                <a:ea typeface="黑体" panose="02010609060101010101" pitchFamily="49" charset="-122"/>
              </a:rPr>
              <a:t>还可以向第二激发</a:t>
            </a:r>
            <a:r>
              <a:rPr lang="zh-CN" altLang="en-US" sz="3200" dirty="0">
                <a:latin typeface="黑体" panose="02010609060101010101" pitchFamily="49" charset="-122"/>
                <a:ea typeface="黑体" panose="02010609060101010101" pitchFamily="49" charset="-122"/>
              </a:rPr>
              <a:t>、</a:t>
            </a:r>
            <a:r>
              <a:rPr lang="zh-CN" altLang="en-US" sz="3200" dirty="0">
                <a:solidFill>
                  <a:srgbClr val="FF0000"/>
                </a:solidFill>
                <a:latin typeface="黑体" panose="02010609060101010101" pitchFamily="49" charset="-122"/>
                <a:ea typeface="黑体" panose="02010609060101010101" pitchFamily="49" charset="-122"/>
              </a:rPr>
              <a:t>第三激发</a:t>
            </a:r>
            <a:r>
              <a:rPr lang="zh-CN" altLang="en-US" sz="3200" dirty="0">
                <a:latin typeface="黑体" panose="02010609060101010101" pitchFamily="49" charset="-122"/>
                <a:ea typeface="黑体" panose="02010609060101010101" pitchFamily="49" charset="-122"/>
              </a:rPr>
              <a:t>甚至</a:t>
            </a:r>
            <a:r>
              <a:rPr lang="zh-CN" altLang="en-US" sz="3200" dirty="0">
                <a:solidFill>
                  <a:srgbClr val="FF0000"/>
                </a:solidFill>
                <a:latin typeface="黑体" panose="02010609060101010101" pitchFamily="49" charset="-122"/>
                <a:ea typeface="黑体" panose="02010609060101010101" pitchFamily="49" charset="-122"/>
              </a:rPr>
              <a:t>更高的激发能级跃迁</a:t>
            </a:r>
            <a:r>
              <a:rPr lang="zh-CN" altLang="en-US" sz="3200" dirty="0">
                <a:latin typeface="黑体" panose="02010609060101010101" pitchFamily="49" charset="-122"/>
                <a:ea typeface="黑体" panose="02010609060101010101" pitchFamily="49" charset="-122"/>
              </a:rPr>
              <a:t>，由此产生倍频吸收峰，另外，如果某</a:t>
            </a:r>
            <a:r>
              <a:rPr lang="zh-CN" altLang="en-US" sz="3200" dirty="0">
                <a:solidFill>
                  <a:srgbClr val="FF0000"/>
                </a:solidFill>
                <a:latin typeface="黑体" panose="02010609060101010101" pitchFamily="49" charset="-122"/>
                <a:ea typeface="黑体" panose="02010609060101010101" pitchFamily="49" charset="-122"/>
              </a:rPr>
              <a:t>光子的能量正好等于两个或者两个以上基频跃迁的能量总和</a:t>
            </a:r>
            <a:r>
              <a:rPr lang="zh-CN" altLang="en-US" sz="3200" dirty="0">
                <a:latin typeface="黑体" panose="02010609060101010101" pitchFamily="49" charset="-122"/>
                <a:ea typeface="黑体" panose="02010609060101010101" pitchFamily="49" charset="-122"/>
              </a:rPr>
              <a:t>，该辐射也有可能被吸收，</a:t>
            </a:r>
            <a:r>
              <a:rPr lang="zh-CN" altLang="en-US" sz="3200" dirty="0">
                <a:solidFill>
                  <a:srgbClr val="FF0000"/>
                </a:solidFill>
                <a:latin typeface="黑体" panose="02010609060101010101" pitchFamily="49" charset="-122"/>
                <a:ea typeface="黑体" panose="02010609060101010101" pitchFamily="49" charset="-122"/>
              </a:rPr>
              <a:t>同时引起相应的多重跃迁</a:t>
            </a:r>
            <a:r>
              <a:rPr lang="zh-CN" altLang="en-US" sz="3200" dirty="0">
                <a:latin typeface="黑体" panose="02010609060101010101" pitchFamily="49" charset="-122"/>
                <a:ea typeface="黑体" panose="02010609060101010101" pitchFamily="49" charset="-122"/>
              </a:rPr>
              <a:t>，由此对应的合频吸收峰。</a:t>
            </a:r>
          </a:p>
          <a:p>
            <a:endParaRPr lang="zh-CN" altLang="en-US" dirty="0"/>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0" y="6327775"/>
            <a:ext cx="12193588" cy="530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rot="5400000">
            <a:off x="5830825" y="496825"/>
            <a:ext cx="530354" cy="12192000"/>
          </a:xfrm>
          <a:prstGeom prst="rect">
            <a:avLst/>
          </a:prstGeom>
        </p:spPr>
      </p:pic>
      <p:sp>
        <p:nvSpPr>
          <p:cNvPr id="2" name="TextBox 1"/>
          <p:cNvSpPr txBox="1"/>
          <p:nvPr/>
        </p:nvSpPr>
        <p:spPr>
          <a:xfrm>
            <a:off x="116114" y="262943"/>
            <a:ext cx="11088915" cy="2954655"/>
          </a:xfrm>
          <a:prstGeom prst="rect">
            <a:avLst/>
          </a:prstGeom>
          <a:noFill/>
        </p:spPr>
        <p:txBody>
          <a:bodyPr wrap="square" rtlCol="0">
            <a:spAutoFit/>
          </a:bodyPr>
          <a:lstStyle/>
          <a:p>
            <a:pPr marL="514350" indent="-514350">
              <a:buFont typeface="Wingdings" panose="05000000000000000000" pitchFamily="2" charset="2"/>
              <a:buChar char="u"/>
            </a:pPr>
            <a:r>
              <a:rPr lang="zh-CN" altLang="en-US" sz="2800" b="1" dirty="0">
                <a:latin typeface="宋体" panose="02010600030101010101" pitchFamily="2" charset="-122"/>
                <a:ea typeface="宋体" panose="02010600030101010101" pitchFamily="2" charset="-122"/>
                <a:sym typeface="+mn-ea"/>
              </a:rPr>
              <a:t>（中）红外光谱主要对应分子中官能团的谐性振动吸收，与此不同</a:t>
            </a:r>
            <a:r>
              <a:rPr lang="zh-CN" altLang="en-US" sz="2800" b="1" dirty="0">
                <a:solidFill>
                  <a:srgbClr val="FF0000"/>
                </a:solidFill>
                <a:latin typeface="宋体" panose="02010600030101010101" pitchFamily="2" charset="-122"/>
                <a:ea typeface="宋体" panose="02010600030101010101" pitchFamily="2" charset="-122"/>
                <a:sym typeface="+mn-ea"/>
              </a:rPr>
              <a:t>近红外光谱</a:t>
            </a:r>
            <a:r>
              <a:rPr lang="zh-CN" altLang="en-US" sz="2800" b="1" dirty="0">
                <a:latin typeface="宋体" panose="02010600030101010101" pitchFamily="2" charset="-122"/>
                <a:ea typeface="宋体" panose="02010600030101010101" pitchFamily="2" charset="-122"/>
                <a:sym typeface="+mn-ea"/>
              </a:rPr>
              <a:t>则主要对应</a:t>
            </a:r>
            <a:r>
              <a:rPr lang="zh-CN" altLang="en-US" sz="2800" b="1" dirty="0">
                <a:solidFill>
                  <a:srgbClr val="FF0000"/>
                </a:solidFill>
                <a:latin typeface="宋体" panose="02010600030101010101" pitchFamily="2" charset="-122"/>
                <a:ea typeface="宋体" panose="02010600030101010101" pitchFamily="2" charset="-122"/>
                <a:sym typeface="+mn-ea"/>
              </a:rPr>
              <a:t>由于分子振动非谐性</a:t>
            </a:r>
            <a:r>
              <a:rPr lang="zh-CN" altLang="en-US" sz="2800" b="1" dirty="0">
                <a:latin typeface="宋体" panose="02010600030101010101" pitchFamily="2" charset="-122"/>
                <a:ea typeface="宋体" panose="02010600030101010101" pitchFamily="2" charset="-122"/>
                <a:sym typeface="+mn-ea"/>
              </a:rPr>
              <a:t>而产生的从</a:t>
            </a:r>
            <a:r>
              <a:rPr lang="zh-CN" altLang="en-US" sz="2800" b="1" dirty="0">
                <a:solidFill>
                  <a:srgbClr val="FF0000"/>
                </a:solidFill>
                <a:latin typeface="宋体" panose="02010600030101010101" pitchFamily="2" charset="-122"/>
                <a:ea typeface="宋体" panose="02010600030101010101" pitchFamily="2" charset="-122"/>
                <a:sym typeface="+mn-ea"/>
              </a:rPr>
              <a:t>基态向高振动能级跃迁时的倍频和合频吸收</a:t>
            </a:r>
            <a:r>
              <a:rPr lang="zh-CN" altLang="en-US" sz="2800" b="1" dirty="0">
                <a:latin typeface="宋体" panose="02010600030101010101" pitchFamily="2" charset="-122"/>
                <a:ea typeface="宋体" panose="02010600030101010101" pitchFamily="2" charset="-122"/>
                <a:sym typeface="+mn-ea"/>
              </a:rPr>
              <a:t>，主要包括含氢基团</a:t>
            </a:r>
            <a:r>
              <a:rPr lang="en-US" altLang="zh-CN" sz="2800" b="1" dirty="0">
                <a:solidFill>
                  <a:srgbClr val="FF0000"/>
                </a:solidFill>
                <a:latin typeface="宋体" panose="02010600030101010101" pitchFamily="2" charset="-122"/>
                <a:ea typeface="宋体" panose="02010600030101010101" pitchFamily="2" charset="-122"/>
                <a:sym typeface="+mn-ea"/>
              </a:rPr>
              <a:t>X-H(X</a:t>
            </a:r>
            <a:r>
              <a:rPr lang="zh-CN" altLang="en-US" sz="2800" b="1" dirty="0">
                <a:solidFill>
                  <a:srgbClr val="FF0000"/>
                </a:solidFill>
                <a:latin typeface="宋体" panose="02010600030101010101" pitchFamily="2" charset="-122"/>
                <a:ea typeface="宋体" panose="02010600030101010101" pitchFamily="2" charset="-122"/>
                <a:sym typeface="+mn-ea"/>
              </a:rPr>
              <a:t>，</a:t>
            </a:r>
            <a:r>
              <a:rPr lang="en-US" altLang="zh-CN" sz="2800" b="1" dirty="0">
                <a:solidFill>
                  <a:srgbClr val="FF0000"/>
                </a:solidFill>
                <a:latin typeface="宋体" panose="02010600030101010101" pitchFamily="2" charset="-122"/>
                <a:ea typeface="宋体" panose="02010600030101010101" pitchFamily="2" charset="-122"/>
                <a:sym typeface="+mn-ea"/>
              </a:rPr>
              <a:t>C</a:t>
            </a:r>
            <a:r>
              <a:rPr lang="zh-CN" altLang="en-US" sz="2800" b="1" dirty="0">
                <a:solidFill>
                  <a:srgbClr val="FF0000"/>
                </a:solidFill>
                <a:latin typeface="宋体" panose="02010600030101010101" pitchFamily="2" charset="-122"/>
                <a:ea typeface="宋体" panose="02010600030101010101" pitchFamily="2" charset="-122"/>
                <a:sym typeface="+mn-ea"/>
              </a:rPr>
              <a:t>、</a:t>
            </a:r>
            <a:r>
              <a:rPr lang="en-US" altLang="zh-CN" sz="2800" b="1" dirty="0">
                <a:solidFill>
                  <a:srgbClr val="FF0000"/>
                </a:solidFill>
                <a:latin typeface="宋体" panose="02010600030101010101" pitchFamily="2" charset="-122"/>
                <a:ea typeface="宋体" panose="02010600030101010101" pitchFamily="2" charset="-122"/>
                <a:sym typeface="+mn-ea"/>
              </a:rPr>
              <a:t>N</a:t>
            </a:r>
            <a:r>
              <a:rPr lang="zh-CN" altLang="en-US" sz="2800" b="1" dirty="0">
                <a:solidFill>
                  <a:srgbClr val="FF0000"/>
                </a:solidFill>
                <a:latin typeface="宋体" panose="02010600030101010101" pitchFamily="2" charset="-122"/>
                <a:ea typeface="宋体" panose="02010600030101010101" pitchFamily="2" charset="-122"/>
                <a:sym typeface="+mn-ea"/>
              </a:rPr>
              <a:t>、</a:t>
            </a:r>
            <a:r>
              <a:rPr lang="en-US" altLang="zh-CN" sz="2800" b="1" dirty="0">
                <a:solidFill>
                  <a:srgbClr val="FF0000"/>
                </a:solidFill>
                <a:latin typeface="宋体" panose="02010600030101010101" pitchFamily="2" charset="-122"/>
                <a:ea typeface="宋体" panose="02010600030101010101" pitchFamily="2" charset="-122"/>
                <a:sym typeface="+mn-ea"/>
              </a:rPr>
              <a:t>O)</a:t>
            </a:r>
            <a:r>
              <a:rPr lang="zh-CN" altLang="en-US" sz="2800" b="1" dirty="0">
                <a:latin typeface="宋体" panose="02010600030101010101" pitchFamily="2" charset="-122"/>
                <a:ea typeface="宋体" panose="02010600030101010101" pitchFamily="2" charset="-122"/>
                <a:sym typeface="+mn-ea"/>
              </a:rPr>
              <a:t>振动。由于不同基团或同一基团在不同化学环境中的吸收波长和吸收强度有着明显的差别，所以近红外谱能够反映丰富的结构和组成信息。</a:t>
            </a:r>
          </a:p>
          <a:p>
            <a:endParaRPr lang="zh-CN" altLang="en-US" dirty="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0" y="3025775"/>
            <a:ext cx="12192000" cy="14219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4264251" y="3344037"/>
            <a:ext cx="7678423" cy="28699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3" name="TextBox 2"/>
          <p:cNvSpPr txBox="1"/>
          <p:nvPr/>
        </p:nvSpPr>
        <p:spPr>
          <a:xfrm>
            <a:off x="116115" y="3310292"/>
            <a:ext cx="4075566" cy="1661993"/>
          </a:xfrm>
          <a:prstGeom prst="rect">
            <a:avLst/>
          </a:prstGeom>
          <a:noFill/>
        </p:spPr>
        <p:txBody>
          <a:bodyPr wrap="square" rtlCol="0">
            <a:spAutoFit/>
          </a:bodyPr>
          <a:lstStyle/>
          <a:p>
            <a:pPr marL="457200" indent="-457200">
              <a:buFont typeface="Wingdings" panose="05000000000000000000" pitchFamily="2" charset="2"/>
              <a:buChar char="u"/>
            </a:pPr>
            <a:r>
              <a:rPr lang="zh-CN" altLang="en-US" sz="2800" b="1" dirty="0">
                <a:latin typeface="宋体" panose="02010600030101010101" pitchFamily="2" charset="-122"/>
                <a:ea typeface="宋体" panose="02010600030101010101" pitchFamily="2" charset="-122"/>
                <a:sym typeface="+mn-ea"/>
              </a:rPr>
              <a:t>主要基团合频与各级倍频吸收带的近似位置：</a:t>
            </a:r>
            <a:endParaRPr lang="zh-CN" altLang="en-US" sz="2800" b="1" dirty="0">
              <a:latin typeface="宋体" panose="02010600030101010101" pitchFamily="2" charset="-122"/>
              <a:ea typeface="宋体" panose="02010600030101010101" pitchFamily="2" charset="-122"/>
            </a:endParaRPr>
          </a:p>
          <a:p>
            <a:pPr marL="285750" indent="-285750">
              <a:buFont typeface="Wingdings" panose="05000000000000000000" pitchFamily="2" charset="2"/>
              <a:buChar char="u"/>
            </a:pPr>
            <a:endParaRPr lang="zh-CN" alt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588" y="6327775"/>
            <a:ext cx="12193588" cy="530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6" name="图片 5"/>
          <p:cNvPicPr>
            <a:picLocks noChangeAspect="1"/>
          </p:cNvPicPr>
          <p:nvPr/>
        </p:nvPicPr>
        <p:blipFill>
          <a:blip r:embed="rId3"/>
          <a:stretch>
            <a:fillRect/>
          </a:stretch>
        </p:blipFill>
        <p:spPr>
          <a:xfrm rot="5400000">
            <a:off x="5830825" y="496825"/>
            <a:ext cx="530354" cy="12192000"/>
          </a:xfrm>
          <a:prstGeom prst="rect">
            <a:avLst/>
          </a:prstGeom>
        </p:spPr>
      </p:pic>
      <p:sp>
        <p:nvSpPr>
          <p:cNvPr id="7" name="椭圆 6"/>
          <p:cNvSpPr/>
          <p:nvPr/>
        </p:nvSpPr>
        <p:spPr>
          <a:xfrm>
            <a:off x="1276536" y="2187073"/>
            <a:ext cx="886264" cy="886264"/>
          </a:xfrm>
          <a:prstGeom prst="ellipse">
            <a:avLst/>
          </a:prstGeom>
          <a:solidFill>
            <a:schemeClr val="accent2">
              <a:lumMod val="20000"/>
              <a:lumOff val="80000"/>
            </a:schemeClr>
          </a:solidFill>
          <a:ln w="28575">
            <a:solidFill>
              <a:srgbClr val="DC70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8" name="MH_Other_4"/>
          <p:cNvSpPr txBox="1">
            <a:spLocks noChangeArrowheads="1"/>
          </p:cNvSpPr>
          <p:nvPr/>
        </p:nvSpPr>
        <p:spPr bwMode="auto">
          <a:xfrm>
            <a:off x="1198479" y="2311237"/>
            <a:ext cx="1042323"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latinLnBrk="1">
              <a:defRPr>
                <a:solidFill>
                  <a:schemeClr val="tx1"/>
                </a:solidFill>
                <a:latin typeface="Arial" panose="020B0604020202020204" pitchFamily="34" charset="0"/>
                <a:ea typeface="宋体" panose="02010600030101010101" pitchFamily="2" charset="-122"/>
              </a:defRPr>
            </a:lvl1pPr>
            <a:lvl2pPr marL="742950" indent="-285750" latinLnBrk="1">
              <a:defRPr>
                <a:solidFill>
                  <a:schemeClr val="tx1"/>
                </a:solidFill>
                <a:latin typeface="Arial" panose="020B0604020202020204" pitchFamily="34" charset="0"/>
                <a:ea typeface="宋体" panose="02010600030101010101" pitchFamily="2" charset="-122"/>
              </a:defRPr>
            </a:lvl2pPr>
            <a:lvl3pPr marL="1143000" indent="-228600" latinLnBrk="1">
              <a:defRPr>
                <a:solidFill>
                  <a:schemeClr val="tx1"/>
                </a:solidFill>
                <a:latin typeface="Arial" panose="020B0604020202020204" pitchFamily="34" charset="0"/>
                <a:ea typeface="宋体" panose="02010600030101010101" pitchFamily="2" charset="-122"/>
              </a:defRPr>
            </a:lvl3pPr>
            <a:lvl4pPr marL="1600200" indent="-228600" latinLnBrk="1">
              <a:defRPr>
                <a:solidFill>
                  <a:schemeClr val="tx1"/>
                </a:solidFill>
                <a:latin typeface="Arial" panose="020B0604020202020204" pitchFamily="34" charset="0"/>
                <a:ea typeface="宋体" panose="02010600030101010101" pitchFamily="2" charset="-122"/>
              </a:defRPr>
            </a:lvl4pPr>
            <a:lvl5pPr marL="2057400" indent="-228600" latinLnBrk="1">
              <a:defRPr>
                <a:solidFill>
                  <a:schemeClr val="tx1"/>
                </a:solidFill>
                <a:latin typeface="Arial" panose="020B0604020202020204" pitchFamily="34" charset="0"/>
                <a:ea typeface="宋体" panose="02010600030101010101" pitchFamily="2" charset="-122"/>
              </a:defRPr>
            </a:lvl5pPr>
            <a:lvl6pPr marL="2514600" indent="-228600" eaLnBrk="0" fontAlgn="base" latinLnBrk="1"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latinLnBrk="1"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latinLnBrk="1"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latinLnBrk="1"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1" hangingPunct="1">
              <a:lnSpc>
                <a:spcPct val="100000"/>
              </a:lnSpc>
              <a:spcBef>
                <a:spcPts val="0"/>
              </a:spcBef>
              <a:spcAft>
                <a:spcPts val="0"/>
              </a:spcAft>
              <a:buClrTx/>
              <a:buSzTx/>
              <a:buFontTx/>
              <a:buNone/>
              <a:defRPr/>
            </a:pPr>
            <a:r>
              <a:rPr kumimoji="0" lang="en-US" sz="3600" b="0" i="0" u="none" strike="noStrike" kern="0" cap="none" spc="0" normalizeH="0" baseline="0" noProof="0" dirty="0">
                <a:ln>
                  <a:noFill/>
                </a:ln>
                <a:solidFill>
                  <a:schemeClr val="tx2"/>
                </a:solidFill>
                <a:effectLst/>
                <a:uLnTx/>
                <a:uFillTx/>
                <a:latin typeface="Arial" panose="020B0604020202020204" pitchFamily="34" charset="0"/>
                <a:ea typeface="幼圆" pitchFamily="49" charset="-122"/>
              </a:rPr>
              <a:t>01</a:t>
            </a:r>
          </a:p>
        </p:txBody>
      </p:sp>
      <p:sp>
        <p:nvSpPr>
          <p:cNvPr id="5" name="TextBox 4"/>
          <p:cNvSpPr txBox="1"/>
          <p:nvPr/>
        </p:nvSpPr>
        <p:spPr>
          <a:xfrm>
            <a:off x="2583543" y="1972438"/>
            <a:ext cx="9332686" cy="1661993"/>
          </a:xfrm>
          <a:prstGeom prst="rect">
            <a:avLst/>
          </a:prstGeom>
          <a:noFill/>
        </p:spPr>
        <p:txBody>
          <a:bodyPr wrap="square" rtlCol="0">
            <a:spAutoFit/>
          </a:bodyPr>
          <a:lstStyle/>
          <a:p>
            <a:r>
              <a:rPr lang="zh-CN" altLang="en-US" sz="2800" b="1" dirty="0">
                <a:solidFill>
                  <a:srgbClr val="FF0000"/>
                </a:solidFill>
              </a:rPr>
              <a:t>光辐射的能量恰好满足分子振动能级跃迁所需要的能量</a:t>
            </a:r>
            <a:r>
              <a:rPr lang="zh-CN" altLang="en-US" sz="2800" b="1" dirty="0"/>
              <a:t>，即只有当光辐射频率与分子中基团的振动频率相同时，辐射才能被吸收。</a:t>
            </a:r>
          </a:p>
          <a:p>
            <a:endParaRPr lang="zh-CN" altLang="en-US" dirty="0"/>
          </a:p>
        </p:txBody>
      </p:sp>
      <p:sp>
        <p:nvSpPr>
          <p:cNvPr id="10" name="椭圆 9"/>
          <p:cNvSpPr/>
          <p:nvPr/>
        </p:nvSpPr>
        <p:spPr>
          <a:xfrm>
            <a:off x="1354593" y="3947176"/>
            <a:ext cx="886264" cy="886264"/>
          </a:xfrm>
          <a:prstGeom prst="ellipse">
            <a:avLst/>
          </a:prstGeom>
          <a:solidFill>
            <a:schemeClr val="accent2">
              <a:lumMod val="20000"/>
              <a:lumOff val="80000"/>
            </a:schemeClr>
          </a:solidFill>
          <a:ln w="28575">
            <a:solidFill>
              <a:srgbClr val="DC70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1" name="MH_Other_4"/>
          <p:cNvSpPr txBox="1">
            <a:spLocks noChangeArrowheads="1"/>
          </p:cNvSpPr>
          <p:nvPr/>
        </p:nvSpPr>
        <p:spPr bwMode="auto">
          <a:xfrm>
            <a:off x="1276536" y="4071340"/>
            <a:ext cx="1042323"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latinLnBrk="1">
              <a:defRPr>
                <a:solidFill>
                  <a:schemeClr val="tx1"/>
                </a:solidFill>
                <a:latin typeface="Arial" panose="020B0604020202020204" pitchFamily="34" charset="0"/>
                <a:ea typeface="宋体" panose="02010600030101010101" pitchFamily="2" charset="-122"/>
              </a:defRPr>
            </a:lvl1pPr>
            <a:lvl2pPr marL="742950" indent="-285750" latinLnBrk="1">
              <a:defRPr>
                <a:solidFill>
                  <a:schemeClr val="tx1"/>
                </a:solidFill>
                <a:latin typeface="Arial" panose="020B0604020202020204" pitchFamily="34" charset="0"/>
                <a:ea typeface="宋体" panose="02010600030101010101" pitchFamily="2" charset="-122"/>
              </a:defRPr>
            </a:lvl2pPr>
            <a:lvl3pPr marL="1143000" indent="-228600" latinLnBrk="1">
              <a:defRPr>
                <a:solidFill>
                  <a:schemeClr val="tx1"/>
                </a:solidFill>
                <a:latin typeface="Arial" panose="020B0604020202020204" pitchFamily="34" charset="0"/>
                <a:ea typeface="宋体" panose="02010600030101010101" pitchFamily="2" charset="-122"/>
              </a:defRPr>
            </a:lvl3pPr>
            <a:lvl4pPr marL="1600200" indent="-228600" latinLnBrk="1">
              <a:defRPr>
                <a:solidFill>
                  <a:schemeClr val="tx1"/>
                </a:solidFill>
                <a:latin typeface="Arial" panose="020B0604020202020204" pitchFamily="34" charset="0"/>
                <a:ea typeface="宋体" panose="02010600030101010101" pitchFamily="2" charset="-122"/>
              </a:defRPr>
            </a:lvl4pPr>
            <a:lvl5pPr marL="2057400" indent="-228600" latinLnBrk="1">
              <a:defRPr>
                <a:solidFill>
                  <a:schemeClr val="tx1"/>
                </a:solidFill>
                <a:latin typeface="Arial" panose="020B0604020202020204" pitchFamily="34" charset="0"/>
                <a:ea typeface="宋体" panose="02010600030101010101" pitchFamily="2" charset="-122"/>
              </a:defRPr>
            </a:lvl5pPr>
            <a:lvl6pPr marL="2514600" indent="-228600" eaLnBrk="0" fontAlgn="base" latinLnBrk="1"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latinLnBrk="1"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latinLnBrk="1"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latinLnBrk="1"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1" hangingPunct="1">
              <a:lnSpc>
                <a:spcPct val="100000"/>
              </a:lnSpc>
              <a:spcBef>
                <a:spcPts val="0"/>
              </a:spcBef>
              <a:spcAft>
                <a:spcPts val="0"/>
              </a:spcAft>
              <a:buClrTx/>
              <a:buSzTx/>
              <a:buFontTx/>
              <a:buNone/>
              <a:defRPr/>
            </a:pPr>
            <a:r>
              <a:rPr kumimoji="0" lang="en-US" sz="3600" b="0" i="0" u="none" strike="noStrike" kern="0" cap="none" spc="0" normalizeH="0" baseline="0" noProof="0" dirty="0">
                <a:ln>
                  <a:noFill/>
                </a:ln>
                <a:solidFill>
                  <a:schemeClr val="tx2"/>
                </a:solidFill>
                <a:effectLst/>
                <a:uLnTx/>
                <a:uFillTx/>
                <a:latin typeface="Arial" panose="020B0604020202020204" pitchFamily="34" charset="0"/>
                <a:ea typeface="幼圆" pitchFamily="49" charset="-122"/>
              </a:rPr>
              <a:t>02</a:t>
            </a:r>
          </a:p>
        </p:txBody>
      </p:sp>
      <p:sp>
        <p:nvSpPr>
          <p:cNvPr id="9" name="TextBox 8"/>
          <p:cNvSpPr txBox="1"/>
          <p:nvPr/>
        </p:nvSpPr>
        <p:spPr>
          <a:xfrm>
            <a:off x="2583541" y="3947176"/>
            <a:ext cx="9332687" cy="1231106"/>
          </a:xfrm>
          <a:prstGeom prst="rect">
            <a:avLst/>
          </a:prstGeom>
          <a:noFill/>
        </p:spPr>
        <p:txBody>
          <a:bodyPr wrap="square" rtlCol="0">
            <a:spAutoFit/>
          </a:bodyPr>
          <a:lstStyle/>
          <a:p>
            <a:r>
              <a:rPr lang="zh-CN" altLang="en-US" sz="2800" b="1" dirty="0">
                <a:solidFill>
                  <a:srgbClr val="FF0000"/>
                </a:solidFill>
              </a:rPr>
              <a:t>振动过程中，必须有偶极矩的改变</a:t>
            </a:r>
            <a:r>
              <a:rPr lang="zh-CN" altLang="en-US" sz="2800" b="1" dirty="0"/>
              <a:t>，只有偶极矩发生变化的那种振动形式才能吸收红外光谱。</a:t>
            </a:r>
          </a:p>
          <a:p>
            <a:endParaRPr lang="zh-CN" altLang="en-US" dirty="0"/>
          </a:p>
        </p:txBody>
      </p:sp>
      <p:sp>
        <p:nvSpPr>
          <p:cNvPr id="12" name="TextBox 11"/>
          <p:cNvSpPr txBox="1"/>
          <p:nvPr/>
        </p:nvSpPr>
        <p:spPr>
          <a:xfrm>
            <a:off x="1198479" y="344373"/>
            <a:ext cx="10476492" cy="1477328"/>
          </a:xfrm>
          <a:prstGeom prst="rect">
            <a:avLst/>
          </a:prstGeom>
          <a:noFill/>
        </p:spPr>
        <p:txBody>
          <a:bodyPr wrap="square" rtlCol="0">
            <a:spAutoFit/>
          </a:bodyPr>
          <a:lstStyle/>
          <a:p>
            <a:pPr>
              <a:buFont typeface="Wingdings" panose="05000000000000000000" charset="0"/>
              <a:buChar char="ü"/>
            </a:pPr>
            <a:r>
              <a:rPr lang="zh-CN" altLang="en-US" sz="36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红外光线的能量要被分子基团所吸收，</a:t>
            </a:r>
            <a:endParaRPr lang="en-US" altLang="zh-CN" sz="36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a:p>
            <a:r>
              <a:rPr lang="en-US" altLang="zh-CN" sz="36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   </a:t>
            </a:r>
            <a:r>
              <a:rPr lang="zh-CN" altLang="en-US" sz="36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必须满足两个条件：</a:t>
            </a:r>
          </a:p>
          <a:p>
            <a:endParaRPr lang="zh-CN" alt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flipV="1">
            <a:off x="0" y="0"/>
            <a:ext cx="8688271" cy="914400"/>
          </a:xfrm>
          <a:prstGeom prst="rtTriangle">
            <a:avLst/>
          </a:prstGeom>
        </p:spPr>
      </p:pic>
      <p:pic>
        <p:nvPicPr>
          <p:cNvPr id="4" name="图片 3"/>
          <p:cNvPicPr>
            <a:picLocks noChangeAspect="1"/>
          </p:cNvPicPr>
          <p:nvPr/>
        </p:nvPicPr>
        <p:blipFill>
          <a:blip r:embed="rId3"/>
          <a:stretch>
            <a:fillRect/>
          </a:stretch>
        </p:blipFill>
        <p:spPr>
          <a:xfrm rot="5400000">
            <a:off x="5830825" y="496825"/>
            <a:ext cx="530354" cy="12192000"/>
          </a:xfrm>
          <a:prstGeom prst="rect">
            <a:avLst/>
          </a:prstGeom>
        </p:spPr>
      </p:pic>
      <p:sp>
        <p:nvSpPr>
          <p:cNvPr id="5" name="矩形 4"/>
          <p:cNvSpPr/>
          <p:nvPr/>
        </p:nvSpPr>
        <p:spPr>
          <a:xfrm>
            <a:off x="1" y="93666"/>
            <a:ext cx="6734627" cy="646331"/>
          </a:xfrm>
          <a:prstGeom prst="rect">
            <a:avLst/>
          </a:prstGeom>
        </p:spPr>
        <p:txBody>
          <a:bodyPr wrap="square">
            <a:spAutoFit/>
          </a:bodyPr>
          <a:lstStyle/>
          <a:p>
            <a:r>
              <a:rPr lang="zh-CN" altLang="en-US" sz="3600" b="1" dirty="0">
                <a:latin typeface="微软雅黑" panose="020B0503020204020204" pitchFamily="34" charset="-122"/>
                <a:ea typeface="微软雅黑" panose="020B0503020204020204" pitchFamily="34" charset="-122"/>
              </a:rPr>
              <a:t>四、近红外光谱测定的基本原理</a:t>
            </a:r>
            <a:endParaRPr lang="zh-CN" altLang="en-US" sz="36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9" name="矩形 8"/>
          <p:cNvSpPr/>
          <p:nvPr/>
        </p:nvSpPr>
        <p:spPr>
          <a:xfrm>
            <a:off x="2047277" y="914400"/>
            <a:ext cx="7024152" cy="830997"/>
          </a:xfrm>
          <a:prstGeom prst="rect">
            <a:avLst/>
          </a:prstGeom>
          <a:noFill/>
        </p:spPr>
        <p:txBody>
          <a:bodyPr wrap="square" lIns="91440" tIns="45720" rIns="91440" bIns="45720">
            <a:spAutoFit/>
            <a:scene3d>
              <a:camera prst="orthographicFront"/>
              <a:lightRig rig="glow" dir="tl">
                <a:rot lat="0" lon="0" rev="5400000"/>
              </a:lightRig>
            </a:scene3d>
            <a:sp3d contourW="12700">
              <a:bevelT w="25400" h="25400"/>
              <a:contourClr>
                <a:schemeClr val="accent6">
                  <a:shade val="73000"/>
                </a:schemeClr>
              </a:contourClr>
            </a:sp3d>
          </a:bodyPr>
          <a:lstStyle/>
          <a:p>
            <a:r>
              <a:rPr lang="zh-CN" altLang="en-US" sz="48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近红外光谱的测定方法：</a:t>
            </a:r>
          </a:p>
        </p:txBody>
      </p:sp>
      <p:graphicFrame>
        <p:nvGraphicFramePr>
          <p:cNvPr id="10" name="图示 9"/>
          <p:cNvGraphicFramePr/>
          <p:nvPr/>
        </p:nvGraphicFramePr>
        <p:xfrm>
          <a:off x="2279505" y="2032581"/>
          <a:ext cx="5878285" cy="354090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0" y="6327775"/>
            <a:ext cx="12193588" cy="530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0" y="-14968"/>
            <a:ext cx="8686800" cy="914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TextBox 3"/>
          <p:cNvSpPr txBox="1"/>
          <p:nvPr/>
        </p:nvSpPr>
        <p:spPr>
          <a:xfrm>
            <a:off x="232228" y="119066"/>
            <a:ext cx="11959772" cy="1200329"/>
          </a:xfrm>
          <a:prstGeom prst="rect">
            <a:avLst/>
          </a:prstGeom>
          <a:noFill/>
        </p:spPr>
        <p:txBody>
          <a:bodyPr wrap="square" rtlCol="0">
            <a:spAutoFit/>
          </a:bodyPr>
          <a:lstStyle/>
          <a:p>
            <a:r>
              <a:rPr lang="en-US" altLang="zh-CN" sz="3600" b="1" dirty="0" smtClean="0">
                <a:latin typeface="微软雅黑" panose="020B0503020204020204" pitchFamily="34" charset="-122"/>
                <a:ea typeface="微软雅黑" panose="020B0503020204020204" pitchFamily="34" charset="-122"/>
                <a:sym typeface="+mn-ea"/>
              </a:rPr>
              <a:t>1</a:t>
            </a:r>
            <a:r>
              <a:rPr lang="zh-CN" altLang="en-US" sz="3600" b="1" dirty="0" smtClean="0">
                <a:latin typeface="微软雅黑" panose="020B0503020204020204" pitchFamily="34" charset="-122"/>
                <a:ea typeface="微软雅黑" panose="020B0503020204020204" pitchFamily="34" charset="-122"/>
                <a:sym typeface="+mn-ea"/>
              </a:rPr>
              <a:t>、透射</a:t>
            </a:r>
            <a:r>
              <a:rPr lang="zh-CN" altLang="en-US" sz="3600" b="1" dirty="0">
                <a:latin typeface="微软雅黑" panose="020B0503020204020204" pitchFamily="34" charset="-122"/>
                <a:ea typeface="微软雅黑" panose="020B0503020204020204" pitchFamily="34" charset="-122"/>
                <a:sym typeface="+mn-ea"/>
              </a:rPr>
              <a:t>光谱</a:t>
            </a:r>
            <a:r>
              <a:rPr lang="zh-CN" altLang="en-US" sz="3600" b="1" dirty="0" smtClean="0">
                <a:latin typeface="微软雅黑" panose="020B0503020204020204" pitchFamily="34" charset="-122"/>
                <a:ea typeface="微软雅黑" panose="020B0503020204020204" pitchFamily="34" charset="-122"/>
                <a:sym typeface="+mn-ea"/>
              </a:rPr>
              <a:t>法</a:t>
            </a:r>
            <a:r>
              <a:rPr lang="zh-CN" altLang="en-US" sz="3600" dirty="0">
                <a:sym typeface="+mn-ea"/>
              </a:rPr>
              <a:t>（多指短波近红外区，波长一般在</a:t>
            </a:r>
            <a:r>
              <a:rPr lang="en-US" altLang="zh-CN" sz="3600" dirty="0" smtClean="0">
                <a:sym typeface="+mn-ea"/>
              </a:rPr>
              <a:t>700- </a:t>
            </a:r>
          </a:p>
          <a:p>
            <a:r>
              <a:rPr lang="en-US" altLang="zh-CN" sz="3600" b="1" dirty="0">
                <a:latin typeface="微软雅黑" panose="020B0503020204020204" pitchFamily="34" charset="-122"/>
                <a:ea typeface="微软雅黑" panose="020B0503020204020204" pitchFamily="34" charset="-122"/>
                <a:sym typeface="+mn-ea"/>
              </a:rPr>
              <a:t> </a:t>
            </a:r>
            <a:r>
              <a:rPr lang="en-US" altLang="zh-CN" sz="3600" b="1" dirty="0" smtClean="0">
                <a:latin typeface="微软雅黑" panose="020B0503020204020204" pitchFamily="34" charset="-122"/>
                <a:ea typeface="微软雅黑" panose="020B0503020204020204" pitchFamily="34" charset="-122"/>
                <a:sym typeface="+mn-ea"/>
              </a:rPr>
              <a:t>                       </a:t>
            </a:r>
            <a:r>
              <a:rPr lang="en-US" altLang="zh-CN" sz="3600" dirty="0">
                <a:sym typeface="+mn-ea"/>
              </a:rPr>
              <a:t>1100nm</a:t>
            </a:r>
            <a:r>
              <a:rPr lang="zh-CN" altLang="en-US" sz="3600" dirty="0">
                <a:sym typeface="+mn-ea"/>
              </a:rPr>
              <a:t>范围内</a:t>
            </a:r>
            <a:r>
              <a:rPr lang="zh-CN" altLang="en-US" sz="3600" dirty="0" smtClean="0">
                <a:sym typeface="+mn-ea"/>
              </a:rPr>
              <a:t>）</a:t>
            </a:r>
            <a:endParaRPr lang="zh-CN" altLang="en-US" sz="3600" b="1" dirty="0">
              <a:latin typeface="微软雅黑" panose="020B0503020204020204" pitchFamily="34" charset="-122"/>
              <a:ea typeface="微软雅黑" panose="020B0503020204020204" pitchFamily="34" charset="-122"/>
            </a:endParaRPr>
          </a:p>
        </p:txBody>
      </p:sp>
      <p:sp>
        <p:nvSpPr>
          <p:cNvPr id="5" name="TextBox 4"/>
          <p:cNvSpPr txBox="1"/>
          <p:nvPr/>
        </p:nvSpPr>
        <p:spPr>
          <a:xfrm>
            <a:off x="965199" y="1319395"/>
            <a:ext cx="11052629" cy="1477328"/>
          </a:xfrm>
          <a:prstGeom prst="rect">
            <a:avLst/>
          </a:prstGeom>
          <a:noFill/>
        </p:spPr>
        <p:txBody>
          <a:bodyPr wrap="square" rtlCol="0">
            <a:spAutoFit/>
          </a:bodyPr>
          <a:lstStyle/>
          <a:p>
            <a:r>
              <a:rPr lang="zh-CN" altLang="en-US" sz="3600" b="1" dirty="0" smtClean="0">
                <a:solidFill>
                  <a:srgbClr val="FF0000"/>
                </a:solidFill>
                <a:latin typeface="宋体" panose="02010600030101010101" pitchFamily="2" charset="-122"/>
                <a:ea typeface="宋体" panose="02010600030101010101" pitchFamily="2" charset="-122"/>
                <a:sym typeface="+mn-ea"/>
              </a:rPr>
              <a:t>定义</a:t>
            </a:r>
            <a:r>
              <a:rPr lang="zh-CN" altLang="en-US" sz="3600" dirty="0" smtClean="0">
                <a:solidFill>
                  <a:srgbClr val="FF0000"/>
                </a:solidFill>
                <a:latin typeface="宋体" panose="02010600030101010101" pitchFamily="2" charset="-122"/>
                <a:ea typeface="宋体" panose="02010600030101010101" pitchFamily="2" charset="-122"/>
                <a:sym typeface="+mn-ea"/>
              </a:rPr>
              <a:t>：</a:t>
            </a:r>
            <a:r>
              <a:rPr lang="zh-CN" altLang="en-US" sz="3600" dirty="0" smtClean="0">
                <a:latin typeface="宋体" panose="02010600030101010101" pitchFamily="2" charset="-122"/>
                <a:ea typeface="宋体" panose="02010600030101010101" pitchFamily="2" charset="-122"/>
                <a:sym typeface="+mn-ea"/>
              </a:rPr>
              <a:t>是</a:t>
            </a:r>
            <a:r>
              <a:rPr lang="zh-CN" altLang="en-US" sz="3600" dirty="0">
                <a:latin typeface="宋体" panose="02010600030101010101" pitchFamily="2" charset="-122"/>
                <a:ea typeface="宋体" panose="02010600030101010101" pitchFamily="2" charset="-122"/>
                <a:sym typeface="+mn-ea"/>
              </a:rPr>
              <a:t>指将待测液样品置于光源与检测器之间</a:t>
            </a:r>
            <a:r>
              <a:rPr lang="zh-CN" altLang="en-US" sz="3600" dirty="0" smtClean="0">
                <a:latin typeface="宋体" panose="02010600030101010101" pitchFamily="2" charset="-122"/>
                <a:ea typeface="宋体" panose="02010600030101010101" pitchFamily="2" charset="-122"/>
                <a:sym typeface="+mn-ea"/>
              </a:rPr>
              <a:t>，    检测器</a:t>
            </a:r>
            <a:r>
              <a:rPr lang="zh-CN" altLang="en-US" sz="3600" dirty="0">
                <a:latin typeface="宋体" panose="02010600030101010101" pitchFamily="2" charset="-122"/>
                <a:ea typeface="宋体" panose="02010600030101010101" pitchFamily="2" charset="-122"/>
                <a:sym typeface="+mn-ea"/>
              </a:rPr>
              <a:t>所检测光是透射光或与样品分子相互作用的光</a:t>
            </a:r>
            <a:r>
              <a:rPr lang="zh-CN" altLang="en-US" sz="3600" dirty="0" smtClean="0">
                <a:latin typeface="宋体" panose="02010600030101010101" pitchFamily="2" charset="-122"/>
                <a:ea typeface="宋体" panose="02010600030101010101" pitchFamily="2" charset="-122"/>
                <a:sym typeface="+mn-ea"/>
              </a:rPr>
              <a:t>。</a:t>
            </a:r>
            <a:endParaRPr lang="en-US" altLang="zh-CN" sz="3600" dirty="0" smtClean="0">
              <a:latin typeface="宋体" panose="02010600030101010101" pitchFamily="2" charset="-122"/>
              <a:ea typeface="宋体" panose="02010600030101010101" pitchFamily="2" charset="-122"/>
              <a:sym typeface="+mn-ea"/>
            </a:endParaRPr>
          </a:p>
          <a:p>
            <a:endParaRPr lang="zh-CN" altLang="en-US" dirty="0"/>
          </a:p>
        </p:txBody>
      </p:sp>
      <p:pic>
        <p:nvPicPr>
          <p:cNvPr id="6148" name="Picture 4"/>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3195865" y="2633889"/>
            <a:ext cx="5218113" cy="34559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0" y="6327775"/>
            <a:ext cx="12193588" cy="530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 name="矩形 1"/>
          <p:cNvSpPr/>
          <p:nvPr/>
        </p:nvSpPr>
        <p:spPr>
          <a:xfrm>
            <a:off x="66108" y="586991"/>
            <a:ext cx="12061371" cy="954107"/>
          </a:xfrm>
          <a:prstGeom prst="rect">
            <a:avLst/>
          </a:prstGeom>
        </p:spPr>
        <p:txBody>
          <a:bodyPr wrap="square">
            <a:spAutoFit/>
          </a:bodyPr>
          <a:lstStyle/>
          <a:p>
            <a:pPr marL="285750" indent="-285750">
              <a:buFont typeface="Wingdings" panose="05000000000000000000" pitchFamily="2" charset="2"/>
              <a:buChar char="u"/>
            </a:pPr>
            <a:r>
              <a:rPr lang="zh-CN" altLang="en-US" dirty="0"/>
              <a:t> </a:t>
            </a:r>
            <a:r>
              <a:rPr lang="zh-CN" altLang="en-US" sz="2800" b="1" dirty="0"/>
              <a:t>被测物质是</a:t>
            </a:r>
            <a:r>
              <a:rPr lang="zh-CN" altLang="en-US" sz="2800" b="1" dirty="0">
                <a:solidFill>
                  <a:srgbClr val="FF0000"/>
                </a:solidFill>
              </a:rPr>
              <a:t>透明的物质</a:t>
            </a:r>
            <a:r>
              <a:rPr lang="zh-CN" altLang="en-US" sz="2800" b="1" dirty="0"/>
              <a:t>，物质内部只发生光的吸收，</a:t>
            </a:r>
            <a:r>
              <a:rPr lang="zh-CN" altLang="en-US" sz="2800" b="1" dirty="0">
                <a:solidFill>
                  <a:srgbClr val="FF0000"/>
                </a:solidFill>
              </a:rPr>
              <a:t>没有光的反射</a:t>
            </a:r>
            <a:r>
              <a:rPr lang="zh-CN" altLang="en-US" sz="2800" b="1" dirty="0"/>
              <a:t>、</a:t>
            </a:r>
            <a:r>
              <a:rPr lang="zh-CN" altLang="en-US" sz="2800" b="1" dirty="0">
                <a:solidFill>
                  <a:srgbClr val="FF0000"/>
                </a:solidFill>
              </a:rPr>
              <a:t>散射</a:t>
            </a:r>
            <a:r>
              <a:rPr lang="zh-CN" altLang="en-US" sz="2800" b="1" dirty="0"/>
              <a:t>、</a:t>
            </a:r>
            <a:r>
              <a:rPr lang="zh-CN" altLang="en-US" sz="2800" b="1" dirty="0">
                <a:solidFill>
                  <a:srgbClr val="FF0000"/>
                </a:solidFill>
              </a:rPr>
              <a:t>荧光</a:t>
            </a:r>
            <a:r>
              <a:rPr lang="zh-CN" altLang="en-US" sz="2800" b="1" dirty="0"/>
              <a:t>等其他现象发生时，其吸光度遵循朗伯</a:t>
            </a:r>
            <a:r>
              <a:rPr lang="en-US" altLang="zh-CN" sz="2800" b="1" dirty="0"/>
              <a:t>-</a:t>
            </a:r>
            <a:r>
              <a:rPr lang="zh-CN" altLang="en-US" sz="2800" b="1" dirty="0"/>
              <a:t>比尔定律</a:t>
            </a:r>
            <a:r>
              <a:rPr lang="en-US" altLang="zh-CN" sz="2800" b="1" dirty="0"/>
              <a:t>:</a:t>
            </a:r>
            <a:endParaRPr lang="zh-CN" altLang="en-US" sz="2800" b="1" dirty="0"/>
          </a:p>
        </p:txBody>
      </p:sp>
      <p:sp>
        <p:nvSpPr>
          <p:cNvPr id="5" name="圆角矩形 4"/>
          <p:cNvSpPr/>
          <p:nvPr/>
        </p:nvSpPr>
        <p:spPr>
          <a:xfrm>
            <a:off x="2496458" y="1526585"/>
            <a:ext cx="5675086" cy="163753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6" name="对象 5"/>
          <p:cNvGraphicFramePr>
            <a:graphicFrameLocks noChangeAspect="1"/>
          </p:cNvGraphicFramePr>
          <p:nvPr/>
        </p:nvGraphicFramePr>
        <p:xfrm>
          <a:off x="2746602" y="1764654"/>
          <a:ext cx="5174797" cy="1161392"/>
        </p:xfrm>
        <a:graphic>
          <a:graphicData uri="http://schemas.openxmlformats.org/presentationml/2006/ole">
            <p:oleObj spid="_x0000_s9348" r:id="rId4" imgW="4293360" imgH="930960" progId="Equation.3">
              <p:embed/>
            </p:oleObj>
          </a:graphicData>
        </a:graphic>
      </p:graphicFrame>
      <p:graphicFrame>
        <p:nvGraphicFramePr>
          <p:cNvPr id="7" name="对象 6">
            <a:hlinkClick r:id="" action="ppaction://ole?verb=0"/>
          </p:cNvPr>
          <p:cNvGraphicFramePr>
            <a:graphicFrameLocks noChangeAspect="1"/>
          </p:cNvGraphicFramePr>
          <p:nvPr/>
        </p:nvGraphicFramePr>
        <p:xfrm>
          <a:off x="630464" y="3439660"/>
          <a:ext cx="1220788" cy="474662"/>
        </p:xfrm>
        <a:graphic>
          <a:graphicData uri="http://schemas.openxmlformats.org/presentationml/2006/ole">
            <p:oleObj spid="_x0000_s9349" r:id="rId5" imgW="1221120" imgH="279360" progId="Equation.3">
              <p:embed/>
            </p:oleObj>
          </a:graphicData>
        </a:graphic>
      </p:graphicFrame>
      <p:graphicFrame>
        <p:nvGraphicFramePr>
          <p:cNvPr id="8" name="对象 7">
            <a:hlinkClick r:id="" action="ppaction://ole?verb=0"/>
          </p:cNvPr>
          <p:cNvGraphicFramePr>
            <a:graphicFrameLocks noChangeAspect="1"/>
          </p:cNvGraphicFramePr>
          <p:nvPr/>
        </p:nvGraphicFramePr>
        <p:xfrm>
          <a:off x="624114" y="4003222"/>
          <a:ext cx="1227138" cy="439738"/>
        </p:xfrm>
        <a:graphic>
          <a:graphicData uri="http://schemas.openxmlformats.org/presentationml/2006/ole">
            <p:oleObj spid="_x0000_s9350" r:id="rId6" imgW="368280" imgH="228600" progId="Equation.3">
              <p:embed/>
            </p:oleObj>
          </a:graphicData>
        </a:graphic>
      </p:graphicFrame>
      <p:graphicFrame>
        <p:nvGraphicFramePr>
          <p:cNvPr id="9" name="对象 8">
            <a:hlinkClick r:id="" action="ppaction://ole?verb=0"/>
          </p:cNvPr>
          <p:cNvGraphicFramePr>
            <a:graphicFrameLocks noChangeAspect="1"/>
          </p:cNvGraphicFramePr>
          <p:nvPr/>
        </p:nvGraphicFramePr>
        <p:xfrm>
          <a:off x="624114" y="4614410"/>
          <a:ext cx="1104900" cy="457200"/>
        </p:xfrm>
        <a:graphic>
          <a:graphicData uri="http://schemas.openxmlformats.org/presentationml/2006/ole">
            <p:oleObj spid="_x0000_s9351" r:id="rId7" imgW="355320" imgH="228600" progId="Equation.3">
              <p:embed/>
            </p:oleObj>
          </a:graphicData>
        </a:graphic>
      </p:graphicFrame>
      <p:graphicFrame>
        <p:nvGraphicFramePr>
          <p:cNvPr id="10" name="对象 9">
            <a:hlinkClick r:id="" action="ppaction://ole?verb=0"/>
          </p:cNvPr>
          <p:cNvGraphicFramePr>
            <a:graphicFrameLocks noChangeAspect="1"/>
          </p:cNvGraphicFramePr>
          <p:nvPr/>
        </p:nvGraphicFramePr>
        <p:xfrm>
          <a:off x="719364" y="5192260"/>
          <a:ext cx="912813" cy="442912"/>
        </p:xfrm>
        <a:graphic>
          <a:graphicData uri="http://schemas.openxmlformats.org/presentationml/2006/ole">
            <p:oleObj spid="_x0000_s9352" r:id="rId8" imgW="444240" imgH="203040" progId="Equation.3">
              <p:embed/>
            </p:oleObj>
          </a:graphicData>
        </a:graphic>
      </p:graphicFrame>
      <p:graphicFrame>
        <p:nvGraphicFramePr>
          <p:cNvPr id="11" name="对象 10">
            <a:hlinkClick r:id="" action="ppaction://ole?verb=0"/>
          </p:cNvPr>
          <p:cNvGraphicFramePr>
            <a:graphicFrameLocks noChangeAspect="1"/>
          </p:cNvGraphicFramePr>
          <p:nvPr/>
        </p:nvGraphicFramePr>
        <p:xfrm>
          <a:off x="554264" y="5635172"/>
          <a:ext cx="1022350" cy="444500"/>
        </p:xfrm>
        <a:graphic>
          <a:graphicData uri="http://schemas.openxmlformats.org/presentationml/2006/ole">
            <p:oleObj spid="_x0000_s9353" r:id="rId9" imgW="558720" imgH="177480" progId="Equation.3">
              <p:embed/>
            </p:oleObj>
          </a:graphicData>
        </a:graphic>
      </p:graphicFrame>
      <p:sp>
        <p:nvSpPr>
          <p:cNvPr id="13" name="文本框 19"/>
          <p:cNvSpPr txBox="1"/>
          <p:nvPr/>
        </p:nvSpPr>
        <p:spPr>
          <a:xfrm>
            <a:off x="1170781" y="3342699"/>
            <a:ext cx="10687390" cy="3354765"/>
          </a:xfrm>
          <a:prstGeom prst="rect">
            <a:avLst/>
          </a:prstGeom>
          <a:noFill/>
        </p:spPr>
        <p:txBody>
          <a:bodyPr wrap="square" rtlCol="0">
            <a:spAutoFit/>
          </a:bodyPr>
          <a:lstStyle/>
          <a:p>
            <a:r>
              <a:rPr lang="en-US" altLang="zh-CN" sz="3200" dirty="0"/>
              <a:t>          </a:t>
            </a:r>
            <a:r>
              <a:rPr lang="en-US" altLang="zh-CN" sz="3600" b="1" dirty="0"/>
              <a:t>-----</a:t>
            </a:r>
            <a:r>
              <a:rPr lang="zh-CN" altLang="en-US" sz="3600" b="1" dirty="0"/>
              <a:t>被测物的吸光度（或称绝对吸光度</a:t>
            </a:r>
            <a:r>
              <a:rPr lang="zh-CN" altLang="en-US" sz="3600" b="1" dirty="0" smtClean="0"/>
              <a:t>）              </a:t>
            </a:r>
            <a:endParaRPr lang="zh-CN" altLang="en-US" sz="3600" b="1" dirty="0"/>
          </a:p>
          <a:p>
            <a:r>
              <a:rPr lang="zh-CN" altLang="en-US" sz="3600" b="1" dirty="0"/>
              <a:t>         </a:t>
            </a:r>
            <a:r>
              <a:rPr lang="en-US" altLang="zh-CN" sz="3600" b="1" dirty="0"/>
              <a:t>-----</a:t>
            </a:r>
            <a:r>
              <a:rPr lang="zh-CN" altLang="en-US" sz="3600" b="1" dirty="0"/>
              <a:t>入射光强</a:t>
            </a:r>
            <a:r>
              <a:rPr lang="zh-CN" altLang="en-US" sz="3600" b="1" dirty="0" smtClean="0"/>
              <a:t>度</a:t>
            </a:r>
            <a:endParaRPr lang="en-US" altLang="zh-CN" sz="3600" b="1" dirty="0" smtClean="0"/>
          </a:p>
          <a:p>
            <a:r>
              <a:rPr lang="en-US" altLang="zh-CN" sz="3600" b="1" dirty="0"/>
              <a:t> </a:t>
            </a:r>
            <a:r>
              <a:rPr lang="en-US" altLang="zh-CN" sz="3600" b="1" dirty="0" smtClean="0"/>
              <a:t>     </a:t>
            </a:r>
            <a:r>
              <a:rPr lang="zh-CN" altLang="en-US" sz="3600" b="1" dirty="0" smtClean="0"/>
              <a:t>  </a:t>
            </a:r>
            <a:r>
              <a:rPr lang="en-US" altLang="zh-CN" sz="3600" b="1" dirty="0"/>
              <a:t>-------</a:t>
            </a:r>
            <a:r>
              <a:rPr lang="zh-CN" altLang="en-US" sz="3600" b="1" dirty="0"/>
              <a:t>透射光强度</a:t>
            </a:r>
          </a:p>
          <a:p>
            <a:r>
              <a:rPr lang="en-US" altLang="zh-CN" sz="3600" b="1" dirty="0"/>
              <a:t> </a:t>
            </a:r>
            <a:r>
              <a:rPr lang="en-US" altLang="zh-CN" sz="3600" b="1" dirty="0" smtClean="0"/>
              <a:t>       -------</a:t>
            </a:r>
            <a:r>
              <a:rPr lang="zh-CN" altLang="en-US" sz="3600" b="1" dirty="0"/>
              <a:t>透色比</a:t>
            </a:r>
          </a:p>
          <a:p>
            <a:r>
              <a:rPr lang="en-US" altLang="zh-CN" sz="3600" b="1" dirty="0" smtClean="0"/>
              <a:t>       -------</a:t>
            </a:r>
            <a:r>
              <a:rPr lang="zh-CN" altLang="en-US" sz="3600" b="1" dirty="0"/>
              <a:t>摩尔吸光系数、被测物质浓度和光程长度</a:t>
            </a:r>
          </a:p>
          <a:p>
            <a:r>
              <a:rPr lang="en-US" altLang="zh-CN" dirty="0"/>
              <a:t>   </a:t>
            </a:r>
            <a:r>
              <a:rPr lang="en-US" altLang="zh-CN" sz="3200" dirty="0"/>
              <a:t>     </a:t>
            </a:r>
            <a:r>
              <a:rPr lang="en-US" altLang="zh-CN" dirty="0"/>
              <a:t>                </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0" y="6327775"/>
            <a:ext cx="12193588" cy="530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 name="TextBox 1"/>
          <p:cNvSpPr txBox="1"/>
          <p:nvPr/>
        </p:nvSpPr>
        <p:spPr>
          <a:xfrm>
            <a:off x="711200" y="406400"/>
            <a:ext cx="10348686" cy="1077218"/>
          </a:xfrm>
          <a:prstGeom prst="rect">
            <a:avLst/>
          </a:prstGeom>
          <a:noFill/>
        </p:spPr>
        <p:txBody>
          <a:bodyPr wrap="square" rtlCol="0">
            <a:spAutoFit/>
          </a:bodyPr>
          <a:lstStyle/>
          <a:p>
            <a:pPr marL="457200" indent="-457200">
              <a:buFont typeface="Wingdings" panose="05000000000000000000" pitchFamily="2" charset="2"/>
              <a:buChar char="u"/>
            </a:pPr>
            <a:r>
              <a:rPr lang="zh-CN" altLang="en-US" sz="3200" b="1" dirty="0"/>
              <a:t>采用在</a:t>
            </a:r>
            <a:r>
              <a:rPr lang="zh-CN" altLang="en-US" sz="3200" b="1" dirty="0">
                <a:solidFill>
                  <a:srgbClr val="FF0000"/>
                </a:solidFill>
              </a:rPr>
              <a:t>另一等同</a:t>
            </a:r>
            <a:r>
              <a:rPr lang="zh-CN" altLang="en-US" sz="3200" b="1" dirty="0"/>
              <a:t>的吸收池中放入</a:t>
            </a:r>
            <a:r>
              <a:rPr lang="zh-CN" altLang="en-US" sz="3200" b="1" dirty="0">
                <a:solidFill>
                  <a:srgbClr val="FF0000"/>
                </a:solidFill>
              </a:rPr>
              <a:t>标准物质</a:t>
            </a:r>
            <a:r>
              <a:rPr lang="zh-CN" altLang="en-US" sz="3200" b="1" dirty="0"/>
              <a:t>（也称为参比）与被分析物质的透射强度进行</a:t>
            </a:r>
            <a:r>
              <a:rPr lang="zh-CN" altLang="en-US" sz="3200" b="1" dirty="0" smtClean="0"/>
              <a:t>比较参</a:t>
            </a:r>
            <a:r>
              <a:rPr lang="zh-CN" altLang="en-US" sz="3200" b="1" dirty="0"/>
              <a:t>比：</a:t>
            </a:r>
          </a:p>
        </p:txBody>
      </p:sp>
      <p:graphicFrame>
        <p:nvGraphicFramePr>
          <p:cNvPr id="3" name="对象 2">
            <a:hlinkClick r:id="" action="ppaction://ole?verb=0"/>
          </p:cNvPr>
          <p:cNvGraphicFramePr>
            <a:graphicFrameLocks noChangeAspect="1"/>
          </p:cNvGraphicFramePr>
          <p:nvPr/>
        </p:nvGraphicFramePr>
        <p:xfrm>
          <a:off x="1824604" y="1804874"/>
          <a:ext cx="2215543" cy="1243126"/>
        </p:xfrm>
        <a:graphic>
          <a:graphicData uri="http://schemas.openxmlformats.org/presentationml/2006/ole">
            <p:oleObj spid="_x0000_s224260" r:id="rId4" imgW="838080" imgH="431640" progId="Equation.3">
              <p:embed/>
            </p:oleObj>
          </a:graphicData>
        </a:graphic>
      </p:graphicFrame>
      <p:sp>
        <p:nvSpPr>
          <p:cNvPr id="4" name="矩形 3"/>
          <p:cNvSpPr/>
          <p:nvPr/>
        </p:nvSpPr>
        <p:spPr>
          <a:xfrm>
            <a:off x="1452053" y="2937555"/>
            <a:ext cx="6096000" cy="2308324"/>
          </a:xfrm>
          <a:prstGeom prst="rect">
            <a:avLst/>
          </a:prstGeom>
        </p:spPr>
        <p:txBody>
          <a:bodyPr>
            <a:spAutoFit/>
          </a:bodyPr>
          <a:lstStyle/>
          <a:p>
            <a:endParaRPr lang="zh-CN" altLang="en-US" dirty="0"/>
          </a:p>
          <a:p>
            <a:r>
              <a:rPr lang="zh-CN" altLang="en-US" dirty="0"/>
              <a:t>            </a:t>
            </a:r>
            <a:r>
              <a:rPr lang="en-US" altLang="zh-CN" sz="3600" b="1" dirty="0"/>
              <a:t>-------</a:t>
            </a:r>
            <a:r>
              <a:rPr lang="zh-CN" altLang="en-US" sz="3600" b="1" dirty="0"/>
              <a:t>标准溶液</a:t>
            </a:r>
          </a:p>
          <a:p>
            <a:r>
              <a:rPr lang="zh-CN" altLang="en-US" sz="3600" b="1" dirty="0"/>
              <a:t>     </a:t>
            </a:r>
            <a:r>
              <a:rPr lang="zh-CN" altLang="en-US" sz="3600" b="1" dirty="0" smtClean="0"/>
              <a:t> </a:t>
            </a:r>
            <a:r>
              <a:rPr lang="en-US" altLang="zh-CN" sz="3600" b="1" dirty="0"/>
              <a:t>--------</a:t>
            </a:r>
            <a:r>
              <a:rPr lang="zh-CN" altLang="en-US" sz="3600" b="1" dirty="0"/>
              <a:t>试验溶液</a:t>
            </a:r>
          </a:p>
          <a:p>
            <a:r>
              <a:rPr lang="zh-CN" altLang="en-US" sz="3600" b="1" dirty="0"/>
              <a:t>      </a:t>
            </a:r>
            <a:r>
              <a:rPr lang="en-US" altLang="zh-CN" sz="3600" b="1" dirty="0" smtClean="0"/>
              <a:t>--------</a:t>
            </a:r>
            <a:r>
              <a:rPr lang="zh-CN" altLang="en-US" sz="3600" b="1" dirty="0"/>
              <a:t>相对透射比</a:t>
            </a:r>
          </a:p>
          <a:p>
            <a:r>
              <a:rPr lang="zh-CN" altLang="en-US" dirty="0"/>
              <a:t>          </a:t>
            </a:r>
          </a:p>
        </p:txBody>
      </p:sp>
      <p:pic>
        <p:nvPicPr>
          <p:cNvPr id="10243" name="Picture 3"/>
          <p:cNvPicPr>
            <a:picLocks noChangeAspect="1" noChangeArrowheads="1"/>
          </p:cNvPicPr>
          <p:nvPr/>
        </p:nvPicPr>
        <p:blipFill>
          <a:blip r:embed="rId5">
            <a:extLst>
              <a:ext uri="{28A0092B-C50C-407E-A947-70E740481C1C}">
                <a14:useLocalDpi xmlns:a14="http://schemas.microsoft.com/office/drawing/2010/main" xmlns="" val="0"/>
              </a:ext>
            </a:extLst>
          </a:blip>
          <a:srcRect/>
          <a:stretch>
            <a:fillRect/>
          </a:stretch>
        </p:blipFill>
        <p:spPr bwMode="auto">
          <a:xfrm>
            <a:off x="711200" y="3260756"/>
            <a:ext cx="1578770" cy="50119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graphicFrame>
        <p:nvGraphicFramePr>
          <p:cNvPr id="5" name="对象 4">
            <a:hlinkClick r:id="" action="ppaction://ole?verb=0"/>
          </p:cNvPr>
          <p:cNvGraphicFramePr>
            <a:graphicFrameLocks noChangeAspect="1"/>
          </p:cNvGraphicFramePr>
          <p:nvPr/>
        </p:nvGraphicFramePr>
        <p:xfrm>
          <a:off x="1097814" y="4423189"/>
          <a:ext cx="1066800" cy="468312"/>
        </p:xfrm>
        <a:graphic>
          <a:graphicData uri="http://schemas.openxmlformats.org/presentationml/2006/ole">
            <p:oleObj spid="_x0000_s224259" r:id="rId6" imgW="355320" imgH="228600" progId="Equation.3">
              <p:embed/>
            </p:oleObj>
          </a:graphicData>
        </a:graphic>
      </p:graphicFrame>
      <p:graphicFrame>
        <p:nvGraphicFramePr>
          <p:cNvPr id="6" name="对象 5">
            <a:hlinkClick r:id="" action="ppaction://ole?verb=0"/>
          </p:cNvPr>
          <p:cNvGraphicFramePr>
            <a:graphicFrameLocks noChangeAspect="1"/>
          </p:cNvGraphicFramePr>
          <p:nvPr/>
        </p:nvGraphicFramePr>
        <p:xfrm>
          <a:off x="1188528" y="3812764"/>
          <a:ext cx="914400" cy="508693"/>
        </p:xfrm>
        <a:graphic>
          <a:graphicData uri="http://schemas.openxmlformats.org/presentationml/2006/ole">
            <p:oleObj spid="_x0000_s224258" r:id="rId7" imgW="342720" imgH="203040" progId="Equation.3">
              <p:embed/>
            </p:oleObj>
          </a:graphicData>
        </a:graphic>
      </p:graphicFrame>
      <p:pic>
        <p:nvPicPr>
          <p:cNvPr id="10246" name="Picture 6"/>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5885543" y="1483617"/>
            <a:ext cx="154930" cy="415375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graphicFrame>
        <p:nvGraphicFramePr>
          <p:cNvPr id="7" name="对象 6">
            <a:hlinkClick r:id="" action="ppaction://ole?verb=0"/>
          </p:cNvPr>
          <p:cNvGraphicFramePr>
            <a:graphicFrameLocks noChangeAspect="1"/>
          </p:cNvGraphicFramePr>
          <p:nvPr/>
        </p:nvGraphicFramePr>
        <p:xfrm>
          <a:off x="6241143" y="1725511"/>
          <a:ext cx="5138057" cy="1337004"/>
        </p:xfrm>
        <a:graphic>
          <a:graphicData uri="http://schemas.openxmlformats.org/presentationml/2006/ole">
            <p:oleObj spid="_x0000_s224257" r:id="rId8" imgW="1739880" imgH="431640" progId="Equation.3">
              <p:embed/>
            </p:oleObj>
          </a:graphicData>
        </a:graphic>
      </p:graphicFrame>
      <p:sp>
        <p:nvSpPr>
          <p:cNvPr id="8" name="矩形 7"/>
          <p:cNvSpPr/>
          <p:nvPr/>
        </p:nvSpPr>
        <p:spPr>
          <a:xfrm>
            <a:off x="7098233" y="3702088"/>
            <a:ext cx="5234125" cy="1077218"/>
          </a:xfrm>
          <a:prstGeom prst="rect">
            <a:avLst/>
          </a:prstGeom>
        </p:spPr>
        <p:txBody>
          <a:bodyPr wrap="none">
            <a:spAutoFit/>
          </a:bodyPr>
          <a:lstStyle/>
          <a:p>
            <a:r>
              <a:rPr lang="en-US" altLang="zh-CN" sz="3200" b="1" dirty="0"/>
              <a:t>--------</a:t>
            </a:r>
            <a:r>
              <a:rPr lang="zh-CN" altLang="en-US" sz="3200" b="1" dirty="0"/>
              <a:t>相对</a:t>
            </a:r>
            <a:r>
              <a:rPr lang="zh-CN" altLang="en-US" sz="3200" b="1" dirty="0" smtClean="0"/>
              <a:t>吸光度</a:t>
            </a:r>
            <a:endParaRPr lang="en-US" altLang="zh-CN" sz="3200" b="1" dirty="0" smtClean="0"/>
          </a:p>
          <a:p>
            <a:r>
              <a:rPr lang="en-US" altLang="zh-CN" sz="3200" b="1" dirty="0"/>
              <a:t> </a:t>
            </a:r>
            <a:r>
              <a:rPr lang="en-US" altLang="zh-CN" sz="3200" b="1" dirty="0" smtClean="0"/>
              <a:t>        </a:t>
            </a:r>
            <a:r>
              <a:rPr lang="zh-CN" altLang="en-US" sz="3200" b="1" dirty="0" smtClean="0"/>
              <a:t>（应用</a:t>
            </a:r>
            <a:r>
              <a:rPr lang="zh-CN" altLang="en-US" sz="3200" b="1" dirty="0"/>
              <a:t>时通称</a:t>
            </a:r>
            <a:r>
              <a:rPr lang="zh-CN" altLang="en-US" sz="3200" b="1" dirty="0" smtClean="0"/>
              <a:t>吸光度） </a:t>
            </a:r>
            <a:endParaRPr lang="zh-CN" altLang="en-US" sz="3200" b="1" dirty="0"/>
          </a:p>
        </p:txBody>
      </p:sp>
      <p:pic>
        <p:nvPicPr>
          <p:cNvPr id="10248" name="Picture 8"/>
          <p:cNvPicPr>
            <a:picLocks noChangeAspect="1" noChangeArrowheads="1"/>
          </p:cNvPicPr>
          <p:nvPr/>
        </p:nvPicPr>
        <p:blipFill>
          <a:blip r:embed="rId9">
            <a:extLst>
              <a:ext uri="{28A0092B-C50C-407E-A947-70E740481C1C}">
                <a14:useLocalDpi xmlns:a14="http://schemas.microsoft.com/office/drawing/2010/main" xmlns="" val="0"/>
              </a:ext>
            </a:extLst>
          </a:blip>
          <a:srcRect/>
          <a:stretch>
            <a:fillRect/>
          </a:stretch>
        </p:blipFill>
        <p:spPr bwMode="auto">
          <a:xfrm>
            <a:off x="5978270" y="3779588"/>
            <a:ext cx="1348892" cy="547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0" y="6334579"/>
            <a:ext cx="12193588" cy="530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1266"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0" y="0"/>
            <a:ext cx="8686800" cy="914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 name="矩形 1"/>
          <p:cNvSpPr/>
          <p:nvPr/>
        </p:nvSpPr>
        <p:spPr>
          <a:xfrm>
            <a:off x="348523" y="134034"/>
            <a:ext cx="11843478" cy="1200329"/>
          </a:xfrm>
          <a:prstGeom prst="rect">
            <a:avLst/>
          </a:prstGeom>
        </p:spPr>
        <p:txBody>
          <a:bodyPr wrap="square">
            <a:spAutoFit/>
          </a:bodyPr>
          <a:lstStyle/>
          <a:p>
            <a:r>
              <a:rPr lang="en-US" altLang="zh-CN" sz="3600" b="1" dirty="0" smtClean="0">
                <a:latin typeface="微软雅黑" panose="020B0503020204020204" pitchFamily="34" charset="-122"/>
                <a:ea typeface="微软雅黑" panose="020B0503020204020204" pitchFamily="34" charset="-122"/>
                <a:sym typeface="+mn-ea"/>
              </a:rPr>
              <a:t>2</a:t>
            </a:r>
            <a:r>
              <a:rPr lang="zh-CN" altLang="en-US" sz="3600" b="1" dirty="0" smtClean="0">
                <a:latin typeface="微软雅黑" panose="020B0503020204020204" pitchFamily="34" charset="-122"/>
                <a:ea typeface="微软雅黑" panose="020B0503020204020204" pitchFamily="34" charset="-122"/>
                <a:sym typeface="+mn-ea"/>
              </a:rPr>
              <a:t>、反射光谱法</a:t>
            </a:r>
            <a:r>
              <a:rPr lang="zh-CN" altLang="en-US" sz="3600" dirty="0">
                <a:sym typeface="+mn-ea"/>
              </a:rPr>
              <a:t>（多指长波近红外区，波长一般</a:t>
            </a:r>
            <a:r>
              <a:rPr lang="zh-CN" altLang="en-US" sz="3600" dirty="0" smtClean="0">
                <a:sym typeface="+mn-ea"/>
              </a:rPr>
              <a:t>在</a:t>
            </a:r>
            <a:endParaRPr lang="en-US" altLang="zh-CN" sz="3600" dirty="0" smtClean="0">
              <a:sym typeface="+mn-ea"/>
            </a:endParaRPr>
          </a:p>
          <a:p>
            <a:r>
              <a:rPr lang="en-US" altLang="zh-CN" sz="3600" dirty="0">
                <a:sym typeface="+mn-ea"/>
              </a:rPr>
              <a:t> </a:t>
            </a:r>
            <a:r>
              <a:rPr lang="en-US" altLang="zh-CN" sz="3600" dirty="0" smtClean="0">
                <a:sym typeface="+mn-ea"/>
              </a:rPr>
              <a:t>                               </a:t>
            </a:r>
            <a:r>
              <a:rPr lang="en-US" altLang="zh-CN" sz="3600" dirty="0">
                <a:sym typeface="+mn-ea"/>
              </a:rPr>
              <a:t>1100~2500nm</a:t>
            </a:r>
            <a:r>
              <a:rPr lang="zh-CN" altLang="en-US" sz="3600" dirty="0">
                <a:sym typeface="+mn-ea"/>
              </a:rPr>
              <a:t>范围内</a:t>
            </a:r>
            <a:r>
              <a:rPr lang="zh-CN" altLang="en-US" sz="3600" dirty="0" smtClean="0">
                <a:sym typeface="+mn-ea"/>
              </a:rPr>
              <a:t>）</a:t>
            </a:r>
            <a:endParaRPr lang="zh-CN" altLang="en-US" sz="3600" dirty="0"/>
          </a:p>
        </p:txBody>
      </p:sp>
      <p:sp>
        <p:nvSpPr>
          <p:cNvPr id="3" name="矩形 2"/>
          <p:cNvSpPr/>
          <p:nvPr/>
        </p:nvSpPr>
        <p:spPr>
          <a:xfrm>
            <a:off x="704032" y="2291572"/>
            <a:ext cx="5159739" cy="2062103"/>
          </a:xfrm>
          <a:prstGeom prst="rect">
            <a:avLst/>
          </a:prstGeom>
        </p:spPr>
        <p:txBody>
          <a:bodyPr wrap="square">
            <a:spAutoFit/>
          </a:bodyPr>
          <a:lstStyle/>
          <a:p>
            <a:r>
              <a:rPr lang="zh-CN" altLang="en-US" sz="3200" b="1" dirty="0">
                <a:solidFill>
                  <a:srgbClr val="FF0000"/>
                </a:solidFill>
                <a:sym typeface="+mn-ea"/>
              </a:rPr>
              <a:t>定义：</a:t>
            </a:r>
            <a:r>
              <a:rPr lang="zh-CN" altLang="en-US" sz="3200" b="1" dirty="0">
                <a:sym typeface="+mn-ea"/>
              </a:rPr>
              <a:t>是指测器和光源置于样品的同一侧，检测器所检测的是样品以各种方式反射回来的光。</a:t>
            </a:r>
            <a:endParaRPr lang="zh-CN" altLang="en-US" sz="3200" b="1" dirty="0"/>
          </a:p>
        </p:txBody>
      </p:sp>
      <p:pic>
        <p:nvPicPr>
          <p:cNvPr id="11267" name="Picture 3"/>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6531430" y="1478163"/>
            <a:ext cx="5368666" cy="4356580"/>
          </a:xfrm>
          <a:prstGeom prst="snip2DiagRect">
            <a:avLst/>
          </a:prstGeom>
          <a:solidFill>
            <a:srgbClr val="FFFFFF">
              <a:shade val="85000"/>
            </a:srgbClr>
          </a:solidFill>
          <a:ln w="88900" cap="sq">
            <a:solidFill>
              <a:srgbClr val="FFFFFF"/>
            </a:solidFill>
            <a:miter lim="800000"/>
            <a:headEnd/>
            <a:tailEnd/>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0" y="6334579"/>
            <a:ext cx="12193588" cy="530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 name="矩形 1"/>
          <p:cNvSpPr/>
          <p:nvPr/>
        </p:nvSpPr>
        <p:spPr>
          <a:xfrm>
            <a:off x="965994" y="493264"/>
            <a:ext cx="10261600" cy="1077218"/>
          </a:xfrm>
          <a:prstGeom prst="rect">
            <a:avLst/>
          </a:prstGeom>
        </p:spPr>
        <p:txBody>
          <a:bodyPr wrap="square">
            <a:spAutoFit/>
          </a:bodyPr>
          <a:lstStyle/>
          <a:p>
            <a:pPr marL="571500" indent="-571500">
              <a:buFont typeface="Wingdings" panose="05000000000000000000" pitchFamily="2" charset="2"/>
              <a:buChar char="u"/>
            </a:pPr>
            <a:r>
              <a:rPr lang="zh-CN" altLang="en-US" sz="3200" b="1" dirty="0">
                <a:latin typeface="微软雅黑" panose="020B0503020204020204" pitchFamily="34" charset="-122"/>
                <a:ea typeface="微软雅黑" panose="020B0503020204020204" pitchFamily="34" charset="-122"/>
              </a:rPr>
              <a:t>在探讨漫反射光强度与样品浓度之间关系时，引入</a:t>
            </a:r>
            <a:r>
              <a:rPr lang="en-US" altLang="zh-CN" sz="3200" b="1" dirty="0" err="1">
                <a:latin typeface="微软雅黑" panose="020B0503020204020204" pitchFamily="34" charset="-122"/>
                <a:ea typeface="微软雅黑" panose="020B0503020204020204" pitchFamily="34" charset="-122"/>
              </a:rPr>
              <a:t>Kubelka-Munk</a:t>
            </a:r>
            <a:r>
              <a:rPr lang="zh-CN" altLang="en-US" sz="3200" b="1" dirty="0">
                <a:latin typeface="微软雅黑" panose="020B0503020204020204" pitchFamily="34" charset="-122"/>
                <a:ea typeface="微软雅黑" panose="020B0503020204020204" pitchFamily="34" charset="-122"/>
              </a:rPr>
              <a:t>方程：</a:t>
            </a:r>
          </a:p>
        </p:txBody>
      </p:sp>
      <p:graphicFrame>
        <p:nvGraphicFramePr>
          <p:cNvPr id="4" name="对象 3">
            <a:hlinkClick r:id="" action="ppaction://ole?verb=0"/>
          </p:cNvPr>
          <p:cNvGraphicFramePr>
            <a:graphicFrameLocks noChangeAspect="1"/>
          </p:cNvGraphicFramePr>
          <p:nvPr/>
        </p:nvGraphicFramePr>
        <p:xfrm>
          <a:off x="4665209" y="1821543"/>
          <a:ext cx="2073275" cy="1271588"/>
        </p:xfrm>
        <a:graphic>
          <a:graphicData uri="http://schemas.openxmlformats.org/presentationml/2006/ole">
            <p:oleObj spid="_x0000_s225282" r:id="rId4" imgW="863280" imgH="457200" progId="Equation.3">
              <p:embed/>
            </p:oleObj>
          </a:graphicData>
        </a:graphic>
      </p:graphicFrame>
      <p:sp>
        <p:nvSpPr>
          <p:cNvPr id="5" name="TextBox 4"/>
          <p:cNvSpPr txBox="1"/>
          <p:nvPr/>
        </p:nvSpPr>
        <p:spPr>
          <a:xfrm>
            <a:off x="7474855" y="1915886"/>
            <a:ext cx="566057" cy="1077218"/>
          </a:xfrm>
          <a:prstGeom prst="rect">
            <a:avLst/>
          </a:prstGeom>
          <a:noFill/>
        </p:spPr>
        <p:txBody>
          <a:bodyPr wrap="square" rtlCol="0">
            <a:spAutoFit/>
          </a:bodyPr>
          <a:lstStyle/>
          <a:p>
            <a:r>
              <a:rPr lang="zh-CN" altLang="en-US" dirty="0"/>
              <a:t> </a:t>
            </a:r>
            <a:r>
              <a:rPr lang="zh-CN" altLang="en-US" sz="2800" dirty="0"/>
              <a:t>①</a:t>
            </a:r>
            <a:endParaRPr lang="zh-CN" altLang="en-US" dirty="0"/>
          </a:p>
          <a:p>
            <a:endParaRPr lang="zh-CN" altLang="en-US" dirty="0"/>
          </a:p>
        </p:txBody>
      </p:sp>
      <p:sp>
        <p:nvSpPr>
          <p:cNvPr id="6" name="矩形 5"/>
          <p:cNvSpPr/>
          <p:nvPr/>
        </p:nvSpPr>
        <p:spPr>
          <a:xfrm>
            <a:off x="1494971" y="3256393"/>
            <a:ext cx="9245599" cy="3046988"/>
          </a:xfrm>
          <a:prstGeom prst="rect">
            <a:avLst/>
          </a:prstGeom>
        </p:spPr>
        <p:txBody>
          <a:bodyPr wrap="square">
            <a:spAutoFit/>
          </a:bodyPr>
          <a:lstStyle/>
          <a:p>
            <a:r>
              <a:rPr lang="en-US" altLang="zh-CN" sz="3200" dirty="0"/>
              <a:t>K -------</a:t>
            </a:r>
            <a:r>
              <a:rPr lang="zh-CN" altLang="en-US" sz="3200" dirty="0"/>
              <a:t>试料的吸收系数（单位面积，单位深度）</a:t>
            </a:r>
          </a:p>
          <a:p>
            <a:r>
              <a:rPr lang="en-US" altLang="zh-CN" sz="3200" dirty="0" smtClean="0"/>
              <a:t>S  </a:t>
            </a:r>
            <a:r>
              <a:rPr lang="en-US" altLang="zh-CN" sz="3200" dirty="0"/>
              <a:t>-------</a:t>
            </a:r>
            <a:r>
              <a:rPr lang="zh-CN" altLang="en-US" sz="3200" dirty="0"/>
              <a:t>试料散射系数</a:t>
            </a:r>
          </a:p>
          <a:p>
            <a:r>
              <a:rPr lang="zh-CN" altLang="en-US" sz="3200" dirty="0"/>
              <a:t>    </a:t>
            </a:r>
            <a:r>
              <a:rPr lang="en-US" altLang="zh-CN" sz="3200" dirty="0" smtClean="0"/>
              <a:t>------</a:t>
            </a:r>
            <a:r>
              <a:rPr lang="zh-CN" altLang="en-US" sz="3200" dirty="0"/>
              <a:t>样品厚度大于入射光透射深度时的漫反射</a:t>
            </a:r>
            <a:r>
              <a:rPr lang="zh-CN" altLang="en-US" sz="3200" dirty="0" smtClean="0"/>
              <a:t>比</a:t>
            </a:r>
            <a:endParaRPr lang="en-US" altLang="zh-CN" sz="3200" dirty="0" smtClean="0"/>
          </a:p>
          <a:p>
            <a:r>
              <a:rPr lang="en-US" altLang="zh-CN" sz="3200" dirty="0"/>
              <a:t> </a:t>
            </a:r>
            <a:r>
              <a:rPr lang="en-US" altLang="zh-CN" sz="3200" dirty="0" smtClean="0"/>
              <a:t>          </a:t>
            </a:r>
            <a:r>
              <a:rPr lang="zh-CN" altLang="en-US" sz="3200" dirty="0" smtClean="0"/>
              <a:t>（</a:t>
            </a:r>
            <a:r>
              <a:rPr lang="zh-CN" altLang="en-US" sz="3200" dirty="0"/>
              <a:t>含镜面反射），定义为全部漫反射光强</a:t>
            </a:r>
            <a:r>
              <a:rPr lang="zh-CN" altLang="en-US" sz="3200" dirty="0" smtClean="0"/>
              <a:t>与</a:t>
            </a:r>
            <a:endParaRPr lang="en-US" altLang="zh-CN" sz="3200" dirty="0" smtClean="0"/>
          </a:p>
          <a:p>
            <a:r>
              <a:rPr lang="zh-CN" altLang="en-US" sz="3200" dirty="0" smtClean="0"/>
              <a:t>             入射</a:t>
            </a:r>
            <a:r>
              <a:rPr lang="zh-CN" altLang="en-US" sz="3200" dirty="0"/>
              <a:t>光强之比，又称绝对反射率。</a:t>
            </a:r>
          </a:p>
          <a:p>
            <a:endParaRPr lang="zh-CN" altLang="en-US" sz="3200" dirty="0"/>
          </a:p>
        </p:txBody>
      </p:sp>
      <p:graphicFrame>
        <p:nvGraphicFramePr>
          <p:cNvPr id="7" name="对象 6">
            <a:hlinkClick r:id="" action="ppaction://ole?verb=0"/>
          </p:cNvPr>
          <p:cNvGraphicFramePr>
            <a:graphicFrameLocks noChangeAspect="1"/>
          </p:cNvGraphicFramePr>
          <p:nvPr/>
        </p:nvGraphicFramePr>
        <p:xfrm>
          <a:off x="1372734" y="4260154"/>
          <a:ext cx="674687" cy="547021"/>
        </p:xfrm>
        <a:graphic>
          <a:graphicData uri="http://schemas.openxmlformats.org/presentationml/2006/ole">
            <p:oleObj spid="_x0000_s225281" r:id="rId5" imgW="203040" imgH="215640" progId="Equation.3">
              <p:embed/>
            </p:oleObj>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0" y="6334579"/>
            <a:ext cx="12193588" cy="530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 name="矩形 1"/>
          <p:cNvSpPr/>
          <p:nvPr/>
        </p:nvSpPr>
        <p:spPr>
          <a:xfrm>
            <a:off x="493486" y="166078"/>
            <a:ext cx="10900227" cy="1354217"/>
          </a:xfrm>
          <a:prstGeom prst="rect">
            <a:avLst/>
          </a:prstGeom>
        </p:spPr>
        <p:txBody>
          <a:bodyPr wrap="square">
            <a:spAutoFit/>
          </a:bodyPr>
          <a:lstStyle/>
          <a:p>
            <a:pPr>
              <a:buFont typeface="Wingdings" panose="05000000000000000000" charset="0"/>
              <a:buChar char="ü"/>
            </a:pPr>
            <a:r>
              <a:rPr lang="zh-CN" altLang="en-US" sz="3200" dirty="0">
                <a:solidFill>
                  <a:srgbClr val="FF0000"/>
                </a:solidFill>
              </a:rPr>
              <a:t>相对反射概念：</a:t>
            </a:r>
            <a:r>
              <a:rPr lang="zh-CN" altLang="en-US" sz="3200" dirty="0"/>
              <a:t>即将试料的反射光强与标准板（参比）的反射光强之比定义为相对反射率（一般记作</a:t>
            </a:r>
            <a:r>
              <a:rPr lang="en-US" altLang="zh-CN" sz="3200" dirty="0"/>
              <a:t>R</a:t>
            </a:r>
            <a:r>
              <a:rPr lang="zh-CN" altLang="en-US" sz="3200" dirty="0"/>
              <a:t>）。</a:t>
            </a:r>
          </a:p>
          <a:p>
            <a:endParaRPr lang="zh-CN" altLang="en-US" dirty="0"/>
          </a:p>
        </p:txBody>
      </p:sp>
      <p:sp>
        <p:nvSpPr>
          <p:cNvPr id="7" name="矩形 6"/>
          <p:cNvSpPr/>
          <p:nvPr/>
        </p:nvSpPr>
        <p:spPr>
          <a:xfrm>
            <a:off x="493486" y="1701624"/>
            <a:ext cx="11348744" cy="3108543"/>
          </a:xfrm>
          <a:prstGeom prst="rect">
            <a:avLst/>
          </a:prstGeom>
        </p:spPr>
        <p:txBody>
          <a:bodyPr wrap="square">
            <a:spAutoFit/>
          </a:bodyPr>
          <a:lstStyle/>
          <a:p>
            <a:r>
              <a:rPr lang="zh-CN" altLang="en-US" sz="2800" dirty="0"/>
              <a:t>对于标准测试板，其绝对反射率为：                             ②</a:t>
            </a:r>
          </a:p>
          <a:p>
            <a:endParaRPr lang="zh-CN" altLang="en-US" sz="2800" dirty="0"/>
          </a:p>
          <a:p>
            <a:r>
              <a:rPr lang="zh-CN" altLang="en-US" sz="2800" dirty="0"/>
              <a:t>对于测试样，其绝对反射率为：                            </a:t>
            </a:r>
            <a:r>
              <a:rPr lang="zh-CN" altLang="en-US" sz="2800" dirty="0" smtClean="0"/>
              <a:t>    </a:t>
            </a:r>
            <a:r>
              <a:rPr lang="zh-CN" altLang="en-US" sz="2800" dirty="0"/>
              <a:t>③</a:t>
            </a:r>
          </a:p>
          <a:p>
            <a:endParaRPr lang="zh-CN" altLang="en-US" sz="2800" dirty="0"/>
          </a:p>
          <a:p>
            <a:r>
              <a:rPr lang="zh-CN" altLang="en-US" sz="2800" dirty="0"/>
              <a:t>则相对反射率定义为：                                      </a:t>
            </a:r>
            <a:r>
              <a:rPr lang="zh-CN" altLang="en-US" sz="2800" dirty="0" smtClean="0"/>
              <a:t>     </a:t>
            </a:r>
            <a:r>
              <a:rPr lang="zh-CN" altLang="en-US" sz="2800" dirty="0"/>
              <a:t>④</a:t>
            </a:r>
          </a:p>
          <a:p>
            <a:endParaRPr lang="zh-CN" altLang="en-US" sz="2800" dirty="0"/>
          </a:p>
          <a:p>
            <a:r>
              <a:rPr lang="zh-CN" altLang="en-US" sz="2800" dirty="0"/>
              <a:t>将相对反射率代入①代替绝对</a:t>
            </a:r>
            <a:r>
              <a:rPr lang="zh-CN" altLang="en-US" sz="2800" dirty="0" smtClean="0"/>
              <a:t>反射率，</a:t>
            </a:r>
            <a:r>
              <a:rPr lang="zh-CN" altLang="en-US" sz="2800" dirty="0"/>
              <a:t>①变为</a:t>
            </a:r>
            <a:r>
              <a:rPr lang="zh-CN" altLang="en-US" sz="2800" dirty="0" smtClean="0"/>
              <a:t>：                                   ⑤                       </a:t>
            </a:r>
            <a:endParaRPr lang="zh-CN" altLang="en-US" dirty="0"/>
          </a:p>
        </p:txBody>
      </p:sp>
      <p:graphicFrame>
        <p:nvGraphicFramePr>
          <p:cNvPr id="8" name="对象 7">
            <a:hlinkClick r:id="" action="ppaction://ole?verb=0"/>
          </p:cNvPr>
          <p:cNvGraphicFramePr>
            <a:graphicFrameLocks noChangeAspect="1"/>
          </p:cNvGraphicFramePr>
          <p:nvPr/>
        </p:nvGraphicFramePr>
        <p:xfrm>
          <a:off x="6291704" y="1520295"/>
          <a:ext cx="1984375" cy="865188"/>
        </p:xfrm>
        <a:graphic>
          <a:graphicData uri="http://schemas.openxmlformats.org/presentationml/2006/ole">
            <p:oleObj spid="_x0000_s227334" r:id="rId4" imgW="533160" imgH="431640" progId="Equation.3">
              <p:embed/>
            </p:oleObj>
          </a:graphicData>
        </a:graphic>
      </p:graphicFrame>
      <p:graphicFrame>
        <p:nvGraphicFramePr>
          <p:cNvPr id="9" name="对象 8">
            <a:hlinkClick r:id="" action="ppaction://ole?verb=0"/>
          </p:cNvPr>
          <p:cNvGraphicFramePr>
            <a:graphicFrameLocks noChangeAspect="1"/>
          </p:cNvGraphicFramePr>
          <p:nvPr/>
        </p:nvGraphicFramePr>
        <p:xfrm>
          <a:off x="5943599" y="2424276"/>
          <a:ext cx="1501775" cy="865188"/>
        </p:xfrm>
        <a:graphic>
          <a:graphicData uri="http://schemas.openxmlformats.org/presentationml/2006/ole">
            <p:oleObj spid="_x0000_s227333" r:id="rId5" imgW="533160" imgH="431640" progId="Equation.3">
              <p:embed/>
            </p:oleObj>
          </a:graphicData>
        </a:graphic>
      </p:graphicFrame>
      <p:graphicFrame>
        <p:nvGraphicFramePr>
          <p:cNvPr id="10" name="对象 9">
            <a:hlinkClick r:id="" action="ppaction://ole?verb=0"/>
          </p:cNvPr>
          <p:cNvGraphicFramePr>
            <a:graphicFrameLocks noChangeAspect="1"/>
          </p:cNvGraphicFramePr>
          <p:nvPr/>
        </p:nvGraphicFramePr>
        <p:xfrm>
          <a:off x="4244246" y="3254922"/>
          <a:ext cx="2193925" cy="890587"/>
        </p:xfrm>
        <a:graphic>
          <a:graphicData uri="http://schemas.openxmlformats.org/presentationml/2006/ole">
            <p:oleObj spid="_x0000_s227332" r:id="rId6" imgW="799920" imgH="457200" progId="Equation.3">
              <p:embed/>
            </p:oleObj>
          </a:graphicData>
        </a:graphic>
      </p:graphicFrame>
      <p:graphicFrame>
        <p:nvGraphicFramePr>
          <p:cNvPr id="11" name="对象 10">
            <a:hlinkClick r:id="" action="ppaction://ole?verb=0"/>
          </p:cNvPr>
          <p:cNvGraphicFramePr>
            <a:graphicFrameLocks noChangeAspect="1"/>
          </p:cNvGraphicFramePr>
          <p:nvPr/>
        </p:nvGraphicFramePr>
        <p:xfrm>
          <a:off x="8432619" y="3929104"/>
          <a:ext cx="2016125" cy="881063"/>
        </p:xfrm>
        <a:graphic>
          <a:graphicData uri="http://schemas.openxmlformats.org/presentationml/2006/ole">
            <p:oleObj spid="_x0000_s227331" r:id="rId7" imgW="1257120" imgH="419040" progId="Equation.3">
              <p:embed/>
            </p:oleObj>
          </a:graphicData>
        </a:graphic>
      </p:graphicFrame>
      <p:sp>
        <p:nvSpPr>
          <p:cNvPr id="15" name="圆角矩形 14"/>
          <p:cNvSpPr/>
          <p:nvPr/>
        </p:nvSpPr>
        <p:spPr>
          <a:xfrm>
            <a:off x="1" y="5141626"/>
            <a:ext cx="12193588" cy="1192953"/>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tx1"/>
                </a:solidFill>
              </a:rPr>
              <a:t>式中</a:t>
            </a:r>
            <a:r>
              <a:rPr lang="en-US" altLang="zh-CN" sz="2800" b="1" dirty="0">
                <a:solidFill>
                  <a:schemeClr val="tx1"/>
                </a:solidFill>
              </a:rPr>
              <a:t>K</a:t>
            </a:r>
            <a:r>
              <a:rPr lang="zh-CN" altLang="en-US" sz="2800" b="1" dirty="0">
                <a:solidFill>
                  <a:schemeClr val="tx1"/>
                </a:solidFill>
              </a:rPr>
              <a:t>与被测物质的摩尔吸收系数      和试样浓度成比例关系，因此在散射系数不变的条件下，显然           也是与试样浓度成正比的量。</a:t>
            </a:r>
          </a:p>
        </p:txBody>
      </p:sp>
      <p:graphicFrame>
        <p:nvGraphicFramePr>
          <p:cNvPr id="16" name="对象 15">
            <a:hlinkClick r:id="" action="ppaction://ole?verb=0"/>
          </p:cNvPr>
          <p:cNvGraphicFramePr>
            <a:graphicFrameLocks noChangeAspect="1"/>
          </p:cNvGraphicFramePr>
          <p:nvPr/>
        </p:nvGraphicFramePr>
        <p:xfrm>
          <a:off x="5451944" y="5395202"/>
          <a:ext cx="312738" cy="342900"/>
        </p:xfrm>
        <a:graphic>
          <a:graphicData uri="http://schemas.openxmlformats.org/presentationml/2006/ole">
            <p:oleObj spid="_x0000_s227330" r:id="rId8" imgW="126720" imgH="139680" progId="Equation.3">
              <p:embed/>
            </p:oleObj>
          </a:graphicData>
        </a:graphic>
      </p:graphicFrame>
      <p:graphicFrame>
        <p:nvGraphicFramePr>
          <p:cNvPr id="17" name="对象 16">
            <a:hlinkClick r:id="" action="ppaction://ole?verb=0"/>
          </p:cNvPr>
          <p:cNvGraphicFramePr>
            <a:graphicFrameLocks noChangeAspect="1"/>
          </p:cNvGraphicFramePr>
          <p:nvPr/>
        </p:nvGraphicFramePr>
        <p:xfrm>
          <a:off x="3914645" y="5738102"/>
          <a:ext cx="663575" cy="396875"/>
        </p:xfrm>
        <a:graphic>
          <a:graphicData uri="http://schemas.openxmlformats.org/presentationml/2006/ole">
            <p:oleObj spid="_x0000_s227329" r:id="rId9" imgW="368280" imgH="203040" progId="Equation.3">
              <p:embed/>
            </p:oleObj>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0" y="6334579"/>
            <a:ext cx="12193588" cy="530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3" name="矩形 2"/>
          <p:cNvSpPr/>
          <p:nvPr/>
        </p:nvSpPr>
        <p:spPr>
          <a:xfrm>
            <a:off x="138679" y="449612"/>
            <a:ext cx="11916229" cy="5693866"/>
          </a:xfrm>
          <a:prstGeom prst="rect">
            <a:avLst/>
          </a:prstGeom>
        </p:spPr>
        <p:txBody>
          <a:bodyPr wrap="square">
            <a:spAutoFit/>
          </a:bodyPr>
          <a:lstStyle/>
          <a:p>
            <a:pPr>
              <a:buFont typeface="Wingdings" panose="05000000000000000000" charset="0"/>
              <a:buChar char="ü"/>
            </a:pPr>
            <a:r>
              <a:rPr lang="zh-CN" altLang="en-US" sz="2800" dirty="0">
                <a:solidFill>
                  <a:srgbClr val="FF0000"/>
                </a:solidFill>
              </a:rPr>
              <a:t>漫反射测量时定义名义吸光度：</a:t>
            </a:r>
            <a:endParaRPr lang="zh-CN" altLang="en-US" sz="2800" dirty="0"/>
          </a:p>
          <a:p>
            <a:endParaRPr lang="zh-CN" altLang="en-US" sz="2800" dirty="0"/>
          </a:p>
          <a:p>
            <a:r>
              <a:rPr lang="zh-CN" altLang="en-US" sz="2800" dirty="0"/>
              <a:t>                                                                                               ⑥</a:t>
            </a:r>
          </a:p>
          <a:p>
            <a:endParaRPr lang="zh-CN" altLang="en-US" sz="2800" dirty="0"/>
          </a:p>
          <a:p>
            <a:r>
              <a:rPr lang="zh-CN" altLang="en-US" sz="2800" dirty="0"/>
              <a:t>代入入射光强</a:t>
            </a:r>
            <a:r>
              <a:rPr lang="zh-CN" altLang="en-US" sz="2800" dirty="0" smtClean="0"/>
              <a:t>度                    </a:t>
            </a:r>
            <a:r>
              <a:rPr lang="zh-CN" altLang="en-US" sz="2800" dirty="0"/>
              <a:t>⑥可以转变为：</a:t>
            </a:r>
          </a:p>
          <a:p>
            <a:endParaRPr lang="zh-CN" altLang="en-US" sz="2800" dirty="0"/>
          </a:p>
          <a:p>
            <a:r>
              <a:rPr lang="zh-CN" altLang="en-US" sz="2800" dirty="0"/>
              <a:t>                                                                                                    ⑦</a:t>
            </a:r>
          </a:p>
          <a:p>
            <a:endParaRPr lang="zh-CN" altLang="en-US" sz="2800" dirty="0"/>
          </a:p>
          <a:p>
            <a:r>
              <a:rPr lang="zh-CN" altLang="en-US" sz="2800" dirty="0"/>
              <a:t>                   </a:t>
            </a:r>
            <a:r>
              <a:rPr lang="en-US" altLang="zh-CN" sz="2800" dirty="0"/>
              <a:t>------</a:t>
            </a:r>
            <a:r>
              <a:rPr lang="zh-CN" altLang="en-US" sz="2800" dirty="0"/>
              <a:t>试料的绝对反射率</a:t>
            </a:r>
          </a:p>
          <a:p>
            <a:r>
              <a:rPr lang="zh-CN" altLang="en-US" sz="2800" dirty="0"/>
              <a:t>                   </a:t>
            </a:r>
            <a:r>
              <a:rPr lang="en-US" altLang="zh-CN" sz="2800" dirty="0"/>
              <a:t>-------</a:t>
            </a:r>
            <a:r>
              <a:rPr lang="zh-CN" altLang="en-US" sz="2800" dirty="0"/>
              <a:t>标准板的绝对反射率</a:t>
            </a:r>
          </a:p>
          <a:p>
            <a:r>
              <a:rPr lang="zh-CN" altLang="en-US" sz="2800" dirty="0"/>
              <a:t>                                                                 </a:t>
            </a:r>
          </a:p>
          <a:p>
            <a:r>
              <a:rPr lang="zh-CN" altLang="en-US" sz="2800" dirty="0"/>
              <a:t>因此，即使是同一试样，如果标准版不一样，近红外光谱将会发生上下移动。故当进行一系列实验时，使用</a:t>
            </a:r>
            <a:r>
              <a:rPr lang="zh-CN" altLang="en-US" sz="2800" dirty="0">
                <a:solidFill>
                  <a:srgbClr val="FF0000"/>
                </a:solidFill>
              </a:rPr>
              <a:t>同一标准板是一个最基本的要求</a:t>
            </a:r>
            <a:r>
              <a:rPr lang="zh-CN" altLang="en-US" sz="2800" dirty="0"/>
              <a:t>。                                </a:t>
            </a:r>
          </a:p>
        </p:txBody>
      </p:sp>
      <p:graphicFrame>
        <p:nvGraphicFramePr>
          <p:cNvPr id="4" name="对象 3">
            <a:hlinkClick r:id="" action="ppaction://ole?verb=0"/>
          </p:cNvPr>
          <p:cNvGraphicFramePr>
            <a:graphicFrameLocks noChangeAspect="1"/>
          </p:cNvGraphicFramePr>
          <p:nvPr/>
        </p:nvGraphicFramePr>
        <p:xfrm>
          <a:off x="3628571" y="914399"/>
          <a:ext cx="3018971" cy="1178379"/>
        </p:xfrm>
        <a:graphic>
          <a:graphicData uri="http://schemas.openxmlformats.org/presentationml/2006/ole">
            <p:oleObj spid="_x0000_s228357" r:id="rId4" imgW="1054080" imgH="431640" progId="Equation.3">
              <p:embed/>
            </p:oleObj>
          </a:graphicData>
        </a:graphic>
      </p:graphicFrame>
      <p:graphicFrame>
        <p:nvGraphicFramePr>
          <p:cNvPr id="5" name="对象 4">
            <a:hlinkClick r:id="" action="ppaction://ole?verb=0"/>
          </p:cNvPr>
          <p:cNvGraphicFramePr>
            <a:graphicFrameLocks noChangeAspect="1"/>
          </p:cNvGraphicFramePr>
          <p:nvPr/>
        </p:nvGraphicFramePr>
        <p:xfrm>
          <a:off x="2925082" y="2133600"/>
          <a:ext cx="1271588" cy="640443"/>
        </p:xfrm>
        <a:graphic>
          <a:graphicData uri="http://schemas.openxmlformats.org/presentationml/2006/ole">
            <p:oleObj spid="_x0000_s228356" r:id="rId5" imgW="393480" imgH="228600" progId="Equation.3">
              <p:embed/>
            </p:oleObj>
          </a:graphicData>
        </a:graphic>
      </p:graphicFrame>
      <p:graphicFrame>
        <p:nvGraphicFramePr>
          <p:cNvPr id="6" name="对象 5">
            <a:hlinkClick r:id="" action="ppaction://ole?verb=0"/>
          </p:cNvPr>
          <p:cNvGraphicFramePr>
            <a:graphicFrameLocks noChangeAspect="1"/>
          </p:cNvGraphicFramePr>
          <p:nvPr/>
        </p:nvGraphicFramePr>
        <p:xfrm>
          <a:off x="2058988" y="2848870"/>
          <a:ext cx="5745162" cy="895350"/>
        </p:xfrm>
        <a:graphic>
          <a:graphicData uri="http://schemas.openxmlformats.org/presentationml/2006/ole">
            <p:oleObj spid="_x0000_s228355" r:id="rId6" imgW="3009600" imgH="431640" progId="Equation.3">
              <p:embed/>
            </p:oleObj>
          </a:graphicData>
        </a:graphic>
      </p:graphicFrame>
      <p:graphicFrame>
        <p:nvGraphicFramePr>
          <p:cNvPr id="7" name="对象 6">
            <a:hlinkClick r:id="" action="ppaction://ole?verb=0"/>
          </p:cNvPr>
          <p:cNvGraphicFramePr>
            <a:graphicFrameLocks noChangeAspect="1"/>
          </p:cNvGraphicFramePr>
          <p:nvPr/>
        </p:nvGraphicFramePr>
        <p:xfrm>
          <a:off x="665843" y="3875315"/>
          <a:ext cx="969963" cy="505959"/>
        </p:xfrm>
        <a:graphic>
          <a:graphicData uri="http://schemas.openxmlformats.org/presentationml/2006/ole">
            <p:oleObj spid="_x0000_s228354" r:id="rId7" imgW="406080" imgH="241200" progId="Equation.3">
              <p:embed/>
            </p:oleObj>
          </a:graphicData>
        </a:graphic>
      </p:graphicFrame>
      <p:graphicFrame>
        <p:nvGraphicFramePr>
          <p:cNvPr id="8" name="对象 7">
            <a:hlinkClick r:id="" action="ppaction://ole?verb=0"/>
          </p:cNvPr>
          <p:cNvGraphicFramePr>
            <a:graphicFrameLocks noChangeAspect="1"/>
          </p:cNvGraphicFramePr>
          <p:nvPr/>
        </p:nvGraphicFramePr>
        <p:xfrm>
          <a:off x="646339" y="4410303"/>
          <a:ext cx="960438" cy="525462"/>
        </p:xfrm>
        <a:graphic>
          <a:graphicData uri="http://schemas.openxmlformats.org/presentationml/2006/ole">
            <p:oleObj spid="_x0000_s228353" r:id="rId8" imgW="406080" imgH="241200" progId="Equation.3">
              <p:embed/>
            </p:oleObj>
          </a:graphicData>
        </a:graphic>
      </p:graphicFrame>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0" y="6334579"/>
            <a:ext cx="12193588" cy="530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0" name="Freeform 5"/>
          <p:cNvSpPr/>
          <p:nvPr/>
        </p:nvSpPr>
        <p:spPr bwMode="auto">
          <a:xfrm>
            <a:off x="557159" y="5145068"/>
            <a:ext cx="1081087" cy="731837"/>
          </a:xfrm>
          <a:custGeom>
            <a:avLst/>
            <a:gdLst>
              <a:gd name="T0" fmla="*/ 0 w 681"/>
              <a:gd name="T1" fmla="*/ 0 h 602"/>
              <a:gd name="T2" fmla="*/ 681 w 681"/>
              <a:gd name="T3" fmla="*/ 0 h 602"/>
              <a:gd name="T4" fmla="*/ 681 w 681"/>
              <a:gd name="T5" fmla="*/ 602 h 602"/>
              <a:gd name="T6" fmla="*/ 0 w 681"/>
              <a:gd name="T7" fmla="*/ 602 h 602"/>
              <a:gd name="T8" fmla="*/ 183 w 681"/>
              <a:gd name="T9" fmla="*/ 304 h 602"/>
              <a:gd name="T10" fmla="*/ 0 w 681"/>
              <a:gd name="T11" fmla="*/ 0 h 602"/>
              <a:gd name="T12" fmla="*/ 0 w 681"/>
              <a:gd name="T13" fmla="*/ 0 h 602"/>
            </a:gdLst>
            <a:ahLst/>
            <a:cxnLst>
              <a:cxn ang="0">
                <a:pos x="T0" y="T1"/>
              </a:cxn>
              <a:cxn ang="0">
                <a:pos x="T2" y="T3"/>
              </a:cxn>
              <a:cxn ang="0">
                <a:pos x="T4" y="T5"/>
              </a:cxn>
              <a:cxn ang="0">
                <a:pos x="T6" y="T7"/>
              </a:cxn>
              <a:cxn ang="0">
                <a:pos x="T8" y="T9"/>
              </a:cxn>
              <a:cxn ang="0">
                <a:pos x="T10" y="T11"/>
              </a:cxn>
              <a:cxn ang="0">
                <a:pos x="T12" y="T13"/>
              </a:cxn>
            </a:cxnLst>
            <a:rect l="0" t="0" r="r" b="b"/>
            <a:pathLst>
              <a:path w="681" h="602">
                <a:moveTo>
                  <a:pt x="0" y="0"/>
                </a:moveTo>
                <a:lnTo>
                  <a:pt x="681" y="0"/>
                </a:lnTo>
                <a:lnTo>
                  <a:pt x="681" y="602"/>
                </a:lnTo>
                <a:lnTo>
                  <a:pt x="0" y="602"/>
                </a:lnTo>
                <a:lnTo>
                  <a:pt x="183" y="304"/>
                </a:lnTo>
                <a:lnTo>
                  <a:pt x="0" y="0"/>
                </a:lnTo>
                <a:lnTo>
                  <a:pt x="0" y="0"/>
                </a:lnTo>
                <a:close/>
              </a:path>
            </a:pathLst>
          </a:custGeom>
          <a:solidFill>
            <a:srgbClr val="4BAEE2"/>
          </a:solidFill>
          <a:ln>
            <a:noFill/>
          </a:ln>
        </p:spPr>
        <p:txBody>
          <a:bodyPr vert="horz" wrap="square" lIns="91440" tIns="45720" rIns="91440" bIns="45720" numCol="1" anchor="t" anchorCtr="0" compatLnSpc="1"/>
          <a:lstStyle/>
          <a:p>
            <a:endParaRPr lang="zh-CN" altLang="en-US"/>
          </a:p>
        </p:txBody>
      </p:sp>
      <p:sp>
        <p:nvSpPr>
          <p:cNvPr id="41" name="Freeform 6"/>
          <p:cNvSpPr>
            <a:spLocks noEditPoints="1"/>
          </p:cNvSpPr>
          <p:nvPr/>
        </p:nvSpPr>
        <p:spPr bwMode="auto">
          <a:xfrm>
            <a:off x="673046" y="5211742"/>
            <a:ext cx="998537" cy="45719"/>
          </a:xfrm>
          <a:custGeom>
            <a:avLst/>
            <a:gdLst>
              <a:gd name="T0" fmla="*/ 1 w 120"/>
              <a:gd name="T1" fmla="*/ 0 h 3"/>
              <a:gd name="T2" fmla="*/ 13 w 120"/>
              <a:gd name="T3" fmla="*/ 0 h 3"/>
              <a:gd name="T4" fmla="*/ 15 w 120"/>
              <a:gd name="T5" fmla="*/ 1 h 3"/>
              <a:gd name="T6" fmla="*/ 15 w 120"/>
              <a:gd name="T7" fmla="*/ 1 h 3"/>
              <a:gd name="T8" fmla="*/ 13 w 120"/>
              <a:gd name="T9" fmla="*/ 3 h 3"/>
              <a:gd name="T10" fmla="*/ 1 w 120"/>
              <a:gd name="T11" fmla="*/ 3 h 3"/>
              <a:gd name="T12" fmla="*/ 0 w 120"/>
              <a:gd name="T13" fmla="*/ 1 h 3"/>
              <a:gd name="T14" fmla="*/ 0 w 120"/>
              <a:gd name="T15" fmla="*/ 1 h 3"/>
              <a:gd name="T16" fmla="*/ 1 w 120"/>
              <a:gd name="T17" fmla="*/ 0 h 3"/>
              <a:gd name="T18" fmla="*/ 22 w 120"/>
              <a:gd name="T19" fmla="*/ 0 h 3"/>
              <a:gd name="T20" fmla="*/ 34 w 120"/>
              <a:gd name="T21" fmla="*/ 0 h 3"/>
              <a:gd name="T22" fmla="*/ 36 w 120"/>
              <a:gd name="T23" fmla="*/ 1 h 3"/>
              <a:gd name="T24" fmla="*/ 36 w 120"/>
              <a:gd name="T25" fmla="*/ 1 h 3"/>
              <a:gd name="T26" fmla="*/ 34 w 120"/>
              <a:gd name="T27" fmla="*/ 3 h 3"/>
              <a:gd name="T28" fmla="*/ 22 w 120"/>
              <a:gd name="T29" fmla="*/ 3 h 3"/>
              <a:gd name="T30" fmla="*/ 21 w 120"/>
              <a:gd name="T31" fmla="*/ 1 h 3"/>
              <a:gd name="T32" fmla="*/ 21 w 120"/>
              <a:gd name="T33" fmla="*/ 1 h 3"/>
              <a:gd name="T34" fmla="*/ 22 w 120"/>
              <a:gd name="T35" fmla="*/ 0 h 3"/>
              <a:gd name="T36" fmla="*/ 43 w 120"/>
              <a:gd name="T37" fmla="*/ 0 h 3"/>
              <a:gd name="T38" fmla="*/ 55 w 120"/>
              <a:gd name="T39" fmla="*/ 0 h 3"/>
              <a:gd name="T40" fmla="*/ 57 w 120"/>
              <a:gd name="T41" fmla="*/ 1 h 3"/>
              <a:gd name="T42" fmla="*/ 57 w 120"/>
              <a:gd name="T43" fmla="*/ 1 h 3"/>
              <a:gd name="T44" fmla="*/ 55 w 120"/>
              <a:gd name="T45" fmla="*/ 3 h 3"/>
              <a:gd name="T46" fmla="*/ 43 w 120"/>
              <a:gd name="T47" fmla="*/ 3 h 3"/>
              <a:gd name="T48" fmla="*/ 42 w 120"/>
              <a:gd name="T49" fmla="*/ 1 h 3"/>
              <a:gd name="T50" fmla="*/ 42 w 120"/>
              <a:gd name="T51" fmla="*/ 1 h 3"/>
              <a:gd name="T52" fmla="*/ 43 w 120"/>
              <a:gd name="T53" fmla="*/ 0 h 3"/>
              <a:gd name="T54" fmla="*/ 64 w 120"/>
              <a:gd name="T55" fmla="*/ 0 h 3"/>
              <a:gd name="T56" fmla="*/ 76 w 120"/>
              <a:gd name="T57" fmla="*/ 0 h 3"/>
              <a:gd name="T58" fmla="*/ 78 w 120"/>
              <a:gd name="T59" fmla="*/ 1 h 3"/>
              <a:gd name="T60" fmla="*/ 78 w 120"/>
              <a:gd name="T61" fmla="*/ 1 h 3"/>
              <a:gd name="T62" fmla="*/ 76 w 120"/>
              <a:gd name="T63" fmla="*/ 3 h 3"/>
              <a:gd name="T64" fmla="*/ 64 w 120"/>
              <a:gd name="T65" fmla="*/ 3 h 3"/>
              <a:gd name="T66" fmla="*/ 63 w 120"/>
              <a:gd name="T67" fmla="*/ 1 h 3"/>
              <a:gd name="T68" fmla="*/ 63 w 120"/>
              <a:gd name="T69" fmla="*/ 1 h 3"/>
              <a:gd name="T70" fmla="*/ 64 w 120"/>
              <a:gd name="T71" fmla="*/ 0 h 3"/>
              <a:gd name="T72" fmla="*/ 85 w 120"/>
              <a:gd name="T73" fmla="*/ 0 h 3"/>
              <a:gd name="T74" fmla="*/ 97 w 120"/>
              <a:gd name="T75" fmla="*/ 0 h 3"/>
              <a:gd name="T76" fmla="*/ 99 w 120"/>
              <a:gd name="T77" fmla="*/ 1 h 3"/>
              <a:gd name="T78" fmla="*/ 99 w 120"/>
              <a:gd name="T79" fmla="*/ 1 h 3"/>
              <a:gd name="T80" fmla="*/ 97 w 120"/>
              <a:gd name="T81" fmla="*/ 3 h 3"/>
              <a:gd name="T82" fmla="*/ 85 w 120"/>
              <a:gd name="T83" fmla="*/ 3 h 3"/>
              <a:gd name="T84" fmla="*/ 84 w 120"/>
              <a:gd name="T85" fmla="*/ 1 h 3"/>
              <a:gd name="T86" fmla="*/ 84 w 120"/>
              <a:gd name="T87" fmla="*/ 1 h 3"/>
              <a:gd name="T88" fmla="*/ 85 w 120"/>
              <a:gd name="T89" fmla="*/ 0 h 3"/>
              <a:gd name="T90" fmla="*/ 106 w 120"/>
              <a:gd name="T91" fmla="*/ 0 h 3"/>
              <a:gd name="T92" fmla="*/ 118 w 120"/>
              <a:gd name="T93" fmla="*/ 0 h 3"/>
              <a:gd name="T94" fmla="*/ 120 w 120"/>
              <a:gd name="T95" fmla="*/ 1 h 3"/>
              <a:gd name="T96" fmla="*/ 120 w 120"/>
              <a:gd name="T97" fmla="*/ 1 h 3"/>
              <a:gd name="T98" fmla="*/ 118 w 120"/>
              <a:gd name="T99" fmla="*/ 3 h 3"/>
              <a:gd name="T100" fmla="*/ 106 w 120"/>
              <a:gd name="T101" fmla="*/ 3 h 3"/>
              <a:gd name="T102" fmla="*/ 105 w 120"/>
              <a:gd name="T103" fmla="*/ 1 h 3"/>
              <a:gd name="T104" fmla="*/ 105 w 120"/>
              <a:gd name="T105" fmla="*/ 1 h 3"/>
              <a:gd name="T106" fmla="*/ 106 w 120"/>
              <a:gd name="T107" fmla="*/ 0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0" h="3">
                <a:moveTo>
                  <a:pt x="1" y="0"/>
                </a:moveTo>
                <a:cubicBezTo>
                  <a:pt x="5" y="0"/>
                  <a:pt x="9" y="0"/>
                  <a:pt x="13" y="0"/>
                </a:cubicBezTo>
                <a:cubicBezTo>
                  <a:pt x="14" y="0"/>
                  <a:pt x="15" y="0"/>
                  <a:pt x="15" y="1"/>
                </a:cubicBezTo>
                <a:cubicBezTo>
                  <a:pt x="15" y="1"/>
                  <a:pt x="15" y="1"/>
                  <a:pt x="15" y="1"/>
                </a:cubicBezTo>
                <a:cubicBezTo>
                  <a:pt x="15" y="2"/>
                  <a:pt x="14" y="3"/>
                  <a:pt x="13" y="3"/>
                </a:cubicBezTo>
                <a:cubicBezTo>
                  <a:pt x="9" y="3"/>
                  <a:pt x="5" y="3"/>
                  <a:pt x="1" y="3"/>
                </a:cubicBezTo>
                <a:cubicBezTo>
                  <a:pt x="0" y="3"/>
                  <a:pt x="0" y="2"/>
                  <a:pt x="0" y="1"/>
                </a:cubicBezTo>
                <a:cubicBezTo>
                  <a:pt x="0" y="1"/>
                  <a:pt x="0" y="1"/>
                  <a:pt x="0" y="1"/>
                </a:cubicBezTo>
                <a:cubicBezTo>
                  <a:pt x="0" y="0"/>
                  <a:pt x="0" y="0"/>
                  <a:pt x="1" y="0"/>
                </a:cubicBezTo>
                <a:close/>
                <a:moveTo>
                  <a:pt x="22" y="0"/>
                </a:moveTo>
                <a:cubicBezTo>
                  <a:pt x="26" y="0"/>
                  <a:pt x="30" y="0"/>
                  <a:pt x="34" y="0"/>
                </a:cubicBezTo>
                <a:cubicBezTo>
                  <a:pt x="35" y="0"/>
                  <a:pt x="36" y="0"/>
                  <a:pt x="36" y="1"/>
                </a:cubicBezTo>
                <a:cubicBezTo>
                  <a:pt x="36" y="1"/>
                  <a:pt x="36" y="1"/>
                  <a:pt x="36" y="1"/>
                </a:cubicBezTo>
                <a:cubicBezTo>
                  <a:pt x="36" y="2"/>
                  <a:pt x="35" y="3"/>
                  <a:pt x="34" y="3"/>
                </a:cubicBezTo>
                <a:cubicBezTo>
                  <a:pt x="30" y="3"/>
                  <a:pt x="26" y="3"/>
                  <a:pt x="22" y="3"/>
                </a:cubicBezTo>
                <a:cubicBezTo>
                  <a:pt x="21" y="3"/>
                  <a:pt x="21" y="2"/>
                  <a:pt x="21" y="1"/>
                </a:cubicBezTo>
                <a:cubicBezTo>
                  <a:pt x="21" y="1"/>
                  <a:pt x="21" y="1"/>
                  <a:pt x="21" y="1"/>
                </a:cubicBezTo>
                <a:cubicBezTo>
                  <a:pt x="21" y="0"/>
                  <a:pt x="21" y="0"/>
                  <a:pt x="22" y="0"/>
                </a:cubicBezTo>
                <a:close/>
                <a:moveTo>
                  <a:pt x="43" y="0"/>
                </a:moveTo>
                <a:cubicBezTo>
                  <a:pt x="47" y="0"/>
                  <a:pt x="51" y="0"/>
                  <a:pt x="55" y="0"/>
                </a:cubicBezTo>
                <a:cubicBezTo>
                  <a:pt x="56" y="0"/>
                  <a:pt x="57" y="0"/>
                  <a:pt x="57" y="1"/>
                </a:cubicBezTo>
                <a:cubicBezTo>
                  <a:pt x="57" y="1"/>
                  <a:pt x="57" y="1"/>
                  <a:pt x="57" y="1"/>
                </a:cubicBezTo>
                <a:cubicBezTo>
                  <a:pt x="57" y="2"/>
                  <a:pt x="56" y="3"/>
                  <a:pt x="55" y="3"/>
                </a:cubicBezTo>
                <a:cubicBezTo>
                  <a:pt x="51" y="3"/>
                  <a:pt x="47" y="3"/>
                  <a:pt x="43" y="3"/>
                </a:cubicBezTo>
                <a:cubicBezTo>
                  <a:pt x="42" y="3"/>
                  <a:pt x="42" y="2"/>
                  <a:pt x="42" y="1"/>
                </a:cubicBezTo>
                <a:cubicBezTo>
                  <a:pt x="42" y="1"/>
                  <a:pt x="42" y="1"/>
                  <a:pt x="42" y="1"/>
                </a:cubicBezTo>
                <a:cubicBezTo>
                  <a:pt x="42" y="0"/>
                  <a:pt x="42" y="0"/>
                  <a:pt x="43" y="0"/>
                </a:cubicBezTo>
                <a:close/>
                <a:moveTo>
                  <a:pt x="64" y="0"/>
                </a:moveTo>
                <a:cubicBezTo>
                  <a:pt x="68" y="0"/>
                  <a:pt x="72" y="0"/>
                  <a:pt x="76" y="0"/>
                </a:cubicBezTo>
                <a:cubicBezTo>
                  <a:pt x="77" y="0"/>
                  <a:pt x="78" y="0"/>
                  <a:pt x="78" y="1"/>
                </a:cubicBezTo>
                <a:cubicBezTo>
                  <a:pt x="78" y="1"/>
                  <a:pt x="78" y="1"/>
                  <a:pt x="78" y="1"/>
                </a:cubicBezTo>
                <a:cubicBezTo>
                  <a:pt x="78" y="2"/>
                  <a:pt x="77" y="3"/>
                  <a:pt x="76" y="3"/>
                </a:cubicBezTo>
                <a:cubicBezTo>
                  <a:pt x="72" y="3"/>
                  <a:pt x="68" y="3"/>
                  <a:pt x="64" y="3"/>
                </a:cubicBezTo>
                <a:cubicBezTo>
                  <a:pt x="63" y="3"/>
                  <a:pt x="63" y="2"/>
                  <a:pt x="63" y="1"/>
                </a:cubicBezTo>
                <a:cubicBezTo>
                  <a:pt x="63" y="1"/>
                  <a:pt x="63" y="1"/>
                  <a:pt x="63" y="1"/>
                </a:cubicBezTo>
                <a:cubicBezTo>
                  <a:pt x="63" y="0"/>
                  <a:pt x="63" y="0"/>
                  <a:pt x="64" y="0"/>
                </a:cubicBezTo>
                <a:close/>
                <a:moveTo>
                  <a:pt x="85" y="0"/>
                </a:moveTo>
                <a:cubicBezTo>
                  <a:pt x="89" y="0"/>
                  <a:pt x="93" y="0"/>
                  <a:pt x="97" y="0"/>
                </a:cubicBezTo>
                <a:cubicBezTo>
                  <a:pt x="98" y="0"/>
                  <a:pt x="99" y="0"/>
                  <a:pt x="99" y="1"/>
                </a:cubicBezTo>
                <a:cubicBezTo>
                  <a:pt x="99" y="1"/>
                  <a:pt x="99" y="1"/>
                  <a:pt x="99" y="1"/>
                </a:cubicBezTo>
                <a:cubicBezTo>
                  <a:pt x="99" y="2"/>
                  <a:pt x="98" y="3"/>
                  <a:pt x="97" y="3"/>
                </a:cubicBezTo>
                <a:cubicBezTo>
                  <a:pt x="93" y="3"/>
                  <a:pt x="89" y="3"/>
                  <a:pt x="85" y="3"/>
                </a:cubicBezTo>
                <a:cubicBezTo>
                  <a:pt x="84" y="3"/>
                  <a:pt x="84" y="2"/>
                  <a:pt x="84" y="1"/>
                </a:cubicBezTo>
                <a:cubicBezTo>
                  <a:pt x="84" y="1"/>
                  <a:pt x="84" y="1"/>
                  <a:pt x="84" y="1"/>
                </a:cubicBezTo>
                <a:cubicBezTo>
                  <a:pt x="84" y="0"/>
                  <a:pt x="84" y="0"/>
                  <a:pt x="85" y="0"/>
                </a:cubicBezTo>
                <a:close/>
                <a:moveTo>
                  <a:pt x="106" y="0"/>
                </a:moveTo>
                <a:cubicBezTo>
                  <a:pt x="110" y="0"/>
                  <a:pt x="114" y="0"/>
                  <a:pt x="118" y="0"/>
                </a:cubicBezTo>
                <a:cubicBezTo>
                  <a:pt x="119" y="0"/>
                  <a:pt x="120" y="0"/>
                  <a:pt x="120" y="1"/>
                </a:cubicBezTo>
                <a:cubicBezTo>
                  <a:pt x="120" y="1"/>
                  <a:pt x="120" y="1"/>
                  <a:pt x="120" y="1"/>
                </a:cubicBezTo>
                <a:cubicBezTo>
                  <a:pt x="120" y="2"/>
                  <a:pt x="119" y="3"/>
                  <a:pt x="118" y="3"/>
                </a:cubicBezTo>
                <a:cubicBezTo>
                  <a:pt x="114" y="3"/>
                  <a:pt x="110" y="3"/>
                  <a:pt x="106" y="3"/>
                </a:cubicBezTo>
                <a:cubicBezTo>
                  <a:pt x="105" y="3"/>
                  <a:pt x="105" y="2"/>
                  <a:pt x="105" y="1"/>
                </a:cubicBezTo>
                <a:cubicBezTo>
                  <a:pt x="105" y="1"/>
                  <a:pt x="105" y="1"/>
                  <a:pt x="105" y="1"/>
                </a:cubicBezTo>
                <a:cubicBezTo>
                  <a:pt x="105" y="0"/>
                  <a:pt x="105" y="0"/>
                  <a:pt x="106" y="0"/>
                </a:cubicBezTo>
                <a:close/>
              </a:path>
            </a:pathLst>
          </a:custGeom>
          <a:solidFill>
            <a:srgbClr val="BCE1DF"/>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 name="Freeform 7"/>
          <p:cNvSpPr>
            <a:spLocks noEditPoints="1"/>
          </p:cNvSpPr>
          <p:nvPr/>
        </p:nvSpPr>
        <p:spPr bwMode="auto">
          <a:xfrm>
            <a:off x="673046" y="6018192"/>
            <a:ext cx="998537" cy="45719"/>
          </a:xfrm>
          <a:custGeom>
            <a:avLst/>
            <a:gdLst>
              <a:gd name="T0" fmla="*/ 1 w 120"/>
              <a:gd name="T1" fmla="*/ 0 h 3"/>
              <a:gd name="T2" fmla="*/ 13 w 120"/>
              <a:gd name="T3" fmla="*/ 0 h 3"/>
              <a:gd name="T4" fmla="*/ 15 w 120"/>
              <a:gd name="T5" fmla="*/ 1 h 3"/>
              <a:gd name="T6" fmla="*/ 15 w 120"/>
              <a:gd name="T7" fmla="*/ 1 h 3"/>
              <a:gd name="T8" fmla="*/ 13 w 120"/>
              <a:gd name="T9" fmla="*/ 3 h 3"/>
              <a:gd name="T10" fmla="*/ 1 w 120"/>
              <a:gd name="T11" fmla="*/ 3 h 3"/>
              <a:gd name="T12" fmla="*/ 0 w 120"/>
              <a:gd name="T13" fmla="*/ 1 h 3"/>
              <a:gd name="T14" fmla="*/ 0 w 120"/>
              <a:gd name="T15" fmla="*/ 1 h 3"/>
              <a:gd name="T16" fmla="*/ 1 w 120"/>
              <a:gd name="T17" fmla="*/ 0 h 3"/>
              <a:gd name="T18" fmla="*/ 22 w 120"/>
              <a:gd name="T19" fmla="*/ 0 h 3"/>
              <a:gd name="T20" fmla="*/ 34 w 120"/>
              <a:gd name="T21" fmla="*/ 0 h 3"/>
              <a:gd name="T22" fmla="*/ 36 w 120"/>
              <a:gd name="T23" fmla="*/ 1 h 3"/>
              <a:gd name="T24" fmla="*/ 36 w 120"/>
              <a:gd name="T25" fmla="*/ 1 h 3"/>
              <a:gd name="T26" fmla="*/ 34 w 120"/>
              <a:gd name="T27" fmla="*/ 3 h 3"/>
              <a:gd name="T28" fmla="*/ 22 w 120"/>
              <a:gd name="T29" fmla="*/ 3 h 3"/>
              <a:gd name="T30" fmla="*/ 21 w 120"/>
              <a:gd name="T31" fmla="*/ 1 h 3"/>
              <a:gd name="T32" fmla="*/ 21 w 120"/>
              <a:gd name="T33" fmla="*/ 1 h 3"/>
              <a:gd name="T34" fmla="*/ 22 w 120"/>
              <a:gd name="T35" fmla="*/ 0 h 3"/>
              <a:gd name="T36" fmla="*/ 43 w 120"/>
              <a:gd name="T37" fmla="*/ 0 h 3"/>
              <a:gd name="T38" fmla="*/ 55 w 120"/>
              <a:gd name="T39" fmla="*/ 0 h 3"/>
              <a:gd name="T40" fmla="*/ 57 w 120"/>
              <a:gd name="T41" fmla="*/ 1 h 3"/>
              <a:gd name="T42" fmla="*/ 57 w 120"/>
              <a:gd name="T43" fmla="*/ 1 h 3"/>
              <a:gd name="T44" fmla="*/ 55 w 120"/>
              <a:gd name="T45" fmla="*/ 3 h 3"/>
              <a:gd name="T46" fmla="*/ 43 w 120"/>
              <a:gd name="T47" fmla="*/ 3 h 3"/>
              <a:gd name="T48" fmla="*/ 42 w 120"/>
              <a:gd name="T49" fmla="*/ 1 h 3"/>
              <a:gd name="T50" fmla="*/ 42 w 120"/>
              <a:gd name="T51" fmla="*/ 1 h 3"/>
              <a:gd name="T52" fmla="*/ 43 w 120"/>
              <a:gd name="T53" fmla="*/ 0 h 3"/>
              <a:gd name="T54" fmla="*/ 64 w 120"/>
              <a:gd name="T55" fmla="*/ 0 h 3"/>
              <a:gd name="T56" fmla="*/ 76 w 120"/>
              <a:gd name="T57" fmla="*/ 0 h 3"/>
              <a:gd name="T58" fmla="*/ 78 w 120"/>
              <a:gd name="T59" fmla="*/ 1 h 3"/>
              <a:gd name="T60" fmla="*/ 78 w 120"/>
              <a:gd name="T61" fmla="*/ 1 h 3"/>
              <a:gd name="T62" fmla="*/ 76 w 120"/>
              <a:gd name="T63" fmla="*/ 3 h 3"/>
              <a:gd name="T64" fmla="*/ 64 w 120"/>
              <a:gd name="T65" fmla="*/ 3 h 3"/>
              <a:gd name="T66" fmla="*/ 63 w 120"/>
              <a:gd name="T67" fmla="*/ 1 h 3"/>
              <a:gd name="T68" fmla="*/ 63 w 120"/>
              <a:gd name="T69" fmla="*/ 1 h 3"/>
              <a:gd name="T70" fmla="*/ 64 w 120"/>
              <a:gd name="T71" fmla="*/ 0 h 3"/>
              <a:gd name="T72" fmla="*/ 85 w 120"/>
              <a:gd name="T73" fmla="*/ 0 h 3"/>
              <a:gd name="T74" fmla="*/ 97 w 120"/>
              <a:gd name="T75" fmla="*/ 0 h 3"/>
              <a:gd name="T76" fmla="*/ 99 w 120"/>
              <a:gd name="T77" fmla="*/ 1 h 3"/>
              <a:gd name="T78" fmla="*/ 99 w 120"/>
              <a:gd name="T79" fmla="*/ 1 h 3"/>
              <a:gd name="T80" fmla="*/ 97 w 120"/>
              <a:gd name="T81" fmla="*/ 3 h 3"/>
              <a:gd name="T82" fmla="*/ 85 w 120"/>
              <a:gd name="T83" fmla="*/ 3 h 3"/>
              <a:gd name="T84" fmla="*/ 84 w 120"/>
              <a:gd name="T85" fmla="*/ 1 h 3"/>
              <a:gd name="T86" fmla="*/ 84 w 120"/>
              <a:gd name="T87" fmla="*/ 1 h 3"/>
              <a:gd name="T88" fmla="*/ 85 w 120"/>
              <a:gd name="T89" fmla="*/ 0 h 3"/>
              <a:gd name="T90" fmla="*/ 106 w 120"/>
              <a:gd name="T91" fmla="*/ 0 h 3"/>
              <a:gd name="T92" fmla="*/ 118 w 120"/>
              <a:gd name="T93" fmla="*/ 0 h 3"/>
              <a:gd name="T94" fmla="*/ 120 w 120"/>
              <a:gd name="T95" fmla="*/ 1 h 3"/>
              <a:gd name="T96" fmla="*/ 120 w 120"/>
              <a:gd name="T97" fmla="*/ 1 h 3"/>
              <a:gd name="T98" fmla="*/ 118 w 120"/>
              <a:gd name="T99" fmla="*/ 3 h 3"/>
              <a:gd name="T100" fmla="*/ 106 w 120"/>
              <a:gd name="T101" fmla="*/ 3 h 3"/>
              <a:gd name="T102" fmla="*/ 105 w 120"/>
              <a:gd name="T103" fmla="*/ 1 h 3"/>
              <a:gd name="T104" fmla="*/ 105 w 120"/>
              <a:gd name="T105" fmla="*/ 1 h 3"/>
              <a:gd name="T106" fmla="*/ 106 w 120"/>
              <a:gd name="T107" fmla="*/ 0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0" h="3">
                <a:moveTo>
                  <a:pt x="1" y="0"/>
                </a:moveTo>
                <a:cubicBezTo>
                  <a:pt x="5" y="0"/>
                  <a:pt x="9" y="0"/>
                  <a:pt x="13" y="0"/>
                </a:cubicBezTo>
                <a:cubicBezTo>
                  <a:pt x="14" y="0"/>
                  <a:pt x="15" y="0"/>
                  <a:pt x="15" y="1"/>
                </a:cubicBezTo>
                <a:cubicBezTo>
                  <a:pt x="15" y="1"/>
                  <a:pt x="15" y="1"/>
                  <a:pt x="15" y="1"/>
                </a:cubicBezTo>
                <a:cubicBezTo>
                  <a:pt x="15" y="2"/>
                  <a:pt x="14" y="3"/>
                  <a:pt x="13" y="3"/>
                </a:cubicBezTo>
                <a:cubicBezTo>
                  <a:pt x="9" y="3"/>
                  <a:pt x="5" y="3"/>
                  <a:pt x="1" y="3"/>
                </a:cubicBezTo>
                <a:cubicBezTo>
                  <a:pt x="0" y="3"/>
                  <a:pt x="0" y="2"/>
                  <a:pt x="0" y="1"/>
                </a:cubicBezTo>
                <a:cubicBezTo>
                  <a:pt x="0" y="1"/>
                  <a:pt x="0" y="1"/>
                  <a:pt x="0" y="1"/>
                </a:cubicBezTo>
                <a:cubicBezTo>
                  <a:pt x="0" y="0"/>
                  <a:pt x="0" y="0"/>
                  <a:pt x="1" y="0"/>
                </a:cubicBezTo>
                <a:close/>
                <a:moveTo>
                  <a:pt x="22" y="0"/>
                </a:moveTo>
                <a:cubicBezTo>
                  <a:pt x="26" y="0"/>
                  <a:pt x="30" y="0"/>
                  <a:pt x="34" y="0"/>
                </a:cubicBezTo>
                <a:cubicBezTo>
                  <a:pt x="35" y="0"/>
                  <a:pt x="36" y="0"/>
                  <a:pt x="36" y="1"/>
                </a:cubicBezTo>
                <a:cubicBezTo>
                  <a:pt x="36" y="1"/>
                  <a:pt x="36" y="1"/>
                  <a:pt x="36" y="1"/>
                </a:cubicBezTo>
                <a:cubicBezTo>
                  <a:pt x="36" y="2"/>
                  <a:pt x="35" y="3"/>
                  <a:pt x="34" y="3"/>
                </a:cubicBezTo>
                <a:cubicBezTo>
                  <a:pt x="30" y="3"/>
                  <a:pt x="26" y="3"/>
                  <a:pt x="22" y="3"/>
                </a:cubicBezTo>
                <a:cubicBezTo>
                  <a:pt x="21" y="3"/>
                  <a:pt x="21" y="2"/>
                  <a:pt x="21" y="1"/>
                </a:cubicBezTo>
                <a:cubicBezTo>
                  <a:pt x="21" y="1"/>
                  <a:pt x="21" y="1"/>
                  <a:pt x="21" y="1"/>
                </a:cubicBezTo>
                <a:cubicBezTo>
                  <a:pt x="21" y="0"/>
                  <a:pt x="21" y="0"/>
                  <a:pt x="22" y="0"/>
                </a:cubicBezTo>
                <a:close/>
                <a:moveTo>
                  <a:pt x="43" y="0"/>
                </a:moveTo>
                <a:cubicBezTo>
                  <a:pt x="47" y="0"/>
                  <a:pt x="51" y="0"/>
                  <a:pt x="55" y="0"/>
                </a:cubicBezTo>
                <a:cubicBezTo>
                  <a:pt x="56" y="0"/>
                  <a:pt x="57" y="0"/>
                  <a:pt x="57" y="1"/>
                </a:cubicBezTo>
                <a:cubicBezTo>
                  <a:pt x="57" y="1"/>
                  <a:pt x="57" y="1"/>
                  <a:pt x="57" y="1"/>
                </a:cubicBezTo>
                <a:cubicBezTo>
                  <a:pt x="57" y="2"/>
                  <a:pt x="56" y="3"/>
                  <a:pt x="55" y="3"/>
                </a:cubicBezTo>
                <a:cubicBezTo>
                  <a:pt x="51" y="3"/>
                  <a:pt x="47" y="3"/>
                  <a:pt x="43" y="3"/>
                </a:cubicBezTo>
                <a:cubicBezTo>
                  <a:pt x="42" y="3"/>
                  <a:pt x="42" y="2"/>
                  <a:pt x="42" y="1"/>
                </a:cubicBezTo>
                <a:cubicBezTo>
                  <a:pt x="42" y="1"/>
                  <a:pt x="42" y="1"/>
                  <a:pt x="42" y="1"/>
                </a:cubicBezTo>
                <a:cubicBezTo>
                  <a:pt x="42" y="0"/>
                  <a:pt x="42" y="0"/>
                  <a:pt x="43" y="0"/>
                </a:cubicBezTo>
                <a:close/>
                <a:moveTo>
                  <a:pt x="64" y="0"/>
                </a:moveTo>
                <a:cubicBezTo>
                  <a:pt x="68" y="0"/>
                  <a:pt x="72" y="0"/>
                  <a:pt x="76" y="0"/>
                </a:cubicBezTo>
                <a:cubicBezTo>
                  <a:pt x="77" y="0"/>
                  <a:pt x="78" y="0"/>
                  <a:pt x="78" y="1"/>
                </a:cubicBezTo>
                <a:cubicBezTo>
                  <a:pt x="78" y="1"/>
                  <a:pt x="78" y="1"/>
                  <a:pt x="78" y="1"/>
                </a:cubicBezTo>
                <a:cubicBezTo>
                  <a:pt x="78" y="2"/>
                  <a:pt x="77" y="3"/>
                  <a:pt x="76" y="3"/>
                </a:cubicBezTo>
                <a:cubicBezTo>
                  <a:pt x="72" y="3"/>
                  <a:pt x="68" y="3"/>
                  <a:pt x="64" y="3"/>
                </a:cubicBezTo>
                <a:cubicBezTo>
                  <a:pt x="63" y="3"/>
                  <a:pt x="63" y="2"/>
                  <a:pt x="63" y="1"/>
                </a:cubicBezTo>
                <a:cubicBezTo>
                  <a:pt x="63" y="1"/>
                  <a:pt x="63" y="1"/>
                  <a:pt x="63" y="1"/>
                </a:cubicBezTo>
                <a:cubicBezTo>
                  <a:pt x="63" y="0"/>
                  <a:pt x="63" y="0"/>
                  <a:pt x="64" y="0"/>
                </a:cubicBezTo>
                <a:close/>
                <a:moveTo>
                  <a:pt x="85" y="0"/>
                </a:moveTo>
                <a:cubicBezTo>
                  <a:pt x="89" y="0"/>
                  <a:pt x="93" y="0"/>
                  <a:pt x="97" y="0"/>
                </a:cubicBezTo>
                <a:cubicBezTo>
                  <a:pt x="98" y="0"/>
                  <a:pt x="99" y="0"/>
                  <a:pt x="99" y="1"/>
                </a:cubicBezTo>
                <a:cubicBezTo>
                  <a:pt x="99" y="1"/>
                  <a:pt x="99" y="1"/>
                  <a:pt x="99" y="1"/>
                </a:cubicBezTo>
                <a:cubicBezTo>
                  <a:pt x="99" y="2"/>
                  <a:pt x="98" y="3"/>
                  <a:pt x="97" y="3"/>
                </a:cubicBezTo>
                <a:cubicBezTo>
                  <a:pt x="93" y="3"/>
                  <a:pt x="89" y="3"/>
                  <a:pt x="85" y="3"/>
                </a:cubicBezTo>
                <a:cubicBezTo>
                  <a:pt x="84" y="3"/>
                  <a:pt x="84" y="2"/>
                  <a:pt x="84" y="1"/>
                </a:cubicBezTo>
                <a:cubicBezTo>
                  <a:pt x="84" y="1"/>
                  <a:pt x="84" y="1"/>
                  <a:pt x="84" y="1"/>
                </a:cubicBezTo>
                <a:cubicBezTo>
                  <a:pt x="84" y="0"/>
                  <a:pt x="84" y="0"/>
                  <a:pt x="85" y="0"/>
                </a:cubicBezTo>
                <a:close/>
                <a:moveTo>
                  <a:pt x="106" y="0"/>
                </a:moveTo>
                <a:cubicBezTo>
                  <a:pt x="110" y="0"/>
                  <a:pt x="114" y="0"/>
                  <a:pt x="118" y="0"/>
                </a:cubicBezTo>
                <a:cubicBezTo>
                  <a:pt x="119" y="0"/>
                  <a:pt x="120" y="0"/>
                  <a:pt x="120" y="1"/>
                </a:cubicBezTo>
                <a:cubicBezTo>
                  <a:pt x="120" y="1"/>
                  <a:pt x="120" y="1"/>
                  <a:pt x="120" y="1"/>
                </a:cubicBezTo>
                <a:cubicBezTo>
                  <a:pt x="120" y="2"/>
                  <a:pt x="119" y="3"/>
                  <a:pt x="118" y="3"/>
                </a:cubicBezTo>
                <a:cubicBezTo>
                  <a:pt x="114" y="3"/>
                  <a:pt x="110" y="3"/>
                  <a:pt x="106" y="3"/>
                </a:cubicBezTo>
                <a:cubicBezTo>
                  <a:pt x="105" y="3"/>
                  <a:pt x="105" y="2"/>
                  <a:pt x="105" y="1"/>
                </a:cubicBezTo>
                <a:cubicBezTo>
                  <a:pt x="105" y="1"/>
                  <a:pt x="105" y="1"/>
                  <a:pt x="105" y="1"/>
                </a:cubicBezTo>
                <a:cubicBezTo>
                  <a:pt x="105" y="0"/>
                  <a:pt x="105" y="0"/>
                  <a:pt x="106" y="0"/>
                </a:cubicBezTo>
                <a:close/>
              </a:path>
            </a:pathLst>
          </a:custGeom>
          <a:solidFill>
            <a:srgbClr val="BCE1DF"/>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3" name="Freeform 8"/>
          <p:cNvSpPr/>
          <p:nvPr/>
        </p:nvSpPr>
        <p:spPr bwMode="auto">
          <a:xfrm>
            <a:off x="988959" y="4772005"/>
            <a:ext cx="498475" cy="1428750"/>
          </a:xfrm>
          <a:custGeom>
            <a:avLst/>
            <a:gdLst>
              <a:gd name="T0" fmla="*/ 0 w 314"/>
              <a:gd name="T1" fmla="*/ 0 h 900"/>
              <a:gd name="T2" fmla="*/ 314 w 314"/>
              <a:gd name="T3" fmla="*/ 298 h 900"/>
              <a:gd name="T4" fmla="*/ 314 w 314"/>
              <a:gd name="T5" fmla="*/ 900 h 900"/>
              <a:gd name="T6" fmla="*/ 0 w 314"/>
              <a:gd name="T7" fmla="*/ 602 h 900"/>
              <a:gd name="T8" fmla="*/ 0 w 314"/>
              <a:gd name="T9" fmla="*/ 0 h 900"/>
              <a:gd name="T10" fmla="*/ 0 w 314"/>
              <a:gd name="T11" fmla="*/ 0 h 900"/>
            </a:gdLst>
            <a:ahLst/>
            <a:cxnLst>
              <a:cxn ang="0">
                <a:pos x="T0" y="T1"/>
              </a:cxn>
              <a:cxn ang="0">
                <a:pos x="T2" y="T3"/>
              </a:cxn>
              <a:cxn ang="0">
                <a:pos x="T4" y="T5"/>
              </a:cxn>
              <a:cxn ang="0">
                <a:pos x="T6" y="T7"/>
              </a:cxn>
              <a:cxn ang="0">
                <a:pos x="T8" y="T9"/>
              </a:cxn>
              <a:cxn ang="0">
                <a:pos x="T10" y="T11"/>
              </a:cxn>
            </a:cxnLst>
            <a:rect l="0" t="0" r="r" b="b"/>
            <a:pathLst>
              <a:path w="314" h="900">
                <a:moveTo>
                  <a:pt x="0" y="0"/>
                </a:moveTo>
                <a:lnTo>
                  <a:pt x="314" y="298"/>
                </a:lnTo>
                <a:lnTo>
                  <a:pt x="314" y="900"/>
                </a:lnTo>
                <a:lnTo>
                  <a:pt x="0" y="602"/>
                </a:lnTo>
                <a:lnTo>
                  <a:pt x="0" y="0"/>
                </a:lnTo>
                <a:lnTo>
                  <a:pt x="0" y="0"/>
                </a:lnTo>
                <a:close/>
              </a:path>
            </a:pathLst>
          </a:custGeom>
          <a:solidFill>
            <a:srgbClr val="0A6F7A"/>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 name="Freeform 9"/>
          <p:cNvSpPr>
            <a:spLocks noEditPoints="1"/>
          </p:cNvSpPr>
          <p:nvPr/>
        </p:nvSpPr>
        <p:spPr bwMode="auto">
          <a:xfrm>
            <a:off x="988959" y="5602268"/>
            <a:ext cx="498475" cy="395095"/>
          </a:xfrm>
          <a:custGeom>
            <a:avLst/>
            <a:gdLst>
              <a:gd name="T0" fmla="*/ 60 w 60"/>
              <a:gd name="T1" fmla="*/ 57 h 62"/>
              <a:gd name="T2" fmla="*/ 60 w 60"/>
              <a:gd name="T3" fmla="*/ 62 h 62"/>
              <a:gd name="T4" fmla="*/ 53 w 60"/>
              <a:gd name="T5" fmla="*/ 56 h 62"/>
              <a:gd name="T6" fmla="*/ 53 w 60"/>
              <a:gd name="T7" fmla="*/ 53 h 62"/>
              <a:gd name="T8" fmla="*/ 53 w 60"/>
              <a:gd name="T9" fmla="*/ 53 h 62"/>
              <a:gd name="T10" fmla="*/ 56 w 60"/>
              <a:gd name="T11" fmla="*/ 53 h 62"/>
              <a:gd name="T12" fmla="*/ 60 w 60"/>
              <a:gd name="T13" fmla="*/ 57 h 62"/>
              <a:gd name="T14" fmla="*/ 0 w 60"/>
              <a:gd name="T15" fmla="*/ 4 h 62"/>
              <a:gd name="T16" fmla="*/ 0 w 60"/>
              <a:gd name="T17" fmla="*/ 0 h 62"/>
              <a:gd name="T18" fmla="*/ 3 w 60"/>
              <a:gd name="T19" fmla="*/ 3 h 62"/>
              <a:gd name="T20" fmla="*/ 4 w 60"/>
              <a:gd name="T21" fmla="*/ 6 h 62"/>
              <a:gd name="T22" fmla="*/ 4 w 60"/>
              <a:gd name="T23" fmla="*/ 6 h 62"/>
              <a:gd name="T24" fmla="*/ 1 w 60"/>
              <a:gd name="T25" fmla="*/ 6 h 62"/>
              <a:gd name="T26" fmla="*/ 0 w 60"/>
              <a:gd name="T27" fmla="*/ 4 h 62"/>
              <a:gd name="T28" fmla="*/ 10 w 60"/>
              <a:gd name="T29" fmla="*/ 10 h 62"/>
              <a:gd name="T30" fmla="*/ 19 w 60"/>
              <a:gd name="T31" fmla="*/ 18 h 62"/>
              <a:gd name="T32" fmla="*/ 19 w 60"/>
              <a:gd name="T33" fmla="*/ 20 h 62"/>
              <a:gd name="T34" fmla="*/ 19 w 60"/>
              <a:gd name="T35" fmla="*/ 20 h 62"/>
              <a:gd name="T36" fmla="*/ 16 w 60"/>
              <a:gd name="T37" fmla="*/ 20 h 62"/>
              <a:gd name="T38" fmla="*/ 8 w 60"/>
              <a:gd name="T39" fmla="*/ 12 h 62"/>
              <a:gd name="T40" fmla="*/ 8 w 60"/>
              <a:gd name="T41" fmla="*/ 10 h 62"/>
              <a:gd name="T42" fmla="*/ 8 w 60"/>
              <a:gd name="T43" fmla="*/ 10 h 62"/>
              <a:gd name="T44" fmla="*/ 10 w 60"/>
              <a:gd name="T45" fmla="*/ 10 h 62"/>
              <a:gd name="T46" fmla="*/ 25 w 60"/>
              <a:gd name="T47" fmla="*/ 24 h 62"/>
              <a:gd name="T48" fmla="*/ 34 w 60"/>
              <a:gd name="T49" fmla="*/ 32 h 62"/>
              <a:gd name="T50" fmla="*/ 34 w 60"/>
              <a:gd name="T51" fmla="*/ 35 h 62"/>
              <a:gd name="T52" fmla="*/ 34 w 60"/>
              <a:gd name="T53" fmla="*/ 35 h 62"/>
              <a:gd name="T54" fmla="*/ 32 w 60"/>
              <a:gd name="T55" fmla="*/ 35 h 62"/>
              <a:gd name="T56" fmla="*/ 23 w 60"/>
              <a:gd name="T57" fmla="*/ 27 h 62"/>
              <a:gd name="T58" fmla="*/ 23 w 60"/>
              <a:gd name="T59" fmla="*/ 24 h 62"/>
              <a:gd name="T60" fmla="*/ 23 w 60"/>
              <a:gd name="T61" fmla="*/ 24 h 62"/>
              <a:gd name="T62" fmla="*/ 25 w 60"/>
              <a:gd name="T63" fmla="*/ 24 h 62"/>
              <a:gd name="T64" fmla="*/ 41 w 60"/>
              <a:gd name="T65" fmla="*/ 39 h 62"/>
              <a:gd name="T66" fmla="*/ 49 w 60"/>
              <a:gd name="T67" fmla="*/ 47 h 62"/>
              <a:gd name="T68" fmla="*/ 49 w 60"/>
              <a:gd name="T69" fmla="*/ 49 h 62"/>
              <a:gd name="T70" fmla="*/ 49 w 60"/>
              <a:gd name="T71" fmla="*/ 49 h 62"/>
              <a:gd name="T72" fmla="*/ 47 w 60"/>
              <a:gd name="T73" fmla="*/ 49 h 62"/>
              <a:gd name="T74" fmla="*/ 38 w 60"/>
              <a:gd name="T75" fmla="*/ 41 h 62"/>
              <a:gd name="T76" fmla="*/ 38 w 60"/>
              <a:gd name="T77" fmla="*/ 39 h 62"/>
              <a:gd name="T78" fmla="*/ 38 w 60"/>
              <a:gd name="T79" fmla="*/ 39 h 62"/>
              <a:gd name="T80" fmla="*/ 41 w 60"/>
              <a:gd name="T81" fmla="*/ 39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0" h="62">
                <a:moveTo>
                  <a:pt x="60" y="57"/>
                </a:moveTo>
                <a:cubicBezTo>
                  <a:pt x="60" y="62"/>
                  <a:pt x="60" y="62"/>
                  <a:pt x="60" y="62"/>
                </a:cubicBezTo>
                <a:cubicBezTo>
                  <a:pt x="58" y="60"/>
                  <a:pt x="56" y="58"/>
                  <a:pt x="53" y="56"/>
                </a:cubicBezTo>
                <a:cubicBezTo>
                  <a:pt x="53" y="55"/>
                  <a:pt x="53" y="54"/>
                  <a:pt x="53" y="53"/>
                </a:cubicBezTo>
                <a:cubicBezTo>
                  <a:pt x="53" y="53"/>
                  <a:pt x="53" y="53"/>
                  <a:pt x="53" y="53"/>
                </a:cubicBezTo>
                <a:cubicBezTo>
                  <a:pt x="54" y="53"/>
                  <a:pt x="55" y="53"/>
                  <a:pt x="56" y="53"/>
                </a:cubicBezTo>
                <a:cubicBezTo>
                  <a:pt x="57" y="55"/>
                  <a:pt x="58" y="56"/>
                  <a:pt x="60" y="57"/>
                </a:cubicBezTo>
                <a:close/>
                <a:moveTo>
                  <a:pt x="0" y="4"/>
                </a:moveTo>
                <a:cubicBezTo>
                  <a:pt x="0" y="0"/>
                  <a:pt x="0" y="0"/>
                  <a:pt x="0" y="0"/>
                </a:cubicBezTo>
                <a:cubicBezTo>
                  <a:pt x="1" y="1"/>
                  <a:pt x="2" y="2"/>
                  <a:pt x="3" y="3"/>
                </a:cubicBezTo>
                <a:cubicBezTo>
                  <a:pt x="4" y="4"/>
                  <a:pt x="4" y="5"/>
                  <a:pt x="4" y="6"/>
                </a:cubicBezTo>
                <a:cubicBezTo>
                  <a:pt x="4" y="6"/>
                  <a:pt x="4" y="6"/>
                  <a:pt x="4" y="6"/>
                </a:cubicBezTo>
                <a:cubicBezTo>
                  <a:pt x="3" y="7"/>
                  <a:pt x="2" y="7"/>
                  <a:pt x="1" y="6"/>
                </a:cubicBezTo>
                <a:cubicBezTo>
                  <a:pt x="1" y="5"/>
                  <a:pt x="0" y="5"/>
                  <a:pt x="0" y="4"/>
                </a:cubicBezTo>
                <a:close/>
                <a:moveTo>
                  <a:pt x="10" y="10"/>
                </a:moveTo>
                <a:cubicBezTo>
                  <a:pt x="13" y="13"/>
                  <a:pt x="16" y="15"/>
                  <a:pt x="19" y="18"/>
                </a:cubicBezTo>
                <a:cubicBezTo>
                  <a:pt x="19" y="19"/>
                  <a:pt x="19" y="20"/>
                  <a:pt x="19" y="20"/>
                </a:cubicBezTo>
                <a:cubicBezTo>
                  <a:pt x="19" y="20"/>
                  <a:pt x="19" y="20"/>
                  <a:pt x="19" y="20"/>
                </a:cubicBezTo>
                <a:cubicBezTo>
                  <a:pt x="18" y="21"/>
                  <a:pt x="17" y="21"/>
                  <a:pt x="16" y="20"/>
                </a:cubicBezTo>
                <a:cubicBezTo>
                  <a:pt x="14" y="18"/>
                  <a:pt x="11" y="15"/>
                  <a:pt x="8" y="12"/>
                </a:cubicBezTo>
                <a:cubicBezTo>
                  <a:pt x="7" y="12"/>
                  <a:pt x="7" y="11"/>
                  <a:pt x="8" y="10"/>
                </a:cubicBezTo>
                <a:cubicBezTo>
                  <a:pt x="8" y="10"/>
                  <a:pt x="8" y="10"/>
                  <a:pt x="8" y="10"/>
                </a:cubicBezTo>
                <a:cubicBezTo>
                  <a:pt x="8" y="9"/>
                  <a:pt x="9" y="9"/>
                  <a:pt x="10" y="10"/>
                </a:cubicBezTo>
                <a:close/>
                <a:moveTo>
                  <a:pt x="25" y="24"/>
                </a:moveTo>
                <a:cubicBezTo>
                  <a:pt x="28" y="27"/>
                  <a:pt x="31" y="30"/>
                  <a:pt x="34" y="32"/>
                </a:cubicBezTo>
                <a:cubicBezTo>
                  <a:pt x="35" y="33"/>
                  <a:pt x="35" y="34"/>
                  <a:pt x="34" y="35"/>
                </a:cubicBezTo>
                <a:cubicBezTo>
                  <a:pt x="34" y="35"/>
                  <a:pt x="34" y="35"/>
                  <a:pt x="34" y="35"/>
                </a:cubicBezTo>
                <a:cubicBezTo>
                  <a:pt x="33" y="35"/>
                  <a:pt x="32" y="35"/>
                  <a:pt x="32" y="35"/>
                </a:cubicBezTo>
                <a:cubicBezTo>
                  <a:pt x="29" y="32"/>
                  <a:pt x="26" y="29"/>
                  <a:pt x="23" y="27"/>
                </a:cubicBezTo>
                <a:cubicBezTo>
                  <a:pt x="22" y="26"/>
                  <a:pt x="22" y="25"/>
                  <a:pt x="23" y="24"/>
                </a:cubicBezTo>
                <a:cubicBezTo>
                  <a:pt x="23" y="24"/>
                  <a:pt x="23" y="24"/>
                  <a:pt x="23" y="24"/>
                </a:cubicBezTo>
                <a:cubicBezTo>
                  <a:pt x="24" y="24"/>
                  <a:pt x="25" y="24"/>
                  <a:pt x="25" y="24"/>
                </a:cubicBezTo>
                <a:close/>
                <a:moveTo>
                  <a:pt x="41" y="39"/>
                </a:moveTo>
                <a:cubicBezTo>
                  <a:pt x="43" y="42"/>
                  <a:pt x="46" y="44"/>
                  <a:pt x="49" y="47"/>
                </a:cubicBezTo>
                <a:cubicBezTo>
                  <a:pt x="50" y="48"/>
                  <a:pt x="50" y="49"/>
                  <a:pt x="49" y="49"/>
                </a:cubicBezTo>
                <a:cubicBezTo>
                  <a:pt x="49" y="49"/>
                  <a:pt x="49" y="49"/>
                  <a:pt x="49" y="49"/>
                </a:cubicBezTo>
                <a:cubicBezTo>
                  <a:pt x="48" y="50"/>
                  <a:pt x="47" y="50"/>
                  <a:pt x="47" y="49"/>
                </a:cubicBezTo>
                <a:cubicBezTo>
                  <a:pt x="44" y="47"/>
                  <a:pt x="41" y="44"/>
                  <a:pt x="38" y="41"/>
                </a:cubicBezTo>
                <a:cubicBezTo>
                  <a:pt x="38" y="41"/>
                  <a:pt x="38" y="40"/>
                  <a:pt x="38" y="39"/>
                </a:cubicBezTo>
                <a:cubicBezTo>
                  <a:pt x="38" y="39"/>
                  <a:pt x="38" y="39"/>
                  <a:pt x="38" y="39"/>
                </a:cubicBezTo>
                <a:cubicBezTo>
                  <a:pt x="39" y="38"/>
                  <a:pt x="40" y="38"/>
                  <a:pt x="41" y="39"/>
                </a:cubicBezTo>
                <a:close/>
              </a:path>
            </a:pathLst>
          </a:custGeom>
          <a:solidFill>
            <a:srgbClr val="369CAB"/>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5" name="Freeform 10"/>
          <p:cNvSpPr/>
          <p:nvPr/>
        </p:nvSpPr>
        <p:spPr bwMode="auto">
          <a:xfrm>
            <a:off x="557159" y="3524230"/>
            <a:ext cx="1081087" cy="731837"/>
          </a:xfrm>
          <a:custGeom>
            <a:avLst/>
            <a:gdLst>
              <a:gd name="T0" fmla="*/ 0 w 681"/>
              <a:gd name="T1" fmla="*/ 0 h 602"/>
              <a:gd name="T2" fmla="*/ 681 w 681"/>
              <a:gd name="T3" fmla="*/ 0 h 602"/>
              <a:gd name="T4" fmla="*/ 681 w 681"/>
              <a:gd name="T5" fmla="*/ 602 h 602"/>
              <a:gd name="T6" fmla="*/ 0 w 681"/>
              <a:gd name="T7" fmla="*/ 602 h 602"/>
              <a:gd name="T8" fmla="*/ 183 w 681"/>
              <a:gd name="T9" fmla="*/ 304 h 602"/>
              <a:gd name="T10" fmla="*/ 0 w 681"/>
              <a:gd name="T11" fmla="*/ 0 h 602"/>
              <a:gd name="T12" fmla="*/ 0 w 681"/>
              <a:gd name="T13" fmla="*/ 0 h 602"/>
            </a:gdLst>
            <a:ahLst/>
            <a:cxnLst>
              <a:cxn ang="0">
                <a:pos x="T0" y="T1"/>
              </a:cxn>
              <a:cxn ang="0">
                <a:pos x="T2" y="T3"/>
              </a:cxn>
              <a:cxn ang="0">
                <a:pos x="T4" y="T5"/>
              </a:cxn>
              <a:cxn ang="0">
                <a:pos x="T6" y="T7"/>
              </a:cxn>
              <a:cxn ang="0">
                <a:pos x="T8" y="T9"/>
              </a:cxn>
              <a:cxn ang="0">
                <a:pos x="T10" y="T11"/>
              </a:cxn>
              <a:cxn ang="0">
                <a:pos x="T12" y="T13"/>
              </a:cxn>
            </a:cxnLst>
            <a:rect l="0" t="0" r="r" b="b"/>
            <a:pathLst>
              <a:path w="681" h="602">
                <a:moveTo>
                  <a:pt x="0" y="0"/>
                </a:moveTo>
                <a:lnTo>
                  <a:pt x="681" y="0"/>
                </a:lnTo>
                <a:lnTo>
                  <a:pt x="681" y="602"/>
                </a:lnTo>
                <a:lnTo>
                  <a:pt x="0" y="602"/>
                </a:lnTo>
                <a:lnTo>
                  <a:pt x="183" y="304"/>
                </a:lnTo>
                <a:lnTo>
                  <a:pt x="0" y="0"/>
                </a:lnTo>
                <a:lnTo>
                  <a:pt x="0" y="0"/>
                </a:lnTo>
                <a:close/>
              </a:path>
            </a:pathLst>
          </a:custGeom>
          <a:solidFill>
            <a:srgbClr val="FDD820"/>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6" name="Freeform 11"/>
          <p:cNvSpPr>
            <a:spLocks noEditPoints="1"/>
          </p:cNvSpPr>
          <p:nvPr/>
        </p:nvSpPr>
        <p:spPr bwMode="auto">
          <a:xfrm>
            <a:off x="673046" y="3582967"/>
            <a:ext cx="998537" cy="45719"/>
          </a:xfrm>
          <a:custGeom>
            <a:avLst/>
            <a:gdLst>
              <a:gd name="T0" fmla="*/ 1 w 120"/>
              <a:gd name="T1" fmla="*/ 0 h 4"/>
              <a:gd name="T2" fmla="*/ 13 w 120"/>
              <a:gd name="T3" fmla="*/ 0 h 4"/>
              <a:gd name="T4" fmla="*/ 15 w 120"/>
              <a:gd name="T5" fmla="*/ 2 h 4"/>
              <a:gd name="T6" fmla="*/ 15 w 120"/>
              <a:gd name="T7" fmla="*/ 2 h 4"/>
              <a:gd name="T8" fmla="*/ 13 w 120"/>
              <a:gd name="T9" fmla="*/ 4 h 4"/>
              <a:gd name="T10" fmla="*/ 1 w 120"/>
              <a:gd name="T11" fmla="*/ 4 h 4"/>
              <a:gd name="T12" fmla="*/ 0 w 120"/>
              <a:gd name="T13" fmla="*/ 2 h 4"/>
              <a:gd name="T14" fmla="*/ 0 w 120"/>
              <a:gd name="T15" fmla="*/ 2 h 4"/>
              <a:gd name="T16" fmla="*/ 1 w 120"/>
              <a:gd name="T17" fmla="*/ 0 h 4"/>
              <a:gd name="T18" fmla="*/ 22 w 120"/>
              <a:gd name="T19" fmla="*/ 0 h 4"/>
              <a:gd name="T20" fmla="*/ 34 w 120"/>
              <a:gd name="T21" fmla="*/ 0 h 4"/>
              <a:gd name="T22" fmla="*/ 36 w 120"/>
              <a:gd name="T23" fmla="*/ 2 h 4"/>
              <a:gd name="T24" fmla="*/ 36 w 120"/>
              <a:gd name="T25" fmla="*/ 2 h 4"/>
              <a:gd name="T26" fmla="*/ 34 w 120"/>
              <a:gd name="T27" fmla="*/ 4 h 4"/>
              <a:gd name="T28" fmla="*/ 22 w 120"/>
              <a:gd name="T29" fmla="*/ 4 h 4"/>
              <a:gd name="T30" fmla="*/ 21 w 120"/>
              <a:gd name="T31" fmla="*/ 2 h 4"/>
              <a:gd name="T32" fmla="*/ 21 w 120"/>
              <a:gd name="T33" fmla="*/ 2 h 4"/>
              <a:gd name="T34" fmla="*/ 22 w 120"/>
              <a:gd name="T35" fmla="*/ 0 h 4"/>
              <a:gd name="T36" fmla="*/ 43 w 120"/>
              <a:gd name="T37" fmla="*/ 0 h 4"/>
              <a:gd name="T38" fmla="*/ 55 w 120"/>
              <a:gd name="T39" fmla="*/ 0 h 4"/>
              <a:gd name="T40" fmla="*/ 57 w 120"/>
              <a:gd name="T41" fmla="*/ 2 h 4"/>
              <a:gd name="T42" fmla="*/ 57 w 120"/>
              <a:gd name="T43" fmla="*/ 2 h 4"/>
              <a:gd name="T44" fmla="*/ 55 w 120"/>
              <a:gd name="T45" fmla="*/ 4 h 4"/>
              <a:gd name="T46" fmla="*/ 43 w 120"/>
              <a:gd name="T47" fmla="*/ 4 h 4"/>
              <a:gd name="T48" fmla="*/ 42 w 120"/>
              <a:gd name="T49" fmla="*/ 2 h 4"/>
              <a:gd name="T50" fmla="*/ 42 w 120"/>
              <a:gd name="T51" fmla="*/ 2 h 4"/>
              <a:gd name="T52" fmla="*/ 43 w 120"/>
              <a:gd name="T53" fmla="*/ 0 h 4"/>
              <a:gd name="T54" fmla="*/ 64 w 120"/>
              <a:gd name="T55" fmla="*/ 0 h 4"/>
              <a:gd name="T56" fmla="*/ 76 w 120"/>
              <a:gd name="T57" fmla="*/ 0 h 4"/>
              <a:gd name="T58" fmla="*/ 78 w 120"/>
              <a:gd name="T59" fmla="*/ 2 h 4"/>
              <a:gd name="T60" fmla="*/ 78 w 120"/>
              <a:gd name="T61" fmla="*/ 2 h 4"/>
              <a:gd name="T62" fmla="*/ 76 w 120"/>
              <a:gd name="T63" fmla="*/ 4 h 4"/>
              <a:gd name="T64" fmla="*/ 64 w 120"/>
              <a:gd name="T65" fmla="*/ 4 h 4"/>
              <a:gd name="T66" fmla="*/ 63 w 120"/>
              <a:gd name="T67" fmla="*/ 2 h 4"/>
              <a:gd name="T68" fmla="*/ 63 w 120"/>
              <a:gd name="T69" fmla="*/ 2 h 4"/>
              <a:gd name="T70" fmla="*/ 64 w 120"/>
              <a:gd name="T71" fmla="*/ 0 h 4"/>
              <a:gd name="T72" fmla="*/ 85 w 120"/>
              <a:gd name="T73" fmla="*/ 0 h 4"/>
              <a:gd name="T74" fmla="*/ 97 w 120"/>
              <a:gd name="T75" fmla="*/ 0 h 4"/>
              <a:gd name="T76" fmla="*/ 99 w 120"/>
              <a:gd name="T77" fmla="*/ 2 h 4"/>
              <a:gd name="T78" fmla="*/ 99 w 120"/>
              <a:gd name="T79" fmla="*/ 2 h 4"/>
              <a:gd name="T80" fmla="*/ 97 w 120"/>
              <a:gd name="T81" fmla="*/ 4 h 4"/>
              <a:gd name="T82" fmla="*/ 85 w 120"/>
              <a:gd name="T83" fmla="*/ 4 h 4"/>
              <a:gd name="T84" fmla="*/ 84 w 120"/>
              <a:gd name="T85" fmla="*/ 2 h 4"/>
              <a:gd name="T86" fmla="*/ 84 w 120"/>
              <a:gd name="T87" fmla="*/ 2 h 4"/>
              <a:gd name="T88" fmla="*/ 85 w 120"/>
              <a:gd name="T89" fmla="*/ 0 h 4"/>
              <a:gd name="T90" fmla="*/ 106 w 120"/>
              <a:gd name="T91" fmla="*/ 0 h 4"/>
              <a:gd name="T92" fmla="*/ 118 w 120"/>
              <a:gd name="T93" fmla="*/ 0 h 4"/>
              <a:gd name="T94" fmla="*/ 120 w 120"/>
              <a:gd name="T95" fmla="*/ 2 h 4"/>
              <a:gd name="T96" fmla="*/ 120 w 120"/>
              <a:gd name="T97" fmla="*/ 2 h 4"/>
              <a:gd name="T98" fmla="*/ 118 w 120"/>
              <a:gd name="T99" fmla="*/ 4 h 4"/>
              <a:gd name="T100" fmla="*/ 106 w 120"/>
              <a:gd name="T101" fmla="*/ 4 h 4"/>
              <a:gd name="T102" fmla="*/ 105 w 120"/>
              <a:gd name="T103" fmla="*/ 2 h 4"/>
              <a:gd name="T104" fmla="*/ 105 w 120"/>
              <a:gd name="T105" fmla="*/ 2 h 4"/>
              <a:gd name="T106" fmla="*/ 106 w 120"/>
              <a:gd name="T107"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0" h="4">
                <a:moveTo>
                  <a:pt x="1" y="0"/>
                </a:moveTo>
                <a:cubicBezTo>
                  <a:pt x="5" y="0"/>
                  <a:pt x="9" y="0"/>
                  <a:pt x="13" y="0"/>
                </a:cubicBezTo>
                <a:cubicBezTo>
                  <a:pt x="14" y="0"/>
                  <a:pt x="15" y="1"/>
                  <a:pt x="15" y="2"/>
                </a:cubicBezTo>
                <a:cubicBezTo>
                  <a:pt x="15" y="2"/>
                  <a:pt x="15" y="2"/>
                  <a:pt x="15" y="2"/>
                </a:cubicBezTo>
                <a:cubicBezTo>
                  <a:pt x="15" y="3"/>
                  <a:pt x="14" y="4"/>
                  <a:pt x="13" y="4"/>
                </a:cubicBezTo>
                <a:cubicBezTo>
                  <a:pt x="9" y="4"/>
                  <a:pt x="5" y="4"/>
                  <a:pt x="1" y="4"/>
                </a:cubicBezTo>
                <a:cubicBezTo>
                  <a:pt x="0" y="4"/>
                  <a:pt x="0" y="3"/>
                  <a:pt x="0" y="2"/>
                </a:cubicBezTo>
                <a:cubicBezTo>
                  <a:pt x="0" y="2"/>
                  <a:pt x="0" y="2"/>
                  <a:pt x="0" y="2"/>
                </a:cubicBezTo>
                <a:cubicBezTo>
                  <a:pt x="0" y="1"/>
                  <a:pt x="0" y="0"/>
                  <a:pt x="1" y="0"/>
                </a:cubicBezTo>
                <a:close/>
                <a:moveTo>
                  <a:pt x="22" y="0"/>
                </a:moveTo>
                <a:cubicBezTo>
                  <a:pt x="26" y="0"/>
                  <a:pt x="30" y="0"/>
                  <a:pt x="34" y="0"/>
                </a:cubicBezTo>
                <a:cubicBezTo>
                  <a:pt x="35" y="0"/>
                  <a:pt x="36" y="1"/>
                  <a:pt x="36" y="2"/>
                </a:cubicBezTo>
                <a:cubicBezTo>
                  <a:pt x="36" y="2"/>
                  <a:pt x="36" y="2"/>
                  <a:pt x="36" y="2"/>
                </a:cubicBezTo>
                <a:cubicBezTo>
                  <a:pt x="36" y="3"/>
                  <a:pt x="35" y="4"/>
                  <a:pt x="34" y="4"/>
                </a:cubicBezTo>
                <a:cubicBezTo>
                  <a:pt x="30" y="4"/>
                  <a:pt x="26" y="4"/>
                  <a:pt x="22" y="4"/>
                </a:cubicBezTo>
                <a:cubicBezTo>
                  <a:pt x="21" y="4"/>
                  <a:pt x="21" y="3"/>
                  <a:pt x="21" y="2"/>
                </a:cubicBezTo>
                <a:cubicBezTo>
                  <a:pt x="21" y="2"/>
                  <a:pt x="21" y="2"/>
                  <a:pt x="21" y="2"/>
                </a:cubicBezTo>
                <a:cubicBezTo>
                  <a:pt x="21" y="1"/>
                  <a:pt x="21" y="0"/>
                  <a:pt x="22" y="0"/>
                </a:cubicBezTo>
                <a:close/>
                <a:moveTo>
                  <a:pt x="43" y="0"/>
                </a:moveTo>
                <a:cubicBezTo>
                  <a:pt x="47" y="0"/>
                  <a:pt x="51" y="0"/>
                  <a:pt x="55" y="0"/>
                </a:cubicBezTo>
                <a:cubicBezTo>
                  <a:pt x="56" y="0"/>
                  <a:pt x="57" y="1"/>
                  <a:pt x="57" y="2"/>
                </a:cubicBezTo>
                <a:cubicBezTo>
                  <a:pt x="57" y="2"/>
                  <a:pt x="57" y="2"/>
                  <a:pt x="57" y="2"/>
                </a:cubicBezTo>
                <a:cubicBezTo>
                  <a:pt x="57" y="3"/>
                  <a:pt x="56" y="4"/>
                  <a:pt x="55" y="4"/>
                </a:cubicBezTo>
                <a:cubicBezTo>
                  <a:pt x="51" y="4"/>
                  <a:pt x="47" y="4"/>
                  <a:pt x="43" y="4"/>
                </a:cubicBezTo>
                <a:cubicBezTo>
                  <a:pt x="42" y="4"/>
                  <a:pt x="42" y="3"/>
                  <a:pt x="42" y="2"/>
                </a:cubicBezTo>
                <a:cubicBezTo>
                  <a:pt x="42" y="2"/>
                  <a:pt x="42" y="2"/>
                  <a:pt x="42" y="2"/>
                </a:cubicBezTo>
                <a:cubicBezTo>
                  <a:pt x="42" y="1"/>
                  <a:pt x="42" y="0"/>
                  <a:pt x="43" y="0"/>
                </a:cubicBezTo>
                <a:close/>
                <a:moveTo>
                  <a:pt x="64" y="0"/>
                </a:moveTo>
                <a:cubicBezTo>
                  <a:pt x="68" y="0"/>
                  <a:pt x="72" y="0"/>
                  <a:pt x="76" y="0"/>
                </a:cubicBezTo>
                <a:cubicBezTo>
                  <a:pt x="77" y="0"/>
                  <a:pt x="78" y="1"/>
                  <a:pt x="78" y="2"/>
                </a:cubicBezTo>
                <a:cubicBezTo>
                  <a:pt x="78" y="2"/>
                  <a:pt x="78" y="2"/>
                  <a:pt x="78" y="2"/>
                </a:cubicBezTo>
                <a:cubicBezTo>
                  <a:pt x="78" y="3"/>
                  <a:pt x="77" y="4"/>
                  <a:pt x="76" y="4"/>
                </a:cubicBezTo>
                <a:cubicBezTo>
                  <a:pt x="72" y="4"/>
                  <a:pt x="68" y="4"/>
                  <a:pt x="64" y="4"/>
                </a:cubicBezTo>
                <a:cubicBezTo>
                  <a:pt x="63" y="4"/>
                  <a:pt x="63" y="3"/>
                  <a:pt x="63" y="2"/>
                </a:cubicBezTo>
                <a:cubicBezTo>
                  <a:pt x="63" y="2"/>
                  <a:pt x="63" y="2"/>
                  <a:pt x="63" y="2"/>
                </a:cubicBezTo>
                <a:cubicBezTo>
                  <a:pt x="63" y="1"/>
                  <a:pt x="63" y="0"/>
                  <a:pt x="64" y="0"/>
                </a:cubicBezTo>
                <a:close/>
                <a:moveTo>
                  <a:pt x="85" y="0"/>
                </a:moveTo>
                <a:cubicBezTo>
                  <a:pt x="89" y="0"/>
                  <a:pt x="93" y="0"/>
                  <a:pt x="97" y="0"/>
                </a:cubicBezTo>
                <a:cubicBezTo>
                  <a:pt x="98" y="0"/>
                  <a:pt x="99" y="1"/>
                  <a:pt x="99" y="2"/>
                </a:cubicBezTo>
                <a:cubicBezTo>
                  <a:pt x="99" y="2"/>
                  <a:pt x="99" y="2"/>
                  <a:pt x="99" y="2"/>
                </a:cubicBezTo>
                <a:cubicBezTo>
                  <a:pt x="99" y="3"/>
                  <a:pt x="98" y="4"/>
                  <a:pt x="97" y="4"/>
                </a:cubicBezTo>
                <a:cubicBezTo>
                  <a:pt x="93" y="4"/>
                  <a:pt x="89" y="4"/>
                  <a:pt x="85" y="4"/>
                </a:cubicBezTo>
                <a:cubicBezTo>
                  <a:pt x="84" y="4"/>
                  <a:pt x="84" y="3"/>
                  <a:pt x="84" y="2"/>
                </a:cubicBezTo>
                <a:cubicBezTo>
                  <a:pt x="84" y="2"/>
                  <a:pt x="84" y="2"/>
                  <a:pt x="84" y="2"/>
                </a:cubicBezTo>
                <a:cubicBezTo>
                  <a:pt x="84" y="1"/>
                  <a:pt x="84" y="0"/>
                  <a:pt x="85" y="0"/>
                </a:cubicBezTo>
                <a:close/>
                <a:moveTo>
                  <a:pt x="106" y="0"/>
                </a:moveTo>
                <a:cubicBezTo>
                  <a:pt x="110" y="0"/>
                  <a:pt x="114" y="0"/>
                  <a:pt x="118" y="0"/>
                </a:cubicBezTo>
                <a:cubicBezTo>
                  <a:pt x="119" y="0"/>
                  <a:pt x="120" y="1"/>
                  <a:pt x="120" y="2"/>
                </a:cubicBezTo>
                <a:cubicBezTo>
                  <a:pt x="120" y="2"/>
                  <a:pt x="120" y="2"/>
                  <a:pt x="120" y="2"/>
                </a:cubicBezTo>
                <a:cubicBezTo>
                  <a:pt x="120" y="3"/>
                  <a:pt x="119" y="4"/>
                  <a:pt x="118" y="4"/>
                </a:cubicBezTo>
                <a:cubicBezTo>
                  <a:pt x="114" y="4"/>
                  <a:pt x="110" y="4"/>
                  <a:pt x="106" y="4"/>
                </a:cubicBezTo>
                <a:cubicBezTo>
                  <a:pt x="105" y="4"/>
                  <a:pt x="105" y="3"/>
                  <a:pt x="105" y="2"/>
                </a:cubicBezTo>
                <a:cubicBezTo>
                  <a:pt x="105" y="2"/>
                  <a:pt x="105" y="2"/>
                  <a:pt x="105" y="2"/>
                </a:cubicBezTo>
                <a:cubicBezTo>
                  <a:pt x="105" y="1"/>
                  <a:pt x="105" y="0"/>
                  <a:pt x="106" y="0"/>
                </a:cubicBezTo>
                <a:close/>
              </a:path>
            </a:pathLst>
          </a:custGeom>
          <a:solidFill>
            <a:srgbClr val="FEEAA6"/>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7" name="Freeform 12"/>
          <p:cNvSpPr>
            <a:spLocks noEditPoints="1"/>
          </p:cNvSpPr>
          <p:nvPr/>
        </p:nvSpPr>
        <p:spPr bwMode="auto">
          <a:xfrm>
            <a:off x="673046" y="4389417"/>
            <a:ext cx="998537" cy="45719"/>
          </a:xfrm>
          <a:custGeom>
            <a:avLst/>
            <a:gdLst>
              <a:gd name="T0" fmla="*/ 1 w 120"/>
              <a:gd name="T1" fmla="*/ 0 h 4"/>
              <a:gd name="T2" fmla="*/ 13 w 120"/>
              <a:gd name="T3" fmla="*/ 0 h 4"/>
              <a:gd name="T4" fmla="*/ 15 w 120"/>
              <a:gd name="T5" fmla="*/ 2 h 4"/>
              <a:gd name="T6" fmla="*/ 15 w 120"/>
              <a:gd name="T7" fmla="*/ 2 h 4"/>
              <a:gd name="T8" fmla="*/ 13 w 120"/>
              <a:gd name="T9" fmla="*/ 4 h 4"/>
              <a:gd name="T10" fmla="*/ 1 w 120"/>
              <a:gd name="T11" fmla="*/ 4 h 4"/>
              <a:gd name="T12" fmla="*/ 0 w 120"/>
              <a:gd name="T13" fmla="*/ 2 h 4"/>
              <a:gd name="T14" fmla="*/ 0 w 120"/>
              <a:gd name="T15" fmla="*/ 2 h 4"/>
              <a:gd name="T16" fmla="*/ 1 w 120"/>
              <a:gd name="T17" fmla="*/ 0 h 4"/>
              <a:gd name="T18" fmla="*/ 22 w 120"/>
              <a:gd name="T19" fmla="*/ 0 h 4"/>
              <a:gd name="T20" fmla="*/ 34 w 120"/>
              <a:gd name="T21" fmla="*/ 0 h 4"/>
              <a:gd name="T22" fmla="*/ 36 w 120"/>
              <a:gd name="T23" fmla="*/ 2 h 4"/>
              <a:gd name="T24" fmla="*/ 36 w 120"/>
              <a:gd name="T25" fmla="*/ 2 h 4"/>
              <a:gd name="T26" fmla="*/ 34 w 120"/>
              <a:gd name="T27" fmla="*/ 4 h 4"/>
              <a:gd name="T28" fmla="*/ 22 w 120"/>
              <a:gd name="T29" fmla="*/ 4 h 4"/>
              <a:gd name="T30" fmla="*/ 21 w 120"/>
              <a:gd name="T31" fmla="*/ 2 h 4"/>
              <a:gd name="T32" fmla="*/ 21 w 120"/>
              <a:gd name="T33" fmla="*/ 2 h 4"/>
              <a:gd name="T34" fmla="*/ 22 w 120"/>
              <a:gd name="T35" fmla="*/ 0 h 4"/>
              <a:gd name="T36" fmla="*/ 43 w 120"/>
              <a:gd name="T37" fmla="*/ 0 h 4"/>
              <a:gd name="T38" fmla="*/ 55 w 120"/>
              <a:gd name="T39" fmla="*/ 0 h 4"/>
              <a:gd name="T40" fmla="*/ 57 w 120"/>
              <a:gd name="T41" fmla="*/ 2 h 4"/>
              <a:gd name="T42" fmla="*/ 57 w 120"/>
              <a:gd name="T43" fmla="*/ 2 h 4"/>
              <a:gd name="T44" fmla="*/ 55 w 120"/>
              <a:gd name="T45" fmla="*/ 4 h 4"/>
              <a:gd name="T46" fmla="*/ 43 w 120"/>
              <a:gd name="T47" fmla="*/ 4 h 4"/>
              <a:gd name="T48" fmla="*/ 42 w 120"/>
              <a:gd name="T49" fmla="*/ 2 h 4"/>
              <a:gd name="T50" fmla="*/ 42 w 120"/>
              <a:gd name="T51" fmla="*/ 2 h 4"/>
              <a:gd name="T52" fmla="*/ 43 w 120"/>
              <a:gd name="T53" fmla="*/ 0 h 4"/>
              <a:gd name="T54" fmla="*/ 64 w 120"/>
              <a:gd name="T55" fmla="*/ 0 h 4"/>
              <a:gd name="T56" fmla="*/ 76 w 120"/>
              <a:gd name="T57" fmla="*/ 0 h 4"/>
              <a:gd name="T58" fmla="*/ 78 w 120"/>
              <a:gd name="T59" fmla="*/ 2 h 4"/>
              <a:gd name="T60" fmla="*/ 78 w 120"/>
              <a:gd name="T61" fmla="*/ 2 h 4"/>
              <a:gd name="T62" fmla="*/ 76 w 120"/>
              <a:gd name="T63" fmla="*/ 4 h 4"/>
              <a:gd name="T64" fmla="*/ 64 w 120"/>
              <a:gd name="T65" fmla="*/ 4 h 4"/>
              <a:gd name="T66" fmla="*/ 63 w 120"/>
              <a:gd name="T67" fmla="*/ 2 h 4"/>
              <a:gd name="T68" fmla="*/ 63 w 120"/>
              <a:gd name="T69" fmla="*/ 2 h 4"/>
              <a:gd name="T70" fmla="*/ 64 w 120"/>
              <a:gd name="T71" fmla="*/ 0 h 4"/>
              <a:gd name="T72" fmla="*/ 85 w 120"/>
              <a:gd name="T73" fmla="*/ 0 h 4"/>
              <a:gd name="T74" fmla="*/ 97 w 120"/>
              <a:gd name="T75" fmla="*/ 0 h 4"/>
              <a:gd name="T76" fmla="*/ 99 w 120"/>
              <a:gd name="T77" fmla="*/ 2 h 4"/>
              <a:gd name="T78" fmla="*/ 99 w 120"/>
              <a:gd name="T79" fmla="*/ 2 h 4"/>
              <a:gd name="T80" fmla="*/ 97 w 120"/>
              <a:gd name="T81" fmla="*/ 4 h 4"/>
              <a:gd name="T82" fmla="*/ 85 w 120"/>
              <a:gd name="T83" fmla="*/ 4 h 4"/>
              <a:gd name="T84" fmla="*/ 84 w 120"/>
              <a:gd name="T85" fmla="*/ 2 h 4"/>
              <a:gd name="T86" fmla="*/ 84 w 120"/>
              <a:gd name="T87" fmla="*/ 2 h 4"/>
              <a:gd name="T88" fmla="*/ 85 w 120"/>
              <a:gd name="T89" fmla="*/ 0 h 4"/>
              <a:gd name="T90" fmla="*/ 106 w 120"/>
              <a:gd name="T91" fmla="*/ 0 h 4"/>
              <a:gd name="T92" fmla="*/ 118 w 120"/>
              <a:gd name="T93" fmla="*/ 0 h 4"/>
              <a:gd name="T94" fmla="*/ 120 w 120"/>
              <a:gd name="T95" fmla="*/ 2 h 4"/>
              <a:gd name="T96" fmla="*/ 120 w 120"/>
              <a:gd name="T97" fmla="*/ 2 h 4"/>
              <a:gd name="T98" fmla="*/ 118 w 120"/>
              <a:gd name="T99" fmla="*/ 4 h 4"/>
              <a:gd name="T100" fmla="*/ 106 w 120"/>
              <a:gd name="T101" fmla="*/ 4 h 4"/>
              <a:gd name="T102" fmla="*/ 105 w 120"/>
              <a:gd name="T103" fmla="*/ 2 h 4"/>
              <a:gd name="T104" fmla="*/ 105 w 120"/>
              <a:gd name="T105" fmla="*/ 2 h 4"/>
              <a:gd name="T106" fmla="*/ 106 w 120"/>
              <a:gd name="T107"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0" h="4">
                <a:moveTo>
                  <a:pt x="1" y="0"/>
                </a:moveTo>
                <a:cubicBezTo>
                  <a:pt x="5" y="0"/>
                  <a:pt x="9" y="0"/>
                  <a:pt x="13" y="0"/>
                </a:cubicBezTo>
                <a:cubicBezTo>
                  <a:pt x="14" y="0"/>
                  <a:pt x="15" y="1"/>
                  <a:pt x="15" y="2"/>
                </a:cubicBezTo>
                <a:cubicBezTo>
                  <a:pt x="15" y="2"/>
                  <a:pt x="15" y="2"/>
                  <a:pt x="15" y="2"/>
                </a:cubicBezTo>
                <a:cubicBezTo>
                  <a:pt x="15" y="3"/>
                  <a:pt x="14" y="4"/>
                  <a:pt x="13" y="4"/>
                </a:cubicBezTo>
                <a:cubicBezTo>
                  <a:pt x="9" y="4"/>
                  <a:pt x="5" y="4"/>
                  <a:pt x="1" y="4"/>
                </a:cubicBezTo>
                <a:cubicBezTo>
                  <a:pt x="0" y="4"/>
                  <a:pt x="0" y="3"/>
                  <a:pt x="0" y="2"/>
                </a:cubicBezTo>
                <a:cubicBezTo>
                  <a:pt x="0" y="2"/>
                  <a:pt x="0" y="2"/>
                  <a:pt x="0" y="2"/>
                </a:cubicBezTo>
                <a:cubicBezTo>
                  <a:pt x="0" y="1"/>
                  <a:pt x="0" y="0"/>
                  <a:pt x="1" y="0"/>
                </a:cubicBezTo>
                <a:close/>
                <a:moveTo>
                  <a:pt x="22" y="0"/>
                </a:moveTo>
                <a:cubicBezTo>
                  <a:pt x="26" y="0"/>
                  <a:pt x="30" y="0"/>
                  <a:pt x="34" y="0"/>
                </a:cubicBezTo>
                <a:cubicBezTo>
                  <a:pt x="35" y="0"/>
                  <a:pt x="36" y="1"/>
                  <a:pt x="36" y="2"/>
                </a:cubicBezTo>
                <a:cubicBezTo>
                  <a:pt x="36" y="2"/>
                  <a:pt x="36" y="2"/>
                  <a:pt x="36" y="2"/>
                </a:cubicBezTo>
                <a:cubicBezTo>
                  <a:pt x="36" y="3"/>
                  <a:pt x="35" y="4"/>
                  <a:pt x="34" y="4"/>
                </a:cubicBezTo>
                <a:cubicBezTo>
                  <a:pt x="30" y="4"/>
                  <a:pt x="26" y="4"/>
                  <a:pt x="22" y="4"/>
                </a:cubicBezTo>
                <a:cubicBezTo>
                  <a:pt x="21" y="4"/>
                  <a:pt x="21" y="3"/>
                  <a:pt x="21" y="2"/>
                </a:cubicBezTo>
                <a:cubicBezTo>
                  <a:pt x="21" y="2"/>
                  <a:pt x="21" y="2"/>
                  <a:pt x="21" y="2"/>
                </a:cubicBezTo>
                <a:cubicBezTo>
                  <a:pt x="21" y="1"/>
                  <a:pt x="21" y="0"/>
                  <a:pt x="22" y="0"/>
                </a:cubicBezTo>
                <a:close/>
                <a:moveTo>
                  <a:pt x="43" y="0"/>
                </a:moveTo>
                <a:cubicBezTo>
                  <a:pt x="47" y="0"/>
                  <a:pt x="51" y="0"/>
                  <a:pt x="55" y="0"/>
                </a:cubicBezTo>
                <a:cubicBezTo>
                  <a:pt x="56" y="0"/>
                  <a:pt x="57" y="1"/>
                  <a:pt x="57" y="2"/>
                </a:cubicBezTo>
                <a:cubicBezTo>
                  <a:pt x="57" y="2"/>
                  <a:pt x="57" y="2"/>
                  <a:pt x="57" y="2"/>
                </a:cubicBezTo>
                <a:cubicBezTo>
                  <a:pt x="57" y="3"/>
                  <a:pt x="56" y="4"/>
                  <a:pt x="55" y="4"/>
                </a:cubicBezTo>
                <a:cubicBezTo>
                  <a:pt x="51" y="4"/>
                  <a:pt x="47" y="4"/>
                  <a:pt x="43" y="4"/>
                </a:cubicBezTo>
                <a:cubicBezTo>
                  <a:pt x="42" y="4"/>
                  <a:pt x="42" y="3"/>
                  <a:pt x="42" y="2"/>
                </a:cubicBezTo>
                <a:cubicBezTo>
                  <a:pt x="42" y="2"/>
                  <a:pt x="42" y="2"/>
                  <a:pt x="42" y="2"/>
                </a:cubicBezTo>
                <a:cubicBezTo>
                  <a:pt x="42" y="1"/>
                  <a:pt x="42" y="0"/>
                  <a:pt x="43" y="0"/>
                </a:cubicBezTo>
                <a:close/>
                <a:moveTo>
                  <a:pt x="64" y="0"/>
                </a:moveTo>
                <a:cubicBezTo>
                  <a:pt x="68" y="0"/>
                  <a:pt x="72" y="0"/>
                  <a:pt x="76" y="0"/>
                </a:cubicBezTo>
                <a:cubicBezTo>
                  <a:pt x="77" y="0"/>
                  <a:pt x="78" y="1"/>
                  <a:pt x="78" y="2"/>
                </a:cubicBezTo>
                <a:cubicBezTo>
                  <a:pt x="78" y="2"/>
                  <a:pt x="78" y="2"/>
                  <a:pt x="78" y="2"/>
                </a:cubicBezTo>
                <a:cubicBezTo>
                  <a:pt x="78" y="3"/>
                  <a:pt x="77" y="4"/>
                  <a:pt x="76" y="4"/>
                </a:cubicBezTo>
                <a:cubicBezTo>
                  <a:pt x="72" y="4"/>
                  <a:pt x="68" y="4"/>
                  <a:pt x="64" y="4"/>
                </a:cubicBezTo>
                <a:cubicBezTo>
                  <a:pt x="63" y="4"/>
                  <a:pt x="63" y="3"/>
                  <a:pt x="63" y="2"/>
                </a:cubicBezTo>
                <a:cubicBezTo>
                  <a:pt x="63" y="2"/>
                  <a:pt x="63" y="2"/>
                  <a:pt x="63" y="2"/>
                </a:cubicBezTo>
                <a:cubicBezTo>
                  <a:pt x="63" y="1"/>
                  <a:pt x="63" y="0"/>
                  <a:pt x="64" y="0"/>
                </a:cubicBezTo>
                <a:close/>
                <a:moveTo>
                  <a:pt x="85" y="0"/>
                </a:moveTo>
                <a:cubicBezTo>
                  <a:pt x="89" y="0"/>
                  <a:pt x="93" y="0"/>
                  <a:pt x="97" y="0"/>
                </a:cubicBezTo>
                <a:cubicBezTo>
                  <a:pt x="98" y="0"/>
                  <a:pt x="99" y="1"/>
                  <a:pt x="99" y="2"/>
                </a:cubicBezTo>
                <a:cubicBezTo>
                  <a:pt x="99" y="2"/>
                  <a:pt x="99" y="2"/>
                  <a:pt x="99" y="2"/>
                </a:cubicBezTo>
                <a:cubicBezTo>
                  <a:pt x="99" y="3"/>
                  <a:pt x="98" y="4"/>
                  <a:pt x="97" y="4"/>
                </a:cubicBezTo>
                <a:cubicBezTo>
                  <a:pt x="93" y="4"/>
                  <a:pt x="89" y="4"/>
                  <a:pt x="85" y="4"/>
                </a:cubicBezTo>
                <a:cubicBezTo>
                  <a:pt x="84" y="4"/>
                  <a:pt x="84" y="3"/>
                  <a:pt x="84" y="2"/>
                </a:cubicBezTo>
                <a:cubicBezTo>
                  <a:pt x="84" y="2"/>
                  <a:pt x="84" y="2"/>
                  <a:pt x="84" y="2"/>
                </a:cubicBezTo>
                <a:cubicBezTo>
                  <a:pt x="84" y="1"/>
                  <a:pt x="84" y="0"/>
                  <a:pt x="85" y="0"/>
                </a:cubicBezTo>
                <a:close/>
                <a:moveTo>
                  <a:pt x="106" y="0"/>
                </a:moveTo>
                <a:cubicBezTo>
                  <a:pt x="110" y="0"/>
                  <a:pt x="114" y="0"/>
                  <a:pt x="118" y="0"/>
                </a:cubicBezTo>
                <a:cubicBezTo>
                  <a:pt x="119" y="0"/>
                  <a:pt x="120" y="1"/>
                  <a:pt x="120" y="2"/>
                </a:cubicBezTo>
                <a:cubicBezTo>
                  <a:pt x="120" y="2"/>
                  <a:pt x="120" y="2"/>
                  <a:pt x="120" y="2"/>
                </a:cubicBezTo>
                <a:cubicBezTo>
                  <a:pt x="120" y="3"/>
                  <a:pt x="119" y="4"/>
                  <a:pt x="118" y="4"/>
                </a:cubicBezTo>
                <a:cubicBezTo>
                  <a:pt x="114" y="4"/>
                  <a:pt x="110" y="4"/>
                  <a:pt x="106" y="4"/>
                </a:cubicBezTo>
                <a:cubicBezTo>
                  <a:pt x="105" y="4"/>
                  <a:pt x="105" y="3"/>
                  <a:pt x="105" y="2"/>
                </a:cubicBezTo>
                <a:cubicBezTo>
                  <a:pt x="105" y="2"/>
                  <a:pt x="105" y="2"/>
                  <a:pt x="105" y="2"/>
                </a:cubicBezTo>
                <a:cubicBezTo>
                  <a:pt x="105" y="1"/>
                  <a:pt x="105" y="0"/>
                  <a:pt x="106" y="0"/>
                </a:cubicBezTo>
                <a:close/>
              </a:path>
            </a:pathLst>
          </a:custGeom>
          <a:solidFill>
            <a:srgbClr val="FEEAA6"/>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8" name="Freeform 13"/>
          <p:cNvSpPr/>
          <p:nvPr/>
        </p:nvSpPr>
        <p:spPr bwMode="auto">
          <a:xfrm>
            <a:off x="988959" y="3149580"/>
            <a:ext cx="498475" cy="1095325"/>
          </a:xfrm>
          <a:custGeom>
            <a:avLst/>
            <a:gdLst>
              <a:gd name="T0" fmla="*/ 0 w 314"/>
              <a:gd name="T1" fmla="*/ 0 h 901"/>
              <a:gd name="T2" fmla="*/ 314 w 314"/>
              <a:gd name="T3" fmla="*/ 299 h 901"/>
              <a:gd name="T4" fmla="*/ 314 w 314"/>
              <a:gd name="T5" fmla="*/ 901 h 901"/>
              <a:gd name="T6" fmla="*/ 0 w 314"/>
              <a:gd name="T7" fmla="*/ 603 h 901"/>
              <a:gd name="T8" fmla="*/ 0 w 314"/>
              <a:gd name="T9" fmla="*/ 0 h 901"/>
              <a:gd name="T10" fmla="*/ 0 w 314"/>
              <a:gd name="T11" fmla="*/ 0 h 901"/>
            </a:gdLst>
            <a:ahLst/>
            <a:cxnLst>
              <a:cxn ang="0">
                <a:pos x="T0" y="T1"/>
              </a:cxn>
              <a:cxn ang="0">
                <a:pos x="T2" y="T3"/>
              </a:cxn>
              <a:cxn ang="0">
                <a:pos x="T4" y="T5"/>
              </a:cxn>
              <a:cxn ang="0">
                <a:pos x="T6" y="T7"/>
              </a:cxn>
              <a:cxn ang="0">
                <a:pos x="T8" y="T9"/>
              </a:cxn>
              <a:cxn ang="0">
                <a:pos x="T10" y="T11"/>
              </a:cxn>
            </a:cxnLst>
            <a:rect l="0" t="0" r="r" b="b"/>
            <a:pathLst>
              <a:path w="314" h="901">
                <a:moveTo>
                  <a:pt x="0" y="0"/>
                </a:moveTo>
                <a:lnTo>
                  <a:pt x="314" y="299"/>
                </a:lnTo>
                <a:lnTo>
                  <a:pt x="314" y="901"/>
                </a:lnTo>
                <a:lnTo>
                  <a:pt x="0" y="603"/>
                </a:lnTo>
                <a:lnTo>
                  <a:pt x="0" y="0"/>
                </a:lnTo>
                <a:lnTo>
                  <a:pt x="0" y="0"/>
                </a:lnTo>
                <a:close/>
              </a:path>
            </a:pathLst>
          </a:custGeom>
          <a:solidFill>
            <a:srgbClr val="D46B00"/>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9" name="Freeform 14"/>
          <p:cNvSpPr>
            <a:spLocks noEditPoints="1"/>
          </p:cNvSpPr>
          <p:nvPr/>
        </p:nvSpPr>
        <p:spPr bwMode="auto">
          <a:xfrm>
            <a:off x="988959" y="3981430"/>
            <a:ext cx="498475" cy="387801"/>
          </a:xfrm>
          <a:custGeom>
            <a:avLst/>
            <a:gdLst>
              <a:gd name="T0" fmla="*/ 60 w 60"/>
              <a:gd name="T1" fmla="*/ 57 h 61"/>
              <a:gd name="T2" fmla="*/ 60 w 60"/>
              <a:gd name="T3" fmla="*/ 61 h 61"/>
              <a:gd name="T4" fmla="*/ 53 w 60"/>
              <a:gd name="T5" fmla="*/ 55 h 61"/>
              <a:gd name="T6" fmla="*/ 53 w 60"/>
              <a:gd name="T7" fmla="*/ 53 h 61"/>
              <a:gd name="T8" fmla="*/ 53 w 60"/>
              <a:gd name="T9" fmla="*/ 53 h 61"/>
              <a:gd name="T10" fmla="*/ 56 w 60"/>
              <a:gd name="T11" fmla="*/ 53 h 61"/>
              <a:gd name="T12" fmla="*/ 60 w 60"/>
              <a:gd name="T13" fmla="*/ 57 h 61"/>
              <a:gd name="T14" fmla="*/ 0 w 60"/>
              <a:gd name="T15" fmla="*/ 4 h 61"/>
              <a:gd name="T16" fmla="*/ 0 w 60"/>
              <a:gd name="T17" fmla="*/ 0 h 61"/>
              <a:gd name="T18" fmla="*/ 3 w 60"/>
              <a:gd name="T19" fmla="*/ 3 h 61"/>
              <a:gd name="T20" fmla="*/ 4 w 60"/>
              <a:gd name="T21" fmla="*/ 6 h 61"/>
              <a:gd name="T22" fmla="*/ 4 w 60"/>
              <a:gd name="T23" fmla="*/ 6 h 61"/>
              <a:gd name="T24" fmla="*/ 1 w 60"/>
              <a:gd name="T25" fmla="*/ 6 h 61"/>
              <a:gd name="T26" fmla="*/ 0 w 60"/>
              <a:gd name="T27" fmla="*/ 4 h 61"/>
              <a:gd name="T28" fmla="*/ 10 w 60"/>
              <a:gd name="T29" fmla="*/ 10 h 61"/>
              <a:gd name="T30" fmla="*/ 19 w 60"/>
              <a:gd name="T31" fmla="*/ 18 h 61"/>
              <a:gd name="T32" fmla="*/ 19 w 60"/>
              <a:gd name="T33" fmla="*/ 20 h 61"/>
              <a:gd name="T34" fmla="*/ 19 w 60"/>
              <a:gd name="T35" fmla="*/ 20 h 61"/>
              <a:gd name="T36" fmla="*/ 16 w 60"/>
              <a:gd name="T37" fmla="*/ 20 h 61"/>
              <a:gd name="T38" fmla="*/ 8 w 60"/>
              <a:gd name="T39" fmla="*/ 12 h 61"/>
              <a:gd name="T40" fmla="*/ 8 w 60"/>
              <a:gd name="T41" fmla="*/ 10 h 61"/>
              <a:gd name="T42" fmla="*/ 8 w 60"/>
              <a:gd name="T43" fmla="*/ 10 h 61"/>
              <a:gd name="T44" fmla="*/ 10 w 60"/>
              <a:gd name="T45" fmla="*/ 10 h 61"/>
              <a:gd name="T46" fmla="*/ 25 w 60"/>
              <a:gd name="T47" fmla="*/ 24 h 61"/>
              <a:gd name="T48" fmla="*/ 34 w 60"/>
              <a:gd name="T49" fmla="*/ 32 h 61"/>
              <a:gd name="T50" fmla="*/ 34 w 60"/>
              <a:gd name="T51" fmla="*/ 35 h 61"/>
              <a:gd name="T52" fmla="*/ 34 w 60"/>
              <a:gd name="T53" fmla="*/ 35 h 61"/>
              <a:gd name="T54" fmla="*/ 32 w 60"/>
              <a:gd name="T55" fmla="*/ 35 h 61"/>
              <a:gd name="T56" fmla="*/ 23 w 60"/>
              <a:gd name="T57" fmla="*/ 27 h 61"/>
              <a:gd name="T58" fmla="*/ 23 w 60"/>
              <a:gd name="T59" fmla="*/ 24 h 61"/>
              <a:gd name="T60" fmla="*/ 23 w 60"/>
              <a:gd name="T61" fmla="*/ 24 h 61"/>
              <a:gd name="T62" fmla="*/ 25 w 60"/>
              <a:gd name="T63" fmla="*/ 24 h 61"/>
              <a:gd name="T64" fmla="*/ 41 w 60"/>
              <a:gd name="T65" fmla="*/ 39 h 61"/>
              <a:gd name="T66" fmla="*/ 49 w 60"/>
              <a:gd name="T67" fmla="*/ 47 h 61"/>
              <a:gd name="T68" fmla="*/ 49 w 60"/>
              <a:gd name="T69" fmla="*/ 49 h 61"/>
              <a:gd name="T70" fmla="*/ 49 w 60"/>
              <a:gd name="T71" fmla="*/ 49 h 61"/>
              <a:gd name="T72" fmla="*/ 47 w 60"/>
              <a:gd name="T73" fmla="*/ 49 h 61"/>
              <a:gd name="T74" fmla="*/ 38 w 60"/>
              <a:gd name="T75" fmla="*/ 41 h 61"/>
              <a:gd name="T76" fmla="*/ 38 w 60"/>
              <a:gd name="T77" fmla="*/ 39 h 61"/>
              <a:gd name="T78" fmla="*/ 38 w 60"/>
              <a:gd name="T79" fmla="*/ 39 h 61"/>
              <a:gd name="T80" fmla="*/ 41 w 60"/>
              <a:gd name="T81" fmla="*/ 39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0" h="61">
                <a:moveTo>
                  <a:pt x="60" y="57"/>
                </a:moveTo>
                <a:cubicBezTo>
                  <a:pt x="60" y="61"/>
                  <a:pt x="60" y="61"/>
                  <a:pt x="60" y="61"/>
                </a:cubicBezTo>
                <a:cubicBezTo>
                  <a:pt x="58" y="59"/>
                  <a:pt x="56" y="57"/>
                  <a:pt x="53" y="55"/>
                </a:cubicBezTo>
                <a:cubicBezTo>
                  <a:pt x="53" y="55"/>
                  <a:pt x="53" y="54"/>
                  <a:pt x="53" y="53"/>
                </a:cubicBezTo>
                <a:cubicBezTo>
                  <a:pt x="53" y="53"/>
                  <a:pt x="53" y="53"/>
                  <a:pt x="53" y="53"/>
                </a:cubicBezTo>
                <a:cubicBezTo>
                  <a:pt x="54" y="52"/>
                  <a:pt x="55" y="52"/>
                  <a:pt x="56" y="53"/>
                </a:cubicBezTo>
                <a:cubicBezTo>
                  <a:pt x="57" y="54"/>
                  <a:pt x="58" y="56"/>
                  <a:pt x="60" y="57"/>
                </a:cubicBezTo>
                <a:close/>
                <a:moveTo>
                  <a:pt x="0" y="4"/>
                </a:moveTo>
                <a:cubicBezTo>
                  <a:pt x="0" y="0"/>
                  <a:pt x="0" y="0"/>
                  <a:pt x="0" y="0"/>
                </a:cubicBezTo>
                <a:cubicBezTo>
                  <a:pt x="1" y="1"/>
                  <a:pt x="2" y="2"/>
                  <a:pt x="3" y="3"/>
                </a:cubicBezTo>
                <a:cubicBezTo>
                  <a:pt x="4" y="4"/>
                  <a:pt x="4" y="5"/>
                  <a:pt x="4" y="6"/>
                </a:cubicBezTo>
                <a:cubicBezTo>
                  <a:pt x="4" y="6"/>
                  <a:pt x="4" y="6"/>
                  <a:pt x="4" y="6"/>
                </a:cubicBezTo>
                <a:cubicBezTo>
                  <a:pt x="3" y="6"/>
                  <a:pt x="2" y="6"/>
                  <a:pt x="1" y="6"/>
                </a:cubicBezTo>
                <a:cubicBezTo>
                  <a:pt x="1" y="5"/>
                  <a:pt x="0" y="5"/>
                  <a:pt x="0" y="4"/>
                </a:cubicBezTo>
                <a:close/>
                <a:moveTo>
                  <a:pt x="10" y="10"/>
                </a:moveTo>
                <a:cubicBezTo>
                  <a:pt x="13" y="12"/>
                  <a:pt x="16" y="15"/>
                  <a:pt x="19" y="18"/>
                </a:cubicBezTo>
                <a:cubicBezTo>
                  <a:pt x="19" y="18"/>
                  <a:pt x="19" y="19"/>
                  <a:pt x="19" y="20"/>
                </a:cubicBezTo>
                <a:cubicBezTo>
                  <a:pt x="19" y="20"/>
                  <a:pt x="19" y="20"/>
                  <a:pt x="19" y="20"/>
                </a:cubicBezTo>
                <a:cubicBezTo>
                  <a:pt x="18" y="21"/>
                  <a:pt x="17" y="21"/>
                  <a:pt x="16" y="20"/>
                </a:cubicBezTo>
                <a:cubicBezTo>
                  <a:pt x="14" y="17"/>
                  <a:pt x="11" y="15"/>
                  <a:pt x="8" y="12"/>
                </a:cubicBezTo>
                <a:cubicBezTo>
                  <a:pt x="7" y="11"/>
                  <a:pt x="7" y="10"/>
                  <a:pt x="8" y="10"/>
                </a:cubicBezTo>
                <a:cubicBezTo>
                  <a:pt x="8" y="10"/>
                  <a:pt x="8" y="10"/>
                  <a:pt x="8" y="10"/>
                </a:cubicBezTo>
                <a:cubicBezTo>
                  <a:pt x="8" y="9"/>
                  <a:pt x="9" y="9"/>
                  <a:pt x="10" y="10"/>
                </a:cubicBezTo>
                <a:close/>
                <a:moveTo>
                  <a:pt x="25" y="24"/>
                </a:moveTo>
                <a:cubicBezTo>
                  <a:pt x="28" y="27"/>
                  <a:pt x="31" y="30"/>
                  <a:pt x="34" y="32"/>
                </a:cubicBezTo>
                <a:cubicBezTo>
                  <a:pt x="35" y="33"/>
                  <a:pt x="35" y="34"/>
                  <a:pt x="34" y="35"/>
                </a:cubicBezTo>
                <a:cubicBezTo>
                  <a:pt x="34" y="35"/>
                  <a:pt x="34" y="35"/>
                  <a:pt x="34" y="35"/>
                </a:cubicBezTo>
                <a:cubicBezTo>
                  <a:pt x="33" y="35"/>
                  <a:pt x="32" y="35"/>
                  <a:pt x="32" y="35"/>
                </a:cubicBezTo>
                <a:cubicBezTo>
                  <a:pt x="29" y="32"/>
                  <a:pt x="26" y="29"/>
                  <a:pt x="23" y="27"/>
                </a:cubicBezTo>
                <a:cubicBezTo>
                  <a:pt x="22" y="26"/>
                  <a:pt x="22" y="25"/>
                  <a:pt x="23" y="24"/>
                </a:cubicBezTo>
                <a:cubicBezTo>
                  <a:pt x="23" y="24"/>
                  <a:pt x="23" y="24"/>
                  <a:pt x="23" y="24"/>
                </a:cubicBezTo>
                <a:cubicBezTo>
                  <a:pt x="24" y="24"/>
                  <a:pt x="25" y="23"/>
                  <a:pt x="25" y="24"/>
                </a:cubicBezTo>
                <a:close/>
                <a:moveTo>
                  <a:pt x="41" y="39"/>
                </a:moveTo>
                <a:cubicBezTo>
                  <a:pt x="43" y="41"/>
                  <a:pt x="46" y="44"/>
                  <a:pt x="49" y="47"/>
                </a:cubicBezTo>
                <a:cubicBezTo>
                  <a:pt x="50" y="47"/>
                  <a:pt x="50" y="48"/>
                  <a:pt x="49" y="49"/>
                </a:cubicBezTo>
                <a:cubicBezTo>
                  <a:pt x="49" y="49"/>
                  <a:pt x="49" y="49"/>
                  <a:pt x="49" y="49"/>
                </a:cubicBezTo>
                <a:cubicBezTo>
                  <a:pt x="48" y="50"/>
                  <a:pt x="47" y="50"/>
                  <a:pt x="47" y="49"/>
                </a:cubicBezTo>
                <a:cubicBezTo>
                  <a:pt x="44" y="46"/>
                  <a:pt x="41" y="44"/>
                  <a:pt x="38" y="41"/>
                </a:cubicBezTo>
                <a:cubicBezTo>
                  <a:pt x="38" y="40"/>
                  <a:pt x="38" y="39"/>
                  <a:pt x="38" y="39"/>
                </a:cubicBezTo>
                <a:cubicBezTo>
                  <a:pt x="38" y="39"/>
                  <a:pt x="38" y="39"/>
                  <a:pt x="38" y="39"/>
                </a:cubicBezTo>
                <a:cubicBezTo>
                  <a:pt x="39" y="38"/>
                  <a:pt x="40" y="38"/>
                  <a:pt x="41" y="39"/>
                </a:cubicBezTo>
                <a:close/>
              </a:path>
            </a:pathLst>
          </a:custGeom>
          <a:solidFill>
            <a:srgbClr val="F4B400"/>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0" name="Freeform 15"/>
          <p:cNvSpPr/>
          <p:nvPr/>
        </p:nvSpPr>
        <p:spPr bwMode="auto">
          <a:xfrm>
            <a:off x="557159" y="1895455"/>
            <a:ext cx="1081087" cy="731837"/>
          </a:xfrm>
          <a:custGeom>
            <a:avLst/>
            <a:gdLst>
              <a:gd name="T0" fmla="*/ 0 w 681"/>
              <a:gd name="T1" fmla="*/ 0 h 602"/>
              <a:gd name="T2" fmla="*/ 681 w 681"/>
              <a:gd name="T3" fmla="*/ 0 h 602"/>
              <a:gd name="T4" fmla="*/ 681 w 681"/>
              <a:gd name="T5" fmla="*/ 602 h 602"/>
              <a:gd name="T6" fmla="*/ 0 w 681"/>
              <a:gd name="T7" fmla="*/ 602 h 602"/>
              <a:gd name="T8" fmla="*/ 183 w 681"/>
              <a:gd name="T9" fmla="*/ 303 h 602"/>
              <a:gd name="T10" fmla="*/ 0 w 681"/>
              <a:gd name="T11" fmla="*/ 0 h 602"/>
              <a:gd name="T12" fmla="*/ 0 w 681"/>
              <a:gd name="T13" fmla="*/ 0 h 602"/>
            </a:gdLst>
            <a:ahLst/>
            <a:cxnLst>
              <a:cxn ang="0">
                <a:pos x="T0" y="T1"/>
              </a:cxn>
              <a:cxn ang="0">
                <a:pos x="T2" y="T3"/>
              </a:cxn>
              <a:cxn ang="0">
                <a:pos x="T4" y="T5"/>
              </a:cxn>
              <a:cxn ang="0">
                <a:pos x="T6" y="T7"/>
              </a:cxn>
              <a:cxn ang="0">
                <a:pos x="T8" y="T9"/>
              </a:cxn>
              <a:cxn ang="0">
                <a:pos x="T10" y="T11"/>
              </a:cxn>
              <a:cxn ang="0">
                <a:pos x="T12" y="T13"/>
              </a:cxn>
            </a:cxnLst>
            <a:rect l="0" t="0" r="r" b="b"/>
            <a:pathLst>
              <a:path w="681" h="602">
                <a:moveTo>
                  <a:pt x="0" y="0"/>
                </a:moveTo>
                <a:lnTo>
                  <a:pt x="681" y="0"/>
                </a:lnTo>
                <a:lnTo>
                  <a:pt x="681" y="602"/>
                </a:lnTo>
                <a:lnTo>
                  <a:pt x="0" y="602"/>
                </a:lnTo>
                <a:lnTo>
                  <a:pt x="183" y="303"/>
                </a:lnTo>
                <a:lnTo>
                  <a:pt x="0" y="0"/>
                </a:lnTo>
                <a:lnTo>
                  <a:pt x="0" y="0"/>
                </a:lnTo>
                <a:close/>
              </a:path>
            </a:pathLst>
          </a:custGeom>
          <a:solidFill>
            <a:srgbClr val="757975"/>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1" name="Freeform 16"/>
          <p:cNvSpPr>
            <a:spLocks noEditPoints="1"/>
          </p:cNvSpPr>
          <p:nvPr/>
        </p:nvSpPr>
        <p:spPr bwMode="auto">
          <a:xfrm>
            <a:off x="673046" y="1952604"/>
            <a:ext cx="998537" cy="45719"/>
          </a:xfrm>
          <a:custGeom>
            <a:avLst/>
            <a:gdLst>
              <a:gd name="T0" fmla="*/ 1 w 120"/>
              <a:gd name="T1" fmla="*/ 0 h 4"/>
              <a:gd name="T2" fmla="*/ 13 w 120"/>
              <a:gd name="T3" fmla="*/ 0 h 4"/>
              <a:gd name="T4" fmla="*/ 15 w 120"/>
              <a:gd name="T5" fmla="*/ 2 h 4"/>
              <a:gd name="T6" fmla="*/ 15 w 120"/>
              <a:gd name="T7" fmla="*/ 2 h 4"/>
              <a:gd name="T8" fmla="*/ 13 w 120"/>
              <a:gd name="T9" fmla="*/ 4 h 4"/>
              <a:gd name="T10" fmla="*/ 1 w 120"/>
              <a:gd name="T11" fmla="*/ 4 h 4"/>
              <a:gd name="T12" fmla="*/ 0 w 120"/>
              <a:gd name="T13" fmla="*/ 2 h 4"/>
              <a:gd name="T14" fmla="*/ 0 w 120"/>
              <a:gd name="T15" fmla="*/ 2 h 4"/>
              <a:gd name="T16" fmla="*/ 1 w 120"/>
              <a:gd name="T17" fmla="*/ 0 h 4"/>
              <a:gd name="T18" fmla="*/ 22 w 120"/>
              <a:gd name="T19" fmla="*/ 0 h 4"/>
              <a:gd name="T20" fmla="*/ 34 w 120"/>
              <a:gd name="T21" fmla="*/ 0 h 4"/>
              <a:gd name="T22" fmla="*/ 36 w 120"/>
              <a:gd name="T23" fmla="*/ 2 h 4"/>
              <a:gd name="T24" fmla="*/ 36 w 120"/>
              <a:gd name="T25" fmla="*/ 2 h 4"/>
              <a:gd name="T26" fmla="*/ 34 w 120"/>
              <a:gd name="T27" fmla="*/ 4 h 4"/>
              <a:gd name="T28" fmla="*/ 22 w 120"/>
              <a:gd name="T29" fmla="*/ 4 h 4"/>
              <a:gd name="T30" fmla="*/ 21 w 120"/>
              <a:gd name="T31" fmla="*/ 2 h 4"/>
              <a:gd name="T32" fmla="*/ 21 w 120"/>
              <a:gd name="T33" fmla="*/ 2 h 4"/>
              <a:gd name="T34" fmla="*/ 22 w 120"/>
              <a:gd name="T35" fmla="*/ 0 h 4"/>
              <a:gd name="T36" fmla="*/ 43 w 120"/>
              <a:gd name="T37" fmla="*/ 0 h 4"/>
              <a:gd name="T38" fmla="*/ 55 w 120"/>
              <a:gd name="T39" fmla="*/ 0 h 4"/>
              <a:gd name="T40" fmla="*/ 57 w 120"/>
              <a:gd name="T41" fmla="*/ 2 h 4"/>
              <a:gd name="T42" fmla="*/ 57 w 120"/>
              <a:gd name="T43" fmla="*/ 2 h 4"/>
              <a:gd name="T44" fmla="*/ 55 w 120"/>
              <a:gd name="T45" fmla="*/ 4 h 4"/>
              <a:gd name="T46" fmla="*/ 43 w 120"/>
              <a:gd name="T47" fmla="*/ 4 h 4"/>
              <a:gd name="T48" fmla="*/ 42 w 120"/>
              <a:gd name="T49" fmla="*/ 2 h 4"/>
              <a:gd name="T50" fmla="*/ 42 w 120"/>
              <a:gd name="T51" fmla="*/ 2 h 4"/>
              <a:gd name="T52" fmla="*/ 43 w 120"/>
              <a:gd name="T53" fmla="*/ 0 h 4"/>
              <a:gd name="T54" fmla="*/ 64 w 120"/>
              <a:gd name="T55" fmla="*/ 0 h 4"/>
              <a:gd name="T56" fmla="*/ 76 w 120"/>
              <a:gd name="T57" fmla="*/ 0 h 4"/>
              <a:gd name="T58" fmla="*/ 78 w 120"/>
              <a:gd name="T59" fmla="*/ 2 h 4"/>
              <a:gd name="T60" fmla="*/ 78 w 120"/>
              <a:gd name="T61" fmla="*/ 2 h 4"/>
              <a:gd name="T62" fmla="*/ 76 w 120"/>
              <a:gd name="T63" fmla="*/ 4 h 4"/>
              <a:gd name="T64" fmla="*/ 64 w 120"/>
              <a:gd name="T65" fmla="*/ 4 h 4"/>
              <a:gd name="T66" fmla="*/ 63 w 120"/>
              <a:gd name="T67" fmla="*/ 2 h 4"/>
              <a:gd name="T68" fmla="*/ 63 w 120"/>
              <a:gd name="T69" fmla="*/ 2 h 4"/>
              <a:gd name="T70" fmla="*/ 64 w 120"/>
              <a:gd name="T71" fmla="*/ 0 h 4"/>
              <a:gd name="T72" fmla="*/ 85 w 120"/>
              <a:gd name="T73" fmla="*/ 0 h 4"/>
              <a:gd name="T74" fmla="*/ 97 w 120"/>
              <a:gd name="T75" fmla="*/ 0 h 4"/>
              <a:gd name="T76" fmla="*/ 99 w 120"/>
              <a:gd name="T77" fmla="*/ 2 h 4"/>
              <a:gd name="T78" fmla="*/ 99 w 120"/>
              <a:gd name="T79" fmla="*/ 2 h 4"/>
              <a:gd name="T80" fmla="*/ 97 w 120"/>
              <a:gd name="T81" fmla="*/ 4 h 4"/>
              <a:gd name="T82" fmla="*/ 85 w 120"/>
              <a:gd name="T83" fmla="*/ 4 h 4"/>
              <a:gd name="T84" fmla="*/ 84 w 120"/>
              <a:gd name="T85" fmla="*/ 2 h 4"/>
              <a:gd name="T86" fmla="*/ 84 w 120"/>
              <a:gd name="T87" fmla="*/ 2 h 4"/>
              <a:gd name="T88" fmla="*/ 85 w 120"/>
              <a:gd name="T89" fmla="*/ 0 h 4"/>
              <a:gd name="T90" fmla="*/ 106 w 120"/>
              <a:gd name="T91" fmla="*/ 0 h 4"/>
              <a:gd name="T92" fmla="*/ 118 w 120"/>
              <a:gd name="T93" fmla="*/ 0 h 4"/>
              <a:gd name="T94" fmla="*/ 120 w 120"/>
              <a:gd name="T95" fmla="*/ 2 h 4"/>
              <a:gd name="T96" fmla="*/ 120 w 120"/>
              <a:gd name="T97" fmla="*/ 2 h 4"/>
              <a:gd name="T98" fmla="*/ 118 w 120"/>
              <a:gd name="T99" fmla="*/ 4 h 4"/>
              <a:gd name="T100" fmla="*/ 106 w 120"/>
              <a:gd name="T101" fmla="*/ 4 h 4"/>
              <a:gd name="T102" fmla="*/ 105 w 120"/>
              <a:gd name="T103" fmla="*/ 2 h 4"/>
              <a:gd name="T104" fmla="*/ 105 w 120"/>
              <a:gd name="T105" fmla="*/ 2 h 4"/>
              <a:gd name="T106" fmla="*/ 106 w 120"/>
              <a:gd name="T107"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0" h="4">
                <a:moveTo>
                  <a:pt x="1" y="0"/>
                </a:moveTo>
                <a:cubicBezTo>
                  <a:pt x="5" y="0"/>
                  <a:pt x="9" y="0"/>
                  <a:pt x="13" y="0"/>
                </a:cubicBezTo>
                <a:cubicBezTo>
                  <a:pt x="14" y="0"/>
                  <a:pt x="15" y="1"/>
                  <a:pt x="15" y="2"/>
                </a:cubicBezTo>
                <a:cubicBezTo>
                  <a:pt x="15" y="2"/>
                  <a:pt x="15" y="2"/>
                  <a:pt x="15" y="2"/>
                </a:cubicBezTo>
                <a:cubicBezTo>
                  <a:pt x="15" y="3"/>
                  <a:pt x="14" y="4"/>
                  <a:pt x="13" y="4"/>
                </a:cubicBezTo>
                <a:cubicBezTo>
                  <a:pt x="9" y="4"/>
                  <a:pt x="5" y="4"/>
                  <a:pt x="1" y="4"/>
                </a:cubicBezTo>
                <a:cubicBezTo>
                  <a:pt x="0" y="4"/>
                  <a:pt x="0" y="3"/>
                  <a:pt x="0" y="2"/>
                </a:cubicBezTo>
                <a:cubicBezTo>
                  <a:pt x="0" y="2"/>
                  <a:pt x="0" y="2"/>
                  <a:pt x="0" y="2"/>
                </a:cubicBezTo>
                <a:cubicBezTo>
                  <a:pt x="0" y="1"/>
                  <a:pt x="0" y="0"/>
                  <a:pt x="1" y="0"/>
                </a:cubicBezTo>
                <a:close/>
                <a:moveTo>
                  <a:pt x="22" y="0"/>
                </a:moveTo>
                <a:cubicBezTo>
                  <a:pt x="26" y="0"/>
                  <a:pt x="30" y="0"/>
                  <a:pt x="34" y="0"/>
                </a:cubicBezTo>
                <a:cubicBezTo>
                  <a:pt x="35" y="0"/>
                  <a:pt x="36" y="1"/>
                  <a:pt x="36" y="2"/>
                </a:cubicBezTo>
                <a:cubicBezTo>
                  <a:pt x="36" y="2"/>
                  <a:pt x="36" y="2"/>
                  <a:pt x="36" y="2"/>
                </a:cubicBezTo>
                <a:cubicBezTo>
                  <a:pt x="36" y="3"/>
                  <a:pt x="35" y="4"/>
                  <a:pt x="34" y="4"/>
                </a:cubicBezTo>
                <a:cubicBezTo>
                  <a:pt x="30" y="4"/>
                  <a:pt x="26" y="4"/>
                  <a:pt x="22" y="4"/>
                </a:cubicBezTo>
                <a:cubicBezTo>
                  <a:pt x="21" y="4"/>
                  <a:pt x="21" y="3"/>
                  <a:pt x="21" y="2"/>
                </a:cubicBezTo>
                <a:cubicBezTo>
                  <a:pt x="21" y="2"/>
                  <a:pt x="21" y="2"/>
                  <a:pt x="21" y="2"/>
                </a:cubicBezTo>
                <a:cubicBezTo>
                  <a:pt x="21" y="1"/>
                  <a:pt x="21" y="0"/>
                  <a:pt x="22" y="0"/>
                </a:cubicBezTo>
                <a:close/>
                <a:moveTo>
                  <a:pt x="43" y="0"/>
                </a:moveTo>
                <a:cubicBezTo>
                  <a:pt x="47" y="0"/>
                  <a:pt x="51" y="0"/>
                  <a:pt x="55" y="0"/>
                </a:cubicBezTo>
                <a:cubicBezTo>
                  <a:pt x="56" y="0"/>
                  <a:pt x="57" y="1"/>
                  <a:pt x="57" y="2"/>
                </a:cubicBezTo>
                <a:cubicBezTo>
                  <a:pt x="57" y="2"/>
                  <a:pt x="57" y="2"/>
                  <a:pt x="57" y="2"/>
                </a:cubicBezTo>
                <a:cubicBezTo>
                  <a:pt x="57" y="3"/>
                  <a:pt x="56" y="4"/>
                  <a:pt x="55" y="4"/>
                </a:cubicBezTo>
                <a:cubicBezTo>
                  <a:pt x="51" y="4"/>
                  <a:pt x="47" y="4"/>
                  <a:pt x="43" y="4"/>
                </a:cubicBezTo>
                <a:cubicBezTo>
                  <a:pt x="42" y="4"/>
                  <a:pt x="42" y="3"/>
                  <a:pt x="42" y="2"/>
                </a:cubicBezTo>
                <a:cubicBezTo>
                  <a:pt x="42" y="2"/>
                  <a:pt x="42" y="2"/>
                  <a:pt x="42" y="2"/>
                </a:cubicBezTo>
                <a:cubicBezTo>
                  <a:pt x="42" y="1"/>
                  <a:pt x="42" y="0"/>
                  <a:pt x="43" y="0"/>
                </a:cubicBezTo>
                <a:close/>
                <a:moveTo>
                  <a:pt x="64" y="0"/>
                </a:moveTo>
                <a:cubicBezTo>
                  <a:pt x="68" y="0"/>
                  <a:pt x="72" y="0"/>
                  <a:pt x="76" y="0"/>
                </a:cubicBezTo>
                <a:cubicBezTo>
                  <a:pt x="77" y="0"/>
                  <a:pt x="78" y="1"/>
                  <a:pt x="78" y="2"/>
                </a:cubicBezTo>
                <a:cubicBezTo>
                  <a:pt x="78" y="2"/>
                  <a:pt x="78" y="2"/>
                  <a:pt x="78" y="2"/>
                </a:cubicBezTo>
                <a:cubicBezTo>
                  <a:pt x="78" y="3"/>
                  <a:pt x="77" y="4"/>
                  <a:pt x="76" y="4"/>
                </a:cubicBezTo>
                <a:cubicBezTo>
                  <a:pt x="72" y="4"/>
                  <a:pt x="68" y="4"/>
                  <a:pt x="64" y="4"/>
                </a:cubicBezTo>
                <a:cubicBezTo>
                  <a:pt x="63" y="4"/>
                  <a:pt x="63" y="3"/>
                  <a:pt x="63" y="2"/>
                </a:cubicBezTo>
                <a:cubicBezTo>
                  <a:pt x="63" y="2"/>
                  <a:pt x="63" y="2"/>
                  <a:pt x="63" y="2"/>
                </a:cubicBezTo>
                <a:cubicBezTo>
                  <a:pt x="63" y="1"/>
                  <a:pt x="63" y="0"/>
                  <a:pt x="64" y="0"/>
                </a:cubicBezTo>
                <a:close/>
                <a:moveTo>
                  <a:pt x="85" y="0"/>
                </a:moveTo>
                <a:cubicBezTo>
                  <a:pt x="89" y="0"/>
                  <a:pt x="93" y="0"/>
                  <a:pt x="97" y="0"/>
                </a:cubicBezTo>
                <a:cubicBezTo>
                  <a:pt x="98" y="0"/>
                  <a:pt x="99" y="1"/>
                  <a:pt x="99" y="2"/>
                </a:cubicBezTo>
                <a:cubicBezTo>
                  <a:pt x="99" y="2"/>
                  <a:pt x="99" y="2"/>
                  <a:pt x="99" y="2"/>
                </a:cubicBezTo>
                <a:cubicBezTo>
                  <a:pt x="99" y="3"/>
                  <a:pt x="98" y="4"/>
                  <a:pt x="97" y="4"/>
                </a:cubicBezTo>
                <a:cubicBezTo>
                  <a:pt x="93" y="4"/>
                  <a:pt x="89" y="4"/>
                  <a:pt x="85" y="4"/>
                </a:cubicBezTo>
                <a:cubicBezTo>
                  <a:pt x="84" y="4"/>
                  <a:pt x="84" y="3"/>
                  <a:pt x="84" y="2"/>
                </a:cubicBezTo>
                <a:cubicBezTo>
                  <a:pt x="84" y="2"/>
                  <a:pt x="84" y="2"/>
                  <a:pt x="84" y="2"/>
                </a:cubicBezTo>
                <a:cubicBezTo>
                  <a:pt x="84" y="1"/>
                  <a:pt x="84" y="0"/>
                  <a:pt x="85" y="0"/>
                </a:cubicBezTo>
                <a:close/>
                <a:moveTo>
                  <a:pt x="106" y="0"/>
                </a:moveTo>
                <a:cubicBezTo>
                  <a:pt x="110" y="0"/>
                  <a:pt x="114" y="0"/>
                  <a:pt x="118" y="0"/>
                </a:cubicBezTo>
                <a:cubicBezTo>
                  <a:pt x="119" y="0"/>
                  <a:pt x="120" y="1"/>
                  <a:pt x="120" y="2"/>
                </a:cubicBezTo>
                <a:cubicBezTo>
                  <a:pt x="120" y="2"/>
                  <a:pt x="120" y="2"/>
                  <a:pt x="120" y="2"/>
                </a:cubicBezTo>
                <a:cubicBezTo>
                  <a:pt x="120" y="3"/>
                  <a:pt x="119" y="4"/>
                  <a:pt x="118" y="4"/>
                </a:cubicBezTo>
                <a:cubicBezTo>
                  <a:pt x="114" y="4"/>
                  <a:pt x="110" y="4"/>
                  <a:pt x="106" y="4"/>
                </a:cubicBezTo>
                <a:cubicBezTo>
                  <a:pt x="105" y="4"/>
                  <a:pt x="105" y="3"/>
                  <a:pt x="105" y="2"/>
                </a:cubicBezTo>
                <a:cubicBezTo>
                  <a:pt x="105" y="2"/>
                  <a:pt x="105" y="2"/>
                  <a:pt x="105" y="2"/>
                </a:cubicBezTo>
                <a:cubicBezTo>
                  <a:pt x="105" y="1"/>
                  <a:pt x="105" y="0"/>
                  <a:pt x="106" y="0"/>
                </a:cubicBezTo>
                <a:close/>
              </a:path>
            </a:pathLst>
          </a:custGeom>
          <a:solidFill>
            <a:srgbClr val="979895"/>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 name="Freeform 17"/>
          <p:cNvSpPr>
            <a:spLocks noEditPoints="1"/>
          </p:cNvSpPr>
          <p:nvPr/>
        </p:nvSpPr>
        <p:spPr bwMode="auto">
          <a:xfrm>
            <a:off x="673046" y="2759054"/>
            <a:ext cx="998537" cy="45719"/>
          </a:xfrm>
          <a:custGeom>
            <a:avLst/>
            <a:gdLst>
              <a:gd name="T0" fmla="*/ 1 w 120"/>
              <a:gd name="T1" fmla="*/ 0 h 4"/>
              <a:gd name="T2" fmla="*/ 13 w 120"/>
              <a:gd name="T3" fmla="*/ 0 h 4"/>
              <a:gd name="T4" fmla="*/ 15 w 120"/>
              <a:gd name="T5" fmla="*/ 2 h 4"/>
              <a:gd name="T6" fmla="*/ 15 w 120"/>
              <a:gd name="T7" fmla="*/ 2 h 4"/>
              <a:gd name="T8" fmla="*/ 13 w 120"/>
              <a:gd name="T9" fmla="*/ 4 h 4"/>
              <a:gd name="T10" fmla="*/ 1 w 120"/>
              <a:gd name="T11" fmla="*/ 4 h 4"/>
              <a:gd name="T12" fmla="*/ 0 w 120"/>
              <a:gd name="T13" fmla="*/ 2 h 4"/>
              <a:gd name="T14" fmla="*/ 0 w 120"/>
              <a:gd name="T15" fmla="*/ 2 h 4"/>
              <a:gd name="T16" fmla="*/ 1 w 120"/>
              <a:gd name="T17" fmla="*/ 0 h 4"/>
              <a:gd name="T18" fmla="*/ 22 w 120"/>
              <a:gd name="T19" fmla="*/ 0 h 4"/>
              <a:gd name="T20" fmla="*/ 34 w 120"/>
              <a:gd name="T21" fmla="*/ 0 h 4"/>
              <a:gd name="T22" fmla="*/ 36 w 120"/>
              <a:gd name="T23" fmla="*/ 2 h 4"/>
              <a:gd name="T24" fmla="*/ 36 w 120"/>
              <a:gd name="T25" fmla="*/ 2 h 4"/>
              <a:gd name="T26" fmla="*/ 34 w 120"/>
              <a:gd name="T27" fmla="*/ 4 h 4"/>
              <a:gd name="T28" fmla="*/ 22 w 120"/>
              <a:gd name="T29" fmla="*/ 4 h 4"/>
              <a:gd name="T30" fmla="*/ 21 w 120"/>
              <a:gd name="T31" fmla="*/ 2 h 4"/>
              <a:gd name="T32" fmla="*/ 21 w 120"/>
              <a:gd name="T33" fmla="*/ 2 h 4"/>
              <a:gd name="T34" fmla="*/ 22 w 120"/>
              <a:gd name="T35" fmla="*/ 0 h 4"/>
              <a:gd name="T36" fmla="*/ 43 w 120"/>
              <a:gd name="T37" fmla="*/ 0 h 4"/>
              <a:gd name="T38" fmla="*/ 55 w 120"/>
              <a:gd name="T39" fmla="*/ 0 h 4"/>
              <a:gd name="T40" fmla="*/ 57 w 120"/>
              <a:gd name="T41" fmla="*/ 2 h 4"/>
              <a:gd name="T42" fmla="*/ 57 w 120"/>
              <a:gd name="T43" fmla="*/ 2 h 4"/>
              <a:gd name="T44" fmla="*/ 55 w 120"/>
              <a:gd name="T45" fmla="*/ 4 h 4"/>
              <a:gd name="T46" fmla="*/ 43 w 120"/>
              <a:gd name="T47" fmla="*/ 4 h 4"/>
              <a:gd name="T48" fmla="*/ 42 w 120"/>
              <a:gd name="T49" fmla="*/ 2 h 4"/>
              <a:gd name="T50" fmla="*/ 42 w 120"/>
              <a:gd name="T51" fmla="*/ 2 h 4"/>
              <a:gd name="T52" fmla="*/ 43 w 120"/>
              <a:gd name="T53" fmla="*/ 0 h 4"/>
              <a:gd name="T54" fmla="*/ 64 w 120"/>
              <a:gd name="T55" fmla="*/ 0 h 4"/>
              <a:gd name="T56" fmla="*/ 76 w 120"/>
              <a:gd name="T57" fmla="*/ 0 h 4"/>
              <a:gd name="T58" fmla="*/ 78 w 120"/>
              <a:gd name="T59" fmla="*/ 2 h 4"/>
              <a:gd name="T60" fmla="*/ 78 w 120"/>
              <a:gd name="T61" fmla="*/ 2 h 4"/>
              <a:gd name="T62" fmla="*/ 76 w 120"/>
              <a:gd name="T63" fmla="*/ 4 h 4"/>
              <a:gd name="T64" fmla="*/ 64 w 120"/>
              <a:gd name="T65" fmla="*/ 4 h 4"/>
              <a:gd name="T66" fmla="*/ 63 w 120"/>
              <a:gd name="T67" fmla="*/ 2 h 4"/>
              <a:gd name="T68" fmla="*/ 63 w 120"/>
              <a:gd name="T69" fmla="*/ 2 h 4"/>
              <a:gd name="T70" fmla="*/ 64 w 120"/>
              <a:gd name="T71" fmla="*/ 0 h 4"/>
              <a:gd name="T72" fmla="*/ 85 w 120"/>
              <a:gd name="T73" fmla="*/ 0 h 4"/>
              <a:gd name="T74" fmla="*/ 97 w 120"/>
              <a:gd name="T75" fmla="*/ 0 h 4"/>
              <a:gd name="T76" fmla="*/ 99 w 120"/>
              <a:gd name="T77" fmla="*/ 2 h 4"/>
              <a:gd name="T78" fmla="*/ 99 w 120"/>
              <a:gd name="T79" fmla="*/ 2 h 4"/>
              <a:gd name="T80" fmla="*/ 97 w 120"/>
              <a:gd name="T81" fmla="*/ 4 h 4"/>
              <a:gd name="T82" fmla="*/ 85 w 120"/>
              <a:gd name="T83" fmla="*/ 4 h 4"/>
              <a:gd name="T84" fmla="*/ 84 w 120"/>
              <a:gd name="T85" fmla="*/ 2 h 4"/>
              <a:gd name="T86" fmla="*/ 84 w 120"/>
              <a:gd name="T87" fmla="*/ 2 h 4"/>
              <a:gd name="T88" fmla="*/ 85 w 120"/>
              <a:gd name="T89" fmla="*/ 0 h 4"/>
              <a:gd name="T90" fmla="*/ 106 w 120"/>
              <a:gd name="T91" fmla="*/ 0 h 4"/>
              <a:gd name="T92" fmla="*/ 118 w 120"/>
              <a:gd name="T93" fmla="*/ 0 h 4"/>
              <a:gd name="T94" fmla="*/ 120 w 120"/>
              <a:gd name="T95" fmla="*/ 2 h 4"/>
              <a:gd name="T96" fmla="*/ 120 w 120"/>
              <a:gd name="T97" fmla="*/ 2 h 4"/>
              <a:gd name="T98" fmla="*/ 118 w 120"/>
              <a:gd name="T99" fmla="*/ 4 h 4"/>
              <a:gd name="T100" fmla="*/ 106 w 120"/>
              <a:gd name="T101" fmla="*/ 4 h 4"/>
              <a:gd name="T102" fmla="*/ 105 w 120"/>
              <a:gd name="T103" fmla="*/ 2 h 4"/>
              <a:gd name="T104" fmla="*/ 105 w 120"/>
              <a:gd name="T105" fmla="*/ 2 h 4"/>
              <a:gd name="T106" fmla="*/ 106 w 120"/>
              <a:gd name="T107"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0" h="4">
                <a:moveTo>
                  <a:pt x="1" y="0"/>
                </a:moveTo>
                <a:cubicBezTo>
                  <a:pt x="5" y="0"/>
                  <a:pt x="9" y="0"/>
                  <a:pt x="13" y="0"/>
                </a:cubicBezTo>
                <a:cubicBezTo>
                  <a:pt x="14" y="0"/>
                  <a:pt x="15" y="1"/>
                  <a:pt x="15" y="2"/>
                </a:cubicBezTo>
                <a:cubicBezTo>
                  <a:pt x="15" y="2"/>
                  <a:pt x="15" y="2"/>
                  <a:pt x="15" y="2"/>
                </a:cubicBezTo>
                <a:cubicBezTo>
                  <a:pt x="15" y="3"/>
                  <a:pt x="14" y="4"/>
                  <a:pt x="13" y="4"/>
                </a:cubicBezTo>
                <a:cubicBezTo>
                  <a:pt x="9" y="4"/>
                  <a:pt x="5" y="4"/>
                  <a:pt x="1" y="4"/>
                </a:cubicBezTo>
                <a:cubicBezTo>
                  <a:pt x="0" y="4"/>
                  <a:pt x="0" y="3"/>
                  <a:pt x="0" y="2"/>
                </a:cubicBezTo>
                <a:cubicBezTo>
                  <a:pt x="0" y="2"/>
                  <a:pt x="0" y="2"/>
                  <a:pt x="0" y="2"/>
                </a:cubicBezTo>
                <a:cubicBezTo>
                  <a:pt x="0" y="1"/>
                  <a:pt x="0" y="0"/>
                  <a:pt x="1" y="0"/>
                </a:cubicBezTo>
                <a:close/>
                <a:moveTo>
                  <a:pt x="22" y="0"/>
                </a:moveTo>
                <a:cubicBezTo>
                  <a:pt x="26" y="0"/>
                  <a:pt x="30" y="0"/>
                  <a:pt x="34" y="0"/>
                </a:cubicBezTo>
                <a:cubicBezTo>
                  <a:pt x="35" y="0"/>
                  <a:pt x="36" y="1"/>
                  <a:pt x="36" y="2"/>
                </a:cubicBezTo>
                <a:cubicBezTo>
                  <a:pt x="36" y="2"/>
                  <a:pt x="36" y="2"/>
                  <a:pt x="36" y="2"/>
                </a:cubicBezTo>
                <a:cubicBezTo>
                  <a:pt x="36" y="3"/>
                  <a:pt x="35" y="4"/>
                  <a:pt x="34" y="4"/>
                </a:cubicBezTo>
                <a:cubicBezTo>
                  <a:pt x="30" y="4"/>
                  <a:pt x="26" y="4"/>
                  <a:pt x="22" y="4"/>
                </a:cubicBezTo>
                <a:cubicBezTo>
                  <a:pt x="21" y="4"/>
                  <a:pt x="21" y="3"/>
                  <a:pt x="21" y="2"/>
                </a:cubicBezTo>
                <a:cubicBezTo>
                  <a:pt x="21" y="2"/>
                  <a:pt x="21" y="2"/>
                  <a:pt x="21" y="2"/>
                </a:cubicBezTo>
                <a:cubicBezTo>
                  <a:pt x="21" y="1"/>
                  <a:pt x="21" y="0"/>
                  <a:pt x="22" y="0"/>
                </a:cubicBezTo>
                <a:close/>
                <a:moveTo>
                  <a:pt x="43" y="0"/>
                </a:moveTo>
                <a:cubicBezTo>
                  <a:pt x="47" y="0"/>
                  <a:pt x="51" y="0"/>
                  <a:pt x="55" y="0"/>
                </a:cubicBezTo>
                <a:cubicBezTo>
                  <a:pt x="56" y="0"/>
                  <a:pt x="57" y="1"/>
                  <a:pt x="57" y="2"/>
                </a:cubicBezTo>
                <a:cubicBezTo>
                  <a:pt x="57" y="2"/>
                  <a:pt x="57" y="2"/>
                  <a:pt x="57" y="2"/>
                </a:cubicBezTo>
                <a:cubicBezTo>
                  <a:pt x="57" y="3"/>
                  <a:pt x="56" y="4"/>
                  <a:pt x="55" y="4"/>
                </a:cubicBezTo>
                <a:cubicBezTo>
                  <a:pt x="51" y="4"/>
                  <a:pt x="47" y="4"/>
                  <a:pt x="43" y="4"/>
                </a:cubicBezTo>
                <a:cubicBezTo>
                  <a:pt x="42" y="4"/>
                  <a:pt x="42" y="3"/>
                  <a:pt x="42" y="2"/>
                </a:cubicBezTo>
                <a:cubicBezTo>
                  <a:pt x="42" y="2"/>
                  <a:pt x="42" y="2"/>
                  <a:pt x="42" y="2"/>
                </a:cubicBezTo>
                <a:cubicBezTo>
                  <a:pt x="42" y="1"/>
                  <a:pt x="42" y="0"/>
                  <a:pt x="43" y="0"/>
                </a:cubicBezTo>
                <a:close/>
                <a:moveTo>
                  <a:pt x="64" y="0"/>
                </a:moveTo>
                <a:cubicBezTo>
                  <a:pt x="68" y="0"/>
                  <a:pt x="72" y="0"/>
                  <a:pt x="76" y="0"/>
                </a:cubicBezTo>
                <a:cubicBezTo>
                  <a:pt x="77" y="0"/>
                  <a:pt x="78" y="1"/>
                  <a:pt x="78" y="2"/>
                </a:cubicBezTo>
                <a:cubicBezTo>
                  <a:pt x="78" y="2"/>
                  <a:pt x="78" y="2"/>
                  <a:pt x="78" y="2"/>
                </a:cubicBezTo>
                <a:cubicBezTo>
                  <a:pt x="78" y="3"/>
                  <a:pt x="77" y="4"/>
                  <a:pt x="76" y="4"/>
                </a:cubicBezTo>
                <a:cubicBezTo>
                  <a:pt x="72" y="4"/>
                  <a:pt x="68" y="4"/>
                  <a:pt x="64" y="4"/>
                </a:cubicBezTo>
                <a:cubicBezTo>
                  <a:pt x="63" y="4"/>
                  <a:pt x="63" y="3"/>
                  <a:pt x="63" y="2"/>
                </a:cubicBezTo>
                <a:cubicBezTo>
                  <a:pt x="63" y="2"/>
                  <a:pt x="63" y="2"/>
                  <a:pt x="63" y="2"/>
                </a:cubicBezTo>
                <a:cubicBezTo>
                  <a:pt x="63" y="1"/>
                  <a:pt x="63" y="0"/>
                  <a:pt x="64" y="0"/>
                </a:cubicBezTo>
                <a:close/>
                <a:moveTo>
                  <a:pt x="85" y="0"/>
                </a:moveTo>
                <a:cubicBezTo>
                  <a:pt x="89" y="0"/>
                  <a:pt x="93" y="0"/>
                  <a:pt x="97" y="0"/>
                </a:cubicBezTo>
                <a:cubicBezTo>
                  <a:pt x="98" y="0"/>
                  <a:pt x="99" y="1"/>
                  <a:pt x="99" y="2"/>
                </a:cubicBezTo>
                <a:cubicBezTo>
                  <a:pt x="99" y="2"/>
                  <a:pt x="99" y="2"/>
                  <a:pt x="99" y="2"/>
                </a:cubicBezTo>
                <a:cubicBezTo>
                  <a:pt x="99" y="3"/>
                  <a:pt x="98" y="4"/>
                  <a:pt x="97" y="4"/>
                </a:cubicBezTo>
                <a:cubicBezTo>
                  <a:pt x="93" y="4"/>
                  <a:pt x="89" y="4"/>
                  <a:pt x="85" y="4"/>
                </a:cubicBezTo>
                <a:cubicBezTo>
                  <a:pt x="84" y="4"/>
                  <a:pt x="84" y="3"/>
                  <a:pt x="84" y="2"/>
                </a:cubicBezTo>
                <a:cubicBezTo>
                  <a:pt x="84" y="2"/>
                  <a:pt x="84" y="2"/>
                  <a:pt x="84" y="2"/>
                </a:cubicBezTo>
                <a:cubicBezTo>
                  <a:pt x="84" y="1"/>
                  <a:pt x="84" y="0"/>
                  <a:pt x="85" y="0"/>
                </a:cubicBezTo>
                <a:close/>
                <a:moveTo>
                  <a:pt x="106" y="0"/>
                </a:moveTo>
                <a:cubicBezTo>
                  <a:pt x="110" y="0"/>
                  <a:pt x="114" y="0"/>
                  <a:pt x="118" y="0"/>
                </a:cubicBezTo>
                <a:cubicBezTo>
                  <a:pt x="119" y="0"/>
                  <a:pt x="120" y="1"/>
                  <a:pt x="120" y="2"/>
                </a:cubicBezTo>
                <a:cubicBezTo>
                  <a:pt x="120" y="2"/>
                  <a:pt x="120" y="2"/>
                  <a:pt x="120" y="2"/>
                </a:cubicBezTo>
                <a:cubicBezTo>
                  <a:pt x="120" y="3"/>
                  <a:pt x="119" y="4"/>
                  <a:pt x="118" y="4"/>
                </a:cubicBezTo>
                <a:cubicBezTo>
                  <a:pt x="114" y="4"/>
                  <a:pt x="110" y="4"/>
                  <a:pt x="106" y="4"/>
                </a:cubicBezTo>
                <a:cubicBezTo>
                  <a:pt x="105" y="4"/>
                  <a:pt x="105" y="3"/>
                  <a:pt x="105" y="2"/>
                </a:cubicBezTo>
                <a:cubicBezTo>
                  <a:pt x="105" y="2"/>
                  <a:pt x="105" y="2"/>
                  <a:pt x="105" y="2"/>
                </a:cubicBezTo>
                <a:cubicBezTo>
                  <a:pt x="105" y="1"/>
                  <a:pt x="105" y="0"/>
                  <a:pt x="106" y="0"/>
                </a:cubicBezTo>
                <a:close/>
              </a:path>
            </a:pathLst>
          </a:custGeom>
          <a:solidFill>
            <a:srgbClr val="979895"/>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 name="Freeform 18"/>
          <p:cNvSpPr/>
          <p:nvPr/>
        </p:nvSpPr>
        <p:spPr bwMode="auto">
          <a:xfrm>
            <a:off x="988959" y="1520805"/>
            <a:ext cx="498475" cy="1095325"/>
          </a:xfrm>
          <a:custGeom>
            <a:avLst/>
            <a:gdLst>
              <a:gd name="T0" fmla="*/ 0 w 314"/>
              <a:gd name="T1" fmla="*/ 0 h 901"/>
              <a:gd name="T2" fmla="*/ 314 w 314"/>
              <a:gd name="T3" fmla="*/ 299 h 901"/>
              <a:gd name="T4" fmla="*/ 314 w 314"/>
              <a:gd name="T5" fmla="*/ 901 h 901"/>
              <a:gd name="T6" fmla="*/ 0 w 314"/>
              <a:gd name="T7" fmla="*/ 602 h 901"/>
              <a:gd name="T8" fmla="*/ 0 w 314"/>
              <a:gd name="T9" fmla="*/ 0 h 901"/>
              <a:gd name="T10" fmla="*/ 0 w 314"/>
              <a:gd name="T11" fmla="*/ 0 h 901"/>
            </a:gdLst>
            <a:ahLst/>
            <a:cxnLst>
              <a:cxn ang="0">
                <a:pos x="T0" y="T1"/>
              </a:cxn>
              <a:cxn ang="0">
                <a:pos x="T2" y="T3"/>
              </a:cxn>
              <a:cxn ang="0">
                <a:pos x="T4" y="T5"/>
              </a:cxn>
              <a:cxn ang="0">
                <a:pos x="T6" y="T7"/>
              </a:cxn>
              <a:cxn ang="0">
                <a:pos x="T8" y="T9"/>
              </a:cxn>
              <a:cxn ang="0">
                <a:pos x="T10" y="T11"/>
              </a:cxn>
            </a:cxnLst>
            <a:rect l="0" t="0" r="r" b="b"/>
            <a:pathLst>
              <a:path w="314" h="901">
                <a:moveTo>
                  <a:pt x="0" y="0"/>
                </a:moveTo>
                <a:lnTo>
                  <a:pt x="314" y="299"/>
                </a:lnTo>
                <a:lnTo>
                  <a:pt x="314" y="901"/>
                </a:lnTo>
                <a:lnTo>
                  <a:pt x="0" y="602"/>
                </a:lnTo>
                <a:lnTo>
                  <a:pt x="0" y="0"/>
                </a:lnTo>
                <a:lnTo>
                  <a:pt x="0" y="0"/>
                </a:lnTo>
                <a:close/>
              </a:path>
            </a:pathLst>
          </a:custGeom>
          <a:solidFill>
            <a:srgbClr val="3D4947"/>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4" name="Freeform 19"/>
          <p:cNvSpPr>
            <a:spLocks noEditPoints="1"/>
          </p:cNvSpPr>
          <p:nvPr/>
        </p:nvSpPr>
        <p:spPr bwMode="auto">
          <a:xfrm>
            <a:off x="988959" y="2352655"/>
            <a:ext cx="498475" cy="387801"/>
          </a:xfrm>
          <a:custGeom>
            <a:avLst/>
            <a:gdLst>
              <a:gd name="T0" fmla="*/ 60 w 60"/>
              <a:gd name="T1" fmla="*/ 57 h 61"/>
              <a:gd name="T2" fmla="*/ 60 w 60"/>
              <a:gd name="T3" fmla="*/ 61 h 61"/>
              <a:gd name="T4" fmla="*/ 53 w 60"/>
              <a:gd name="T5" fmla="*/ 55 h 61"/>
              <a:gd name="T6" fmla="*/ 53 w 60"/>
              <a:gd name="T7" fmla="*/ 53 h 61"/>
              <a:gd name="T8" fmla="*/ 53 w 60"/>
              <a:gd name="T9" fmla="*/ 53 h 61"/>
              <a:gd name="T10" fmla="*/ 56 w 60"/>
              <a:gd name="T11" fmla="*/ 53 h 61"/>
              <a:gd name="T12" fmla="*/ 60 w 60"/>
              <a:gd name="T13" fmla="*/ 57 h 61"/>
              <a:gd name="T14" fmla="*/ 0 w 60"/>
              <a:gd name="T15" fmla="*/ 4 h 61"/>
              <a:gd name="T16" fmla="*/ 0 w 60"/>
              <a:gd name="T17" fmla="*/ 0 h 61"/>
              <a:gd name="T18" fmla="*/ 3 w 60"/>
              <a:gd name="T19" fmla="*/ 3 h 61"/>
              <a:gd name="T20" fmla="*/ 4 w 60"/>
              <a:gd name="T21" fmla="*/ 6 h 61"/>
              <a:gd name="T22" fmla="*/ 4 w 60"/>
              <a:gd name="T23" fmla="*/ 6 h 61"/>
              <a:gd name="T24" fmla="*/ 1 w 60"/>
              <a:gd name="T25" fmla="*/ 6 h 61"/>
              <a:gd name="T26" fmla="*/ 0 w 60"/>
              <a:gd name="T27" fmla="*/ 4 h 61"/>
              <a:gd name="T28" fmla="*/ 10 w 60"/>
              <a:gd name="T29" fmla="*/ 10 h 61"/>
              <a:gd name="T30" fmla="*/ 19 w 60"/>
              <a:gd name="T31" fmla="*/ 18 h 61"/>
              <a:gd name="T32" fmla="*/ 19 w 60"/>
              <a:gd name="T33" fmla="*/ 20 h 61"/>
              <a:gd name="T34" fmla="*/ 19 w 60"/>
              <a:gd name="T35" fmla="*/ 20 h 61"/>
              <a:gd name="T36" fmla="*/ 16 w 60"/>
              <a:gd name="T37" fmla="*/ 20 h 61"/>
              <a:gd name="T38" fmla="*/ 8 w 60"/>
              <a:gd name="T39" fmla="*/ 12 h 61"/>
              <a:gd name="T40" fmla="*/ 8 w 60"/>
              <a:gd name="T41" fmla="*/ 10 h 61"/>
              <a:gd name="T42" fmla="*/ 8 w 60"/>
              <a:gd name="T43" fmla="*/ 10 h 61"/>
              <a:gd name="T44" fmla="*/ 10 w 60"/>
              <a:gd name="T45" fmla="*/ 10 h 61"/>
              <a:gd name="T46" fmla="*/ 25 w 60"/>
              <a:gd name="T47" fmla="*/ 24 h 61"/>
              <a:gd name="T48" fmla="*/ 34 w 60"/>
              <a:gd name="T49" fmla="*/ 32 h 61"/>
              <a:gd name="T50" fmla="*/ 34 w 60"/>
              <a:gd name="T51" fmla="*/ 35 h 61"/>
              <a:gd name="T52" fmla="*/ 34 w 60"/>
              <a:gd name="T53" fmla="*/ 35 h 61"/>
              <a:gd name="T54" fmla="*/ 32 w 60"/>
              <a:gd name="T55" fmla="*/ 35 h 61"/>
              <a:gd name="T56" fmla="*/ 23 w 60"/>
              <a:gd name="T57" fmla="*/ 26 h 61"/>
              <a:gd name="T58" fmla="*/ 23 w 60"/>
              <a:gd name="T59" fmla="*/ 24 h 61"/>
              <a:gd name="T60" fmla="*/ 23 w 60"/>
              <a:gd name="T61" fmla="*/ 24 h 61"/>
              <a:gd name="T62" fmla="*/ 25 w 60"/>
              <a:gd name="T63" fmla="*/ 24 h 61"/>
              <a:gd name="T64" fmla="*/ 41 w 60"/>
              <a:gd name="T65" fmla="*/ 39 h 61"/>
              <a:gd name="T66" fmla="*/ 49 w 60"/>
              <a:gd name="T67" fmla="*/ 47 h 61"/>
              <a:gd name="T68" fmla="*/ 49 w 60"/>
              <a:gd name="T69" fmla="*/ 49 h 61"/>
              <a:gd name="T70" fmla="*/ 49 w 60"/>
              <a:gd name="T71" fmla="*/ 49 h 61"/>
              <a:gd name="T72" fmla="*/ 47 w 60"/>
              <a:gd name="T73" fmla="*/ 49 h 61"/>
              <a:gd name="T74" fmla="*/ 38 w 60"/>
              <a:gd name="T75" fmla="*/ 41 h 61"/>
              <a:gd name="T76" fmla="*/ 38 w 60"/>
              <a:gd name="T77" fmla="*/ 39 h 61"/>
              <a:gd name="T78" fmla="*/ 38 w 60"/>
              <a:gd name="T79" fmla="*/ 39 h 61"/>
              <a:gd name="T80" fmla="*/ 41 w 60"/>
              <a:gd name="T81" fmla="*/ 39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0" h="61">
                <a:moveTo>
                  <a:pt x="60" y="57"/>
                </a:moveTo>
                <a:cubicBezTo>
                  <a:pt x="60" y="61"/>
                  <a:pt x="60" y="61"/>
                  <a:pt x="60" y="61"/>
                </a:cubicBezTo>
                <a:cubicBezTo>
                  <a:pt x="58" y="59"/>
                  <a:pt x="56" y="57"/>
                  <a:pt x="53" y="55"/>
                </a:cubicBezTo>
                <a:cubicBezTo>
                  <a:pt x="53" y="55"/>
                  <a:pt x="53" y="54"/>
                  <a:pt x="53" y="53"/>
                </a:cubicBezTo>
                <a:cubicBezTo>
                  <a:pt x="53" y="53"/>
                  <a:pt x="53" y="53"/>
                  <a:pt x="53" y="53"/>
                </a:cubicBezTo>
                <a:cubicBezTo>
                  <a:pt x="54" y="52"/>
                  <a:pt x="55" y="52"/>
                  <a:pt x="56" y="53"/>
                </a:cubicBezTo>
                <a:cubicBezTo>
                  <a:pt x="57" y="54"/>
                  <a:pt x="58" y="55"/>
                  <a:pt x="60" y="57"/>
                </a:cubicBezTo>
                <a:close/>
                <a:moveTo>
                  <a:pt x="0" y="4"/>
                </a:moveTo>
                <a:cubicBezTo>
                  <a:pt x="0" y="0"/>
                  <a:pt x="0" y="0"/>
                  <a:pt x="0" y="0"/>
                </a:cubicBezTo>
                <a:cubicBezTo>
                  <a:pt x="1" y="1"/>
                  <a:pt x="2" y="2"/>
                  <a:pt x="3" y="3"/>
                </a:cubicBezTo>
                <a:cubicBezTo>
                  <a:pt x="4" y="4"/>
                  <a:pt x="4" y="5"/>
                  <a:pt x="4" y="6"/>
                </a:cubicBezTo>
                <a:cubicBezTo>
                  <a:pt x="4" y="6"/>
                  <a:pt x="4" y="6"/>
                  <a:pt x="4" y="6"/>
                </a:cubicBezTo>
                <a:cubicBezTo>
                  <a:pt x="3" y="6"/>
                  <a:pt x="2" y="6"/>
                  <a:pt x="1" y="6"/>
                </a:cubicBezTo>
                <a:cubicBezTo>
                  <a:pt x="1" y="5"/>
                  <a:pt x="0" y="5"/>
                  <a:pt x="0" y="4"/>
                </a:cubicBezTo>
                <a:close/>
                <a:moveTo>
                  <a:pt x="10" y="10"/>
                </a:moveTo>
                <a:cubicBezTo>
                  <a:pt x="13" y="12"/>
                  <a:pt x="16" y="15"/>
                  <a:pt x="19" y="18"/>
                </a:cubicBezTo>
                <a:cubicBezTo>
                  <a:pt x="19" y="18"/>
                  <a:pt x="19" y="19"/>
                  <a:pt x="19" y="20"/>
                </a:cubicBezTo>
                <a:cubicBezTo>
                  <a:pt x="19" y="20"/>
                  <a:pt x="19" y="20"/>
                  <a:pt x="19" y="20"/>
                </a:cubicBezTo>
                <a:cubicBezTo>
                  <a:pt x="18" y="21"/>
                  <a:pt x="17" y="21"/>
                  <a:pt x="16" y="20"/>
                </a:cubicBezTo>
                <a:cubicBezTo>
                  <a:pt x="14" y="17"/>
                  <a:pt x="11" y="15"/>
                  <a:pt x="8" y="12"/>
                </a:cubicBezTo>
                <a:cubicBezTo>
                  <a:pt x="7" y="11"/>
                  <a:pt x="7" y="10"/>
                  <a:pt x="8" y="10"/>
                </a:cubicBezTo>
                <a:cubicBezTo>
                  <a:pt x="8" y="10"/>
                  <a:pt x="8" y="10"/>
                  <a:pt x="8" y="10"/>
                </a:cubicBezTo>
                <a:cubicBezTo>
                  <a:pt x="8" y="9"/>
                  <a:pt x="9" y="9"/>
                  <a:pt x="10" y="10"/>
                </a:cubicBezTo>
                <a:close/>
                <a:moveTo>
                  <a:pt x="25" y="24"/>
                </a:moveTo>
                <a:cubicBezTo>
                  <a:pt x="28" y="27"/>
                  <a:pt x="31" y="29"/>
                  <a:pt x="34" y="32"/>
                </a:cubicBezTo>
                <a:cubicBezTo>
                  <a:pt x="35" y="33"/>
                  <a:pt x="35" y="34"/>
                  <a:pt x="34" y="35"/>
                </a:cubicBezTo>
                <a:cubicBezTo>
                  <a:pt x="34" y="35"/>
                  <a:pt x="34" y="35"/>
                  <a:pt x="34" y="35"/>
                </a:cubicBezTo>
                <a:cubicBezTo>
                  <a:pt x="33" y="35"/>
                  <a:pt x="32" y="35"/>
                  <a:pt x="32" y="35"/>
                </a:cubicBezTo>
                <a:cubicBezTo>
                  <a:pt x="29" y="32"/>
                  <a:pt x="26" y="29"/>
                  <a:pt x="23" y="26"/>
                </a:cubicBezTo>
                <a:cubicBezTo>
                  <a:pt x="22" y="26"/>
                  <a:pt x="22" y="25"/>
                  <a:pt x="23" y="24"/>
                </a:cubicBezTo>
                <a:cubicBezTo>
                  <a:pt x="23" y="24"/>
                  <a:pt x="23" y="24"/>
                  <a:pt x="23" y="24"/>
                </a:cubicBezTo>
                <a:cubicBezTo>
                  <a:pt x="24" y="23"/>
                  <a:pt x="25" y="23"/>
                  <a:pt x="25" y="24"/>
                </a:cubicBezTo>
                <a:close/>
                <a:moveTo>
                  <a:pt x="41" y="39"/>
                </a:moveTo>
                <a:cubicBezTo>
                  <a:pt x="43" y="41"/>
                  <a:pt x="46" y="44"/>
                  <a:pt x="49" y="47"/>
                </a:cubicBezTo>
                <a:cubicBezTo>
                  <a:pt x="50" y="47"/>
                  <a:pt x="50" y="48"/>
                  <a:pt x="49" y="49"/>
                </a:cubicBezTo>
                <a:cubicBezTo>
                  <a:pt x="49" y="49"/>
                  <a:pt x="49" y="49"/>
                  <a:pt x="49" y="49"/>
                </a:cubicBezTo>
                <a:cubicBezTo>
                  <a:pt x="48" y="50"/>
                  <a:pt x="47" y="50"/>
                  <a:pt x="47" y="49"/>
                </a:cubicBezTo>
                <a:cubicBezTo>
                  <a:pt x="44" y="46"/>
                  <a:pt x="41" y="44"/>
                  <a:pt x="38" y="41"/>
                </a:cubicBezTo>
                <a:cubicBezTo>
                  <a:pt x="38" y="40"/>
                  <a:pt x="38" y="39"/>
                  <a:pt x="38" y="39"/>
                </a:cubicBezTo>
                <a:cubicBezTo>
                  <a:pt x="38" y="39"/>
                  <a:pt x="38" y="39"/>
                  <a:pt x="38" y="39"/>
                </a:cubicBezTo>
                <a:cubicBezTo>
                  <a:pt x="39" y="38"/>
                  <a:pt x="40" y="38"/>
                  <a:pt x="41" y="39"/>
                </a:cubicBezTo>
                <a:close/>
              </a:path>
            </a:pathLst>
          </a:custGeom>
          <a:solidFill>
            <a:srgbClr val="4B5754"/>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4" name="Freeform 30"/>
          <p:cNvSpPr/>
          <p:nvPr/>
        </p:nvSpPr>
        <p:spPr bwMode="auto">
          <a:xfrm>
            <a:off x="1296934" y="1620818"/>
            <a:ext cx="1736725" cy="731837"/>
          </a:xfrm>
          <a:custGeom>
            <a:avLst/>
            <a:gdLst>
              <a:gd name="T0" fmla="*/ 0 w 1094"/>
              <a:gd name="T1" fmla="*/ 0 h 602"/>
              <a:gd name="T2" fmla="*/ 911 w 1094"/>
              <a:gd name="T3" fmla="*/ 0 h 602"/>
              <a:gd name="T4" fmla="*/ 1094 w 1094"/>
              <a:gd name="T5" fmla="*/ 304 h 602"/>
              <a:gd name="T6" fmla="*/ 911 w 1094"/>
              <a:gd name="T7" fmla="*/ 602 h 602"/>
              <a:gd name="T8" fmla="*/ 0 w 1094"/>
              <a:gd name="T9" fmla="*/ 602 h 602"/>
              <a:gd name="T10" fmla="*/ 0 w 1094"/>
              <a:gd name="T11" fmla="*/ 0 h 602"/>
              <a:gd name="T12" fmla="*/ 0 w 1094"/>
              <a:gd name="T13" fmla="*/ 0 h 602"/>
            </a:gdLst>
            <a:ahLst/>
            <a:cxnLst>
              <a:cxn ang="0">
                <a:pos x="T0" y="T1"/>
              </a:cxn>
              <a:cxn ang="0">
                <a:pos x="T2" y="T3"/>
              </a:cxn>
              <a:cxn ang="0">
                <a:pos x="T4" y="T5"/>
              </a:cxn>
              <a:cxn ang="0">
                <a:pos x="T6" y="T7"/>
              </a:cxn>
              <a:cxn ang="0">
                <a:pos x="T8" y="T9"/>
              </a:cxn>
              <a:cxn ang="0">
                <a:pos x="T10" y="T11"/>
              </a:cxn>
              <a:cxn ang="0">
                <a:pos x="T12" y="T13"/>
              </a:cxn>
            </a:cxnLst>
            <a:rect l="0" t="0" r="r" b="b"/>
            <a:pathLst>
              <a:path w="1094" h="602">
                <a:moveTo>
                  <a:pt x="0" y="0"/>
                </a:moveTo>
                <a:lnTo>
                  <a:pt x="911" y="0"/>
                </a:lnTo>
                <a:lnTo>
                  <a:pt x="1094" y="304"/>
                </a:lnTo>
                <a:lnTo>
                  <a:pt x="911" y="602"/>
                </a:lnTo>
                <a:lnTo>
                  <a:pt x="0" y="602"/>
                </a:lnTo>
                <a:lnTo>
                  <a:pt x="0" y="0"/>
                </a:lnTo>
                <a:lnTo>
                  <a:pt x="0" y="0"/>
                </a:lnTo>
                <a:close/>
              </a:path>
            </a:pathLst>
          </a:custGeom>
          <a:solidFill>
            <a:srgbClr val="C9CACA"/>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5" name="Freeform 31"/>
          <p:cNvSpPr/>
          <p:nvPr/>
        </p:nvSpPr>
        <p:spPr bwMode="auto">
          <a:xfrm>
            <a:off x="988959" y="1520805"/>
            <a:ext cx="1954212" cy="731837"/>
          </a:xfrm>
          <a:custGeom>
            <a:avLst/>
            <a:gdLst>
              <a:gd name="T0" fmla="*/ 0 w 1231"/>
              <a:gd name="T1" fmla="*/ 0 h 602"/>
              <a:gd name="T2" fmla="*/ 1047 w 1231"/>
              <a:gd name="T3" fmla="*/ 0 h 602"/>
              <a:gd name="T4" fmla="*/ 1231 w 1231"/>
              <a:gd name="T5" fmla="*/ 299 h 602"/>
              <a:gd name="T6" fmla="*/ 1047 w 1231"/>
              <a:gd name="T7" fmla="*/ 602 h 602"/>
              <a:gd name="T8" fmla="*/ 0 w 1231"/>
              <a:gd name="T9" fmla="*/ 602 h 602"/>
              <a:gd name="T10" fmla="*/ 0 w 1231"/>
              <a:gd name="T11" fmla="*/ 0 h 602"/>
              <a:gd name="T12" fmla="*/ 0 w 1231"/>
              <a:gd name="T13" fmla="*/ 0 h 602"/>
            </a:gdLst>
            <a:ahLst/>
            <a:cxnLst>
              <a:cxn ang="0">
                <a:pos x="T0" y="T1"/>
              </a:cxn>
              <a:cxn ang="0">
                <a:pos x="T2" y="T3"/>
              </a:cxn>
              <a:cxn ang="0">
                <a:pos x="T4" y="T5"/>
              </a:cxn>
              <a:cxn ang="0">
                <a:pos x="T6" y="T7"/>
              </a:cxn>
              <a:cxn ang="0">
                <a:pos x="T8" y="T9"/>
              </a:cxn>
              <a:cxn ang="0">
                <a:pos x="T10" y="T11"/>
              </a:cxn>
              <a:cxn ang="0">
                <a:pos x="T12" y="T13"/>
              </a:cxn>
            </a:cxnLst>
            <a:rect l="0" t="0" r="r" b="b"/>
            <a:pathLst>
              <a:path w="1231" h="602">
                <a:moveTo>
                  <a:pt x="0" y="0"/>
                </a:moveTo>
                <a:lnTo>
                  <a:pt x="1047" y="0"/>
                </a:lnTo>
                <a:lnTo>
                  <a:pt x="1231" y="299"/>
                </a:lnTo>
                <a:lnTo>
                  <a:pt x="1047" y="602"/>
                </a:lnTo>
                <a:lnTo>
                  <a:pt x="0" y="602"/>
                </a:lnTo>
                <a:lnTo>
                  <a:pt x="0" y="0"/>
                </a:lnTo>
                <a:lnTo>
                  <a:pt x="0" y="0"/>
                </a:lnTo>
                <a:close/>
              </a:path>
            </a:pathLst>
          </a:custGeom>
          <a:solidFill>
            <a:srgbClr val="4B5754"/>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6" name="Freeform 32"/>
          <p:cNvSpPr>
            <a:spLocks noEditPoints="1"/>
          </p:cNvSpPr>
          <p:nvPr/>
        </p:nvSpPr>
        <p:spPr bwMode="auto">
          <a:xfrm>
            <a:off x="988959" y="2052619"/>
            <a:ext cx="1836737" cy="280822"/>
          </a:xfrm>
          <a:custGeom>
            <a:avLst/>
            <a:gdLst>
              <a:gd name="T0" fmla="*/ 30 w 221"/>
              <a:gd name="T1" fmla="*/ 44 h 44"/>
              <a:gd name="T2" fmla="*/ 32 w 221"/>
              <a:gd name="T3" fmla="*/ 42 h 44"/>
              <a:gd name="T4" fmla="*/ 19 w 221"/>
              <a:gd name="T5" fmla="*/ 40 h 44"/>
              <a:gd name="T6" fmla="*/ 17 w 221"/>
              <a:gd name="T7" fmla="*/ 42 h 44"/>
              <a:gd name="T8" fmla="*/ 196 w 221"/>
              <a:gd name="T9" fmla="*/ 42 h 44"/>
              <a:gd name="T10" fmla="*/ 198 w 221"/>
              <a:gd name="T11" fmla="*/ 36 h 44"/>
              <a:gd name="T12" fmla="*/ 195 w 221"/>
              <a:gd name="T13" fmla="*/ 37 h 44"/>
              <a:gd name="T14" fmla="*/ 186 w 221"/>
              <a:gd name="T15" fmla="*/ 40 h 44"/>
              <a:gd name="T16" fmla="*/ 185 w 221"/>
              <a:gd name="T17" fmla="*/ 42 h 44"/>
              <a:gd name="T18" fmla="*/ 194 w 221"/>
              <a:gd name="T19" fmla="*/ 44 h 44"/>
              <a:gd name="T20" fmla="*/ 217 w 221"/>
              <a:gd name="T21" fmla="*/ 1 h 44"/>
              <a:gd name="T22" fmla="*/ 212 w 221"/>
              <a:gd name="T23" fmla="*/ 13 h 44"/>
              <a:gd name="T24" fmla="*/ 214 w 221"/>
              <a:gd name="T25" fmla="*/ 12 h 44"/>
              <a:gd name="T26" fmla="*/ 219 w 221"/>
              <a:gd name="T27" fmla="*/ 0 h 44"/>
              <a:gd name="T28" fmla="*/ 217 w 221"/>
              <a:gd name="T29" fmla="*/ 1 h 44"/>
              <a:gd name="T30" fmla="*/ 200 w 221"/>
              <a:gd name="T31" fmla="*/ 29 h 44"/>
              <a:gd name="T32" fmla="*/ 201 w 221"/>
              <a:gd name="T33" fmla="*/ 31 h 44"/>
              <a:gd name="T34" fmla="*/ 209 w 221"/>
              <a:gd name="T35" fmla="*/ 20 h 44"/>
              <a:gd name="T36" fmla="*/ 209 w 221"/>
              <a:gd name="T37" fmla="*/ 18 h 44"/>
              <a:gd name="T38" fmla="*/ 0 w 221"/>
              <a:gd name="T39" fmla="*/ 40 h 44"/>
              <a:gd name="T40" fmla="*/ 8 w 221"/>
              <a:gd name="T41" fmla="*/ 44 h 44"/>
              <a:gd name="T42" fmla="*/ 10 w 221"/>
              <a:gd name="T43" fmla="*/ 42 h 44"/>
              <a:gd name="T44" fmla="*/ 0 w 221"/>
              <a:gd name="T45" fmla="*/ 40 h 44"/>
              <a:gd name="T46" fmla="*/ 51 w 221"/>
              <a:gd name="T47" fmla="*/ 44 h 44"/>
              <a:gd name="T48" fmla="*/ 53 w 221"/>
              <a:gd name="T49" fmla="*/ 42 h 44"/>
              <a:gd name="T50" fmla="*/ 40 w 221"/>
              <a:gd name="T51" fmla="*/ 40 h 44"/>
              <a:gd name="T52" fmla="*/ 38 w 221"/>
              <a:gd name="T53" fmla="*/ 42 h 44"/>
              <a:gd name="T54" fmla="*/ 60 w 221"/>
              <a:gd name="T55" fmla="*/ 44 h 44"/>
              <a:gd name="T56" fmla="*/ 74 w 221"/>
              <a:gd name="T57" fmla="*/ 42 h 44"/>
              <a:gd name="T58" fmla="*/ 72 w 221"/>
              <a:gd name="T59" fmla="*/ 40 h 44"/>
              <a:gd name="T60" fmla="*/ 59 w 221"/>
              <a:gd name="T61" fmla="*/ 42 h 44"/>
              <a:gd name="T62" fmla="*/ 60 w 221"/>
              <a:gd name="T63" fmla="*/ 44 h 44"/>
              <a:gd name="T64" fmla="*/ 93 w 221"/>
              <a:gd name="T65" fmla="*/ 44 h 44"/>
              <a:gd name="T66" fmla="*/ 95 w 221"/>
              <a:gd name="T67" fmla="*/ 42 h 44"/>
              <a:gd name="T68" fmla="*/ 81 w 221"/>
              <a:gd name="T69" fmla="*/ 40 h 44"/>
              <a:gd name="T70" fmla="*/ 80 w 221"/>
              <a:gd name="T71" fmla="*/ 42 h 44"/>
              <a:gd name="T72" fmla="*/ 102 w 221"/>
              <a:gd name="T73" fmla="*/ 44 h 44"/>
              <a:gd name="T74" fmla="*/ 116 w 221"/>
              <a:gd name="T75" fmla="*/ 42 h 44"/>
              <a:gd name="T76" fmla="*/ 114 w 221"/>
              <a:gd name="T77" fmla="*/ 40 h 44"/>
              <a:gd name="T78" fmla="*/ 101 w 221"/>
              <a:gd name="T79" fmla="*/ 42 h 44"/>
              <a:gd name="T80" fmla="*/ 102 w 221"/>
              <a:gd name="T81" fmla="*/ 44 h 44"/>
              <a:gd name="T82" fmla="*/ 135 w 221"/>
              <a:gd name="T83" fmla="*/ 44 h 44"/>
              <a:gd name="T84" fmla="*/ 137 w 221"/>
              <a:gd name="T85" fmla="*/ 42 h 44"/>
              <a:gd name="T86" fmla="*/ 123 w 221"/>
              <a:gd name="T87" fmla="*/ 40 h 44"/>
              <a:gd name="T88" fmla="*/ 122 w 221"/>
              <a:gd name="T89" fmla="*/ 42 h 44"/>
              <a:gd name="T90" fmla="*/ 144 w 221"/>
              <a:gd name="T91" fmla="*/ 44 h 44"/>
              <a:gd name="T92" fmla="*/ 158 w 221"/>
              <a:gd name="T93" fmla="*/ 42 h 44"/>
              <a:gd name="T94" fmla="*/ 156 w 221"/>
              <a:gd name="T95" fmla="*/ 40 h 44"/>
              <a:gd name="T96" fmla="*/ 143 w 221"/>
              <a:gd name="T97" fmla="*/ 42 h 44"/>
              <a:gd name="T98" fmla="*/ 144 w 221"/>
              <a:gd name="T99" fmla="*/ 44 h 44"/>
              <a:gd name="T100" fmla="*/ 177 w 221"/>
              <a:gd name="T101" fmla="*/ 44 h 44"/>
              <a:gd name="T102" fmla="*/ 179 w 221"/>
              <a:gd name="T103" fmla="*/ 42 h 44"/>
              <a:gd name="T104" fmla="*/ 165 w 221"/>
              <a:gd name="T105" fmla="*/ 40 h 44"/>
              <a:gd name="T106" fmla="*/ 164 w 221"/>
              <a:gd name="T107" fmla="*/ 42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21" h="44">
                <a:moveTo>
                  <a:pt x="19" y="44"/>
                </a:moveTo>
                <a:cubicBezTo>
                  <a:pt x="22" y="44"/>
                  <a:pt x="26" y="44"/>
                  <a:pt x="30" y="44"/>
                </a:cubicBezTo>
                <a:cubicBezTo>
                  <a:pt x="31" y="44"/>
                  <a:pt x="32" y="43"/>
                  <a:pt x="32" y="42"/>
                </a:cubicBezTo>
                <a:cubicBezTo>
                  <a:pt x="32" y="42"/>
                  <a:pt x="32" y="42"/>
                  <a:pt x="32" y="42"/>
                </a:cubicBezTo>
                <a:cubicBezTo>
                  <a:pt x="32" y="41"/>
                  <a:pt x="31" y="40"/>
                  <a:pt x="30" y="40"/>
                </a:cubicBezTo>
                <a:cubicBezTo>
                  <a:pt x="26" y="40"/>
                  <a:pt x="22" y="40"/>
                  <a:pt x="19" y="40"/>
                </a:cubicBezTo>
                <a:cubicBezTo>
                  <a:pt x="18" y="40"/>
                  <a:pt x="17" y="41"/>
                  <a:pt x="17" y="42"/>
                </a:cubicBezTo>
                <a:cubicBezTo>
                  <a:pt x="17" y="42"/>
                  <a:pt x="17" y="42"/>
                  <a:pt x="17" y="42"/>
                </a:cubicBezTo>
                <a:cubicBezTo>
                  <a:pt x="17" y="43"/>
                  <a:pt x="18" y="44"/>
                  <a:pt x="19" y="44"/>
                </a:cubicBezTo>
                <a:close/>
                <a:moveTo>
                  <a:pt x="196" y="42"/>
                </a:moveTo>
                <a:cubicBezTo>
                  <a:pt x="196" y="41"/>
                  <a:pt x="197" y="40"/>
                  <a:pt x="198" y="38"/>
                </a:cubicBezTo>
                <a:cubicBezTo>
                  <a:pt x="199" y="38"/>
                  <a:pt x="198" y="36"/>
                  <a:pt x="198" y="36"/>
                </a:cubicBezTo>
                <a:cubicBezTo>
                  <a:pt x="198" y="36"/>
                  <a:pt x="198" y="36"/>
                  <a:pt x="198" y="36"/>
                </a:cubicBezTo>
                <a:cubicBezTo>
                  <a:pt x="197" y="36"/>
                  <a:pt x="196" y="36"/>
                  <a:pt x="195" y="37"/>
                </a:cubicBezTo>
                <a:cubicBezTo>
                  <a:pt x="195" y="38"/>
                  <a:pt x="194" y="39"/>
                  <a:pt x="193" y="40"/>
                </a:cubicBezTo>
                <a:cubicBezTo>
                  <a:pt x="190" y="40"/>
                  <a:pt x="190" y="40"/>
                  <a:pt x="186" y="40"/>
                </a:cubicBezTo>
                <a:cubicBezTo>
                  <a:pt x="186" y="40"/>
                  <a:pt x="185" y="41"/>
                  <a:pt x="185" y="42"/>
                </a:cubicBezTo>
                <a:cubicBezTo>
                  <a:pt x="185" y="42"/>
                  <a:pt x="185" y="42"/>
                  <a:pt x="185" y="42"/>
                </a:cubicBezTo>
                <a:cubicBezTo>
                  <a:pt x="185" y="43"/>
                  <a:pt x="186" y="44"/>
                  <a:pt x="186" y="44"/>
                </a:cubicBezTo>
                <a:cubicBezTo>
                  <a:pt x="194" y="44"/>
                  <a:pt x="194" y="44"/>
                  <a:pt x="194" y="44"/>
                </a:cubicBezTo>
                <a:cubicBezTo>
                  <a:pt x="195" y="44"/>
                  <a:pt x="195" y="43"/>
                  <a:pt x="196" y="42"/>
                </a:cubicBezTo>
                <a:close/>
                <a:moveTo>
                  <a:pt x="217" y="1"/>
                </a:moveTo>
                <a:cubicBezTo>
                  <a:pt x="215" y="4"/>
                  <a:pt x="213" y="7"/>
                  <a:pt x="211" y="11"/>
                </a:cubicBezTo>
                <a:cubicBezTo>
                  <a:pt x="211" y="12"/>
                  <a:pt x="211" y="13"/>
                  <a:pt x="212" y="13"/>
                </a:cubicBezTo>
                <a:cubicBezTo>
                  <a:pt x="212" y="13"/>
                  <a:pt x="212" y="13"/>
                  <a:pt x="212" y="13"/>
                </a:cubicBezTo>
                <a:cubicBezTo>
                  <a:pt x="212" y="14"/>
                  <a:pt x="213" y="13"/>
                  <a:pt x="214" y="12"/>
                </a:cubicBezTo>
                <a:cubicBezTo>
                  <a:pt x="216" y="9"/>
                  <a:pt x="218" y="6"/>
                  <a:pt x="220" y="2"/>
                </a:cubicBezTo>
                <a:cubicBezTo>
                  <a:pt x="221" y="2"/>
                  <a:pt x="220" y="1"/>
                  <a:pt x="219" y="0"/>
                </a:cubicBezTo>
                <a:cubicBezTo>
                  <a:pt x="219" y="0"/>
                  <a:pt x="219" y="0"/>
                  <a:pt x="219" y="0"/>
                </a:cubicBezTo>
                <a:cubicBezTo>
                  <a:pt x="219" y="0"/>
                  <a:pt x="218" y="0"/>
                  <a:pt x="217" y="1"/>
                </a:cubicBezTo>
                <a:close/>
                <a:moveTo>
                  <a:pt x="206" y="19"/>
                </a:moveTo>
                <a:cubicBezTo>
                  <a:pt x="204" y="22"/>
                  <a:pt x="202" y="25"/>
                  <a:pt x="200" y="29"/>
                </a:cubicBezTo>
                <a:cubicBezTo>
                  <a:pt x="200" y="29"/>
                  <a:pt x="200" y="30"/>
                  <a:pt x="201" y="31"/>
                </a:cubicBezTo>
                <a:cubicBezTo>
                  <a:pt x="201" y="31"/>
                  <a:pt x="201" y="31"/>
                  <a:pt x="201" y="31"/>
                </a:cubicBezTo>
                <a:cubicBezTo>
                  <a:pt x="201" y="31"/>
                  <a:pt x="203" y="31"/>
                  <a:pt x="203" y="30"/>
                </a:cubicBezTo>
                <a:cubicBezTo>
                  <a:pt x="205" y="27"/>
                  <a:pt x="207" y="24"/>
                  <a:pt x="209" y="20"/>
                </a:cubicBezTo>
                <a:cubicBezTo>
                  <a:pt x="210" y="20"/>
                  <a:pt x="209" y="19"/>
                  <a:pt x="209" y="18"/>
                </a:cubicBezTo>
                <a:cubicBezTo>
                  <a:pt x="209" y="18"/>
                  <a:pt x="209" y="18"/>
                  <a:pt x="209" y="18"/>
                </a:cubicBezTo>
                <a:cubicBezTo>
                  <a:pt x="208" y="18"/>
                  <a:pt x="207" y="18"/>
                  <a:pt x="206" y="19"/>
                </a:cubicBezTo>
                <a:close/>
                <a:moveTo>
                  <a:pt x="0" y="40"/>
                </a:moveTo>
                <a:cubicBezTo>
                  <a:pt x="0" y="44"/>
                  <a:pt x="0" y="44"/>
                  <a:pt x="0" y="44"/>
                </a:cubicBezTo>
                <a:cubicBezTo>
                  <a:pt x="8" y="44"/>
                  <a:pt x="8" y="44"/>
                  <a:pt x="8" y="44"/>
                </a:cubicBezTo>
                <a:cubicBezTo>
                  <a:pt x="9" y="44"/>
                  <a:pt x="10" y="43"/>
                  <a:pt x="10" y="42"/>
                </a:cubicBezTo>
                <a:cubicBezTo>
                  <a:pt x="10" y="42"/>
                  <a:pt x="10" y="42"/>
                  <a:pt x="10" y="42"/>
                </a:cubicBezTo>
                <a:cubicBezTo>
                  <a:pt x="10" y="41"/>
                  <a:pt x="9" y="40"/>
                  <a:pt x="8" y="40"/>
                </a:cubicBezTo>
                <a:cubicBezTo>
                  <a:pt x="0" y="40"/>
                  <a:pt x="0" y="40"/>
                  <a:pt x="0" y="40"/>
                </a:cubicBezTo>
                <a:close/>
                <a:moveTo>
                  <a:pt x="40" y="44"/>
                </a:moveTo>
                <a:cubicBezTo>
                  <a:pt x="43" y="44"/>
                  <a:pt x="47" y="44"/>
                  <a:pt x="51" y="44"/>
                </a:cubicBezTo>
                <a:cubicBezTo>
                  <a:pt x="52" y="44"/>
                  <a:pt x="53" y="43"/>
                  <a:pt x="53" y="42"/>
                </a:cubicBezTo>
                <a:cubicBezTo>
                  <a:pt x="53" y="42"/>
                  <a:pt x="53" y="42"/>
                  <a:pt x="53" y="42"/>
                </a:cubicBezTo>
                <a:cubicBezTo>
                  <a:pt x="53" y="41"/>
                  <a:pt x="52" y="40"/>
                  <a:pt x="51" y="40"/>
                </a:cubicBezTo>
                <a:cubicBezTo>
                  <a:pt x="47" y="40"/>
                  <a:pt x="43" y="40"/>
                  <a:pt x="40" y="40"/>
                </a:cubicBezTo>
                <a:cubicBezTo>
                  <a:pt x="39" y="40"/>
                  <a:pt x="38" y="41"/>
                  <a:pt x="38" y="42"/>
                </a:cubicBezTo>
                <a:cubicBezTo>
                  <a:pt x="38" y="42"/>
                  <a:pt x="38" y="42"/>
                  <a:pt x="38" y="42"/>
                </a:cubicBezTo>
                <a:cubicBezTo>
                  <a:pt x="38" y="43"/>
                  <a:pt x="39" y="44"/>
                  <a:pt x="40" y="44"/>
                </a:cubicBezTo>
                <a:close/>
                <a:moveTo>
                  <a:pt x="60" y="44"/>
                </a:moveTo>
                <a:cubicBezTo>
                  <a:pt x="64" y="44"/>
                  <a:pt x="68" y="44"/>
                  <a:pt x="72" y="44"/>
                </a:cubicBezTo>
                <a:cubicBezTo>
                  <a:pt x="73" y="44"/>
                  <a:pt x="74" y="43"/>
                  <a:pt x="74" y="42"/>
                </a:cubicBezTo>
                <a:cubicBezTo>
                  <a:pt x="74" y="42"/>
                  <a:pt x="74" y="42"/>
                  <a:pt x="74" y="42"/>
                </a:cubicBezTo>
                <a:cubicBezTo>
                  <a:pt x="74" y="41"/>
                  <a:pt x="73" y="40"/>
                  <a:pt x="72" y="40"/>
                </a:cubicBezTo>
                <a:cubicBezTo>
                  <a:pt x="68" y="40"/>
                  <a:pt x="64" y="40"/>
                  <a:pt x="60" y="40"/>
                </a:cubicBezTo>
                <a:cubicBezTo>
                  <a:pt x="60" y="40"/>
                  <a:pt x="59" y="41"/>
                  <a:pt x="59" y="42"/>
                </a:cubicBezTo>
                <a:cubicBezTo>
                  <a:pt x="59" y="42"/>
                  <a:pt x="59" y="42"/>
                  <a:pt x="59" y="42"/>
                </a:cubicBezTo>
                <a:cubicBezTo>
                  <a:pt x="59" y="43"/>
                  <a:pt x="60" y="44"/>
                  <a:pt x="60" y="44"/>
                </a:cubicBezTo>
                <a:close/>
                <a:moveTo>
                  <a:pt x="81" y="44"/>
                </a:moveTo>
                <a:cubicBezTo>
                  <a:pt x="85" y="44"/>
                  <a:pt x="89" y="44"/>
                  <a:pt x="93" y="44"/>
                </a:cubicBezTo>
                <a:cubicBezTo>
                  <a:pt x="94" y="44"/>
                  <a:pt x="95" y="43"/>
                  <a:pt x="95" y="42"/>
                </a:cubicBezTo>
                <a:cubicBezTo>
                  <a:pt x="95" y="42"/>
                  <a:pt x="95" y="42"/>
                  <a:pt x="95" y="42"/>
                </a:cubicBezTo>
                <a:cubicBezTo>
                  <a:pt x="95" y="41"/>
                  <a:pt x="94" y="40"/>
                  <a:pt x="93" y="40"/>
                </a:cubicBezTo>
                <a:cubicBezTo>
                  <a:pt x="89" y="40"/>
                  <a:pt x="85" y="40"/>
                  <a:pt x="81" y="40"/>
                </a:cubicBezTo>
                <a:cubicBezTo>
                  <a:pt x="81" y="40"/>
                  <a:pt x="80" y="41"/>
                  <a:pt x="80" y="42"/>
                </a:cubicBezTo>
                <a:cubicBezTo>
                  <a:pt x="80" y="42"/>
                  <a:pt x="80" y="42"/>
                  <a:pt x="80" y="42"/>
                </a:cubicBezTo>
                <a:cubicBezTo>
                  <a:pt x="80" y="43"/>
                  <a:pt x="81" y="44"/>
                  <a:pt x="81" y="44"/>
                </a:cubicBezTo>
                <a:close/>
                <a:moveTo>
                  <a:pt x="102" y="44"/>
                </a:moveTo>
                <a:cubicBezTo>
                  <a:pt x="106" y="44"/>
                  <a:pt x="110" y="44"/>
                  <a:pt x="114" y="44"/>
                </a:cubicBezTo>
                <a:cubicBezTo>
                  <a:pt x="115" y="44"/>
                  <a:pt x="116" y="43"/>
                  <a:pt x="116" y="42"/>
                </a:cubicBezTo>
                <a:cubicBezTo>
                  <a:pt x="116" y="42"/>
                  <a:pt x="116" y="42"/>
                  <a:pt x="116" y="42"/>
                </a:cubicBezTo>
                <a:cubicBezTo>
                  <a:pt x="116" y="41"/>
                  <a:pt x="115" y="40"/>
                  <a:pt x="114" y="40"/>
                </a:cubicBezTo>
                <a:cubicBezTo>
                  <a:pt x="110" y="40"/>
                  <a:pt x="106" y="40"/>
                  <a:pt x="102" y="40"/>
                </a:cubicBezTo>
                <a:cubicBezTo>
                  <a:pt x="102" y="40"/>
                  <a:pt x="101" y="41"/>
                  <a:pt x="101" y="42"/>
                </a:cubicBezTo>
                <a:cubicBezTo>
                  <a:pt x="101" y="42"/>
                  <a:pt x="101" y="42"/>
                  <a:pt x="101" y="42"/>
                </a:cubicBezTo>
                <a:cubicBezTo>
                  <a:pt x="101" y="43"/>
                  <a:pt x="102" y="44"/>
                  <a:pt x="102" y="44"/>
                </a:cubicBezTo>
                <a:close/>
                <a:moveTo>
                  <a:pt x="123" y="44"/>
                </a:moveTo>
                <a:cubicBezTo>
                  <a:pt x="127" y="44"/>
                  <a:pt x="131" y="44"/>
                  <a:pt x="135" y="44"/>
                </a:cubicBezTo>
                <a:cubicBezTo>
                  <a:pt x="136" y="44"/>
                  <a:pt x="137" y="43"/>
                  <a:pt x="137" y="42"/>
                </a:cubicBezTo>
                <a:cubicBezTo>
                  <a:pt x="137" y="42"/>
                  <a:pt x="137" y="42"/>
                  <a:pt x="137" y="42"/>
                </a:cubicBezTo>
                <a:cubicBezTo>
                  <a:pt x="137" y="41"/>
                  <a:pt x="136" y="40"/>
                  <a:pt x="135" y="40"/>
                </a:cubicBezTo>
                <a:cubicBezTo>
                  <a:pt x="131" y="40"/>
                  <a:pt x="127" y="40"/>
                  <a:pt x="123" y="40"/>
                </a:cubicBezTo>
                <a:cubicBezTo>
                  <a:pt x="123" y="40"/>
                  <a:pt x="122" y="41"/>
                  <a:pt x="122" y="42"/>
                </a:cubicBezTo>
                <a:cubicBezTo>
                  <a:pt x="122" y="42"/>
                  <a:pt x="122" y="42"/>
                  <a:pt x="122" y="42"/>
                </a:cubicBezTo>
                <a:cubicBezTo>
                  <a:pt x="122" y="43"/>
                  <a:pt x="123" y="44"/>
                  <a:pt x="123" y="44"/>
                </a:cubicBezTo>
                <a:close/>
                <a:moveTo>
                  <a:pt x="144" y="44"/>
                </a:moveTo>
                <a:cubicBezTo>
                  <a:pt x="148" y="44"/>
                  <a:pt x="152" y="44"/>
                  <a:pt x="156" y="44"/>
                </a:cubicBezTo>
                <a:cubicBezTo>
                  <a:pt x="157" y="44"/>
                  <a:pt x="158" y="43"/>
                  <a:pt x="158" y="42"/>
                </a:cubicBezTo>
                <a:cubicBezTo>
                  <a:pt x="158" y="42"/>
                  <a:pt x="158" y="42"/>
                  <a:pt x="158" y="42"/>
                </a:cubicBezTo>
                <a:cubicBezTo>
                  <a:pt x="158" y="41"/>
                  <a:pt x="157" y="40"/>
                  <a:pt x="156" y="40"/>
                </a:cubicBezTo>
                <a:cubicBezTo>
                  <a:pt x="152" y="40"/>
                  <a:pt x="148" y="40"/>
                  <a:pt x="144" y="40"/>
                </a:cubicBezTo>
                <a:cubicBezTo>
                  <a:pt x="144" y="40"/>
                  <a:pt x="143" y="41"/>
                  <a:pt x="143" y="42"/>
                </a:cubicBezTo>
                <a:cubicBezTo>
                  <a:pt x="143" y="42"/>
                  <a:pt x="143" y="42"/>
                  <a:pt x="143" y="42"/>
                </a:cubicBezTo>
                <a:cubicBezTo>
                  <a:pt x="143" y="43"/>
                  <a:pt x="144" y="44"/>
                  <a:pt x="144" y="44"/>
                </a:cubicBezTo>
                <a:close/>
                <a:moveTo>
                  <a:pt x="165" y="44"/>
                </a:moveTo>
                <a:cubicBezTo>
                  <a:pt x="169" y="44"/>
                  <a:pt x="173" y="44"/>
                  <a:pt x="177" y="44"/>
                </a:cubicBezTo>
                <a:cubicBezTo>
                  <a:pt x="178" y="44"/>
                  <a:pt x="179" y="43"/>
                  <a:pt x="179" y="42"/>
                </a:cubicBezTo>
                <a:cubicBezTo>
                  <a:pt x="179" y="42"/>
                  <a:pt x="179" y="42"/>
                  <a:pt x="179" y="42"/>
                </a:cubicBezTo>
                <a:cubicBezTo>
                  <a:pt x="179" y="41"/>
                  <a:pt x="178" y="40"/>
                  <a:pt x="177" y="40"/>
                </a:cubicBezTo>
                <a:cubicBezTo>
                  <a:pt x="173" y="40"/>
                  <a:pt x="169" y="40"/>
                  <a:pt x="165" y="40"/>
                </a:cubicBezTo>
                <a:cubicBezTo>
                  <a:pt x="165" y="40"/>
                  <a:pt x="164" y="41"/>
                  <a:pt x="164" y="42"/>
                </a:cubicBezTo>
                <a:cubicBezTo>
                  <a:pt x="164" y="42"/>
                  <a:pt x="164" y="42"/>
                  <a:pt x="164" y="42"/>
                </a:cubicBezTo>
                <a:cubicBezTo>
                  <a:pt x="164" y="43"/>
                  <a:pt x="165" y="44"/>
                  <a:pt x="165" y="44"/>
                </a:cubicBezTo>
                <a:close/>
              </a:path>
            </a:pathLst>
          </a:custGeom>
          <a:solidFill>
            <a:srgbClr val="757975"/>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7" name="Freeform 33"/>
          <p:cNvSpPr>
            <a:spLocks noEditPoints="1"/>
          </p:cNvSpPr>
          <p:nvPr/>
        </p:nvSpPr>
        <p:spPr bwMode="auto">
          <a:xfrm>
            <a:off x="988959" y="1579543"/>
            <a:ext cx="1870075" cy="330664"/>
          </a:xfrm>
          <a:custGeom>
            <a:avLst/>
            <a:gdLst>
              <a:gd name="T0" fmla="*/ 30 w 225"/>
              <a:gd name="T1" fmla="*/ 0 h 52"/>
              <a:gd name="T2" fmla="*/ 32 w 225"/>
              <a:gd name="T3" fmla="*/ 2 h 52"/>
              <a:gd name="T4" fmla="*/ 19 w 225"/>
              <a:gd name="T5" fmla="*/ 4 h 52"/>
              <a:gd name="T6" fmla="*/ 17 w 225"/>
              <a:gd name="T7" fmla="*/ 2 h 52"/>
              <a:gd name="T8" fmla="*/ 224 w 225"/>
              <a:gd name="T9" fmla="*/ 48 h 52"/>
              <a:gd name="T10" fmla="*/ 225 w 225"/>
              <a:gd name="T11" fmla="*/ 50 h 52"/>
              <a:gd name="T12" fmla="*/ 224 w 225"/>
              <a:gd name="T13" fmla="*/ 52 h 52"/>
              <a:gd name="T14" fmla="*/ 222 w 225"/>
              <a:gd name="T15" fmla="*/ 51 h 52"/>
              <a:gd name="T16" fmla="*/ 224 w 225"/>
              <a:gd name="T17" fmla="*/ 48 h 52"/>
              <a:gd name="T18" fmla="*/ 198 w 225"/>
              <a:gd name="T19" fmla="*/ 6 h 52"/>
              <a:gd name="T20" fmla="*/ 198 w 225"/>
              <a:gd name="T21" fmla="*/ 8 h 52"/>
              <a:gd name="T22" fmla="*/ 193 w 225"/>
              <a:gd name="T23" fmla="*/ 4 h 52"/>
              <a:gd name="T24" fmla="*/ 185 w 225"/>
              <a:gd name="T25" fmla="*/ 2 h 52"/>
              <a:gd name="T26" fmla="*/ 186 w 225"/>
              <a:gd name="T27" fmla="*/ 0 h 52"/>
              <a:gd name="T28" fmla="*/ 196 w 225"/>
              <a:gd name="T29" fmla="*/ 1 h 52"/>
              <a:gd name="T30" fmla="*/ 211 w 225"/>
              <a:gd name="T31" fmla="*/ 33 h 52"/>
              <a:gd name="T32" fmla="*/ 212 w 225"/>
              <a:gd name="T33" fmla="*/ 31 h 52"/>
              <a:gd name="T34" fmla="*/ 220 w 225"/>
              <a:gd name="T35" fmla="*/ 41 h 52"/>
              <a:gd name="T36" fmla="*/ 219 w 225"/>
              <a:gd name="T37" fmla="*/ 44 h 52"/>
              <a:gd name="T38" fmla="*/ 206 w 225"/>
              <a:gd name="T39" fmla="*/ 25 h 52"/>
              <a:gd name="T40" fmla="*/ 201 w 225"/>
              <a:gd name="T41" fmla="*/ 13 h 52"/>
              <a:gd name="T42" fmla="*/ 203 w 225"/>
              <a:gd name="T43" fmla="*/ 13 h 52"/>
              <a:gd name="T44" fmla="*/ 209 w 225"/>
              <a:gd name="T45" fmla="*/ 26 h 52"/>
              <a:gd name="T46" fmla="*/ 206 w 225"/>
              <a:gd name="T47" fmla="*/ 25 h 52"/>
              <a:gd name="T48" fmla="*/ 0 w 225"/>
              <a:gd name="T49" fmla="*/ 0 h 52"/>
              <a:gd name="T50" fmla="*/ 10 w 225"/>
              <a:gd name="T51" fmla="*/ 2 h 52"/>
              <a:gd name="T52" fmla="*/ 8 w 225"/>
              <a:gd name="T53" fmla="*/ 4 h 52"/>
              <a:gd name="T54" fmla="*/ 40 w 225"/>
              <a:gd name="T55" fmla="*/ 0 h 52"/>
              <a:gd name="T56" fmla="*/ 53 w 225"/>
              <a:gd name="T57" fmla="*/ 2 h 52"/>
              <a:gd name="T58" fmla="*/ 51 w 225"/>
              <a:gd name="T59" fmla="*/ 4 h 52"/>
              <a:gd name="T60" fmla="*/ 38 w 225"/>
              <a:gd name="T61" fmla="*/ 2 h 52"/>
              <a:gd name="T62" fmla="*/ 40 w 225"/>
              <a:gd name="T63" fmla="*/ 0 h 52"/>
              <a:gd name="T64" fmla="*/ 72 w 225"/>
              <a:gd name="T65" fmla="*/ 0 h 52"/>
              <a:gd name="T66" fmla="*/ 74 w 225"/>
              <a:gd name="T67" fmla="*/ 2 h 52"/>
              <a:gd name="T68" fmla="*/ 60 w 225"/>
              <a:gd name="T69" fmla="*/ 4 h 52"/>
              <a:gd name="T70" fmla="*/ 59 w 225"/>
              <a:gd name="T71" fmla="*/ 2 h 52"/>
              <a:gd name="T72" fmla="*/ 81 w 225"/>
              <a:gd name="T73" fmla="*/ 0 h 52"/>
              <a:gd name="T74" fmla="*/ 95 w 225"/>
              <a:gd name="T75" fmla="*/ 2 h 52"/>
              <a:gd name="T76" fmla="*/ 93 w 225"/>
              <a:gd name="T77" fmla="*/ 4 h 52"/>
              <a:gd name="T78" fmla="*/ 80 w 225"/>
              <a:gd name="T79" fmla="*/ 2 h 52"/>
              <a:gd name="T80" fmla="*/ 81 w 225"/>
              <a:gd name="T81" fmla="*/ 0 h 52"/>
              <a:gd name="T82" fmla="*/ 114 w 225"/>
              <a:gd name="T83" fmla="*/ 0 h 52"/>
              <a:gd name="T84" fmla="*/ 116 w 225"/>
              <a:gd name="T85" fmla="*/ 2 h 52"/>
              <a:gd name="T86" fmla="*/ 102 w 225"/>
              <a:gd name="T87" fmla="*/ 4 h 52"/>
              <a:gd name="T88" fmla="*/ 101 w 225"/>
              <a:gd name="T89" fmla="*/ 2 h 52"/>
              <a:gd name="T90" fmla="*/ 123 w 225"/>
              <a:gd name="T91" fmla="*/ 0 h 52"/>
              <a:gd name="T92" fmla="*/ 137 w 225"/>
              <a:gd name="T93" fmla="*/ 2 h 52"/>
              <a:gd name="T94" fmla="*/ 135 w 225"/>
              <a:gd name="T95" fmla="*/ 4 h 52"/>
              <a:gd name="T96" fmla="*/ 122 w 225"/>
              <a:gd name="T97" fmla="*/ 2 h 52"/>
              <a:gd name="T98" fmla="*/ 123 w 225"/>
              <a:gd name="T99" fmla="*/ 0 h 52"/>
              <a:gd name="T100" fmla="*/ 156 w 225"/>
              <a:gd name="T101" fmla="*/ 0 h 52"/>
              <a:gd name="T102" fmla="*/ 158 w 225"/>
              <a:gd name="T103" fmla="*/ 2 h 52"/>
              <a:gd name="T104" fmla="*/ 144 w 225"/>
              <a:gd name="T105" fmla="*/ 4 h 52"/>
              <a:gd name="T106" fmla="*/ 143 w 225"/>
              <a:gd name="T107" fmla="*/ 2 h 52"/>
              <a:gd name="T108" fmla="*/ 165 w 225"/>
              <a:gd name="T109" fmla="*/ 0 h 52"/>
              <a:gd name="T110" fmla="*/ 179 w 225"/>
              <a:gd name="T111" fmla="*/ 2 h 52"/>
              <a:gd name="T112" fmla="*/ 177 w 225"/>
              <a:gd name="T113" fmla="*/ 4 h 52"/>
              <a:gd name="T114" fmla="*/ 164 w 225"/>
              <a:gd name="T115" fmla="*/ 2 h 52"/>
              <a:gd name="T116" fmla="*/ 165 w 225"/>
              <a:gd name="T117"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5" h="52">
                <a:moveTo>
                  <a:pt x="19" y="0"/>
                </a:moveTo>
                <a:cubicBezTo>
                  <a:pt x="22" y="0"/>
                  <a:pt x="26" y="0"/>
                  <a:pt x="30" y="0"/>
                </a:cubicBezTo>
                <a:cubicBezTo>
                  <a:pt x="31" y="0"/>
                  <a:pt x="32" y="1"/>
                  <a:pt x="32" y="2"/>
                </a:cubicBezTo>
                <a:cubicBezTo>
                  <a:pt x="32" y="2"/>
                  <a:pt x="32" y="2"/>
                  <a:pt x="32" y="2"/>
                </a:cubicBezTo>
                <a:cubicBezTo>
                  <a:pt x="32" y="3"/>
                  <a:pt x="31" y="4"/>
                  <a:pt x="30" y="4"/>
                </a:cubicBezTo>
                <a:cubicBezTo>
                  <a:pt x="26" y="4"/>
                  <a:pt x="22" y="4"/>
                  <a:pt x="19" y="4"/>
                </a:cubicBezTo>
                <a:cubicBezTo>
                  <a:pt x="18" y="4"/>
                  <a:pt x="17" y="3"/>
                  <a:pt x="17" y="2"/>
                </a:cubicBezTo>
                <a:cubicBezTo>
                  <a:pt x="17" y="2"/>
                  <a:pt x="17" y="2"/>
                  <a:pt x="17" y="2"/>
                </a:cubicBezTo>
                <a:cubicBezTo>
                  <a:pt x="17" y="1"/>
                  <a:pt x="18" y="0"/>
                  <a:pt x="19" y="0"/>
                </a:cubicBezTo>
                <a:close/>
                <a:moveTo>
                  <a:pt x="224" y="48"/>
                </a:moveTo>
                <a:cubicBezTo>
                  <a:pt x="224" y="48"/>
                  <a:pt x="224" y="48"/>
                  <a:pt x="224" y="48"/>
                </a:cubicBezTo>
                <a:cubicBezTo>
                  <a:pt x="225" y="48"/>
                  <a:pt x="225" y="49"/>
                  <a:pt x="225" y="50"/>
                </a:cubicBezTo>
                <a:cubicBezTo>
                  <a:pt x="225" y="51"/>
                  <a:pt x="225" y="51"/>
                  <a:pt x="225" y="51"/>
                </a:cubicBezTo>
                <a:cubicBezTo>
                  <a:pt x="225" y="52"/>
                  <a:pt x="225" y="52"/>
                  <a:pt x="224" y="52"/>
                </a:cubicBezTo>
                <a:cubicBezTo>
                  <a:pt x="224" y="52"/>
                  <a:pt x="224" y="52"/>
                  <a:pt x="224" y="52"/>
                </a:cubicBezTo>
                <a:cubicBezTo>
                  <a:pt x="223" y="52"/>
                  <a:pt x="222" y="52"/>
                  <a:pt x="222" y="51"/>
                </a:cubicBezTo>
                <a:cubicBezTo>
                  <a:pt x="222" y="50"/>
                  <a:pt x="222" y="50"/>
                  <a:pt x="222" y="50"/>
                </a:cubicBezTo>
                <a:cubicBezTo>
                  <a:pt x="222" y="49"/>
                  <a:pt x="223" y="48"/>
                  <a:pt x="224" y="48"/>
                </a:cubicBezTo>
                <a:close/>
                <a:moveTo>
                  <a:pt x="196" y="1"/>
                </a:moveTo>
                <a:cubicBezTo>
                  <a:pt x="196" y="3"/>
                  <a:pt x="197" y="4"/>
                  <a:pt x="198" y="6"/>
                </a:cubicBezTo>
                <a:cubicBezTo>
                  <a:pt x="199" y="6"/>
                  <a:pt x="198" y="7"/>
                  <a:pt x="198" y="8"/>
                </a:cubicBezTo>
                <a:cubicBezTo>
                  <a:pt x="198" y="8"/>
                  <a:pt x="198" y="8"/>
                  <a:pt x="198" y="8"/>
                </a:cubicBezTo>
                <a:cubicBezTo>
                  <a:pt x="197" y="8"/>
                  <a:pt x="196" y="8"/>
                  <a:pt x="195" y="7"/>
                </a:cubicBezTo>
                <a:cubicBezTo>
                  <a:pt x="195" y="6"/>
                  <a:pt x="194" y="5"/>
                  <a:pt x="193" y="4"/>
                </a:cubicBezTo>
                <a:cubicBezTo>
                  <a:pt x="190" y="4"/>
                  <a:pt x="190" y="4"/>
                  <a:pt x="186" y="4"/>
                </a:cubicBezTo>
                <a:cubicBezTo>
                  <a:pt x="186" y="4"/>
                  <a:pt x="185" y="3"/>
                  <a:pt x="185" y="2"/>
                </a:cubicBezTo>
                <a:cubicBezTo>
                  <a:pt x="185" y="2"/>
                  <a:pt x="185" y="2"/>
                  <a:pt x="185" y="2"/>
                </a:cubicBezTo>
                <a:cubicBezTo>
                  <a:pt x="185" y="1"/>
                  <a:pt x="186" y="0"/>
                  <a:pt x="186" y="0"/>
                </a:cubicBezTo>
                <a:cubicBezTo>
                  <a:pt x="194" y="0"/>
                  <a:pt x="194" y="0"/>
                  <a:pt x="194" y="0"/>
                </a:cubicBezTo>
                <a:cubicBezTo>
                  <a:pt x="195" y="0"/>
                  <a:pt x="195" y="1"/>
                  <a:pt x="196" y="1"/>
                </a:cubicBezTo>
                <a:close/>
                <a:moveTo>
                  <a:pt x="217" y="43"/>
                </a:moveTo>
                <a:cubicBezTo>
                  <a:pt x="215" y="40"/>
                  <a:pt x="213" y="36"/>
                  <a:pt x="211" y="33"/>
                </a:cubicBezTo>
                <a:cubicBezTo>
                  <a:pt x="211" y="32"/>
                  <a:pt x="211" y="31"/>
                  <a:pt x="212" y="31"/>
                </a:cubicBezTo>
                <a:cubicBezTo>
                  <a:pt x="212" y="31"/>
                  <a:pt x="212" y="31"/>
                  <a:pt x="212" y="31"/>
                </a:cubicBezTo>
                <a:cubicBezTo>
                  <a:pt x="212" y="30"/>
                  <a:pt x="213" y="31"/>
                  <a:pt x="214" y="31"/>
                </a:cubicBezTo>
                <a:cubicBezTo>
                  <a:pt x="216" y="35"/>
                  <a:pt x="218" y="38"/>
                  <a:pt x="220" y="41"/>
                </a:cubicBezTo>
                <a:cubicBezTo>
                  <a:pt x="221" y="42"/>
                  <a:pt x="220" y="43"/>
                  <a:pt x="219" y="44"/>
                </a:cubicBezTo>
                <a:cubicBezTo>
                  <a:pt x="219" y="44"/>
                  <a:pt x="219" y="44"/>
                  <a:pt x="219" y="44"/>
                </a:cubicBezTo>
                <a:cubicBezTo>
                  <a:pt x="219" y="44"/>
                  <a:pt x="218" y="44"/>
                  <a:pt x="217" y="43"/>
                </a:cubicBezTo>
                <a:close/>
                <a:moveTo>
                  <a:pt x="206" y="25"/>
                </a:moveTo>
                <a:cubicBezTo>
                  <a:pt x="204" y="22"/>
                  <a:pt x="202" y="19"/>
                  <a:pt x="200" y="15"/>
                </a:cubicBezTo>
                <a:cubicBezTo>
                  <a:pt x="200" y="14"/>
                  <a:pt x="200" y="13"/>
                  <a:pt x="201" y="13"/>
                </a:cubicBezTo>
                <a:cubicBezTo>
                  <a:pt x="201" y="13"/>
                  <a:pt x="201" y="13"/>
                  <a:pt x="201" y="13"/>
                </a:cubicBezTo>
                <a:cubicBezTo>
                  <a:pt x="201" y="12"/>
                  <a:pt x="203" y="13"/>
                  <a:pt x="203" y="13"/>
                </a:cubicBezTo>
                <a:cubicBezTo>
                  <a:pt x="205" y="17"/>
                  <a:pt x="207" y="20"/>
                  <a:pt x="209" y="23"/>
                </a:cubicBezTo>
                <a:cubicBezTo>
                  <a:pt x="210" y="24"/>
                  <a:pt x="209" y="25"/>
                  <a:pt x="209" y="26"/>
                </a:cubicBezTo>
                <a:cubicBezTo>
                  <a:pt x="209" y="26"/>
                  <a:pt x="209" y="26"/>
                  <a:pt x="209" y="26"/>
                </a:cubicBezTo>
                <a:cubicBezTo>
                  <a:pt x="208" y="26"/>
                  <a:pt x="207" y="26"/>
                  <a:pt x="206" y="25"/>
                </a:cubicBezTo>
                <a:close/>
                <a:moveTo>
                  <a:pt x="0" y="4"/>
                </a:moveTo>
                <a:cubicBezTo>
                  <a:pt x="0" y="0"/>
                  <a:pt x="0" y="0"/>
                  <a:pt x="0" y="0"/>
                </a:cubicBezTo>
                <a:cubicBezTo>
                  <a:pt x="8" y="0"/>
                  <a:pt x="8" y="0"/>
                  <a:pt x="8" y="0"/>
                </a:cubicBezTo>
                <a:cubicBezTo>
                  <a:pt x="9" y="0"/>
                  <a:pt x="10" y="1"/>
                  <a:pt x="10" y="2"/>
                </a:cubicBezTo>
                <a:cubicBezTo>
                  <a:pt x="10" y="2"/>
                  <a:pt x="10" y="2"/>
                  <a:pt x="10" y="2"/>
                </a:cubicBezTo>
                <a:cubicBezTo>
                  <a:pt x="10" y="3"/>
                  <a:pt x="9" y="4"/>
                  <a:pt x="8" y="4"/>
                </a:cubicBezTo>
                <a:cubicBezTo>
                  <a:pt x="0" y="4"/>
                  <a:pt x="0" y="4"/>
                  <a:pt x="0" y="4"/>
                </a:cubicBezTo>
                <a:close/>
                <a:moveTo>
                  <a:pt x="40" y="0"/>
                </a:moveTo>
                <a:cubicBezTo>
                  <a:pt x="43" y="0"/>
                  <a:pt x="47" y="0"/>
                  <a:pt x="51" y="0"/>
                </a:cubicBezTo>
                <a:cubicBezTo>
                  <a:pt x="52" y="0"/>
                  <a:pt x="53" y="1"/>
                  <a:pt x="53" y="2"/>
                </a:cubicBezTo>
                <a:cubicBezTo>
                  <a:pt x="53" y="2"/>
                  <a:pt x="53" y="2"/>
                  <a:pt x="53" y="2"/>
                </a:cubicBezTo>
                <a:cubicBezTo>
                  <a:pt x="53" y="3"/>
                  <a:pt x="52" y="4"/>
                  <a:pt x="51" y="4"/>
                </a:cubicBezTo>
                <a:cubicBezTo>
                  <a:pt x="47" y="4"/>
                  <a:pt x="43" y="4"/>
                  <a:pt x="40" y="4"/>
                </a:cubicBezTo>
                <a:cubicBezTo>
                  <a:pt x="39" y="4"/>
                  <a:pt x="38" y="3"/>
                  <a:pt x="38" y="2"/>
                </a:cubicBezTo>
                <a:cubicBezTo>
                  <a:pt x="38" y="2"/>
                  <a:pt x="38" y="2"/>
                  <a:pt x="38" y="2"/>
                </a:cubicBezTo>
                <a:cubicBezTo>
                  <a:pt x="38" y="1"/>
                  <a:pt x="39" y="0"/>
                  <a:pt x="40" y="0"/>
                </a:cubicBezTo>
                <a:close/>
                <a:moveTo>
                  <a:pt x="60" y="0"/>
                </a:moveTo>
                <a:cubicBezTo>
                  <a:pt x="64" y="0"/>
                  <a:pt x="68" y="0"/>
                  <a:pt x="72" y="0"/>
                </a:cubicBezTo>
                <a:cubicBezTo>
                  <a:pt x="73" y="0"/>
                  <a:pt x="74" y="1"/>
                  <a:pt x="74" y="2"/>
                </a:cubicBezTo>
                <a:cubicBezTo>
                  <a:pt x="74" y="2"/>
                  <a:pt x="74" y="2"/>
                  <a:pt x="74" y="2"/>
                </a:cubicBezTo>
                <a:cubicBezTo>
                  <a:pt x="74" y="3"/>
                  <a:pt x="73" y="4"/>
                  <a:pt x="72" y="4"/>
                </a:cubicBezTo>
                <a:cubicBezTo>
                  <a:pt x="68" y="4"/>
                  <a:pt x="64" y="4"/>
                  <a:pt x="60" y="4"/>
                </a:cubicBezTo>
                <a:cubicBezTo>
                  <a:pt x="60" y="4"/>
                  <a:pt x="59" y="3"/>
                  <a:pt x="59" y="2"/>
                </a:cubicBezTo>
                <a:cubicBezTo>
                  <a:pt x="59" y="2"/>
                  <a:pt x="59" y="2"/>
                  <a:pt x="59" y="2"/>
                </a:cubicBezTo>
                <a:cubicBezTo>
                  <a:pt x="59" y="1"/>
                  <a:pt x="60" y="0"/>
                  <a:pt x="60" y="0"/>
                </a:cubicBezTo>
                <a:close/>
                <a:moveTo>
                  <a:pt x="81" y="0"/>
                </a:moveTo>
                <a:cubicBezTo>
                  <a:pt x="85" y="0"/>
                  <a:pt x="89" y="0"/>
                  <a:pt x="93" y="0"/>
                </a:cubicBezTo>
                <a:cubicBezTo>
                  <a:pt x="94" y="0"/>
                  <a:pt x="95" y="1"/>
                  <a:pt x="95" y="2"/>
                </a:cubicBezTo>
                <a:cubicBezTo>
                  <a:pt x="95" y="2"/>
                  <a:pt x="95" y="2"/>
                  <a:pt x="95" y="2"/>
                </a:cubicBezTo>
                <a:cubicBezTo>
                  <a:pt x="95" y="3"/>
                  <a:pt x="94" y="4"/>
                  <a:pt x="93" y="4"/>
                </a:cubicBezTo>
                <a:cubicBezTo>
                  <a:pt x="89" y="4"/>
                  <a:pt x="85" y="4"/>
                  <a:pt x="81" y="4"/>
                </a:cubicBezTo>
                <a:cubicBezTo>
                  <a:pt x="81" y="4"/>
                  <a:pt x="80" y="3"/>
                  <a:pt x="80" y="2"/>
                </a:cubicBezTo>
                <a:cubicBezTo>
                  <a:pt x="80" y="2"/>
                  <a:pt x="80" y="2"/>
                  <a:pt x="80" y="2"/>
                </a:cubicBezTo>
                <a:cubicBezTo>
                  <a:pt x="80" y="1"/>
                  <a:pt x="81" y="0"/>
                  <a:pt x="81" y="0"/>
                </a:cubicBezTo>
                <a:close/>
                <a:moveTo>
                  <a:pt x="102" y="0"/>
                </a:moveTo>
                <a:cubicBezTo>
                  <a:pt x="106" y="0"/>
                  <a:pt x="110" y="0"/>
                  <a:pt x="114" y="0"/>
                </a:cubicBezTo>
                <a:cubicBezTo>
                  <a:pt x="115" y="0"/>
                  <a:pt x="116" y="1"/>
                  <a:pt x="116" y="2"/>
                </a:cubicBezTo>
                <a:cubicBezTo>
                  <a:pt x="116" y="2"/>
                  <a:pt x="116" y="2"/>
                  <a:pt x="116" y="2"/>
                </a:cubicBezTo>
                <a:cubicBezTo>
                  <a:pt x="116" y="3"/>
                  <a:pt x="115" y="4"/>
                  <a:pt x="114" y="4"/>
                </a:cubicBezTo>
                <a:cubicBezTo>
                  <a:pt x="110" y="4"/>
                  <a:pt x="106" y="4"/>
                  <a:pt x="102" y="4"/>
                </a:cubicBezTo>
                <a:cubicBezTo>
                  <a:pt x="102" y="4"/>
                  <a:pt x="101" y="3"/>
                  <a:pt x="101" y="2"/>
                </a:cubicBezTo>
                <a:cubicBezTo>
                  <a:pt x="101" y="2"/>
                  <a:pt x="101" y="2"/>
                  <a:pt x="101" y="2"/>
                </a:cubicBezTo>
                <a:cubicBezTo>
                  <a:pt x="101" y="1"/>
                  <a:pt x="102" y="0"/>
                  <a:pt x="102" y="0"/>
                </a:cubicBezTo>
                <a:close/>
                <a:moveTo>
                  <a:pt x="123" y="0"/>
                </a:moveTo>
                <a:cubicBezTo>
                  <a:pt x="127" y="0"/>
                  <a:pt x="131" y="0"/>
                  <a:pt x="135" y="0"/>
                </a:cubicBezTo>
                <a:cubicBezTo>
                  <a:pt x="136" y="0"/>
                  <a:pt x="137" y="1"/>
                  <a:pt x="137" y="2"/>
                </a:cubicBezTo>
                <a:cubicBezTo>
                  <a:pt x="137" y="2"/>
                  <a:pt x="137" y="2"/>
                  <a:pt x="137" y="2"/>
                </a:cubicBezTo>
                <a:cubicBezTo>
                  <a:pt x="137" y="3"/>
                  <a:pt x="136" y="4"/>
                  <a:pt x="135" y="4"/>
                </a:cubicBezTo>
                <a:cubicBezTo>
                  <a:pt x="131" y="4"/>
                  <a:pt x="127" y="4"/>
                  <a:pt x="123" y="4"/>
                </a:cubicBezTo>
                <a:cubicBezTo>
                  <a:pt x="123" y="4"/>
                  <a:pt x="122" y="3"/>
                  <a:pt x="122" y="2"/>
                </a:cubicBezTo>
                <a:cubicBezTo>
                  <a:pt x="122" y="2"/>
                  <a:pt x="122" y="2"/>
                  <a:pt x="122" y="2"/>
                </a:cubicBezTo>
                <a:cubicBezTo>
                  <a:pt x="122" y="1"/>
                  <a:pt x="123" y="0"/>
                  <a:pt x="123" y="0"/>
                </a:cubicBezTo>
                <a:close/>
                <a:moveTo>
                  <a:pt x="144" y="0"/>
                </a:moveTo>
                <a:cubicBezTo>
                  <a:pt x="148" y="0"/>
                  <a:pt x="152" y="0"/>
                  <a:pt x="156" y="0"/>
                </a:cubicBezTo>
                <a:cubicBezTo>
                  <a:pt x="157" y="0"/>
                  <a:pt x="158" y="1"/>
                  <a:pt x="158" y="2"/>
                </a:cubicBezTo>
                <a:cubicBezTo>
                  <a:pt x="158" y="2"/>
                  <a:pt x="158" y="2"/>
                  <a:pt x="158" y="2"/>
                </a:cubicBezTo>
                <a:cubicBezTo>
                  <a:pt x="158" y="3"/>
                  <a:pt x="157" y="4"/>
                  <a:pt x="156" y="4"/>
                </a:cubicBezTo>
                <a:cubicBezTo>
                  <a:pt x="152" y="4"/>
                  <a:pt x="148" y="4"/>
                  <a:pt x="144" y="4"/>
                </a:cubicBezTo>
                <a:cubicBezTo>
                  <a:pt x="144" y="4"/>
                  <a:pt x="143" y="3"/>
                  <a:pt x="143" y="2"/>
                </a:cubicBezTo>
                <a:cubicBezTo>
                  <a:pt x="143" y="2"/>
                  <a:pt x="143" y="2"/>
                  <a:pt x="143" y="2"/>
                </a:cubicBezTo>
                <a:cubicBezTo>
                  <a:pt x="143" y="1"/>
                  <a:pt x="144" y="0"/>
                  <a:pt x="144" y="0"/>
                </a:cubicBezTo>
                <a:close/>
                <a:moveTo>
                  <a:pt x="165" y="0"/>
                </a:moveTo>
                <a:cubicBezTo>
                  <a:pt x="169" y="0"/>
                  <a:pt x="173" y="0"/>
                  <a:pt x="177" y="0"/>
                </a:cubicBezTo>
                <a:cubicBezTo>
                  <a:pt x="178" y="0"/>
                  <a:pt x="179" y="1"/>
                  <a:pt x="179" y="2"/>
                </a:cubicBezTo>
                <a:cubicBezTo>
                  <a:pt x="179" y="2"/>
                  <a:pt x="179" y="2"/>
                  <a:pt x="179" y="2"/>
                </a:cubicBezTo>
                <a:cubicBezTo>
                  <a:pt x="179" y="3"/>
                  <a:pt x="178" y="4"/>
                  <a:pt x="177" y="4"/>
                </a:cubicBezTo>
                <a:cubicBezTo>
                  <a:pt x="173" y="4"/>
                  <a:pt x="169" y="4"/>
                  <a:pt x="165" y="4"/>
                </a:cubicBezTo>
                <a:cubicBezTo>
                  <a:pt x="165" y="4"/>
                  <a:pt x="164" y="3"/>
                  <a:pt x="164" y="2"/>
                </a:cubicBezTo>
                <a:cubicBezTo>
                  <a:pt x="164" y="2"/>
                  <a:pt x="164" y="2"/>
                  <a:pt x="164" y="2"/>
                </a:cubicBezTo>
                <a:cubicBezTo>
                  <a:pt x="164" y="1"/>
                  <a:pt x="165" y="0"/>
                  <a:pt x="165" y="0"/>
                </a:cubicBezTo>
                <a:close/>
              </a:path>
            </a:pathLst>
          </a:custGeom>
          <a:solidFill>
            <a:srgbClr val="757975"/>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8" name="Freeform 34"/>
          <p:cNvSpPr/>
          <p:nvPr/>
        </p:nvSpPr>
        <p:spPr bwMode="auto">
          <a:xfrm>
            <a:off x="1296934" y="3249593"/>
            <a:ext cx="1736725" cy="731837"/>
          </a:xfrm>
          <a:custGeom>
            <a:avLst/>
            <a:gdLst>
              <a:gd name="T0" fmla="*/ 0 w 1094"/>
              <a:gd name="T1" fmla="*/ 0 h 602"/>
              <a:gd name="T2" fmla="*/ 911 w 1094"/>
              <a:gd name="T3" fmla="*/ 0 h 602"/>
              <a:gd name="T4" fmla="*/ 1094 w 1094"/>
              <a:gd name="T5" fmla="*/ 304 h 602"/>
              <a:gd name="T6" fmla="*/ 911 w 1094"/>
              <a:gd name="T7" fmla="*/ 602 h 602"/>
              <a:gd name="T8" fmla="*/ 0 w 1094"/>
              <a:gd name="T9" fmla="*/ 602 h 602"/>
              <a:gd name="T10" fmla="*/ 0 w 1094"/>
              <a:gd name="T11" fmla="*/ 0 h 602"/>
              <a:gd name="T12" fmla="*/ 0 w 1094"/>
              <a:gd name="T13" fmla="*/ 0 h 602"/>
            </a:gdLst>
            <a:ahLst/>
            <a:cxnLst>
              <a:cxn ang="0">
                <a:pos x="T0" y="T1"/>
              </a:cxn>
              <a:cxn ang="0">
                <a:pos x="T2" y="T3"/>
              </a:cxn>
              <a:cxn ang="0">
                <a:pos x="T4" y="T5"/>
              </a:cxn>
              <a:cxn ang="0">
                <a:pos x="T6" y="T7"/>
              </a:cxn>
              <a:cxn ang="0">
                <a:pos x="T8" y="T9"/>
              </a:cxn>
              <a:cxn ang="0">
                <a:pos x="T10" y="T11"/>
              </a:cxn>
              <a:cxn ang="0">
                <a:pos x="T12" y="T13"/>
              </a:cxn>
            </a:cxnLst>
            <a:rect l="0" t="0" r="r" b="b"/>
            <a:pathLst>
              <a:path w="1094" h="602">
                <a:moveTo>
                  <a:pt x="0" y="0"/>
                </a:moveTo>
                <a:lnTo>
                  <a:pt x="911" y="0"/>
                </a:lnTo>
                <a:lnTo>
                  <a:pt x="1094" y="304"/>
                </a:lnTo>
                <a:lnTo>
                  <a:pt x="911" y="602"/>
                </a:lnTo>
                <a:lnTo>
                  <a:pt x="0" y="602"/>
                </a:lnTo>
                <a:lnTo>
                  <a:pt x="0" y="0"/>
                </a:lnTo>
                <a:lnTo>
                  <a:pt x="0" y="0"/>
                </a:lnTo>
                <a:close/>
              </a:path>
            </a:pathLst>
          </a:custGeom>
          <a:solidFill>
            <a:srgbClr val="C9CACA"/>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9" name="Freeform 35"/>
          <p:cNvSpPr/>
          <p:nvPr/>
        </p:nvSpPr>
        <p:spPr bwMode="auto">
          <a:xfrm>
            <a:off x="1296934" y="4879955"/>
            <a:ext cx="1736725" cy="724543"/>
          </a:xfrm>
          <a:custGeom>
            <a:avLst/>
            <a:gdLst>
              <a:gd name="T0" fmla="*/ 0 w 1094"/>
              <a:gd name="T1" fmla="*/ 0 h 596"/>
              <a:gd name="T2" fmla="*/ 911 w 1094"/>
              <a:gd name="T3" fmla="*/ 0 h 596"/>
              <a:gd name="T4" fmla="*/ 1094 w 1094"/>
              <a:gd name="T5" fmla="*/ 298 h 596"/>
              <a:gd name="T6" fmla="*/ 911 w 1094"/>
              <a:gd name="T7" fmla="*/ 596 h 596"/>
              <a:gd name="T8" fmla="*/ 0 w 1094"/>
              <a:gd name="T9" fmla="*/ 596 h 596"/>
              <a:gd name="T10" fmla="*/ 0 w 1094"/>
              <a:gd name="T11" fmla="*/ 0 h 596"/>
              <a:gd name="T12" fmla="*/ 0 w 1094"/>
              <a:gd name="T13" fmla="*/ 0 h 596"/>
            </a:gdLst>
            <a:ahLst/>
            <a:cxnLst>
              <a:cxn ang="0">
                <a:pos x="T0" y="T1"/>
              </a:cxn>
              <a:cxn ang="0">
                <a:pos x="T2" y="T3"/>
              </a:cxn>
              <a:cxn ang="0">
                <a:pos x="T4" y="T5"/>
              </a:cxn>
              <a:cxn ang="0">
                <a:pos x="T6" y="T7"/>
              </a:cxn>
              <a:cxn ang="0">
                <a:pos x="T8" y="T9"/>
              </a:cxn>
              <a:cxn ang="0">
                <a:pos x="T10" y="T11"/>
              </a:cxn>
              <a:cxn ang="0">
                <a:pos x="T12" y="T13"/>
              </a:cxn>
            </a:cxnLst>
            <a:rect l="0" t="0" r="r" b="b"/>
            <a:pathLst>
              <a:path w="1094" h="596">
                <a:moveTo>
                  <a:pt x="0" y="0"/>
                </a:moveTo>
                <a:lnTo>
                  <a:pt x="911" y="0"/>
                </a:lnTo>
                <a:lnTo>
                  <a:pt x="1094" y="298"/>
                </a:lnTo>
                <a:lnTo>
                  <a:pt x="911" y="596"/>
                </a:lnTo>
                <a:lnTo>
                  <a:pt x="0" y="596"/>
                </a:lnTo>
                <a:lnTo>
                  <a:pt x="0" y="0"/>
                </a:lnTo>
                <a:lnTo>
                  <a:pt x="0" y="0"/>
                </a:lnTo>
                <a:close/>
              </a:path>
            </a:pathLst>
          </a:custGeom>
          <a:solidFill>
            <a:srgbClr val="C9CACA"/>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0" name="Freeform 36"/>
          <p:cNvSpPr/>
          <p:nvPr/>
        </p:nvSpPr>
        <p:spPr bwMode="auto">
          <a:xfrm>
            <a:off x="988959" y="3149580"/>
            <a:ext cx="1954212" cy="733053"/>
          </a:xfrm>
          <a:custGeom>
            <a:avLst/>
            <a:gdLst>
              <a:gd name="T0" fmla="*/ 0 w 1231"/>
              <a:gd name="T1" fmla="*/ 0 h 603"/>
              <a:gd name="T2" fmla="*/ 1047 w 1231"/>
              <a:gd name="T3" fmla="*/ 0 h 603"/>
              <a:gd name="T4" fmla="*/ 1231 w 1231"/>
              <a:gd name="T5" fmla="*/ 299 h 603"/>
              <a:gd name="T6" fmla="*/ 1047 w 1231"/>
              <a:gd name="T7" fmla="*/ 603 h 603"/>
              <a:gd name="T8" fmla="*/ 0 w 1231"/>
              <a:gd name="T9" fmla="*/ 603 h 603"/>
              <a:gd name="T10" fmla="*/ 0 w 1231"/>
              <a:gd name="T11" fmla="*/ 0 h 603"/>
              <a:gd name="T12" fmla="*/ 0 w 1231"/>
              <a:gd name="T13" fmla="*/ 0 h 603"/>
            </a:gdLst>
            <a:ahLst/>
            <a:cxnLst>
              <a:cxn ang="0">
                <a:pos x="T0" y="T1"/>
              </a:cxn>
              <a:cxn ang="0">
                <a:pos x="T2" y="T3"/>
              </a:cxn>
              <a:cxn ang="0">
                <a:pos x="T4" y="T5"/>
              </a:cxn>
              <a:cxn ang="0">
                <a:pos x="T6" y="T7"/>
              </a:cxn>
              <a:cxn ang="0">
                <a:pos x="T8" y="T9"/>
              </a:cxn>
              <a:cxn ang="0">
                <a:pos x="T10" y="T11"/>
              </a:cxn>
              <a:cxn ang="0">
                <a:pos x="T12" y="T13"/>
              </a:cxn>
            </a:cxnLst>
            <a:rect l="0" t="0" r="r" b="b"/>
            <a:pathLst>
              <a:path w="1231" h="603">
                <a:moveTo>
                  <a:pt x="0" y="0"/>
                </a:moveTo>
                <a:lnTo>
                  <a:pt x="1047" y="0"/>
                </a:lnTo>
                <a:lnTo>
                  <a:pt x="1231" y="299"/>
                </a:lnTo>
                <a:lnTo>
                  <a:pt x="1047" y="603"/>
                </a:lnTo>
                <a:lnTo>
                  <a:pt x="0" y="603"/>
                </a:lnTo>
                <a:lnTo>
                  <a:pt x="0" y="0"/>
                </a:lnTo>
                <a:lnTo>
                  <a:pt x="0" y="0"/>
                </a:lnTo>
                <a:close/>
              </a:path>
            </a:pathLst>
          </a:custGeom>
          <a:solidFill>
            <a:srgbClr val="F4B400"/>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1" name="Freeform 37"/>
          <p:cNvSpPr/>
          <p:nvPr/>
        </p:nvSpPr>
        <p:spPr bwMode="auto">
          <a:xfrm>
            <a:off x="988959" y="4772005"/>
            <a:ext cx="1954212" cy="731837"/>
          </a:xfrm>
          <a:custGeom>
            <a:avLst/>
            <a:gdLst>
              <a:gd name="T0" fmla="*/ 0 w 1231"/>
              <a:gd name="T1" fmla="*/ 0 h 602"/>
              <a:gd name="T2" fmla="*/ 1047 w 1231"/>
              <a:gd name="T3" fmla="*/ 0 h 602"/>
              <a:gd name="T4" fmla="*/ 1231 w 1231"/>
              <a:gd name="T5" fmla="*/ 303 h 602"/>
              <a:gd name="T6" fmla="*/ 1047 w 1231"/>
              <a:gd name="T7" fmla="*/ 602 h 602"/>
              <a:gd name="T8" fmla="*/ 0 w 1231"/>
              <a:gd name="T9" fmla="*/ 602 h 602"/>
              <a:gd name="T10" fmla="*/ 0 w 1231"/>
              <a:gd name="T11" fmla="*/ 0 h 602"/>
              <a:gd name="T12" fmla="*/ 0 w 1231"/>
              <a:gd name="T13" fmla="*/ 0 h 602"/>
            </a:gdLst>
            <a:ahLst/>
            <a:cxnLst>
              <a:cxn ang="0">
                <a:pos x="T0" y="T1"/>
              </a:cxn>
              <a:cxn ang="0">
                <a:pos x="T2" y="T3"/>
              </a:cxn>
              <a:cxn ang="0">
                <a:pos x="T4" y="T5"/>
              </a:cxn>
              <a:cxn ang="0">
                <a:pos x="T6" y="T7"/>
              </a:cxn>
              <a:cxn ang="0">
                <a:pos x="T8" y="T9"/>
              </a:cxn>
              <a:cxn ang="0">
                <a:pos x="T10" y="T11"/>
              </a:cxn>
              <a:cxn ang="0">
                <a:pos x="T12" y="T13"/>
              </a:cxn>
            </a:cxnLst>
            <a:rect l="0" t="0" r="r" b="b"/>
            <a:pathLst>
              <a:path w="1231" h="602">
                <a:moveTo>
                  <a:pt x="0" y="0"/>
                </a:moveTo>
                <a:lnTo>
                  <a:pt x="1047" y="0"/>
                </a:lnTo>
                <a:lnTo>
                  <a:pt x="1231" y="303"/>
                </a:lnTo>
                <a:lnTo>
                  <a:pt x="1047" y="602"/>
                </a:lnTo>
                <a:lnTo>
                  <a:pt x="0" y="602"/>
                </a:lnTo>
                <a:lnTo>
                  <a:pt x="0" y="0"/>
                </a:lnTo>
                <a:lnTo>
                  <a:pt x="0" y="0"/>
                </a:lnTo>
                <a:close/>
              </a:path>
            </a:pathLst>
          </a:custGeom>
          <a:solidFill>
            <a:srgbClr val="2AA1DC"/>
          </a:solidFill>
          <a:ln>
            <a:noFill/>
          </a:ln>
        </p:spPr>
        <p:txBody>
          <a:bodyPr vert="horz" wrap="square" lIns="91440" tIns="45720" rIns="91440" bIns="45720" numCol="1" anchor="t" anchorCtr="0" compatLnSpc="1"/>
          <a:lstStyle/>
          <a:p>
            <a:endParaRPr lang="zh-CN" altLang="en-US"/>
          </a:p>
        </p:txBody>
      </p:sp>
      <p:sp>
        <p:nvSpPr>
          <p:cNvPr id="72" name="Freeform 38"/>
          <p:cNvSpPr>
            <a:spLocks noEditPoints="1"/>
          </p:cNvSpPr>
          <p:nvPr/>
        </p:nvSpPr>
        <p:spPr bwMode="auto">
          <a:xfrm>
            <a:off x="988959" y="3682980"/>
            <a:ext cx="1836737" cy="279605"/>
          </a:xfrm>
          <a:custGeom>
            <a:avLst/>
            <a:gdLst>
              <a:gd name="T0" fmla="*/ 30 w 221"/>
              <a:gd name="T1" fmla="*/ 44 h 44"/>
              <a:gd name="T2" fmla="*/ 32 w 221"/>
              <a:gd name="T3" fmla="*/ 42 h 44"/>
              <a:gd name="T4" fmla="*/ 19 w 221"/>
              <a:gd name="T5" fmla="*/ 40 h 44"/>
              <a:gd name="T6" fmla="*/ 17 w 221"/>
              <a:gd name="T7" fmla="*/ 42 h 44"/>
              <a:gd name="T8" fmla="*/ 196 w 221"/>
              <a:gd name="T9" fmla="*/ 43 h 44"/>
              <a:gd name="T10" fmla="*/ 198 w 221"/>
              <a:gd name="T11" fmla="*/ 36 h 44"/>
              <a:gd name="T12" fmla="*/ 195 w 221"/>
              <a:gd name="T13" fmla="*/ 37 h 44"/>
              <a:gd name="T14" fmla="*/ 186 w 221"/>
              <a:gd name="T15" fmla="*/ 40 h 44"/>
              <a:gd name="T16" fmla="*/ 185 w 221"/>
              <a:gd name="T17" fmla="*/ 42 h 44"/>
              <a:gd name="T18" fmla="*/ 194 w 221"/>
              <a:gd name="T19" fmla="*/ 44 h 44"/>
              <a:gd name="T20" fmla="*/ 217 w 221"/>
              <a:gd name="T21" fmla="*/ 1 h 44"/>
              <a:gd name="T22" fmla="*/ 212 w 221"/>
              <a:gd name="T23" fmla="*/ 13 h 44"/>
              <a:gd name="T24" fmla="*/ 214 w 221"/>
              <a:gd name="T25" fmla="*/ 13 h 44"/>
              <a:gd name="T26" fmla="*/ 219 w 221"/>
              <a:gd name="T27" fmla="*/ 0 h 44"/>
              <a:gd name="T28" fmla="*/ 217 w 221"/>
              <a:gd name="T29" fmla="*/ 1 h 44"/>
              <a:gd name="T30" fmla="*/ 200 w 221"/>
              <a:gd name="T31" fmla="*/ 29 h 44"/>
              <a:gd name="T32" fmla="*/ 201 w 221"/>
              <a:gd name="T33" fmla="*/ 31 h 44"/>
              <a:gd name="T34" fmla="*/ 209 w 221"/>
              <a:gd name="T35" fmla="*/ 20 h 44"/>
              <a:gd name="T36" fmla="*/ 209 w 221"/>
              <a:gd name="T37" fmla="*/ 18 h 44"/>
              <a:gd name="T38" fmla="*/ 0 w 221"/>
              <a:gd name="T39" fmla="*/ 40 h 44"/>
              <a:gd name="T40" fmla="*/ 8 w 221"/>
              <a:gd name="T41" fmla="*/ 44 h 44"/>
              <a:gd name="T42" fmla="*/ 10 w 221"/>
              <a:gd name="T43" fmla="*/ 42 h 44"/>
              <a:gd name="T44" fmla="*/ 0 w 221"/>
              <a:gd name="T45" fmla="*/ 40 h 44"/>
              <a:gd name="T46" fmla="*/ 51 w 221"/>
              <a:gd name="T47" fmla="*/ 44 h 44"/>
              <a:gd name="T48" fmla="*/ 53 w 221"/>
              <a:gd name="T49" fmla="*/ 42 h 44"/>
              <a:gd name="T50" fmla="*/ 40 w 221"/>
              <a:gd name="T51" fmla="*/ 40 h 44"/>
              <a:gd name="T52" fmla="*/ 38 w 221"/>
              <a:gd name="T53" fmla="*/ 42 h 44"/>
              <a:gd name="T54" fmla="*/ 60 w 221"/>
              <a:gd name="T55" fmla="*/ 44 h 44"/>
              <a:gd name="T56" fmla="*/ 74 w 221"/>
              <a:gd name="T57" fmla="*/ 42 h 44"/>
              <a:gd name="T58" fmla="*/ 72 w 221"/>
              <a:gd name="T59" fmla="*/ 40 h 44"/>
              <a:gd name="T60" fmla="*/ 59 w 221"/>
              <a:gd name="T61" fmla="*/ 42 h 44"/>
              <a:gd name="T62" fmla="*/ 60 w 221"/>
              <a:gd name="T63" fmla="*/ 44 h 44"/>
              <a:gd name="T64" fmla="*/ 93 w 221"/>
              <a:gd name="T65" fmla="*/ 44 h 44"/>
              <a:gd name="T66" fmla="*/ 95 w 221"/>
              <a:gd name="T67" fmla="*/ 42 h 44"/>
              <a:gd name="T68" fmla="*/ 81 w 221"/>
              <a:gd name="T69" fmla="*/ 40 h 44"/>
              <a:gd name="T70" fmla="*/ 80 w 221"/>
              <a:gd name="T71" fmla="*/ 42 h 44"/>
              <a:gd name="T72" fmla="*/ 102 w 221"/>
              <a:gd name="T73" fmla="*/ 44 h 44"/>
              <a:gd name="T74" fmla="*/ 116 w 221"/>
              <a:gd name="T75" fmla="*/ 42 h 44"/>
              <a:gd name="T76" fmla="*/ 114 w 221"/>
              <a:gd name="T77" fmla="*/ 40 h 44"/>
              <a:gd name="T78" fmla="*/ 101 w 221"/>
              <a:gd name="T79" fmla="*/ 42 h 44"/>
              <a:gd name="T80" fmla="*/ 102 w 221"/>
              <a:gd name="T81" fmla="*/ 44 h 44"/>
              <a:gd name="T82" fmla="*/ 135 w 221"/>
              <a:gd name="T83" fmla="*/ 44 h 44"/>
              <a:gd name="T84" fmla="*/ 137 w 221"/>
              <a:gd name="T85" fmla="*/ 42 h 44"/>
              <a:gd name="T86" fmla="*/ 123 w 221"/>
              <a:gd name="T87" fmla="*/ 40 h 44"/>
              <a:gd name="T88" fmla="*/ 122 w 221"/>
              <a:gd name="T89" fmla="*/ 42 h 44"/>
              <a:gd name="T90" fmla="*/ 144 w 221"/>
              <a:gd name="T91" fmla="*/ 44 h 44"/>
              <a:gd name="T92" fmla="*/ 158 w 221"/>
              <a:gd name="T93" fmla="*/ 42 h 44"/>
              <a:gd name="T94" fmla="*/ 156 w 221"/>
              <a:gd name="T95" fmla="*/ 40 h 44"/>
              <a:gd name="T96" fmla="*/ 143 w 221"/>
              <a:gd name="T97" fmla="*/ 42 h 44"/>
              <a:gd name="T98" fmla="*/ 144 w 221"/>
              <a:gd name="T99" fmla="*/ 44 h 44"/>
              <a:gd name="T100" fmla="*/ 177 w 221"/>
              <a:gd name="T101" fmla="*/ 44 h 44"/>
              <a:gd name="T102" fmla="*/ 179 w 221"/>
              <a:gd name="T103" fmla="*/ 42 h 44"/>
              <a:gd name="T104" fmla="*/ 165 w 221"/>
              <a:gd name="T105" fmla="*/ 40 h 44"/>
              <a:gd name="T106" fmla="*/ 164 w 221"/>
              <a:gd name="T107" fmla="*/ 42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21" h="44">
                <a:moveTo>
                  <a:pt x="19" y="44"/>
                </a:moveTo>
                <a:cubicBezTo>
                  <a:pt x="22" y="44"/>
                  <a:pt x="26" y="44"/>
                  <a:pt x="30" y="44"/>
                </a:cubicBezTo>
                <a:cubicBezTo>
                  <a:pt x="31" y="44"/>
                  <a:pt x="32" y="43"/>
                  <a:pt x="32" y="42"/>
                </a:cubicBezTo>
                <a:cubicBezTo>
                  <a:pt x="32" y="42"/>
                  <a:pt x="32" y="42"/>
                  <a:pt x="32" y="42"/>
                </a:cubicBezTo>
                <a:cubicBezTo>
                  <a:pt x="32" y="41"/>
                  <a:pt x="31" y="40"/>
                  <a:pt x="30" y="40"/>
                </a:cubicBezTo>
                <a:cubicBezTo>
                  <a:pt x="26" y="40"/>
                  <a:pt x="22" y="40"/>
                  <a:pt x="19" y="40"/>
                </a:cubicBezTo>
                <a:cubicBezTo>
                  <a:pt x="18" y="40"/>
                  <a:pt x="17" y="41"/>
                  <a:pt x="17" y="42"/>
                </a:cubicBezTo>
                <a:cubicBezTo>
                  <a:pt x="17" y="42"/>
                  <a:pt x="17" y="42"/>
                  <a:pt x="17" y="42"/>
                </a:cubicBezTo>
                <a:cubicBezTo>
                  <a:pt x="17" y="43"/>
                  <a:pt x="18" y="44"/>
                  <a:pt x="19" y="44"/>
                </a:cubicBezTo>
                <a:close/>
                <a:moveTo>
                  <a:pt x="196" y="43"/>
                </a:moveTo>
                <a:cubicBezTo>
                  <a:pt x="196" y="41"/>
                  <a:pt x="197" y="40"/>
                  <a:pt x="198" y="38"/>
                </a:cubicBezTo>
                <a:cubicBezTo>
                  <a:pt x="199" y="38"/>
                  <a:pt x="198" y="37"/>
                  <a:pt x="198" y="36"/>
                </a:cubicBezTo>
                <a:cubicBezTo>
                  <a:pt x="198" y="36"/>
                  <a:pt x="198" y="36"/>
                  <a:pt x="198" y="36"/>
                </a:cubicBezTo>
                <a:cubicBezTo>
                  <a:pt x="197" y="36"/>
                  <a:pt x="196" y="36"/>
                  <a:pt x="195" y="37"/>
                </a:cubicBezTo>
                <a:cubicBezTo>
                  <a:pt x="195" y="38"/>
                  <a:pt x="194" y="39"/>
                  <a:pt x="193" y="40"/>
                </a:cubicBezTo>
                <a:cubicBezTo>
                  <a:pt x="190" y="40"/>
                  <a:pt x="190" y="40"/>
                  <a:pt x="186" y="40"/>
                </a:cubicBezTo>
                <a:cubicBezTo>
                  <a:pt x="186" y="40"/>
                  <a:pt x="185" y="41"/>
                  <a:pt x="185" y="42"/>
                </a:cubicBezTo>
                <a:cubicBezTo>
                  <a:pt x="185" y="42"/>
                  <a:pt x="185" y="42"/>
                  <a:pt x="185" y="42"/>
                </a:cubicBezTo>
                <a:cubicBezTo>
                  <a:pt x="185" y="43"/>
                  <a:pt x="186" y="44"/>
                  <a:pt x="186" y="44"/>
                </a:cubicBezTo>
                <a:cubicBezTo>
                  <a:pt x="194" y="44"/>
                  <a:pt x="194" y="44"/>
                  <a:pt x="194" y="44"/>
                </a:cubicBezTo>
                <a:cubicBezTo>
                  <a:pt x="195" y="44"/>
                  <a:pt x="195" y="43"/>
                  <a:pt x="196" y="43"/>
                </a:cubicBezTo>
                <a:close/>
                <a:moveTo>
                  <a:pt x="217" y="1"/>
                </a:moveTo>
                <a:cubicBezTo>
                  <a:pt x="215" y="4"/>
                  <a:pt x="213" y="7"/>
                  <a:pt x="211" y="11"/>
                </a:cubicBezTo>
                <a:cubicBezTo>
                  <a:pt x="211" y="12"/>
                  <a:pt x="211" y="13"/>
                  <a:pt x="212" y="13"/>
                </a:cubicBezTo>
                <a:cubicBezTo>
                  <a:pt x="212" y="13"/>
                  <a:pt x="212" y="13"/>
                  <a:pt x="212" y="13"/>
                </a:cubicBezTo>
                <a:cubicBezTo>
                  <a:pt x="212" y="14"/>
                  <a:pt x="213" y="13"/>
                  <a:pt x="214" y="13"/>
                </a:cubicBezTo>
                <a:cubicBezTo>
                  <a:pt x="216" y="9"/>
                  <a:pt x="218" y="6"/>
                  <a:pt x="220" y="3"/>
                </a:cubicBezTo>
                <a:cubicBezTo>
                  <a:pt x="221" y="2"/>
                  <a:pt x="220" y="1"/>
                  <a:pt x="219" y="0"/>
                </a:cubicBezTo>
                <a:cubicBezTo>
                  <a:pt x="219" y="0"/>
                  <a:pt x="219" y="0"/>
                  <a:pt x="219" y="0"/>
                </a:cubicBezTo>
                <a:cubicBezTo>
                  <a:pt x="219" y="0"/>
                  <a:pt x="218" y="0"/>
                  <a:pt x="217" y="1"/>
                </a:cubicBezTo>
                <a:close/>
                <a:moveTo>
                  <a:pt x="206" y="19"/>
                </a:moveTo>
                <a:cubicBezTo>
                  <a:pt x="204" y="22"/>
                  <a:pt x="202" y="25"/>
                  <a:pt x="200" y="29"/>
                </a:cubicBezTo>
                <a:cubicBezTo>
                  <a:pt x="200" y="29"/>
                  <a:pt x="200" y="31"/>
                  <a:pt x="201" y="31"/>
                </a:cubicBezTo>
                <a:cubicBezTo>
                  <a:pt x="201" y="31"/>
                  <a:pt x="201" y="31"/>
                  <a:pt x="201" y="31"/>
                </a:cubicBezTo>
                <a:cubicBezTo>
                  <a:pt x="201" y="31"/>
                  <a:pt x="203" y="31"/>
                  <a:pt x="203" y="30"/>
                </a:cubicBezTo>
                <a:cubicBezTo>
                  <a:pt x="205" y="27"/>
                  <a:pt x="207" y="24"/>
                  <a:pt x="209" y="20"/>
                </a:cubicBezTo>
                <a:cubicBezTo>
                  <a:pt x="210" y="20"/>
                  <a:pt x="209" y="19"/>
                  <a:pt x="209" y="18"/>
                </a:cubicBezTo>
                <a:cubicBezTo>
                  <a:pt x="209" y="18"/>
                  <a:pt x="209" y="18"/>
                  <a:pt x="209" y="18"/>
                </a:cubicBezTo>
                <a:cubicBezTo>
                  <a:pt x="208" y="18"/>
                  <a:pt x="207" y="18"/>
                  <a:pt x="206" y="19"/>
                </a:cubicBezTo>
                <a:close/>
                <a:moveTo>
                  <a:pt x="0" y="40"/>
                </a:moveTo>
                <a:cubicBezTo>
                  <a:pt x="0" y="44"/>
                  <a:pt x="0" y="44"/>
                  <a:pt x="0" y="44"/>
                </a:cubicBezTo>
                <a:cubicBezTo>
                  <a:pt x="8" y="44"/>
                  <a:pt x="8" y="44"/>
                  <a:pt x="8" y="44"/>
                </a:cubicBezTo>
                <a:cubicBezTo>
                  <a:pt x="9" y="44"/>
                  <a:pt x="10" y="43"/>
                  <a:pt x="10" y="42"/>
                </a:cubicBezTo>
                <a:cubicBezTo>
                  <a:pt x="10" y="42"/>
                  <a:pt x="10" y="42"/>
                  <a:pt x="10" y="42"/>
                </a:cubicBezTo>
                <a:cubicBezTo>
                  <a:pt x="10" y="41"/>
                  <a:pt x="9" y="40"/>
                  <a:pt x="8" y="40"/>
                </a:cubicBezTo>
                <a:cubicBezTo>
                  <a:pt x="0" y="40"/>
                  <a:pt x="0" y="40"/>
                  <a:pt x="0" y="40"/>
                </a:cubicBezTo>
                <a:close/>
                <a:moveTo>
                  <a:pt x="40" y="44"/>
                </a:moveTo>
                <a:cubicBezTo>
                  <a:pt x="43" y="44"/>
                  <a:pt x="47" y="44"/>
                  <a:pt x="51" y="44"/>
                </a:cubicBezTo>
                <a:cubicBezTo>
                  <a:pt x="52" y="44"/>
                  <a:pt x="53" y="43"/>
                  <a:pt x="53" y="42"/>
                </a:cubicBezTo>
                <a:cubicBezTo>
                  <a:pt x="53" y="42"/>
                  <a:pt x="53" y="42"/>
                  <a:pt x="53" y="42"/>
                </a:cubicBezTo>
                <a:cubicBezTo>
                  <a:pt x="53" y="41"/>
                  <a:pt x="52" y="40"/>
                  <a:pt x="51" y="40"/>
                </a:cubicBezTo>
                <a:cubicBezTo>
                  <a:pt x="47" y="40"/>
                  <a:pt x="43" y="40"/>
                  <a:pt x="40" y="40"/>
                </a:cubicBezTo>
                <a:cubicBezTo>
                  <a:pt x="39" y="40"/>
                  <a:pt x="38" y="41"/>
                  <a:pt x="38" y="42"/>
                </a:cubicBezTo>
                <a:cubicBezTo>
                  <a:pt x="38" y="42"/>
                  <a:pt x="38" y="42"/>
                  <a:pt x="38" y="42"/>
                </a:cubicBezTo>
                <a:cubicBezTo>
                  <a:pt x="38" y="43"/>
                  <a:pt x="39" y="44"/>
                  <a:pt x="40" y="44"/>
                </a:cubicBezTo>
                <a:close/>
                <a:moveTo>
                  <a:pt x="60" y="44"/>
                </a:moveTo>
                <a:cubicBezTo>
                  <a:pt x="64" y="44"/>
                  <a:pt x="68" y="44"/>
                  <a:pt x="72" y="44"/>
                </a:cubicBezTo>
                <a:cubicBezTo>
                  <a:pt x="73" y="44"/>
                  <a:pt x="74" y="43"/>
                  <a:pt x="74" y="42"/>
                </a:cubicBezTo>
                <a:cubicBezTo>
                  <a:pt x="74" y="42"/>
                  <a:pt x="74" y="42"/>
                  <a:pt x="74" y="42"/>
                </a:cubicBezTo>
                <a:cubicBezTo>
                  <a:pt x="74" y="41"/>
                  <a:pt x="73" y="40"/>
                  <a:pt x="72" y="40"/>
                </a:cubicBezTo>
                <a:cubicBezTo>
                  <a:pt x="68" y="40"/>
                  <a:pt x="64" y="40"/>
                  <a:pt x="60" y="40"/>
                </a:cubicBezTo>
                <a:cubicBezTo>
                  <a:pt x="60" y="40"/>
                  <a:pt x="59" y="41"/>
                  <a:pt x="59" y="42"/>
                </a:cubicBezTo>
                <a:cubicBezTo>
                  <a:pt x="59" y="42"/>
                  <a:pt x="59" y="42"/>
                  <a:pt x="59" y="42"/>
                </a:cubicBezTo>
                <a:cubicBezTo>
                  <a:pt x="59" y="43"/>
                  <a:pt x="60" y="44"/>
                  <a:pt x="60" y="44"/>
                </a:cubicBezTo>
                <a:close/>
                <a:moveTo>
                  <a:pt x="81" y="44"/>
                </a:moveTo>
                <a:cubicBezTo>
                  <a:pt x="85" y="44"/>
                  <a:pt x="89" y="44"/>
                  <a:pt x="93" y="44"/>
                </a:cubicBezTo>
                <a:cubicBezTo>
                  <a:pt x="94" y="44"/>
                  <a:pt x="95" y="43"/>
                  <a:pt x="95" y="42"/>
                </a:cubicBezTo>
                <a:cubicBezTo>
                  <a:pt x="95" y="42"/>
                  <a:pt x="95" y="42"/>
                  <a:pt x="95" y="42"/>
                </a:cubicBezTo>
                <a:cubicBezTo>
                  <a:pt x="95" y="41"/>
                  <a:pt x="94" y="40"/>
                  <a:pt x="93" y="40"/>
                </a:cubicBezTo>
                <a:cubicBezTo>
                  <a:pt x="89" y="40"/>
                  <a:pt x="85" y="40"/>
                  <a:pt x="81" y="40"/>
                </a:cubicBezTo>
                <a:cubicBezTo>
                  <a:pt x="81" y="40"/>
                  <a:pt x="80" y="41"/>
                  <a:pt x="80" y="42"/>
                </a:cubicBezTo>
                <a:cubicBezTo>
                  <a:pt x="80" y="42"/>
                  <a:pt x="80" y="42"/>
                  <a:pt x="80" y="42"/>
                </a:cubicBezTo>
                <a:cubicBezTo>
                  <a:pt x="80" y="43"/>
                  <a:pt x="81" y="44"/>
                  <a:pt x="81" y="44"/>
                </a:cubicBezTo>
                <a:close/>
                <a:moveTo>
                  <a:pt x="102" y="44"/>
                </a:moveTo>
                <a:cubicBezTo>
                  <a:pt x="106" y="44"/>
                  <a:pt x="110" y="44"/>
                  <a:pt x="114" y="44"/>
                </a:cubicBezTo>
                <a:cubicBezTo>
                  <a:pt x="115" y="44"/>
                  <a:pt x="116" y="43"/>
                  <a:pt x="116" y="42"/>
                </a:cubicBezTo>
                <a:cubicBezTo>
                  <a:pt x="116" y="42"/>
                  <a:pt x="116" y="42"/>
                  <a:pt x="116" y="42"/>
                </a:cubicBezTo>
                <a:cubicBezTo>
                  <a:pt x="116" y="41"/>
                  <a:pt x="115" y="40"/>
                  <a:pt x="114" y="40"/>
                </a:cubicBezTo>
                <a:cubicBezTo>
                  <a:pt x="110" y="40"/>
                  <a:pt x="106" y="40"/>
                  <a:pt x="102" y="40"/>
                </a:cubicBezTo>
                <a:cubicBezTo>
                  <a:pt x="102" y="40"/>
                  <a:pt x="101" y="41"/>
                  <a:pt x="101" y="42"/>
                </a:cubicBezTo>
                <a:cubicBezTo>
                  <a:pt x="101" y="42"/>
                  <a:pt x="101" y="42"/>
                  <a:pt x="101" y="42"/>
                </a:cubicBezTo>
                <a:cubicBezTo>
                  <a:pt x="101" y="43"/>
                  <a:pt x="102" y="44"/>
                  <a:pt x="102" y="44"/>
                </a:cubicBezTo>
                <a:close/>
                <a:moveTo>
                  <a:pt x="123" y="44"/>
                </a:moveTo>
                <a:cubicBezTo>
                  <a:pt x="127" y="44"/>
                  <a:pt x="131" y="44"/>
                  <a:pt x="135" y="44"/>
                </a:cubicBezTo>
                <a:cubicBezTo>
                  <a:pt x="136" y="44"/>
                  <a:pt x="137" y="43"/>
                  <a:pt x="137" y="42"/>
                </a:cubicBezTo>
                <a:cubicBezTo>
                  <a:pt x="137" y="42"/>
                  <a:pt x="137" y="42"/>
                  <a:pt x="137" y="42"/>
                </a:cubicBezTo>
                <a:cubicBezTo>
                  <a:pt x="137" y="41"/>
                  <a:pt x="136" y="40"/>
                  <a:pt x="135" y="40"/>
                </a:cubicBezTo>
                <a:cubicBezTo>
                  <a:pt x="131" y="40"/>
                  <a:pt x="127" y="40"/>
                  <a:pt x="123" y="40"/>
                </a:cubicBezTo>
                <a:cubicBezTo>
                  <a:pt x="123" y="40"/>
                  <a:pt x="122" y="41"/>
                  <a:pt x="122" y="42"/>
                </a:cubicBezTo>
                <a:cubicBezTo>
                  <a:pt x="122" y="42"/>
                  <a:pt x="122" y="42"/>
                  <a:pt x="122" y="42"/>
                </a:cubicBezTo>
                <a:cubicBezTo>
                  <a:pt x="122" y="43"/>
                  <a:pt x="123" y="44"/>
                  <a:pt x="123" y="44"/>
                </a:cubicBezTo>
                <a:close/>
                <a:moveTo>
                  <a:pt x="144" y="44"/>
                </a:moveTo>
                <a:cubicBezTo>
                  <a:pt x="148" y="44"/>
                  <a:pt x="152" y="44"/>
                  <a:pt x="156" y="44"/>
                </a:cubicBezTo>
                <a:cubicBezTo>
                  <a:pt x="157" y="44"/>
                  <a:pt x="158" y="43"/>
                  <a:pt x="158" y="42"/>
                </a:cubicBezTo>
                <a:cubicBezTo>
                  <a:pt x="158" y="42"/>
                  <a:pt x="158" y="42"/>
                  <a:pt x="158" y="42"/>
                </a:cubicBezTo>
                <a:cubicBezTo>
                  <a:pt x="158" y="41"/>
                  <a:pt x="157" y="40"/>
                  <a:pt x="156" y="40"/>
                </a:cubicBezTo>
                <a:cubicBezTo>
                  <a:pt x="152" y="40"/>
                  <a:pt x="148" y="40"/>
                  <a:pt x="144" y="40"/>
                </a:cubicBezTo>
                <a:cubicBezTo>
                  <a:pt x="144" y="40"/>
                  <a:pt x="143" y="41"/>
                  <a:pt x="143" y="42"/>
                </a:cubicBezTo>
                <a:cubicBezTo>
                  <a:pt x="143" y="42"/>
                  <a:pt x="143" y="42"/>
                  <a:pt x="143" y="42"/>
                </a:cubicBezTo>
                <a:cubicBezTo>
                  <a:pt x="143" y="43"/>
                  <a:pt x="144" y="44"/>
                  <a:pt x="144" y="44"/>
                </a:cubicBezTo>
                <a:close/>
                <a:moveTo>
                  <a:pt x="165" y="44"/>
                </a:moveTo>
                <a:cubicBezTo>
                  <a:pt x="169" y="44"/>
                  <a:pt x="173" y="44"/>
                  <a:pt x="177" y="44"/>
                </a:cubicBezTo>
                <a:cubicBezTo>
                  <a:pt x="178" y="44"/>
                  <a:pt x="179" y="43"/>
                  <a:pt x="179" y="42"/>
                </a:cubicBezTo>
                <a:cubicBezTo>
                  <a:pt x="179" y="42"/>
                  <a:pt x="179" y="42"/>
                  <a:pt x="179" y="42"/>
                </a:cubicBezTo>
                <a:cubicBezTo>
                  <a:pt x="179" y="41"/>
                  <a:pt x="178" y="40"/>
                  <a:pt x="177" y="40"/>
                </a:cubicBezTo>
                <a:cubicBezTo>
                  <a:pt x="173" y="40"/>
                  <a:pt x="169" y="40"/>
                  <a:pt x="165" y="40"/>
                </a:cubicBezTo>
                <a:cubicBezTo>
                  <a:pt x="165" y="40"/>
                  <a:pt x="164" y="41"/>
                  <a:pt x="164" y="42"/>
                </a:cubicBezTo>
                <a:cubicBezTo>
                  <a:pt x="164" y="42"/>
                  <a:pt x="164" y="42"/>
                  <a:pt x="164" y="42"/>
                </a:cubicBezTo>
                <a:cubicBezTo>
                  <a:pt x="164" y="43"/>
                  <a:pt x="165" y="44"/>
                  <a:pt x="165" y="44"/>
                </a:cubicBezTo>
                <a:close/>
              </a:path>
            </a:pathLst>
          </a:custGeom>
          <a:solidFill>
            <a:srgbClr val="FDD820"/>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3" name="Freeform 39"/>
          <p:cNvSpPr>
            <a:spLocks noEditPoints="1"/>
          </p:cNvSpPr>
          <p:nvPr/>
        </p:nvSpPr>
        <p:spPr bwMode="auto">
          <a:xfrm>
            <a:off x="988959" y="5303818"/>
            <a:ext cx="1836737" cy="279605"/>
          </a:xfrm>
          <a:custGeom>
            <a:avLst/>
            <a:gdLst>
              <a:gd name="T0" fmla="*/ 30 w 221"/>
              <a:gd name="T1" fmla="*/ 44 h 44"/>
              <a:gd name="T2" fmla="*/ 32 w 221"/>
              <a:gd name="T3" fmla="*/ 42 h 44"/>
              <a:gd name="T4" fmla="*/ 19 w 221"/>
              <a:gd name="T5" fmla="*/ 40 h 44"/>
              <a:gd name="T6" fmla="*/ 17 w 221"/>
              <a:gd name="T7" fmla="*/ 42 h 44"/>
              <a:gd name="T8" fmla="*/ 196 w 221"/>
              <a:gd name="T9" fmla="*/ 43 h 44"/>
              <a:gd name="T10" fmla="*/ 198 w 221"/>
              <a:gd name="T11" fmla="*/ 36 h 44"/>
              <a:gd name="T12" fmla="*/ 195 w 221"/>
              <a:gd name="T13" fmla="*/ 37 h 44"/>
              <a:gd name="T14" fmla="*/ 186 w 221"/>
              <a:gd name="T15" fmla="*/ 40 h 44"/>
              <a:gd name="T16" fmla="*/ 185 w 221"/>
              <a:gd name="T17" fmla="*/ 42 h 44"/>
              <a:gd name="T18" fmla="*/ 194 w 221"/>
              <a:gd name="T19" fmla="*/ 44 h 44"/>
              <a:gd name="T20" fmla="*/ 217 w 221"/>
              <a:gd name="T21" fmla="*/ 1 h 44"/>
              <a:gd name="T22" fmla="*/ 212 w 221"/>
              <a:gd name="T23" fmla="*/ 13 h 44"/>
              <a:gd name="T24" fmla="*/ 214 w 221"/>
              <a:gd name="T25" fmla="*/ 13 h 44"/>
              <a:gd name="T26" fmla="*/ 219 w 221"/>
              <a:gd name="T27" fmla="*/ 0 h 44"/>
              <a:gd name="T28" fmla="*/ 217 w 221"/>
              <a:gd name="T29" fmla="*/ 1 h 44"/>
              <a:gd name="T30" fmla="*/ 200 w 221"/>
              <a:gd name="T31" fmla="*/ 29 h 44"/>
              <a:gd name="T32" fmla="*/ 201 w 221"/>
              <a:gd name="T33" fmla="*/ 31 h 44"/>
              <a:gd name="T34" fmla="*/ 209 w 221"/>
              <a:gd name="T35" fmla="*/ 21 h 44"/>
              <a:gd name="T36" fmla="*/ 209 w 221"/>
              <a:gd name="T37" fmla="*/ 18 h 44"/>
              <a:gd name="T38" fmla="*/ 0 w 221"/>
              <a:gd name="T39" fmla="*/ 40 h 44"/>
              <a:gd name="T40" fmla="*/ 8 w 221"/>
              <a:gd name="T41" fmla="*/ 44 h 44"/>
              <a:gd name="T42" fmla="*/ 10 w 221"/>
              <a:gd name="T43" fmla="*/ 42 h 44"/>
              <a:gd name="T44" fmla="*/ 0 w 221"/>
              <a:gd name="T45" fmla="*/ 40 h 44"/>
              <a:gd name="T46" fmla="*/ 51 w 221"/>
              <a:gd name="T47" fmla="*/ 44 h 44"/>
              <a:gd name="T48" fmla="*/ 53 w 221"/>
              <a:gd name="T49" fmla="*/ 42 h 44"/>
              <a:gd name="T50" fmla="*/ 40 w 221"/>
              <a:gd name="T51" fmla="*/ 40 h 44"/>
              <a:gd name="T52" fmla="*/ 38 w 221"/>
              <a:gd name="T53" fmla="*/ 42 h 44"/>
              <a:gd name="T54" fmla="*/ 60 w 221"/>
              <a:gd name="T55" fmla="*/ 44 h 44"/>
              <a:gd name="T56" fmla="*/ 74 w 221"/>
              <a:gd name="T57" fmla="*/ 42 h 44"/>
              <a:gd name="T58" fmla="*/ 72 w 221"/>
              <a:gd name="T59" fmla="*/ 40 h 44"/>
              <a:gd name="T60" fmla="*/ 59 w 221"/>
              <a:gd name="T61" fmla="*/ 42 h 44"/>
              <a:gd name="T62" fmla="*/ 60 w 221"/>
              <a:gd name="T63" fmla="*/ 44 h 44"/>
              <a:gd name="T64" fmla="*/ 93 w 221"/>
              <a:gd name="T65" fmla="*/ 44 h 44"/>
              <a:gd name="T66" fmla="*/ 95 w 221"/>
              <a:gd name="T67" fmla="*/ 42 h 44"/>
              <a:gd name="T68" fmla="*/ 81 w 221"/>
              <a:gd name="T69" fmla="*/ 40 h 44"/>
              <a:gd name="T70" fmla="*/ 80 w 221"/>
              <a:gd name="T71" fmla="*/ 42 h 44"/>
              <a:gd name="T72" fmla="*/ 102 w 221"/>
              <a:gd name="T73" fmla="*/ 44 h 44"/>
              <a:gd name="T74" fmla="*/ 116 w 221"/>
              <a:gd name="T75" fmla="*/ 42 h 44"/>
              <a:gd name="T76" fmla="*/ 114 w 221"/>
              <a:gd name="T77" fmla="*/ 40 h 44"/>
              <a:gd name="T78" fmla="*/ 101 w 221"/>
              <a:gd name="T79" fmla="*/ 42 h 44"/>
              <a:gd name="T80" fmla="*/ 102 w 221"/>
              <a:gd name="T81" fmla="*/ 44 h 44"/>
              <a:gd name="T82" fmla="*/ 135 w 221"/>
              <a:gd name="T83" fmla="*/ 44 h 44"/>
              <a:gd name="T84" fmla="*/ 137 w 221"/>
              <a:gd name="T85" fmla="*/ 42 h 44"/>
              <a:gd name="T86" fmla="*/ 123 w 221"/>
              <a:gd name="T87" fmla="*/ 40 h 44"/>
              <a:gd name="T88" fmla="*/ 122 w 221"/>
              <a:gd name="T89" fmla="*/ 42 h 44"/>
              <a:gd name="T90" fmla="*/ 144 w 221"/>
              <a:gd name="T91" fmla="*/ 44 h 44"/>
              <a:gd name="T92" fmla="*/ 158 w 221"/>
              <a:gd name="T93" fmla="*/ 42 h 44"/>
              <a:gd name="T94" fmla="*/ 156 w 221"/>
              <a:gd name="T95" fmla="*/ 40 h 44"/>
              <a:gd name="T96" fmla="*/ 143 w 221"/>
              <a:gd name="T97" fmla="*/ 42 h 44"/>
              <a:gd name="T98" fmla="*/ 144 w 221"/>
              <a:gd name="T99" fmla="*/ 44 h 44"/>
              <a:gd name="T100" fmla="*/ 177 w 221"/>
              <a:gd name="T101" fmla="*/ 44 h 44"/>
              <a:gd name="T102" fmla="*/ 179 w 221"/>
              <a:gd name="T103" fmla="*/ 42 h 44"/>
              <a:gd name="T104" fmla="*/ 165 w 221"/>
              <a:gd name="T105" fmla="*/ 40 h 44"/>
              <a:gd name="T106" fmla="*/ 164 w 221"/>
              <a:gd name="T107" fmla="*/ 42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21" h="44">
                <a:moveTo>
                  <a:pt x="19" y="44"/>
                </a:moveTo>
                <a:cubicBezTo>
                  <a:pt x="22" y="44"/>
                  <a:pt x="26" y="44"/>
                  <a:pt x="30" y="44"/>
                </a:cubicBezTo>
                <a:cubicBezTo>
                  <a:pt x="31" y="44"/>
                  <a:pt x="32" y="43"/>
                  <a:pt x="32" y="42"/>
                </a:cubicBezTo>
                <a:cubicBezTo>
                  <a:pt x="32" y="42"/>
                  <a:pt x="32" y="42"/>
                  <a:pt x="32" y="42"/>
                </a:cubicBezTo>
                <a:cubicBezTo>
                  <a:pt x="32" y="41"/>
                  <a:pt x="31" y="40"/>
                  <a:pt x="30" y="40"/>
                </a:cubicBezTo>
                <a:cubicBezTo>
                  <a:pt x="26" y="40"/>
                  <a:pt x="22" y="40"/>
                  <a:pt x="19" y="40"/>
                </a:cubicBezTo>
                <a:cubicBezTo>
                  <a:pt x="18" y="40"/>
                  <a:pt x="17" y="41"/>
                  <a:pt x="17" y="42"/>
                </a:cubicBezTo>
                <a:cubicBezTo>
                  <a:pt x="17" y="42"/>
                  <a:pt x="17" y="42"/>
                  <a:pt x="17" y="42"/>
                </a:cubicBezTo>
                <a:cubicBezTo>
                  <a:pt x="17" y="43"/>
                  <a:pt x="18" y="44"/>
                  <a:pt x="19" y="44"/>
                </a:cubicBezTo>
                <a:close/>
                <a:moveTo>
                  <a:pt x="196" y="43"/>
                </a:moveTo>
                <a:cubicBezTo>
                  <a:pt x="196" y="41"/>
                  <a:pt x="197" y="40"/>
                  <a:pt x="198" y="39"/>
                </a:cubicBezTo>
                <a:cubicBezTo>
                  <a:pt x="199" y="38"/>
                  <a:pt x="198" y="37"/>
                  <a:pt x="198" y="36"/>
                </a:cubicBezTo>
                <a:cubicBezTo>
                  <a:pt x="198" y="36"/>
                  <a:pt x="198" y="36"/>
                  <a:pt x="198" y="36"/>
                </a:cubicBezTo>
                <a:cubicBezTo>
                  <a:pt x="197" y="36"/>
                  <a:pt x="196" y="36"/>
                  <a:pt x="195" y="37"/>
                </a:cubicBezTo>
                <a:cubicBezTo>
                  <a:pt x="195" y="38"/>
                  <a:pt x="194" y="39"/>
                  <a:pt x="193" y="40"/>
                </a:cubicBezTo>
                <a:cubicBezTo>
                  <a:pt x="190" y="40"/>
                  <a:pt x="190" y="40"/>
                  <a:pt x="186" y="40"/>
                </a:cubicBezTo>
                <a:cubicBezTo>
                  <a:pt x="186" y="40"/>
                  <a:pt x="185" y="41"/>
                  <a:pt x="185" y="42"/>
                </a:cubicBezTo>
                <a:cubicBezTo>
                  <a:pt x="185" y="42"/>
                  <a:pt x="185" y="42"/>
                  <a:pt x="185" y="42"/>
                </a:cubicBezTo>
                <a:cubicBezTo>
                  <a:pt x="185" y="43"/>
                  <a:pt x="186" y="44"/>
                  <a:pt x="186" y="44"/>
                </a:cubicBezTo>
                <a:cubicBezTo>
                  <a:pt x="194" y="44"/>
                  <a:pt x="194" y="44"/>
                  <a:pt x="194" y="44"/>
                </a:cubicBezTo>
                <a:cubicBezTo>
                  <a:pt x="195" y="44"/>
                  <a:pt x="195" y="43"/>
                  <a:pt x="196" y="43"/>
                </a:cubicBezTo>
                <a:close/>
                <a:moveTo>
                  <a:pt x="217" y="1"/>
                </a:moveTo>
                <a:cubicBezTo>
                  <a:pt x="215" y="4"/>
                  <a:pt x="213" y="8"/>
                  <a:pt x="211" y="11"/>
                </a:cubicBezTo>
                <a:cubicBezTo>
                  <a:pt x="211" y="12"/>
                  <a:pt x="211" y="13"/>
                  <a:pt x="212" y="13"/>
                </a:cubicBezTo>
                <a:cubicBezTo>
                  <a:pt x="212" y="13"/>
                  <a:pt x="212" y="13"/>
                  <a:pt x="212" y="13"/>
                </a:cubicBezTo>
                <a:cubicBezTo>
                  <a:pt x="212" y="14"/>
                  <a:pt x="213" y="14"/>
                  <a:pt x="214" y="13"/>
                </a:cubicBezTo>
                <a:cubicBezTo>
                  <a:pt x="216" y="9"/>
                  <a:pt x="218" y="6"/>
                  <a:pt x="220" y="3"/>
                </a:cubicBezTo>
                <a:cubicBezTo>
                  <a:pt x="221" y="2"/>
                  <a:pt x="220" y="1"/>
                  <a:pt x="219" y="0"/>
                </a:cubicBezTo>
                <a:cubicBezTo>
                  <a:pt x="219" y="0"/>
                  <a:pt x="219" y="0"/>
                  <a:pt x="219" y="0"/>
                </a:cubicBezTo>
                <a:cubicBezTo>
                  <a:pt x="219" y="0"/>
                  <a:pt x="218" y="0"/>
                  <a:pt x="217" y="1"/>
                </a:cubicBezTo>
                <a:close/>
                <a:moveTo>
                  <a:pt x="206" y="19"/>
                </a:moveTo>
                <a:cubicBezTo>
                  <a:pt x="204" y="22"/>
                  <a:pt x="202" y="26"/>
                  <a:pt x="200" y="29"/>
                </a:cubicBezTo>
                <a:cubicBezTo>
                  <a:pt x="200" y="30"/>
                  <a:pt x="200" y="31"/>
                  <a:pt x="201" y="31"/>
                </a:cubicBezTo>
                <a:cubicBezTo>
                  <a:pt x="201" y="31"/>
                  <a:pt x="201" y="31"/>
                  <a:pt x="201" y="31"/>
                </a:cubicBezTo>
                <a:cubicBezTo>
                  <a:pt x="201" y="32"/>
                  <a:pt x="203" y="31"/>
                  <a:pt x="203" y="31"/>
                </a:cubicBezTo>
                <a:cubicBezTo>
                  <a:pt x="205" y="27"/>
                  <a:pt x="207" y="24"/>
                  <a:pt x="209" y="21"/>
                </a:cubicBezTo>
                <a:cubicBezTo>
                  <a:pt x="210" y="20"/>
                  <a:pt x="209" y="19"/>
                  <a:pt x="209" y="18"/>
                </a:cubicBezTo>
                <a:cubicBezTo>
                  <a:pt x="209" y="18"/>
                  <a:pt x="209" y="18"/>
                  <a:pt x="209" y="18"/>
                </a:cubicBezTo>
                <a:cubicBezTo>
                  <a:pt x="208" y="18"/>
                  <a:pt x="207" y="18"/>
                  <a:pt x="206" y="19"/>
                </a:cubicBezTo>
                <a:close/>
                <a:moveTo>
                  <a:pt x="0" y="40"/>
                </a:moveTo>
                <a:cubicBezTo>
                  <a:pt x="0" y="44"/>
                  <a:pt x="0" y="44"/>
                  <a:pt x="0" y="44"/>
                </a:cubicBezTo>
                <a:cubicBezTo>
                  <a:pt x="8" y="44"/>
                  <a:pt x="8" y="44"/>
                  <a:pt x="8" y="44"/>
                </a:cubicBezTo>
                <a:cubicBezTo>
                  <a:pt x="9" y="44"/>
                  <a:pt x="10" y="43"/>
                  <a:pt x="10" y="42"/>
                </a:cubicBezTo>
                <a:cubicBezTo>
                  <a:pt x="10" y="42"/>
                  <a:pt x="10" y="42"/>
                  <a:pt x="10" y="42"/>
                </a:cubicBezTo>
                <a:cubicBezTo>
                  <a:pt x="10" y="41"/>
                  <a:pt x="9" y="40"/>
                  <a:pt x="8" y="40"/>
                </a:cubicBezTo>
                <a:cubicBezTo>
                  <a:pt x="0" y="40"/>
                  <a:pt x="0" y="40"/>
                  <a:pt x="0" y="40"/>
                </a:cubicBezTo>
                <a:close/>
                <a:moveTo>
                  <a:pt x="40" y="44"/>
                </a:moveTo>
                <a:cubicBezTo>
                  <a:pt x="43" y="44"/>
                  <a:pt x="47" y="44"/>
                  <a:pt x="51" y="44"/>
                </a:cubicBezTo>
                <a:cubicBezTo>
                  <a:pt x="52" y="44"/>
                  <a:pt x="53" y="43"/>
                  <a:pt x="53" y="42"/>
                </a:cubicBezTo>
                <a:cubicBezTo>
                  <a:pt x="53" y="42"/>
                  <a:pt x="53" y="42"/>
                  <a:pt x="53" y="42"/>
                </a:cubicBezTo>
                <a:cubicBezTo>
                  <a:pt x="53" y="41"/>
                  <a:pt x="52" y="40"/>
                  <a:pt x="51" y="40"/>
                </a:cubicBezTo>
                <a:cubicBezTo>
                  <a:pt x="47" y="40"/>
                  <a:pt x="43" y="40"/>
                  <a:pt x="40" y="40"/>
                </a:cubicBezTo>
                <a:cubicBezTo>
                  <a:pt x="39" y="40"/>
                  <a:pt x="38" y="41"/>
                  <a:pt x="38" y="42"/>
                </a:cubicBezTo>
                <a:cubicBezTo>
                  <a:pt x="38" y="42"/>
                  <a:pt x="38" y="42"/>
                  <a:pt x="38" y="42"/>
                </a:cubicBezTo>
                <a:cubicBezTo>
                  <a:pt x="38" y="43"/>
                  <a:pt x="39" y="44"/>
                  <a:pt x="40" y="44"/>
                </a:cubicBezTo>
                <a:close/>
                <a:moveTo>
                  <a:pt x="60" y="44"/>
                </a:moveTo>
                <a:cubicBezTo>
                  <a:pt x="64" y="44"/>
                  <a:pt x="68" y="44"/>
                  <a:pt x="72" y="44"/>
                </a:cubicBezTo>
                <a:cubicBezTo>
                  <a:pt x="73" y="44"/>
                  <a:pt x="74" y="43"/>
                  <a:pt x="74" y="42"/>
                </a:cubicBezTo>
                <a:cubicBezTo>
                  <a:pt x="74" y="42"/>
                  <a:pt x="74" y="42"/>
                  <a:pt x="74" y="42"/>
                </a:cubicBezTo>
                <a:cubicBezTo>
                  <a:pt x="74" y="41"/>
                  <a:pt x="73" y="40"/>
                  <a:pt x="72" y="40"/>
                </a:cubicBezTo>
                <a:cubicBezTo>
                  <a:pt x="68" y="40"/>
                  <a:pt x="64" y="40"/>
                  <a:pt x="60" y="40"/>
                </a:cubicBezTo>
                <a:cubicBezTo>
                  <a:pt x="60" y="40"/>
                  <a:pt x="59" y="41"/>
                  <a:pt x="59" y="42"/>
                </a:cubicBezTo>
                <a:cubicBezTo>
                  <a:pt x="59" y="42"/>
                  <a:pt x="59" y="42"/>
                  <a:pt x="59" y="42"/>
                </a:cubicBezTo>
                <a:cubicBezTo>
                  <a:pt x="59" y="43"/>
                  <a:pt x="60" y="44"/>
                  <a:pt x="60" y="44"/>
                </a:cubicBezTo>
                <a:close/>
                <a:moveTo>
                  <a:pt x="81" y="44"/>
                </a:moveTo>
                <a:cubicBezTo>
                  <a:pt x="85" y="44"/>
                  <a:pt x="89" y="44"/>
                  <a:pt x="93" y="44"/>
                </a:cubicBezTo>
                <a:cubicBezTo>
                  <a:pt x="94" y="44"/>
                  <a:pt x="95" y="43"/>
                  <a:pt x="95" y="42"/>
                </a:cubicBezTo>
                <a:cubicBezTo>
                  <a:pt x="95" y="42"/>
                  <a:pt x="95" y="42"/>
                  <a:pt x="95" y="42"/>
                </a:cubicBezTo>
                <a:cubicBezTo>
                  <a:pt x="95" y="41"/>
                  <a:pt x="94" y="40"/>
                  <a:pt x="93" y="40"/>
                </a:cubicBezTo>
                <a:cubicBezTo>
                  <a:pt x="89" y="40"/>
                  <a:pt x="85" y="40"/>
                  <a:pt x="81" y="40"/>
                </a:cubicBezTo>
                <a:cubicBezTo>
                  <a:pt x="81" y="40"/>
                  <a:pt x="80" y="41"/>
                  <a:pt x="80" y="42"/>
                </a:cubicBezTo>
                <a:cubicBezTo>
                  <a:pt x="80" y="42"/>
                  <a:pt x="80" y="42"/>
                  <a:pt x="80" y="42"/>
                </a:cubicBezTo>
                <a:cubicBezTo>
                  <a:pt x="80" y="43"/>
                  <a:pt x="81" y="44"/>
                  <a:pt x="81" y="44"/>
                </a:cubicBezTo>
                <a:close/>
                <a:moveTo>
                  <a:pt x="102" y="44"/>
                </a:moveTo>
                <a:cubicBezTo>
                  <a:pt x="106" y="44"/>
                  <a:pt x="110" y="44"/>
                  <a:pt x="114" y="44"/>
                </a:cubicBezTo>
                <a:cubicBezTo>
                  <a:pt x="115" y="44"/>
                  <a:pt x="116" y="43"/>
                  <a:pt x="116" y="42"/>
                </a:cubicBezTo>
                <a:cubicBezTo>
                  <a:pt x="116" y="42"/>
                  <a:pt x="116" y="42"/>
                  <a:pt x="116" y="42"/>
                </a:cubicBezTo>
                <a:cubicBezTo>
                  <a:pt x="116" y="41"/>
                  <a:pt x="115" y="40"/>
                  <a:pt x="114" y="40"/>
                </a:cubicBezTo>
                <a:cubicBezTo>
                  <a:pt x="110" y="40"/>
                  <a:pt x="106" y="40"/>
                  <a:pt x="102" y="40"/>
                </a:cubicBezTo>
                <a:cubicBezTo>
                  <a:pt x="102" y="40"/>
                  <a:pt x="101" y="41"/>
                  <a:pt x="101" y="42"/>
                </a:cubicBezTo>
                <a:cubicBezTo>
                  <a:pt x="101" y="42"/>
                  <a:pt x="101" y="42"/>
                  <a:pt x="101" y="42"/>
                </a:cubicBezTo>
                <a:cubicBezTo>
                  <a:pt x="101" y="43"/>
                  <a:pt x="102" y="44"/>
                  <a:pt x="102" y="44"/>
                </a:cubicBezTo>
                <a:close/>
                <a:moveTo>
                  <a:pt x="123" y="44"/>
                </a:moveTo>
                <a:cubicBezTo>
                  <a:pt x="127" y="44"/>
                  <a:pt x="131" y="44"/>
                  <a:pt x="135" y="44"/>
                </a:cubicBezTo>
                <a:cubicBezTo>
                  <a:pt x="136" y="44"/>
                  <a:pt x="137" y="43"/>
                  <a:pt x="137" y="42"/>
                </a:cubicBezTo>
                <a:cubicBezTo>
                  <a:pt x="137" y="42"/>
                  <a:pt x="137" y="42"/>
                  <a:pt x="137" y="42"/>
                </a:cubicBezTo>
                <a:cubicBezTo>
                  <a:pt x="137" y="41"/>
                  <a:pt x="136" y="40"/>
                  <a:pt x="135" y="40"/>
                </a:cubicBezTo>
                <a:cubicBezTo>
                  <a:pt x="131" y="40"/>
                  <a:pt x="127" y="40"/>
                  <a:pt x="123" y="40"/>
                </a:cubicBezTo>
                <a:cubicBezTo>
                  <a:pt x="123" y="40"/>
                  <a:pt x="122" y="41"/>
                  <a:pt x="122" y="42"/>
                </a:cubicBezTo>
                <a:cubicBezTo>
                  <a:pt x="122" y="42"/>
                  <a:pt x="122" y="42"/>
                  <a:pt x="122" y="42"/>
                </a:cubicBezTo>
                <a:cubicBezTo>
                  <a:pt x="122" y="43"/>
                  <a:pt x="123" y="44"/>
                  <a:pt x="123" y="44"/>
                </a:cubicBezTo>
                <a:close/>
                <a:moveTo>
                  <a:pt x="144" y="44"/>
                </a:moveTo>
                <a:cubicBezTo>
                  <a:pt x="148" y="44"/>
                  <a:pt x="152" y="44"/>
                  <a:pt x="156" y="44"/>
                </a:cubicBezTo>
                <a:cubicBezTo>
                  <a:pt x="157" y="44"/>
                  <a:pt x="158" y="43"/>
                  <a:pt x="158" y="42"/>
                </a:cubicBezTo>
                <a:cubicBezTo>
                  <a:pt x="158" y="42"/>
                  <a:pt x="158" y="42"/>
                  <a:pt x="158" y="42"/>
                </a:cubicBezTo>
                <a:cubicBezTo>
                  <a:pt x="158" y="41"/>
                  <a:pt x="157" y="40"/>
                  <a:pt x="156" y="40"/>
                </a:cubicBezTo>
                <a:cubicBezTo>
                  <a:pt x="152" y="40"/>
                  <a:pt x="148" y="40"/>
                  <a:pt x="144" y="40"/>
                </a:cubicBezTo>
                <a:cubicBezTo>
                  <a:pt x="144" y="40"/>
                  <a:pt x="143" y="41"/>
                  <a:pt x="143" y="42"/>
                </a:cubicBezTo>
                <a:cubicBezTo>
                  <a:pt x="143" y="42"/>
                  <a:pt x="143" y="42"/>
                  <a:pt x="143" y="42"/>
                </a:cubicBezTo>
                <a:cubicBezTo>
                  <a:pt x="143" y="43"/>
                  <a:pt x="144" y="44"/>
                  <a:pt x="144" y="44"/>
                </a:cubicBezTo>
                <a:close/>
                <a:moveTo>
                  <a:pt x="165" y="44"/>
                </a:moveTo>
                <a:cubicBezTo>
                  <a:pt x="169" y="44"/>
                  <a:pt x="173" y="44"/>
                  <a:pt x="177" y="44"/>
                </a:cubicBezTo>
                <a:cubicBezTo>
                  <a:pt x="178" y="44"/>
                  <a:pt x="179" y="43"/>
                  <a:pt x="179" y="42"/>
                </a:cubicBezTo>
                <a:cubicBezTo>
                  <a:pt x="179" y="42"/>
                  <a:pt x="179" y="42"/>
                  <a:pt x="179" y="42"/>
                </a:cubicBezTo>
                <a:cubicBezTo>
                  <a:pt x="179" y="41"/>
                  <a:pt x="178" y="40"/>
                  <a:pt x="177" y="40"/>
                </a:cubicBezTo>
                <a:cubicBezTo>
                  <a:pt x="173" y="40"/>
                  <a:pt x="169" y="40"/>
                  <a:pt x="165" y="40"/>
                </a:cubicBezTo>
                <a:cubicBezTo>
                  <a:pt x="165" y="40"/>
                  <a:pt x="164" y="41"/>
                  <a:pt x="164" y="42"/>
                </a:cubicBezTo>
                <a:cubicBezTo>
                  <a:pt x="164" y="42"/>
                  <a:pt x="164" y="42"/>
                  <a:pt x="164" y="42"/>
                </a:cubicBezTo>
                <a:cubicBezTo>
                  <a:pt x="164" y="43"/>
                  <a:pt x="165" y="44"/>
                  <a:pt x="165" y="44"/>
                </a:cubicBezTo>
                <a:close/>
              </a:path>
            </a:pathLst>
          </a:custGeom>
          <a:solidFill>
            <a:srgbClr val="82C3D0"/>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4" name="Freeform 40"/>
          <p:cNvSpPr>
            <a:spLocks noEditPoints="1"/>
          </p:cNvSpPr>
          <p:nvPr/>
        </p:nvSpPr>
        <p:spPr bwMode="auto">
          <a:xfrm>
            <a:off x="988959" y="3208318"/>
            <a:ext cx="1870075" cy="330664"/>
          </a:xfrm>
          <a:custGeom>
            <a:avLst/>
            <a:gdLst>
              <a:gd name="T0" fmla="*/ 30 w 225"/>
              <a:gd name="T1" fmla="*/ 0 h 52"/>
              <a:gd name="T2" fmla="*/ 32 w 225"/>
              <a:gd name="T3" fmla="*/ 2 h 52"/>
              <a:gd name="T4" fmla="*/ 19 w 225"/>
              <a:gd name="T5" fmla="*/ 4 h 52"/>
              <a:gd name="T6" fmla="*/ 17 w 225"/>
              <a:gd name="T7" fmla="*/ 2 h 52"/>
              <a:gd name="T8" fmla="*/ 224 w 225"/>
              <a:gd name="T9" fmla="*/ 49 h 52"/>
              <a:gd name="T10" fmla="*/ 225 w 225"/>
              <a:gd name="T11" fmla="*/ 50 h 52"/>
              <a:gd name="T12" fmla="*/ 224 w 225"/>
              <a:gd name="T13" fmla="*/ 52 h 52"/>
              <a:gd name="T14" fmla="*/ 222 w 225"/>
              <a:gd name="T15" fmla="*/ 51 h 52"/>
              <a:gd name="T16" fmla="*/ 224 w 225"/>
              <a:gd name="T17" fmla="*/ 49 h 52"/>
              <a:gd name="T18" fmla="*/ 198 w 225"/>
              <a:gd name="T19" fmla="*/ 6 h 52"/>
              <a:gd name="T20" fmla="*/ 198 w 225"/>
              <a:gd name="T21" fmla="*/ 8 h 52"/>
              <a:gd name="T22" fmla="*/ 193 w 225"/>
              <a:gd name="T23" fmla="*/ 4 h 52"/>
              <a:gd name="T24" fmla="*/ 185 w 225"/>
              <a:gd name="T25" fmla="*/ 2 h 52"/>
              <a:gd name="T26" fmla="*/ 186 w 225"/>
              <a:gd name="T27" fmla="*/ 0 h 52"/>
              <a:gd name="T28" fmla="*/ 196 w 225"/>
              <a:gd name="T29" fmla="*/ 1 h 52"/>
              <a:gd name="T30" fmla="*/ 211 w 225"/>
              <a:gd name="T31" fmla="*/ 33 h 52"/>
              <a:gd name="T32" fmla="*/ 212 w 225"/>
              <a:gd name="T33" fmla="*/ 31 h 52"/>
              <a:gd name="T34" fmla="*/ 220 w 225"/>
              <a:gd name="T35" fmla="*/ 41 h 52"/>
              <a:gd name="T36" fmla="*/ 219 w 225"/>
              <a:gd name="T37" fmla="*/ 44 h 52"/>
              <a:gd name="T38" fmla="*/ 206 w 225"/>
              <a:gd name="T39" fmla="*/ 25 h 52"/>
              <a:gd name="T40" fmla="*/ 201 w 225"/>
              <a:gd name="T41" fmla="*/ 13 h 52"/>
              <a:gd name="T42" fmla="*/ 203 w 225"/>
              <a:gd name="T43" fmla="*/ 14 h 52"/>
              <a:gd name="T44" fmla="*/ 209 w 225"/>
              <a:gd name="T45" fmla="*/ 26 h 52"/>
              <a:gd name="T46" fmla="*/ 206 w 225"/>
              <a:gd name="T47" fmla="*/ 25 h 52"/>
              <a:gd name="T48" fmla="*/ 0 w 225"/>
              <a:gd name="T49" fmla="*/ 0 h 52"/>
              <a:gd name="T50" fmla="*/ 10 w 225"/>
              <a:gd name="T51" fmla="*/ 2 h 52"/>
              <a:gd name="T52" fmla="*/ 8 w 225"/>
              <a:gd name="T53" fmla="*/ 4 h 52"/>
              <a:gd name="T54" fmla="*/ 40 w 225"/>
              <a:gd name="T55" fmla="*/ 0 h 52"/>
              <a:gd name="T56" fmla="*/ 53 w 225"/>
              <a:gd name="T57" fmla="*/ 2 h 52"/>
              <a:gd name="T58" fmla="*/ 51 w 225"/>
              <a:gd name="T59" fmla="*/ 4 h 52"/>
              <a:gd name="T60" fmla="*/ 38 w 225"/>
              <a:gd name="T61" fmla="*/ 2 h 52"/>
              <a:gd name="T62" fmla="*/ 40 w 225"/>
              <a:gd name="T63" fmla="*/ 0 h 52"/>
              <a:gd name="T64" fmla="*/ 72 w 225"/>
              <a:gd name="T65" fmla="*/ 0 h 52"/>
              <a:gd name="T66" fmla="*/ 74 w 225"/>
              <a:gd name="T67" fmla="*/ 2 h 52"/>
              <a:gd name="T68" fmla="*/ 60 w 225"/>
              <a:gd name="T69" fmla="*/ 4 h 52"/>
              <a:gd name="T70" fmla="*/ 59 w 225"/>
              <a:gd name="T71" fmla="*/ 2 h 52"/>
              <a:gd name="T72" fmla="*/ 81 w 225"/>
              <a:gd name="T73" fmla="*/ 0 h 52"/>
              <a:gd name="T74" fmla="*/ 95 w 225"/>
              <a:gd name="T75" fmla="*/ 2 h 52"/>
              <a:gd name="T76" fmla="*/ 93 w 225"/>
              <a:gd name="T77" fmla="*/ 4 h 52"/>
              <a:gd name="T78" fmla="*/ 80 w 225"/>
              <a:gd name="T79" fmla="*/ 2 h 52"/>
              <a:gd name="T80" fmla="*/ 81 w 225"/>
              <a:gd name="T81" fmla="*/ 0 h 52"/>
              <a:gd name="T82" fmla="*/ 114 w 225"/>
              <a:gd name="T83" fmla="*/ 0 h 52"/>
              <a:gd name="T84" fmla="*/ 116 w 225"/>
              <a:gd name="T85" fmla="*/ 2 h 52"/>
              <a:gd name="T86" fmla="*/ 102 w 225"/>
              <a:gd name="T87" fmla="*/ 4 h 52"/>
              <a:gd name="T88" fmla="*/ 101 w 225"/>
              <a:gd name="T89" fmla="*/ 2 h 52"/>
              <a:gd name="T90" fmla="*/ 123 w 225"/>
              <a:gd name="T91" fmla="*/ 0 h 52"/>
              <a:gd name="T92" fmla="*/ 137 w 225"/>
              <a:gd name="T93" fmla="*/ 2 h 52"/>
              <a:gd name="T94" fmla="*/ 135 w 225"/>
              <a:gd name="T95" fmla="*/ 4 h 52"/>
              <a:gd name="T96" fmla="*/ 122 w 225"/>
              <a:gd name="T97" fmla="*/ 2 h 52"/>
              <a:gd name="T98" fmla="*/ 123 w 225"/>
              <a:gd name="T99" fmla="*/ 0 h 52"/>
              <a:gd name="T100" fmla="*/ 156 w 225"/>
              <a:gd name="T101" fmla="*/ 0 h 52"/>
              <a:gd name="T102" fmla="*/ 158 w 225"/>
              <a:gd name="T103" fmla="*/ 2 h 52"/>
              <a:gd name="T104" fmla="*/ 144 w 225"/>
              <a:gd name="T105" fmla="*/ 4 h 52"/>
              <a:gd name="T106" fmla="*/ 143 w 225"/>
              <a:gd name="T107" fmla="*/ 2 h 52"/>
              <a:gd name="T108" fmla="*/ 165 w 225"/>
              <a:gd name="T109" fmla="*/ 0 h 52"/>
              <a:gd name="T110" fmla="*/ 179 w 225"/>
              <a:gd name="T111" fmla="*/ 2 h 52"/>
              <a:gd name="T112" fmla="*/ 177 w 225"/>
              <a:gd name="T113" fmla="*/ 4 h 52"/>
              <a:gd name="T114" fmla="*/ 164 w 225"/>
              <a:gd name="T115" fmla="*/ 2 h 52"/>
              <a:gd name="T116" fmla="*/ 165 w 225"/>
              <a:gd name="T117"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5" h="52">
                <a:moveTo>
                  <a:pt x="19" y="0"/>
                </a:moveTo>
                <a:cubicBezTo>
                  <a:pt x="22" y="0"/>
                  <a:pt x="26" y="0"/>
                  <a:pt x="30" y="0"/>
                </a:cubicBezTo>
                <a:cubicBezTo>
                  <a:pt x="31" y="0"/>
                  <a:pt x="32" y="1"/>
                  <a:pt x="32" y="2"/>
                </a:cubicBezTo>
                <a:cubicBezTo>
                  <a:pt x="32" y="2"/>
                  <a:pt x="32" y="2"/>
                  <a:pt x="32" y="2"/>
                </a:cubicBezTo>
                <a:cubicBezTo>
                  <a:pt x="32" y="3"/>
                  <a:pt x="31" y="4"/>
                  <a:pt x="30" y="4"/>
                </a:cubicBezTo>
                <a:cubicBezTo>
                  <a:pt x="26" y="4"/>
                  <a:pt x="22" y="4"/>
                  <a:pt x="19" y="4"/>
                </a:cubicBezTo>
                <a:cubicBezTo>
                  <a:pt x="18" y="4"/>
                  <a:pt x="17" y="3"/>
                  <a:pt x="17" y="2"/>
                </a:cubicBezTo>
                <a:cubicBezTo>
                  <a:pt x="17" y="2"/>
                  <a:pt x="17" y="2"/>
                  <a:pt x="17" y="2"/>
                </a:cubicBezTo>
                <a:cubicBezTo>
                  <a:pt x="17" y="1"/>
                  <a:pt x="18" y="0"/>
                  <a:pt x="19" y="0"/>
                </a:cubicBezTo>
                <a:close/>
                <a:moveTo>
                  <a:pt x="224" y="49"/>
                </a:moveTo>
                <a:cubicBezTo>
                  <a:pt x="224" y="49"/>
                  <a:pt x="224" y="49"/>
                  <a:pt x="224" y="49"/>
                </a:cubicBezTo>
                <a:cubicBezTo>
                  <a:pt x="225" y="49"/>
                  <a:pt x="225" y="49"/>
                  <a:pt x="225" y="50"/>
                </a:cubicBezTo>
                <a:cubicBezTo>
                  <a:pt x="225" y="51"/>
                  <a:pt x="225" y="51"/>
                  <a:pt x="225" y="51"/>
                </a:cubicBezTo>
                <a:cubicBezTo>
                  <a:pt x="225" y="52"/>
                  <a:pt x="225" y="52"/>
                  <a:pt x="224" y="52"/>
                </a:cubicBezTo>
                <a:cubicBezTo>
                  <a:pt x="224" y="52"/>
                  <a:pt x="224" y="52"/>
                  <a:pt x="224" y="52"/>
                </a:cubicBezTo>
                <a:cubicBezTo>
                  <a:pt x="223" y="52"/>
                  <a:pt x="222" y="52"/>
                  <a:pt x="222" y="51"/>
                </a:cubicBezTo>
                <a:cubicBezTo>
                  <a:pt x="222" y="50"/>
                  <a:pt x="222" y="50"/>
                  <a:pt x="222" y="50"/>
                </a:cubicBezTo>
                <a:cubicBezTo>
                  <a:pt x="222" y="49"/>
                  <a:pt x="223" y="49"/>
                  <a:pt x="224" y="49"/>
                </a:cubicBezTo>
                <a:close/>
                <a:moveTo>
                  <a:pt x="196" y="1"/>
                </a:moveTo>
                <a:cubicBezTo>
                  <a:pt x="196" y="3"/>
                  <a:pt x="197" y="4"/>
                  <a:pt x="198" y="6"/>
                </a:cubicBezTo>
                <a:cubicBezTo>
                  <a:pt x="199" y="6"/>
                  <a:pt x="198" y="7"/>
                  <a:pt x="198" y="8"/>
                </a:cubicBezTo>
                <a:cubicBezTo>
                  <a:pt x="198" y="8"/>
                  <a:pt x="198" y="8"/>
                  <a:pt x="198" y="8"/>
                </a:cubicBezTo>
                <a:cubicBezTo>
                  <a:pt x="197" y="8"/>
                  <a:pt x="196" y="8"/>
                  <a:pt x="195" y="7"/>
                </a:cubicBezTo>
                <a:cubicBezTo>
                  <a:pt x="195" y="6"/>
                  <a:pt x="194" y="5"/>
                  <a:pt x="193" y="4"/>
                </a:cubicBezTo>
                <a:cubicBezTo>
                  <a:pt x="190" y="4"/>
                  <a:pt x="190" y="4"/>
                  <a:pt x="186" y="4"/>
                </a:cubicBezTo>
                <a:cubicBezTo>
                  <a:pt x="186" y="4"/>
                  <a:pt x="185" y="3"/>
                  <a:pt x="185" y="2"/>
                </a:cubicBezTo>
                <a:cubicBezTo>
                  <a:pt x="185" y="2"/>
                  <a:pt x="185" y="2"/>
                  <a:pt x="185" y="2"/>
                </a:cubicBezTo>
                <a:cubicBezTo>
                  <a:pt x="185" y="1"/>
                  <a:pt x="186" y="0"/>
                  <a:pt x="186" y="0"/>
                </a:cubicBezTo>
                <a:cubicBezTo>
                  <a:pt x="194" y="0"/>
                  <a:pt x="194" y="0"/>
                  <a:pt x="194" y="0"/>
                </a:cubicBezTo>
                <a:cubicBezTo>
                  <a:pt x="195" y="0"/>
                  <a:pt x="195" y="1"/>
                  <a:pt x="196" y="1"/>
                </a:cubicBezTo>
                <a:close/>
                <a:moveTo>
                  <a:pt x="217" y="43"/>
                </a:moveTo>
                <a:cubicBezTo>
                  <a:pt x="215" y="40"/>
                  <a:pt x="213" y="37"/>
                  <a:pt x="211" y="33"/>
                </a:cubicBezTo>
                <a:cubicBezTo>
                  <a:pt x="211" y="32"/>
                  <a:pt x="211" y="31"/>
                  <a:pt x="212" y="31"/>
                </a:cubicBezTo>
                <a:cubicBezTo>
                  <a:pt x="212" y="31"/>
                  <a:pt x="212" y="31"/>
                  <a:pt x="212" y="31"/>
                </a:cubicBezTo>
                <a:cubicBezTo>
                  <a:pt x="212" y="30"/>
                  <a:pt x="213" y="31"/>
                  <a:pt x="214" y="31"/>
                </a:cubicBezTo>
                <a:cubicBezTo>
                  <a:pt x="216" y="35"/>
                  <a:pt x="218" y="38"/>
                  <a:pt x="220" y="41"/>
                </a:cubicBezTo>
                <a:cubicBezTo>
                  <a:pt x="221" y="42"/>
                  <a:pt x="220" y="43"/>
                  <a:pt x="219" y="44"/>
                </a:cubicBezTo>
                <a:cubicBezTo>
                  <a:pt x="219" y="44"/>
                  <a:pt x="219" y="44"/>
                  <a:pt x="219" y="44"/>
                </a:cubicBezTo>
                <a:cubicBezTo>
                  <a:pt x="219" y="44"/>
                  <a:pt x="218" y="44"/>
                  <a:pt x="217" y="43"/>
                </a:cubicBezTo>
                <a:close/>
                <a:moveTo>
                  <a:pt x="206" y="25"/>
                </a:moveTo>
                <a:cubicBezTo>
                  <a:pt x="204" y="22"/>
                  <a:pt x="202" y="19"/>
                  <a:pt x="200" y="15"/>
                </a:cubicBezTo>
                <a:cubicBezTo>
                  <a:pt x="200" y="14"/>
                  <a:pt x="200" y="13"/>
                  <a:pt x="201" y="13"/>
                </a:cubicBezTo>
                <a:cubicBezTo>
                  <a:pt x="201" y="13"/>
                  <a:pt x="201" y="13"/>
                  <a:pt x="201" y="13"/>
                </a:cubicBezTo>
                <a:cubicBezTo>
                  <a:pt x="201" y="12"/>
                  <a:pt x="203" y="13"/>
                  <a:pt x="203" y="14"/>
                </a:cubicBezTo>
                <a:cubicBezTo>
                  <a:pt x="205" y="17"/>
                  <a:pt x="207" y="20"/>
                  <a:pt x="209" y="24"/>
                </a:cubicBezTo>
                <a:cubicBezTo>
                  <a:pt x="210" y="24"/>
                  <a:pt x="209" y="25"/>
                  <a:pt x="209" y="26"/>
                </a:cubicBezTo>
                <a:cubicBezTo>
                  <a:pt x="209" y="26"/>
                  <a:pt x="209" y="26"/>
                  <a:pt x="209" y="26"/>
                </a:cubicBezTo>
                <a:cubicBezTo>
                  <a:pt x="208" y="26"/>
                  <a:pt x="207" y="26"/>
                  <a:pt x="206" y="25"/>
                </a:cubicBezTo>
                <a:close/>
                <a:moveTo>
                  <a:pt x="0" y="4"/>
                </a:moveTo>
                <a:cubicBezTo>
                  <a:pt x="0" y="0"/>
                  <a:pt x="0" y="0"/>
                  <a:pt x="0" y="0"/>
                </a:cubicBezTo>
                <a:cubicBezTo>
                  <a:pt x="8" y="0"/>
                  <a:pt x="8" y="0"/>
                  <a:pt x="8" y="0"/>
                </a:cubicBezTo>
                <a:cubicBezTo>
                  <a:pt x="9" y="0"/>
                  <a:pt x="10" y="1"/>
                  <a:pt x="10" y="2"/>
                </a:cubicBezTo>
                <a:cubicBezTo>
                  <a:pt x="10" y="2"/>
                  <a:pt x="10" y="2"/>
                  <a:pt x="10" y="2"/>
                </a:cubicBezTo>
                <a:cubicBezTo>
                  <a:pt x="10" y="3"/>
                  <a:pt x="9" y="4"/>
                  <a:pt x="8" y="4"/>
                </a:cubicBezTo>
                <a:cubicBezTo>
                  <a:pt x="0" y="4"/>
                  <a:pt x="0" y="4"/>
                  <a:pt x="0" y="4"/>
                </a:cubicBezTo>
                <a:close/>
                <a:moveTo>
                  <a:pt x="40" y="0"/>
                </a:moveTo>
                <a:cubicBezTo>
                  <a:pt x="43" y="0"/>
                  <a:pt x="47" y="0"/>
                  <a:pt x="51" y="0"/>
                </a:cubicBezTo>
                <a:cubicBezTo>
                  <a:pt x="52" y="0"/>
                  <a:pt x="53" y="1"/>
                  <a:pt x="53" y="2"/>
                </a:cubicBezTo>
                <a:cubicBezTo>
                  <a:pt x="53" y="2"/>
                  <a:pt x="53" y="2"/>
                  <a:pt x="53" y="2"/>
                </a:cubicBezTo>
                <a:cubicBezTo>
                  <a:pt x="53" y="3"/>
                  <a:pt x="52" y="4"/>
                  <a:pt x="51" y="4"/>
                </a:cubicBezTo>
                <a:cubicBezTo>
                  <a:pt x="47" y="4"/>
                  <a:pt x="43" y="4"/>
                  <a:pt x="40" y="4"/>
                </a:cubicBezTo>
                <a:cubicBezTo>
                  <a:pt x="39" y="4"/>
                  <a:pt x="38" y="3"/>
                  <a:pt x="38" y="2"/>
                </a:cubicBezTo>
                <a:cubicBezTo>
                  <a:pt x="38" y="2"/>
                  <a:pt x="38" y="2"/>
                  <a:pt x="38" y="2"/>
                </a:cubicBezTo>
                <a:cubicBezTo>
                  <a:pt x="38" y="1"/>
                  <a:pt x="39" y="0"/>
                  <a:pt x="40" y="0"/>
                </a:cubicBezTo>
                <a:close/>
                <a:moveTo>
                  <a:pt x="60" y="0"/>
                </a:moveTo>
                <a:cubicBezTo>
                  <a:pt x="64" y="0"/>
                  <a:pt x="68" y="0"/>
                  <a:pt x="72" y="0"/>
                </a:cubicBezTo>
                <a:cubicBezTo>
                  <a:pt x="73" y="0"/>
                  <a:pt x="74" y="1"/>
                  <a:pt x="74" y="2"/>
                </a:cubicBezTo>
                <a:cubicBezTo>
                  <a:pt x="74" y="2"/>
                  <a:pt x="74" y="2"/>
                  <a:pt x="74" y="2"/>
                </a:cubicBezTo>
                <a:cubicBezTo>
                  <a:pt x="74" y="3"/>
                  <a:pt x="73" y="4"/>
                  <a:pt x="72" y="4"/>
                </a:cubicBezTo>
                <a:cubicBezTo>
                  <a:pt x="68" y="4"/>
                  <a:pt x="64" y="4"/>
                  <a:pt x="60" y="4"/>
                </a:cubicBezTo>
                <a:cubicBezTo>
                  <a:pt x="60" y="4"/>
                  <a:pt x="59" y="3"/>
                  <a:pt x="59" y="2"/>
                </a:cubicBezTo>
                <a:cubicBezTo>
                  <a:pt x="59" y="2"/>
                  <a:pt x="59" y="2"/>
                  <a:pt x="59" y="2"/>
                </a:cubicBezTo>
                <a:cubicBezTo>
                  <a:pt x="59" y="1"/>
                  <a:pt x="60" y="0"/>
                  <a:pt x="60" y="0"/>
                </a:cubicBezTo>
                <a:close/>
                <a:moveTo>
                  <a:pt x="81" y="0"/>
                </a:moveTo>
                <a:cubicBezTo>
                  <a:pt x="85" y="0"/>
                  <a:pt x="89" y="0"/>
                  <a:pt x="93" y="0"/>
                </a:cubicBezTo>
                <a:cubicBezTo>
                  <a:pt x="94" y="0"/>
                  <a:pt x="95" y="1"/>
                  <a:pt x="95" y="2"/>
                </a:cubicBezTo>
                <a:cubicBezTo>
                  <a:pt x="95" y="2"/>
                  <a:pt x="95" y="2"/>
                  <a:pt x="95" y="2"/>
                </a:cubicBezTo>
                <a:cubicBezTo>
                  <a:pt x="95" y="3"/>
                  <a:pt x="94" y="4"/>
                  <a:pt x="93" y="4"/>
                </a:cubicBezTo>
                <a:cubicBezTo>
                  <a:pt x="89" y="4"/>
                  <a:pt x="85" y="4"/>
                  <a:pt x="81" y="4"/>
                </a:cubicBezTo>
                <a:cubicBezTo>
                  <a:pt x="81" y="4"/>
                  <a:pt x="80" y="3"/>
                  <a:pt x="80" y="2"/>
                </a:cubicBezTo>
                <a:cubicBezTo>
                  <a:pt x="80" y="2"/>
                  <a:pt x="80" y="2"/>
                  <a:pt x="80" y="2"/>
                </a:cubicBezTo>
                <a:cubicBezTo>
                  <a:pt x="80" y="1"/>
                  <a:pt x="81" y="0"/>
                  <a:pt x="81" y="0"/>
                </a:cubicBezTo>
                <a:close/>
                <a:moveTo>
                  <a:pt x="102" y="0"/>
                </a:moveTo>
                <a:cubicBezTo>
                  <a:pt x="106" y="0"/>
                  <a:pt x="110" y="0"/>
                  <a:pt x="114" y="0"/>
                </a:cubicBezTo>
                <a:cubicBezTo>
                  <a:pt x="115" y="0"/>
                  <a:pt x="116" y="1"/>
                  <a:pt x="116" y="2"/>
                </a:cubicBezTo>
                <a:cubicBezTo>
                  <a:pt x="116" y="2"/>
                  <a:pt x="116" y="2"/>
                  <a:pt x="116" y="2"/>
                </a:cubicBezTo>
                <a:cubicBezTo>
                  <a:pt x="116" y="3"/>
                  <a:pt x="115" y="4"/>
                  <a:pt x="114" y="4"/>
                </a:cubicBezTo>
                <a:cubicBezTo>
                  <a:pt x="110" y="4"/>
                  <a:pt x="106" y="4"/>
                  <a:pt x="102" y="4"/>
                </a:cubicBezTo>
                <a:cubicBezTo>
                  <a:pt x="102" y="4"/>
                  <a:pt x="101" y="3"/>
                  <a:pt x="101" y="2"/>
                </a:cubicBezTo>
                <a:cubicBezTo>
                  <a:pt x="101" y="2"/>
                  <a:pt x="101" y="2"/>
                  <a:pt x="101" y="2"/>
                </a:cubicBezTo>
                <a:cubicBezTo>
                  <a:pt x="101" y="1"/>
                  <a:pt x="102" y="0"/>
                  <a:pt x="102" y="0"/>
                </a:cubicBezTo>
                <a:close/>
                <a:moveTo>
                  <a:pt x="123" y="0"/>
                </a:moveTo>
                <a:cubicBezTo>
                  <a:pt x="127" y="0"/>
                  <a:pt x="131" y="0"/>
                  <a:pt x="135" y="0"/>
                </a:cubicBezTo>
                <a:cubicBezTo>
                  <a:pt x="136" y="0"/>
                  <a:pt x="137" y="1"/>
                  <a:pt x="137" y="2"/>
                </a:cubicBezTo>
                <a:cubicBezTo>
                  <a:pt x="137" y="2"/>
                  <a:pt x="137" y="2"/>
                  <a:pt x="137" y="2"/>
                </a:cubicBezTo>
                <a:cubicBezTo>
                  <a:pt x="137" y="3"/>
                  <a:pt x="136" y="4"/>
                  <a:pt x="135" y="4"/>
                </a:cubicBezTo>
                <a:cubicBezTo>
                  <a:pt x="131" y="4"/>
                  <a:pt x="127" y="4"/>
                  <a:pt x="123" y="4"/>
                </a:cubicBezTo>
                <a:cubicBezTo>
                  <a:pt x="123" y="4"/>
                  <a:pt x="122" y="3"/>
                  <a:pt x="122" y="2"/>
                </a:cubicBezTo>
                <a:cubicBezTo>
                  <a:pt x="122" y="2"/>
                  <a:pt x="122" y="2"/>
                  <a:pt x="122" y="2"/>
                </a:cubicBezTo>
                <a:cubicBezTo>
                  <a:pt x="122" y="1"/>
                  <a:pt x="123" y="0"/>
                  <a:pt x="123" y="0"/>
                </a:cubicBezTo>
                <a:close/>
                <a:moveTo>
                  <a:pt x="144" y="0"/>
                </a:moveTo>
                <a:cubicBezTo>
                  <a:pt x="148" y="0"/>
                  <a:pt x="152" y="0"/>
                  <a:pt x="156" y="0"/>
                </a:cubicBezTo>
                <a:cubicBezTo>
                  <a:pt x="157" y="0"/>
                  <a:pt x="158" y="1"/>
                  <a:pt x="158" y="2"/>
                </a:cubicBezTo>
                <a:cubicBezTo>
                  <a:pt x="158" y="2"/>
                  <a:pt x="158" y="2"/>
                  <a:pt x="158" y="2"/>
                </a:cubicBezTo>
                <a:cubicBezTo>
                  <a:pt x="158" y="3"/>
                  <a:pt x="157" y="4"/>
                  <a:pt x="156" y="4"/>
                </a:cubicBezTo>
                <a:cubicBezTo>
                  <a:pt x="152" y="4"/>
                  <a:pt x="148" y="4"/>
                  <a:pt x="144" y="4"/>
                </a:cubicBezTo>
                <a:cubicBezTo>
                  <a:pt x="144" y="4"/>
                  <a:pt x="143" y="3"/>
                  <a:pt x="143" y="2"/>
                </a:cubicBezTo>
                <a:cubicBezTo>
                  <a:pt x="143" y="2"/>
                  <a:pt x="143" y="2"/>
                  <a:pt x="143" y="2"/>
                </a:cubicBezTo>
                <a:cubicBezTo>
                  <a:pt x="143" y="1"/>
                  <a:pt x="144" y="0"/>
                  <a:pt x="144" y="0"/>
                </a:cubicBezTo>
                <a:close/>
                <a:moveTo>
                  <a:pt x="165" y="0"/>
                </a:moveTo>
                <a:cubicBezTo>
                  <a:pt x="169" y="0"/>
                  <a:pt x="173" y="0"/>
                  <a:pt x="177" y="0"/>
                </a:cubicBezTo>
                <a:cubicBezTo>
                  <a:pt x="178" y="0"/>
                  <a:pt x="179" y="1"/>
                  <a:pt x="179" y="2"/>
                </a:cubicBezTo>
                <a:cubicBezTo>
                  <a:pt x="179" y="2"/>
                  <a:pt x="179" y="2"/>
                  <a:pt x="179" y="2"/>
                </a:cubicBezTo>
                <a:cubicBezTo>
                  <a:pt x="179" y="3"/>
                  <a:pt x="178" y="4"/>
                  <a:pt x="177" y="4"/>
                </a:cubicBezTo>
                <a:cubicBezTo>
                  <a:pt x="173" y="4"/>
                  <a:pt x="169" y="4"/>
                  <a:pt x="165" y="4"/>
                </a:cubicBezTo>
                <a:cubicBezTo>
                  <a:pt x="165" y="4"/>
                  <a:pt x="164" y="3"/>
                  <a:pt x="164" y="2"/>
                </a:cubicBezTo>
                <a:cubicBezTo>
                  <a:pt x="164" y="2"/>
                  <a:pt x="164" y="2"/>
                  <a:pt x="164" y="2"/>
                </a:cubicBezTo>
                <a:cubicBezTo>
                  <a:pt x="164" y="1"/>
                  <a:pt x="165" y="0"/>
                  <a:pt x="165" y="0"/>
                </a:cubicBezTo>
                <a:close/>
              </a:path>
            </a:pathLst>
          </a:custGeom>
          <a:solidFill>
            <a:srgbClr val="FDD820"/>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5" name="Freeform 41"/>
          <p:cNvSpPr>
            <a:spLocks noEditPoints="1"/>
          </p:cNvSpPr>
          <p:nvPr/>
        </p:nvSpPr>
        <p:spPr bwMode="auto">
          <a:xfrm>
            <a:off x="988959" y="4837093"/>
            <a:ext cx="1870075" cy="331880"/>
          </a:xfrm>
          <a:custGeom>
            <a:avLst/>
            <a:gdLst>
              <a:gd name="T0" fmla="*/ 30 w 225"/>
              <a:gd name="T1" fmla="*/ 0 h 52"/>
              <a:gd name="T2" fmla="*/ 32 w 225"/>
              <a:gd name="T3" fmla="*/ 1 h 52"/>
              <a:gd name="T4" fmla="*/ 19 w 225"/>
              <a:gd name="T5" fmla="*/ 3 h 52"/>
              <a:gd name="T6" fmla="*/ 17 w 225"/>
              <a:gd name="T7" fmla="*/ 1 h 52"/>
              <a:gd name="T8" fmla="*/ 224 w 225"/>
              <a:gd name="T9" fmla="*/ 48 h 52"/>
              <a:gd name="T10" fmla="*/ 225 w 225"/>
              <a:gd name="T11" fmla="*/ 50 h 52"/>
              <a:gd name="T12" fmla="*/ 224 w 225"/>
              <a:gd name="T13" fmla="*/ 52 h 52"/>
              <a:gd name="T14" fmla="*/ 222 w 225"/>
              <a:gd name="T15" fmla="*/ 50 h 52"/>
              <a:gd name="T16" fmla="*/ 224 w 225"/>
              <a:gd name="T17" fmla="*/ 48 h 52"/>
              <a:gd name="T18" fmla="*/ 198 w 225"/>
              <a:gd name="T19" fmla="*/ 5 h 52"/>
              <a:gd name="T20" fmla="*/ 198 w 225"/>
              <a:gd name="T21" fmla="*/ 7 h 52"/>
              <a:gd name="T22" fmla="*/ 193 w 225"/>
              <a:gd name="T23" fmla="*/ 3 h 52"/>
              <a:gd name="T24" fmla="*/ 185 w 225"/>
              <a:gd name="T25" fmla="*/ 1 h 52"/>
              <a:gd name="T26" fmla="*/ 186 w 225"/>
              <a:gd name="T27" fmla="*/ 0 h 52"/>
              <a:gd name="T28" fmla="*/ 196 w 225"/>
              <a:gd name="T29" fmla="*/ 1 h 52"/>
              <a:gd name="T30" fmla="*/ 211 w 225"/>
              <a:gd name="T31" fmla="*/ 32 h 52"/>
              <a:gd name="T32" fmla="*/ 212 w 225"/>
              <a:gd name="T33" fmla="*/ 30 h 52"/>
              <a:gd name="T34" fmla="*/ 220 w 225"/>
              <a:gd name="T35" fmla="*/ 41 h 52"/>
              <a:gd name="T36" fmla="*/ 219 w 225"/>
              <a:gd name="T37" fmla="*/ 43 h 52"/>
              <a:gd name="T38" fmla="*/ 206 w 225"/>
              <a:gd name="T39" fmla="*/ 24 h 52"/>
              <a:gd name="T40" fmla="*/ 201 w 225"/>
              <a:gd name="T41" fmla="*/ 12 h 52"/>
              <a:gd name="T42" fmla="*/ 203 w 225"/>
              <a:gd name="T43" fmla="*/ 13 h 52"/>
              <a:gd name="T44" fmla="*/ 209 w 225"/>
              <a:gd name="T45" fmla="*/ 25 h 52"/>
              <a:gd name="T46" fmla="*/ 206 w 225"/>
              <a:gd name="T47" fmla="*/ 24 h 52"/>
              <a:gd name="T48" fmla="*/ 0 w 225"/>
              <a:gd name="T49" fmla="*/ 0 h 52"/>
              <a:gd name="T50" fmla="*/ 10 w 225"/>
              <a:gd name="T51" fmla="*/ 1 h 52"/>
              <a:gd name="T52" fmla="*/ 8 w 225"/>
              <a:gd name="T53" fmla="*/ 3 h 52"/>
              <a:gd name="T54" fmla="*/ 40 w 225"/>
              <a:gd name="T55" fmla="*/ 0 h 52"/>
              <a:gd name="T56" fmla="*/ 53 w 225"/>
              <a:gd name="T57" fmla="*/ 1 h 52"/>
              <a:gd name="T58" fmla="*/ 51 w 225"/>
              <a:gd name="T59" fmla="*/ 3 h 52"/>
              <a:gd name="T60" fmla="*/ 38 w 225"/>
              <a:gd name="T61" fmla="*/ 1 h 52"/>
              <a:gd name="T62" fmla="*/ 40 w 225"/>
              <a:gd name="T63" fmla="*/ 0 h 52"/>
              <a:gd name="T64" fmla="*/ 72 w 225"/>
              <a:gd name="T65" fmla="*/ 0 h 52"/>
              <a:gd name="T66" fmla="*/ 74 w 225"/>
              <a:gd name="T67" fmla="*/ 1 h 52"/>
              <a:gd name="T68" fmla="*/ 60 w 225"/>
              <a:gd name="T69" fmla="*/ 3 h 52"/>
              <a:gd name="T70" fmla="*/ 59 w 225"/>
              <a:gd name="T71" fmla="*/ 1 h 52"/>
              <a:gd name="T72" fmla="*/ 81 w 225"/>
              <a:gd name="T73" fmla="*/ 0 h 52"/>
              <a:gd name="T74" fmla="*/ 95 w 225"/>
              <a:gd name="T75" fmla="*/ 1 h 52"/>
              <a:gd name="T76" fmla="*/ 93 w 225"/>
              <a:gd name="T77" fmla="*/ 3 h 52"/>
              <a:gd name="T78" fmla="*/ 80 w 225"/>
              <a:gd name="T79" fmla="*/ 1 h 52"/>
              <a:gd name="T80" fmla="*/ 81 w 225"/>
              <a:gd name="T81" fmla="*/ 0 h 52"/>
              <a:gd name="T82" fmla="*/ 114 w 225"/>
              <a:gd name="T83" fmla="*/ 0 h 52"/>
              <a:gd name="T84" fmla="*/ 116 w 225"/>
              <a:gd name="T85" fmla="*/ 1 h 52"/>
              <a:gd name="T86" fmla="*/ 102 w 225"/>
              <a:gd name="T87" fmla="*/ 3 h 52"/>
              <a:gd name="T88" fmla="*/ 101 w 225"/>
              <a:gd name="T89" fmla="*/ 1 h 52"/>
              <a:gd name="T90" fmla="*/ 123 w 225"/>
              <a:gd name="T91" fmla="*/ 0 h 52"/>
              <a:gd name="T92" fmla="*/ 137 w 225"/>
              <a:gd name="T93" fmla="*/ 1 h 52"/>
              <a:gd name="T94" fmla="*/ 135 w 225"/>
              <a:gd name="T95" fmla="*/ 3 h 52"/>
              <a:gd name="T96" fmla="*/ 122 w 225"/>
              <a:gd name="T97" fmla="*/ 1 h 52"/>
              <a:gd name="T98" fmla="*/ 123 w 225"/>
              <a:gd name="T99" fmla="*/ 0 h 52"/>
              <a:gd name="T100" fmla="*/ 156 w 225"/>
              <a:gd name="T101" fmla="*/ 0 h 52"/>
              <a:gd name="T102" fmla="*/ 158 w 225"/>
              <a:gd name="T103" fmla="*/ 1 h 52"/>
              <a:gd name="T104" fmla="*/ 144 w 225"/>
              <a:gd name="T105" fmla="*/ 3 h 52"/>
              <a:gd name="T106" fmla="*/ 143 w 225"/>
              <a:gd name="T107" fmla="*/ 1 h 52"/>
              <a:gd name="T108" fmla="*/ 165 w 225"/>
              <a:gd name="T109" fmla="*/ 0 h 52"/>
              <a:gd name="T110" fmla="*/ 179 w 225"/>
              <a:gd name="T111" fmla="*/ 1 h 52"/>
              <a:gd name="T112" fmla="*/ 177 w 225"/>
              <a:gd name="T113" fmla="*/ 3 h 52"/>
              <a:gd name="T114" fmla="*/ 164 w 225"/>
              <a:gd name="T115" fmla="*/ 1 h 52"/>
              <a:gd name="T116" fmla="*/ 165 w 225"/>
              <a:gd name="T117"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5" h="52">
                <a:moveTo>
                  <a:pt x="19" y="0"/>
                </a:moveTo>
                <a:cubicBezTo>
                  <a:pt x="22" y="0"/>
                  <a:pt x="26" y="0"/>
                  <a:pt x="30" y="0"/>
                </a:cubicBezTo>
                <a:cubicBezTo>
                  <a:pt x="31" y="0"/>
                  <a:pt x="32" y="0"/>
                  <a:pt x="32" y="1"/>
                </a:cubicBezTo>
                <a:cubicBezTo>
                  <a:pt x="32" y="1"/>
                  <a:pt x="32" y="1"/>
                  <a:pt x="32" y="1"/>
                </a:cubicBezTo>
                <a:cubicBezTo>
                  <a:pt x="32" y="2"/>
                  <a:pt x="31" y="3"/>
                  <a:pt x="30" y="3"/>
                </a:cubicBezTo>
                <a:cubicBezTo>
                  <a:pt x="26" y="3"/>
                  <a:pt x="22" y="3"/>
                  <a:pt x="19" y="3"/>
                </a:cubicBezTo>
                <a:cubicBezTo>
                  <a:pt x="18" y="3"/>
                  <a:pt x="17" y="2"/>
                  <a:pt x="17" y="1"/>
                </a:cubicBezTo>
                <a:cubicBezTo>
                  <a:pt x="17" y="1"/>
                  <a:pt x="17" y="1"/>
                  <a:pt x="17" y="1"/>
                </a:cubicBezTo>
                <a:cubicBezTo>
                  <a:pt x="17" y="0"/>
                  <a:pt x="18" y="0"/>
                  <a:pt x="19" y="0"/>
                </a:cubicBezTo>
                <a:close/>
                <a:moveTo>
                  <a:pt x="224" y="48"/>
                </a:moveTo>
                <a:cubicBezTo>
                  <a:pt x="224" y="48"/>
                  <a:pt x="224" y="48"/>
                  <a:pt x="224" y="48"/>
                </a:cubicBezTo>
                <a:cubicBezTo>
                  <a:pt x="225" y="48"/>
                  <a:pt x="225" y="49"/>
                  <a:pt x="225" y="50"/>
                </a:cubicBezTo>
                <a:cubicBezTo>
                  <a:pt x="225" y="50"/>
                  <a:pt x="225" y="50"/>
                  <a:pt x="225" y="50"/>
                </a:cubicBezTo>
                <a:cubicBezTo>
                  <a:pt x="225" y="51"/>
                  <a:pt x="225" y="52"/>
                  <a:pt x="224" y="52"/>
                </a:cubicBezTo>
                <a:cubicBezTo>
                  <a:pt x="224" y="52"/>
                  <a:pt x="224" y="52"/>
                  <a:pt x="224" y="52"/>
                </a:cubicBezTo>
                <a:cubicBezTo>
                  <a:pt x="223" y="52"/>
                  <a:pt x="222" y="51"/>
                  <a:pt x="222" y="50"/>
                </a:cubicBezTo>
                <a:cubicBezTo>
                  <a:pt x="222" y="50"/>
                  <a:pt x="222" y="50"/>
                  <a:pt x="222" y="50"/>
                </a:cubicBezTo>
                <a:cubicBezTo>
                  <a:pt x="222" y="49"/>
                  <a:pt x="223" y="48"/>
                  <a:pt x="224" y="48"/>
                </a:cubicBezTo>
                <a:close/>
                <a:moveTo>
                  <a:pt x="196" y="1"/>
                </a:moveTo>
                <a:cubicBezTo>
                  <a:pt x="196" y="2"/>
                  <a:pt x="197" y="3"/>
                  <a:pt x="198" y="5"/>
                </a:cubicBezTo>
                <a:cubicBezTo>
                  <a:pt x="199" y="6"/>
                  <a:pt x="198" y="7"/>
                  <a:pt x="198" y="7"/>
                </a:cubicBezTo>
                <a:cubicBezTo>
                  <a:pt x="198" y="7"/>
                  <a:pt x="198" y="7"/>
                  <a:pt x="198" y="7"/>
                </a:cubicBezTo>
                <a:cubicBezTo>
                  <a:pt x="197" y="8"/>
                  <a:pt x="196" y="7"/>
                  <a:pt x="195" y="7"/>
                </a:cubicBezTo>
                <a:cubicBezTo>
                  <a:pt x="195" y="5"/>
                  <a:pt x="194" y="4"/>
                  <a:pt x="193" y="3"/>
                </a:cubicBezTo>
                <a:cubicBezTo>
                  <a:pt x="190" y="3"/>
                  <a:pt x="190" y="3"/>
                  <a:pt x="186" y="3"/>
                </a:cubicBezTo>
                <a:cubicBezTo>
                  <a:pt x="186" y="3"/>
                  <a:pt x="185" y="2"/>
                  <a:pt x="185" y="1"/>
                </a:cubicBezTo>
                <a:cubicBezTo>
                  <a:pt x="185" y="1"/>
                  <a:pt x="185" y="1"/>
                  <a:pt x="185" y="1"/>
                </a:cubicBezTo>
                <a:cubicBezTo>
                  <a:pt x="185" y="0"/>
                  <a:pt x="186" y="0"/>
                  <a:pt x="186" y="0"/>
                </a:cubicBezTo>
                <a:cubicBezTo>
                  <a:pt x="194" y="0"/>
                  <a:pt x="194" y="0"/>
                  <a:pt x="194" y="0"/>
                </a:cubicBezTo>
                <a:cubicBezTo>
                  <a:pt x="195" y="0"/>
                  <a:pt x="195" y="0"/>
                  <a:pt x="196" y="1"/>
                </a:cubicBezTo>
                <a:close/>
                <a:moveTo>
                  <a:pt x="217" y="42"/>
                </a:moveTo>
                <a:cubicBezTo>
                  <a:pt x="215" y="39"/>
                  <a:pt x="213" y="36"/>
                  <a:pt x="211" y="32"/>
                </a:cubicBezTo>
                <a:cubicBezTo>
                  <a:pt x="211" y="32"/>
                  <a:pt x="211" y="31"/>
                  <a:pt x="212" y="30"/>
                </a:cubicBezTo>
                <a:cubicBezTo>
                  <a:pt x="212" y="30"/>
                  <a:pt x="212" y="30"/>
                  <a:pt x="212" y="30"/>
                </a:cubicBezTo>
                <a:cubicBezTo>
                  <a:pt x="212" y="30"/>
                  <a:pt x="213" y="30"/>
                  <a:pt x="214" y="31"/>
                </a:cubicBezTo>
                <a:cubicBezTo>
                  <a:pt x="216" y="34"/>
                  <a:pt x="218" y="37"/>
                  <a:pt x="220" y="41"/>
                </a:cubicBezTo>
                <a:cubicBezTo>
                  <a:pt x="221" y="41"/>
                  <a:pt x="220" y="42"/>
                  <a:pt x="219" y="43"/>
                </a:cubicBezTo>
                <a:cubicBezTo>
                  <a:pt x="219" y="43"/>
                  <a:pt x="219" y="43"/>
                  <a:pt x="219" y="43"/>
                </a:cubicBezTo>
                <a:cubicBezTo>
                  <a:pt x="219" y="43"/>
                  <a:pt x="218" y="43"/>
                  <a:pt x="217" y="42"/>
                </a:cubicBezTo>
                <a:close/>
                <a:moveTo>
                  <a:pt x="206" y="24"/>
                </a:moveTo>
                <a:cubicBezTo>
                  <a:pt x="204" y="21"/>
                  <a:pt x="202" y="18"/>
                  <a:pt x="200" y="14"/>
                </a:cubicBezTo>
                <a:cubicBezTo>
                  <a:pt x="200" y="14"/>
                  <a:pt x="200" y="13"/>
                  <a:pt x="201" y="12"/>
                </a:cubicBezTo>
                <a:cubicBezTo>
                  <a:pt x="201" y="12"/>
                  <a:pt x="201" y="12"/>
                  <a:pt x="201" y="12"/>
                </a:cubicBezTo>
                <a:cubicBezTo>
                  <a:pt x="201" y="12"/>
                  <a:pt x="203" y="12"/>
                  <a:pt x="203" y="13"/>
                </a:cubicBezTo>
                <a:cubicBezTo>
                  <a:pt x="205" y="16"/>
                  <a:pt x="207" y="19"/>
                  <a:pt x="209" y="23"/>
                </a:cubicBezTo>
                <a:cubicBezTo>
                  <a:pt x="210" y="24"/>
                  <a:pt x="209" y="25"/>
                  <a:pt x="209" y="25"/>
                </a:cubicBezTo>
                <a:cubicBezTo>
                  <a:pt x="209" y="25"/>
                  <a:pt x="209" y="25"/>
                  <a:pt x="209" y="25"/>
                </a:cubicBezTo>
                <a:cubicBezTo>
                  <a:pt x="208" y="26"/>
                  <a:pt x="207" y="25"/>
                  <a:pt x="206" y="24"/>
                </a:cubicBezTo>
                <a:close/>
                <a:moveTo>
                  <a:pt x="0" y="3"/>
                </a:moveTo>
                <a:cubicBezTo>
                  <a:pt x="0" y="0"/>
                  <a:pt x="0" y="0"/>
                  <a:pt x="0" y="0"/>
                </a:cubicBezTo>
                <a:cubicBezTo>
                  <a:pt x="8" y="0"/>
                  <a:pt x="8" y="0"/>
                  <a:pt x="8" y="0"/>
                </a:cubicBezTo>
                <a:cubicBezTo>
                  <a:pt x="9" y="0"/>
                  <a:pt x="10" y="0"/>
                  <a:pt x="10" y="1"/>
                </a:cubicBezTo>
                <a:cubicBezTo>
                  <a:pt x="10" y="1"/>
                  <a:pt x="10" y="1"/>
                  <a:pt x="10" y="1"/>
                </a:cubicBezTo>
                <a:cubicBezTo>
                  <a:pt x="10" y="2"/>
                  <a:pt x="9" y="3"/>
                  <a:pt x="8" y="3"/>
                </a:cubicBezTo>
                <a:cubicBezTo>
                  <a:pt x="0" y="3"/>
                  <a:pt x="0" y="3"/>
                  <a:pt x="0" y="3"/>
                </a:cubicBezTo>
                <a:close/>
                <a:moveTo>
                  <a:pt x="40" y="0"/>
                </a:moveTo>
                <a:cubicBezTo>
                  <a:pt x="43" y="0"/>
                  <a:pt x="47" y="0"/>
                  <a:pt x="51" y="0"/>
                </a:cubicBezTo>
                <a:cubicBezTo>
                  <a:pt x="52" y="0"/>
                  <a:pt x="53" y="0"/>
                  <a:pt x="53" y="1"/>
                </a:cubicBezTo>
                <a:cubicBezTo>
                  <a:pt x="53" y="1"/>
                  <a:pt x="53" y="1"/>
                  <a:pt x="53" y="1"/>
                </a:cubicBezTo>
                <a:cubicBezTo>
                  <a:pt x="53" y="2"/>
                  <a:pt x="52" y="3"/>
                  <a:pt x="51" y="3"/>
                </a:cubicBezTo>
                <a:cubicBezTo>
                  <a:pt x="47" y="3"/>
                  <a:pt x="43" y="3"/>
                  <a:pt x="40" y="3"/>
                </a:cubicBezTo>
                <a:cubicBezTo>
                  <a:pt x="39" y="3"/>
                  <a:pt x="38" y="2"/>
                  <a:pt x="38" y="1"/>
                </a:cubicBezTo>
                <a:cubicBezTo>
                  <a:pt x="38" y="1"/>
                  <a:pt x="38" y="1"/>
                  <a:pt x="38" y="1"/>
                </a:cubicBezTo>
                <a:cubicBezTo>
                  <a:pt x="38" y="0"/>
                  <a:pt x="39" y="0"/>
                  <a:pt x="40" y="0"/>
                </a:cubicBezTo>
                <a:close/>
                <a:moveTo>
                  <a:pt x="60" y="0"/>
                </a:moveTo>
                <a:cubicBezTo>
                  <a:pt x="64" y="0"/>
                  <a:pt x="68" y="0"/>
                  <a:pt x="72" y="0"/>
                </a:cubicBezTo>
                <a:cubicBezTo>
                  <a:pt x="73" y="0"/>
                  <a:pt x="74" y="0"/>
                  <a:pt x="74" y="1"/>
                </a:cubicBezTo>
                <a:cubicBezTo>
                  <a:pt x="74" y="1"/>
                  <a:pt x="74" y="1"/>
                  <a:pt x="74" y="1"/>
                </a:cubicBezTo>
                <a:cubicBezTo>
                  <a:pt x="74" y="2"/>
                  <a:pt x="73" y="3"/>
                  <a:pt x="72" y="3"/>
                </a:cubicBezTo>
                <a:cubicBezTo>
                  <a:pt x="68" y="3"/>
                  <a:pt x="64" y="3"/>
                  <a:pt x="60" y="3"/>
                </a:cubicBezTo>
                <a:cubicBezTo>
                  <a:pt x="60" y="3"/>
                  <a:pt x="59" y="2"/>
                  <a:pt x="59" y="1"/>
                </a:cubicBezTo>
                <a:cubicBezTo>
                  <a:pt x="59" y="1"/>
                  <a:pt x="59" y="1"/>
                  <a:pt x="59" y="1"/>
                </a:cubicBezTo>
                <a:cubicBezTo>
                  <a:pt x="59" y="0"/>
                  <a:pt x="60" y="0"/>
                  <a:pt x="60" y="0"/>
                </a:cubicBezTo>
                <a:close/>
                <a:moveTo>
                  <a:pt x="81" y="0"/>
                </a:moveTo>
                <a:cubicBezTo>
                  <a:pt x="85" y="0"/>
                  <a:pt x="89" y="0"/>
                  <a:pt x="93" y="0"/>
                </a:cubicBezTo>
                <a:cubicBezTo>
                  <a:pt x="94" y="0"/>
                  <a:pt x="95" y="0"/>
                  <a:pt x="95" y="1"/>
                </a:cubicBezTo>
                <a:cubicBezTo>
                  <a:pt x="95" y="1"/>
                  <a:pt x="95" y="1"/>
                  <a:pt x="95" y="1"/>
                </a:cubicBezTo>
                <a:cubicBezTo>
                  <a:pt x="95" y="2"/>
                  <a:pt x="94" y="3"/>
                  <a:pt x="93" y="3"/>
                </a:cubicBezTo>
                <a:cubicBezTo>
                  <a:pt x="89" y="3"/>
                  <a:pt x="85" y="3"/>
                  <a:pt x="81" y="3"/>
                </a:cubicBezTo>
                <a:cubicBezTo>
                  <a:pt x="81" y="3"/>
                  <a:pt x="80" y="2"/>
                  <a:pt x="80" y="1"/>
                </a:cubicBezTo>
                <a:cubicBezTo>
                  <a:pt x="80" y="1"/>
                  <a:pt x="80" y="1"/>
                  <a:pt x="80" y="1"/>
                </a:cubicBezTo>
                <a:cubicBezTo>
                  <a:pt x="80" y="0"/>
                  <a:pt x="81" y="0"/>
                  <a:pt x="81" y="0"/>
                </a:cubicBezTo>
                <a:close/>
                <a:moveTo>
                  <a:pt x="102" y="0"/>
                </a:moveTo>
                <a:cubicBezTo>
                  <a:pt x="106" y="0"/>
                  <a:pt x="110" y="0"/>
                  <a:pt x="114" y="0"/>
                </a:cubicBezTo>
                <a:cubicBezTo>
                  <a:pt x="115" y="0"/>
                  <a:pt x="116" y="0"/>
                  <a:pt x="116" y="1"/>
                </a:cubicBezTo>
                <a:cubicBezTo>
                  <a:pt x="116" y="1"/>
                  <a:pt x="116" y="1"/>
                  <a:pt x="116" y="1"/>
                </a:cubicBezTo>
                <a:cubicBezTo>
                  <a:pt x="116" y="2"/>
                  <a:pt x="115" y="3"/>
                  <a:pt x="114" y="3"/>
                </a:cubicBezTo>
                <a:cubicBezTo>
                  <a:pt x="110" y="3"/>
                  <a:pt x="106" y="3"/>
                  <a:pt x="102" y="3"/>
                </a:cubicBezTo>
                <a:cubicBezTo>
                  <a:pt x="102" y="3"/>
                  <a:pt x="101" y="2"/>
                  <a:pt x="101" y="1"/>
                </a:cubicBezTo>
                <a:cubicBezTo>
                  <a:pt x="101" y="1"/>
                  <a:pt x="101" y="1"/>
                  <a:pt x="101" y="1"/>
                </a:cubicBezTo>
                <a:cubicBezTo>
                  <a:pt x="101" y="0"/>
                  <a:pt x="102" y="0"/>
                  <a:pt x="102" y="0"/>
                </a:cubicBezTo>
                <a:close/>
                <a:moveTo>
                  <a:pt x="123" y="0"/>
                </a:moveTo>
                <a:cubicBezTo>
                  <a:pt x="127" y="0"/>
                  <a:pt x="131" y="0"/>
                  <a:pt x="135" y="0"/>
                </a:cubicBezTo>
                <a:cubicBezTo>
                  <a:pt x="136" y="0"/>
                  <a:pt x="137" y="0"/>
                  <a:pt x="137" y="1"/>
                </a:cubicBezTo>
                <a:cubicBezTo>
                  <a:pt x="137" y="1"/>
                  <a:pt x="137" y="1"/>
                  <a:pt x="137" y="1"/>
                </a:cubicBezTo>
                <a:cubicBezTo>
                  <a:pt x="137" y="2"/>
                  <a:pt x="136" y="3"/>
                  <a:pt x="135" y="3"/>
                </a:cubicBezTo>
                <a:cubicBezTo>
                  <a:pt x="131" y="3"/>
                  <a:pt x="127" y="3"/>
                  <a:pt x="123" y="3"/>
                </a:cubicBezTo>
                <a:cubicBezTo>
                  <a:pt x="123" y="3"/>
                  <a:pt x="122" y="2"/>
                  <a:pt x="122" y="1"/>
                </a:cubicBezTo>
                <a:cubicBezTo>
                  <a:pt x="122" y="1"/>
                  <a:pt x="122" y="1"/>
                  <a:pt x="122" y="1"/>
                </a:cubicBezTo>
                <a:cubicBezTo>
                  <a:pt x="122" y="0"/>
                  <a:pt x="123" y="0"/>
                  <a:pt x="123" y="0"/>
                </a:cubicBezTo>
                <a:close/>
                <a:moveTo>
                  <a:pt x="144" y="0"/>
                </a:moveTo>
                <a:cubicBezTo>
                  <a:pt x="148" y="0"/>
                  <a:pt x="152" y="0"/>
                  <a:pt x="156" y="0"/>
                </a:cubicBezTo>
                <a:cubicBezTo>
                  <a:pt x="157" y="0"/>
                  <a:pt x="158" y="0"/>
                  <a:pt x="158" y="1"/>
                </a:cubicBezTo>
                <a:cubicBezTo>
                  <a:pt x="158" y="1"/>
                  <a:pt x="158" y="1"/>
                  <a:pt x="158" y="1"/>
                </a:cubicBezTo>
                <a:cubicBezTo>
                  <a:pt x="158" y="2"/>
                  <a:pt x="157" y="3"/>
                  <a:pt x="156" y="3"/>
                </a:cubicBezTo>
                <a:cubicBezTo>
                  <a:pt x="152" y="3"/>
                  <a:pt x="148" y="3"/>
                  <a:pt x="144" y="3"/>
                </a:cubicBezTo>
                <a:cubicBezTo>
                  <a:pt x="144" y="3"/>
                  <a:pt x="143" y="2"/>
                  <a:pt x="143" y="1"/>
                </a:cubicBezTo>
                <a:cubicBezTo>
                  <a:pt x="143" y="1"/>
                  <a:pt x="143" y="1"/>
                  <a:pt x="143" y="1"/>
                </a:cubicBezTo>
                <a:cubicBezTo>
                  <a:pt x="143" y="0"/>
                  <a:pt x="144" y="0"/>
                  <a:pt x="144" y="0"/>
                </a:cubicBezTo>
                <a:close/>
                <a:moveTo>
                  <a:pt x="165" y="0"/>
                </a:moveTo>
                <a:cubicBezTo>
                  <a:pt x="169" y="0"/>
                  <a:pt x="173" y="0"/>
                  <a:pt x="177" y="0"/>
                </a:cubicBezTo>
                <a:cubicBezTo>
                  <a:pt x="178" y="0"/>
                  <a:pt x="179" y="0"/>
                  <a:pt x="179" y="1"/>
                </a:cubicBezTo>
                <a:cubicBezTo>
                  <a:pt x="179" y="1"/>
                  <a:pt x="179" y="1"/>
                  <a:pt x="179" y="1"/>
                </a:cubicBezTo>
                <a:cubicBezTo>
                  <a:pt x="179" y="2"/>
                  <a:pt x="178" y="3"/>
                  <a:pt x="177" y="3"/>
                </a:cubicBezTo>
                <a:cubicBezTo>
                  <a:pt x="173" y="3"/>
                  <a:pt x="169" y="3"/>
                  <a:pt x="165" y="3"/>
                </a:cubicBezTo>
                <a:cubicBezTo>
                  <a:pt x="165" y="3"/>
                  <a:pt x="164" y="2"/>
                  <a:pt x="164" y="1"/>
                </a:cubicBezTo>
                <a:cubicBezTo>
                  <a:pt x="164" y="1"/>
                  <a:pt x="164" y="1"/>
                  <a:pt x="164" y="1"/>
                </a:cubicBezTo>
                <a:cubicBezTo>
                  <a:pt x="164" y="0"/>
                  <a:pt x="165" y="0"/>
                  <a:pt x="165" y="0"/>
                </a:cubicBezTo>
                <a:close/>
              </a:path>
            </a:pathLst>
          </a:custGeom>
          <a:solidFill>
            <a:srgbClr val="82C3D0"/>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6" name="Freeform 45"/>
          <p:cNvSpPr>
            <a:spLocks noChangeAspect="1" noEditPoints="1"/>
          </p:cNvSpPr>
          <p:nvPr/>
        </p:nvSpPr>
        <p:spPr bwMode="auto">
          <a:xfrm>
            <a:off x="1293303" y="3385346"/>
            <a:ext cx="278276" cy="355632"/>
          </a:xfrm>
          <a:custGeom>
            <a:avLst/>
            <a:gdLst>
              <a:gd name="T0" fmla="*/ 427 w 463"/>
              <a:gd name="T1" fmla="*/ 0 h 773"/>
              <a:gd name="T2" fmla="*/ 42 w 463"/>
              <a:gd name="T3" fmla="*/ 0 h 773"/>
              <a:gd name="T4" fmla="*/ 0 w 463"/>
              <a:gd name="T5" fmla="*/ 35 h 773"/>
              <a:gd name="T6" fmla="*/ 0 w 463"/>
              <a:gd name="T7" fmla="*/ 733 h 773"/>
              <a:gd name="T8" fmla="*/ 42 w 463"/>
              <a:gd name="T9" fmla="*/ 773 h 773"/>
              <a:gd name="T10" fmla="*/ 427 w 463"/>
              <a:gd name="T11" fmla="*/ 773 h 773"/>
              <a:gd name="T12" fmla="*/ 463 w 463"/>
              <a:gd name="T13" fmla="*/ 733 h 773"/>
              <a:gd name="T14" fmla="*/ 463 w 463"/>
              <a:gd name="T15" fmla="*/ 35 h 773"/>
              <a:gd name="T16" fmla="*/ 427 w 463"/>
              <a:gd name="T17" fmla="*/ 0 h 773"/>
              <a:gd name="T18" fmla="*/ 152 w 463"/>
              <a:gd name="T19" fmla="*/ 730 h 773"/>
              <a:gd name="T20" fmla="*/ 139 w 463"/>
              <a:gd name="T21" fmla="*/ 743 h 773"/>
              <a:gd name="T22" fmla="*/ 112 w 463"/>
              <a:gd name="T23" fmla="*/ 743 h 773"/>
              <a:gd name="T24" fmla="*/ 99 w 463"/>
              <a:gd name="T25" fmla="*/ 730 h 773"/>
              <a:gd name="T26" fmla="*/ 99 w 463"/>
              <a:gd name="T27" fmla="*/ 722 h 773"/>
              <a:gd name="T28" fmla="*/ 112 w 463"/>
              <a:gd name="T29" fmla="*/ 709 h 773"/>
              <a:gd name="T30" fmla="*/ 139 w 463"/>
              <a:gd name="T31" fmla="*/ 709 h 773"/>
              <a:gd name="T32" fmla="*/ 152 w 463"/>
              <a:gd name="T33" fmla="*/ 722 h 773"/>
              <a:gd name="T34" fmla="*/ 152 w 463"/>
              <a:gd name="T35" fmla="*/ 730 h 773"/>
              <a:gd name="T36" fmla="*/ 263 w 463"/>
              <a:gd name="T37" fmla="*/ 724 h 773"/>
              <a:gd name="T38" fmla="*/ 247 w 463"/>
              <a:gd name="T39" fmla="*/ 743 h 773"/>
              <a:gd name="T40" fmla="*/ 219 w 463"/>
              <a:gd name="T41" fmla="*/ 743 h 773"/>
              <a:gd name="T42" fmla="*/ 202 w 463"/>
              <a:gd name="T43" fmla="*/ 724 h 773"/>
              <a:gd name="T44" fmla="*/ 202 w 463"/>
              <a:gd name="T45" fmla="*/ 716 h 773"/>
              <a:gd name="T46" fmla="*/ 219 w 463"/>
              <a:gd name="T47" fmla="*/ 699 h 773"/>
              <a:gd name="T48" fmla="*/ 247 w 463"/>
              <a:gd name="T49" fmla="*/ 699 h 773"/>
              <a:gd name="T50" fmla="*/ 263 w 463"/>
              <a:gd name="T51" fmla="*/ 716 h 773"/>
              <a:gd name="T52" fmla="*/ 263 w 463"/>
              <a:gd name="T53" fmla="*/ 724 h 773"/>
              <a:gd name="T54" fmla="*/ 366 w 463"/>
              <a:gd name="T55" fmla="*/ 730 h 773"/>
              <a:gd name="T56" fmla="*/ 354 w 463"/>
              <a:gd name="T57" fmla="*/ 743 h 773"/>
              <a:gd name="T58" fmla="*/ 326 w 463"/>
              <a:gd name="T59" fmla="*/ 743 h 773"/>
              <a:gd name="T60" fmla="*/ 314 w 463"/>
              <a:gd name="T61" fmla="*/ 730 h 773"/>
              <a:gd name="T62" fmla="*/ 314 w 463"/>
              <a:gd name="T63" fmla="*/ 722 h 773"/>
              <a:gd name="T64" fmla="*/ 326 w 463"/>
              <a:gd name="T65" fmla="*/ 709 h 773"/>
              <a:gd name="T66" fmla="*/ 354 w 463"/>
              <a:gd name="T67" fmla="*/ 709 h 773"/>
              <a:gd name="T68" fmla="*/ 366 w 463"/>
              <a:gd name="T69" fmla="*/ 722 h 773"/>
              <a:gd name="T70" fmla="*/ 366 w 463"/>
              <a:gd name="T71" fmla="*/ 730 h 773"/>
              <a:gd name="T72" fmla="*/ 417 w 463"/>
              <a:gd name="T73" fmla="*/ 644 h 773"/>
              <a:gd name="T74" fmla="*/ 394 w 463"/>
              <a:gd name="T75" fmla="*/ 671 h 773"/>
              <a:gd name="T76" fmla="*/ 74 w 463"/>
              <a:gd name="T77" fmla="*/ 671 h 773"/>
              <a:gd name="T78" fmla="*/ 49 w 463"/>
              <a:gd name="T79" fmla="*/ 644 h 773"/>
              <a:gd name="T80" fmla="*/ 49 w 463"/>
              <a:gd name="T81" fmla="*/ 67 h 773"/>
              <a:gd name="T82" fmla="*/ 74 w 463"/>
              <a:gd name="T83" fmla="*/ 46 h 773"/>
              <a:gd name="T84" fmla="*/ 394 w 463"/>
              <a:gd name="T85" fmla="*/ 46 h 773"/>
              <a:gd name="T86" fmla="*/ 417 w 463"/>
              <a:gd name="T87" fmla="*/ 67 h 773"/>
              <a:gd name="T88" fmla="*/ 417 w 463"/>
              <a:gd name="T89" fmla="*/ 64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63" h="773">
                <a:moveTo>
                  <a:pt x="427" y="0"/>
                </a:moveTo>
                <a:cubicBezTo>
                  <a:pt x="42" y="0"/>
                  <a:pt x="42" y="0"/>
                  <a:pt x="42" y="0"/>
                </a:cubicBezTo>
                <a:cubicBezTo>
                  <a:pt x="19" y="0"/>
                  <a:pt x="0" y="17"/>
                  <a:pt x="0" y="35"/>
                </a:cubicBezTo>
                <a:cubicBezTo>
                  <a:pt x="0" y="733"/>
                  <a:pt x="0" y="733"/>
                  <a:pt x="0" y="733"/>
                </a:cubicBezTo>
                <a:cubicBezTo>
                  <a:pt x="0" y="756"/>
                  <a:pt x="17" y="773"/>
                  <a:pt x="42" y="773"/>
                </a:cubicBezTo>
                <a:cubicBezTo>
                  <a:pt x="427" y="773"/>
                  <a:pt x="427" y="773"/>
                  <a:pt x="427" y="773"/>
                </a:cubicBezTo>
                <a:cubicBezTo>
                  <a:pt x="448" y="773"/>
                  <a:pt x="463" y="756"/>
                  <a:pt x="463" y="733"/>
                </a:cubicBezTo>
                <a:cubicBezTo>
                  <a:pt x="463" y="35"/>
                  <a:pt x="463" y="35"/>
                  <a:pt x="463" y="35"/>
                </a:cubicBezTo>
                <a:cubicBezTo>
                  <a:pt x="463" y="19"/>
                  <a:pt x="451" y="0"/>
                  <a:pt x="427" y="0"/>
                </a:cubicBezTo>
                <a:close/>
                <a:moveTo>
                  <a:pt x="152" y="730"/>
                </a:moveTo>
                <a:cubicBezTo>
                  <a:pt x="152" y="737"/>
                  <a:pt x="146" y="743"/>
                  <a:pt x="139" y="743"/>
                </a:cubicBezTo>
                <a:cubicBezTo>
                  <a:pt x="112" y="743"/>
                  <a:pt x="112" y="743"/>
                  <a:pt x="112" y="743"/>
                </a:cubicBezTo>
                <a:cubicBezTo>
                  <a:pt x="106" y="743"/>
                  <a:pt x="99" y="737"/>
                  <a:pt x="99" y="730"/>
                </a:cubicBezTo>
                <a:cubicBezTo>
                  <a:pt x="99" y="722"/>
                  <a:pt x="99" y="722"/>
                  <a:pt x="99" y="722"/>
                </a:cubicBezTo>
                <a:cubicBezTo>
                  <a:pt x="99" y="714"/>
                  <a:pt x="106" y="709"/>
                  <a:pt x="112" y="709"/>
                </a:cubicBezTo>
                <a:cubicBezTo>
                  <a:pt x="139" y="709"/>
                  <a:pt x="139" y="709"/>
                  <a:pt x="139" y="709"/>
                </a:cubicBezTo>
                <a:cubicBezTo>
                  <a:pt x="146" y="709"/>
                  <a:pt x="152" y="714"/>
                  <a:pt x="152" y="722"/>
                </a:cubicBezTo>
                <a:cubicBezTo>
                  <a:pt x="152" y="730"/>
                  <a:pt x="152" y="730"/>
                  <a:pt x="152" y="730"/>
                </a:cubicBezTo>
                <a:close/>
                <a:moveTo>
                  <a:pt x="263" y="724"/>
                </a:moveTo>
                <a:cubicBezTo>
                  <a:pt x="263" y="735"/>
                  <a:pt x="255" y="743"/>
                  <a:pt x="247" y="743"/>
                </a:cubicBezTo>
                <a:cubicBezTo>
                  <a:pt x="219" y="743"/>
                  <a:pt x="219" y="743"/>
                  <a:pt x="219" y="743"/>
                </a:cubicBezTo>
                <a:cubicBezTo>
                  <a:pt x="211" y="743"/>
                  <a:pt x="202" y="735"/>
                  <a:pt x="202" y="724"/>
                </a:cubicBezTo>
                <a:cubicBezTo>
                  <a:pt x="202" y="716"/>
                  <a:pt x="202" y="716"/>
                  <a:pt x="202" y="716"/>
                </a:cubicBezTo>
                <a:cubicBezTo>
                  <a:pt x="202" y="705"/>
                  <a:pt x="209" y="699"/>
                  <a:pt x="219" y="699"/>
                </a:cubicBezTo>
                <a:cubicBezTo>
                  <a:pt x="247" y="699"/>
                  <a:pt x="247" y="699"/>
                  <a:pt x="247" y="699"/>
                </a:cubicBezTo>
                <a:cubicBezTo>
                  <a:pt x="255" y="699"/>
                  <a:pt x="263" y="705"/>
                  <a:pt x="263" y="716"/>
                </a:cubicBezTo>
                <a:cubicBezTo>
                  <a:pt x="263" y="724"/>
                  <a:pt x="263" y="724"/>
                  <a:pt x="263" y="724"/>
                </a:cubicBezTo>
                <a:close/>
                <a:moveTo>
                  <a:pt x="366" y="730"/>
                </a:moveTo>
                <a:cubicBezTo>
                  <a:pt x="366" y="737"/>
                  <a:pt x="360" y="743"/>
                  <a:pt x="354" y="743"/>
                </a:cubicBezTo>
                <a:cubicBezTo>
                  <a:pt x="326" y="743"/>
                  <a:pt x="326" y="743"/>
                  <a:pt x="326" y="743"/>
                </a:cubicBezTo>
                <a:cubicBezTo>
                  <a:pt x="320" y="743"/>
                  <a:pt x="314" y="737"/>
                  <a:pt x="314" y="730"/>
                </a:cubicBezTo>
                <a:cubicBezTo>
                  <a:pt x="314" y="722"/>
                  <a:pt x="314" y="722"/>
                  <a:pt x="314" y="722"/>
                </a:cubicBezTo>
                <a:cubicBezTo>
                  <a:pt x="314" y="714"/>
                  <a:pt x="320" y="709"/>
                  <a:pt x="326" y="709"/>
                </a:cubicBezTo>
                <a:cubicBezTo>
                  <a:pt x="354" y="709"/>
                  <a:pt x="354" y="709"/>
                  <a:pt x="354" y="709"/>
                </a:cubicBezTo>
                <a:cubicBezTo>
                  <a:pt x="360" y="709"/>
                  <a:pt x="366" y="714"/>
                  <a:pt x="366" y="722"/>
                </a:cubicBezTo>
                <a:cubicBezTo>
                  <a:pt x="366" y="730"/>
                  <a:pt x="366" y="730"/>
                  <a:pt x="366" y="730"/>
                </a:cubicBezTo>
                <a:close/>
                <a:moveTo>
                  <a:pt x="417" y="644"/>
                </a:moveTo>
                <a:cubicBezTo>
                  <a:pt x="417" y="657"/>
                  <a:pt x="409" y="671"/>
                  <a:pt x="394" y="671"/>
                </a:cubicBezTo>
                <a:cubicBezTo>
                  <a:pt x="74" y="671"/>
                  <a:pt x="74" y="671"/>
                  <a:pt x="74" y="671"/>
                </a:cubicBezTo>
                <a:cubicBezTo>
                  <a:pt x="59" y="671"/>
                  <a:pt x="49" y="659"/>
                  <a:pt x="49" y="644"/>
                </a:cubicBezTo>
                <a:cubicBezTo>
                  <a:pt x="49" y="67"/>
                  <a:pt x="49" y="67"/>
                  <a:pt x="49" y="67"/>
                </a:cubicBezTo>
                <a:cubicBezTo>
                  <a:pt x="49" y="50"/>
                  <a:pt x="61" y="46"/>
                  <a:pt x="74" y="46"/>
                </a:cubicBezTo>
                <a:cubicBezTo>
                  <a:pt x="394" y="46"/>
                  <a:pt x="394" y="46"/>
                  <a:pt x="394" y="46"/>
                </a:cubicBezTo>
                <a:cubicBezTo>
                  <a:pt x="404" y="46"/>
                  <a:pt x="417" y="48"/>
                  <a:pt x="417" y="67"/>
                </a:cubicBezTo>
                <a:cubicBezTo>
                  <a:pt x="417" y="644"/>
                  <a:pt x="417" y="644"/>
                  <a:pt x="417" y="644"/>
                </a:cubicBezTo>
                <a:close/>
              </a:path>
            </a:pathLst>
          </a:custGeom>
          <a:solidFill>
            <a:srgbClr val="FFFFFF"/>
          </a:solidFill>
          <a:ln>
            <a:noFill/>
          </a:ln>
        </p:spPr>
        <p:txBody>
          <a:bodyPr vert="horz" wrap="square" lIns="93256" tIns="46627" rIns="93256" bIns="46627" numCol="1" anchor="t" anchorCtr="0" compatLnSpc="1"/>
          <a:lstStyle/>
          <a:p>
            <a:pPr>
              <a:defRPr/>
            </a:pPr>
            <a:endParaRPr lang="en-US" kern="0" dirty="0">
              <a:solidFill>
                <a:srgbClr val="FFFFFF"/>
              </a:solidFill>
            </a:endParaRPr>
          </a:p>
        </p:txBody>
      </p:sp>
      <p:sp>
        <p:nvSpPr>
          <p:cNvPr id="77" name="Freeform 10"/>
          <p:cNvSpPr>
            <a:spLocks noEditPoints="1"/>
          </p:cNvSpPr>
          <p:nvPr/>
        </p:nvSpPr>
        <p:spPr bwMode="auto">
          <a:xfrm>
            <a:off x="1113945" y="1775033"/>
            <a:ext cx="710707" cy="344036"/>
          </a:xfrm>
          <a:custGeom>
            <a:avLst/>
            <a:gdLst>
              <a:gd name="T0" fmla="*/ 87 w 782"/>
              <a:gd name="T1" fmla="*/ 232 h 493"/>
              <a:gd name="T2" fmla="*/ 195 w 782"/>
              <a:gd name="T3" fmla="*/ 0 h 493"/>
              <a:gd name="T4" fmla="*/ 724 w 782"/>
              <a:gd name="T5" fmla="*/ 467 h 493"/>
              <a:gd name="T6" fmla="*/ 612 w 782"/>
              <a:gd name="T7" fmla="*/ 369 h 493"/>
              <a:gd name="T8" fmla="*/ 565 w 782"/>
              <a:gd name="T9" fmla="*/ 349 h 493"/>
              <a:gd name="T10" fmla="*/ 605 w 782"/>
              <a:gd name="T11" fmla="*/ 354 h 493"/>
              <a:gd name="T12" fmla="*/ 366 w 782"/>
              <a:gd name="T13" fmla="*/ 366 h 493"/>
              <a:gd name="T14" fmla="*/ 372 w 782"/>
              <a:gd name="T15" fmla="*/ 348 h 493"/>
              <a:gd name="T16" fmla="*/ 410 w 782"/>
              <a:gd name="T17" fmla="*/ 351 h 493"/>
              <a:gd name="T18" fmla="*/ 409 w 782"/>
              <a:gd name="T19" fmla="*/ 406 h 493"/>
              <a:gd name="T20" fmla="*/ 362 w 782"/>
              <a:gd name="T21" fmla="*/ 405 h 493"/>
              <a:gd name="T22" fmla="*/ 288 w 782"/>
              <a:gd name="T23" fmla="*/ 400 h 493"/>
              <a:gd name="T24" fmla="*/ 339 w 782"/>
              <a:gd name="T25" fmla="*/ 389 h 493"/>
              <a:gd name="T26" fmla="*/ 322 w 782"/>
              <a:gd name="T27" fmla="*/ 409 h 493"/>
              <a:gd name="T28" fmla="*/ 302 w 782"/>
              <a:gd name="T29" fmla="*/ 353 h 493"/>
              <a:gd name="T30" fmla="*/ 345 w 782"/>
              <a:gd name="T31" fmla="*/ 351 h 493"/>
              <a:gd name="T32" fmla="*/ 213 w 782"/>
              <a:gd name="T33" fmla="*/ 402 h 493"/>
              <a:gd name="T34" fmla="*/ 267 w 782"/>
              <a:gd name="T35" fmla="*/ 387 h 493"/>
              <a:gd name="T36" fmla="*/ 213 w 782"/>
              <a:gd name="T37" fmla="*/ 406 h 493"/>
              <a:gd name="T38" fmla="*/ 199 w 782"/>
              <a:gd name="T39" fmla="*/ 369 h 493"/>
              <a:gd name="T40" fmla="*/ 214 w 782"/>
              <a:gd name="T41" fmla="*/ 348 h 493"/>
              <a:gd name="T42" fmla="*/ 233 w 782"/>
              <a:gd name="T43" fmla="*/ 361 h 493"/>
              <a:gd name="T44" fmla="*/ 280 w 782"/>
              <a:gd name="T45" fmla="*/ 350 h 493"/>
              <a:gd name="T46" fmla="*/ 273 w 782"/>
              <a:gd name="T47" fmla="*/ 367 h 493"/>
              <a:gd name="T48" fmla="*/ 159 w 782"/>
              <a:gd name="T49" fmla="*/ 452 h 493"/>
              <a:gd name="T50" fmla="*/ 107 w 782"/>
              <a:gd name="T51" fmla="*/ 448 h 493"/>
              <a:gd name="T52" fmla="*/ 137 w 782"/>
              <a:gd name="T53" fmla="*/ 424 h 493"/>
              <a:gd name="T54" fmla="*/ 188 w 782"/>
              <a:gd name="T55" fmla="*/ 402 h 493"/>
              <a:gd name="T56" fmla="*/ 142 w 782"/>
              <a:gd name="T57" fmla="*/ 409 h 493"/>
              <a:gd name="T58" fmla="*/ 153 w 782"/>
              <a:gd name="T59" fmla="*/ 385 h 493"/>
              <a:gd name="T60" fmla="*/ 196 w 782"/>
              <a:gd name="T61" fmla="*/ 389 h 493"/>
              <a:gd name="T62" fmla="*/ 407 w 782"/>
              <a:gd name="T63" fmla="*/ 455 h 493"/>
              <a:gd name="T64" fmla="*/ 200 w 782"/>
              <a:gd name="T65" fmla="*/ 458 h 493"/>
              <a:gd name="T66" fmla="*/ 203 w 782"/>
              <a:gd name="T67" fmla="*/ 427 h 493"/>
              <a:gd name="T68" fmla="*/ 402 w 782"/>
              <a:gd name="T69" fmla="*/ 423 h 493"/>
              <a:gd name="T70" fmla="*/ 411 w 782"/>
              <a:gd name="T71" fmla="*/ 448 h 493"/>
              <a:gd name="T72" fmla="*/ 438 w 782"/>
              <a:gd name="T73" fmla="*/ 347 h 493"/>
              <a:gd name="T74" fmla="*/ 471 w 782"/>
              <a:gd name="T75" fmla="*/ 369 h 493"/>
              <a:gd name="T76" fmla="*/ 434 w 782"/>
              <a:gd name="T77" fmla="*/ 366 h 493"/>
              <a:gd name="T78" fmla="*/ 484 w 782"/>
              <a:gd name="T79" fmla="*/ 395 h 493"/>
              <a:gd name="T80" fmla="*/ 473 w 782"/>
              <a:gd name="T81" fmla="*/ 409 h 493"/>
              <a:gd name="T82" fmla="*/ 437 w 782"/>
              <a:gd name="T83" fmla="*/ 404 h 493"/>
              <a:gd name="T84" fmla="*/ 440 w 782"/>
              <a:gd name="T85" fmla="*/ 451 h 493"/>
              <a:gd name="T86" fmla="*/ 438 w 782"/>
              <a:gd name="T87" fmla="*/ 428 h 493"/>
              <a:gd name="T88" fmla="*/ 447 w 782"/>
              <a:gd name="T89" fmla="*/ 423 h 493"/>
              <a:gd name="T90" fmla="*/ 483 w 782"/>
              <a:gd name="T91" fmla="*/ 424 h 493"/>
              <a:gd name="T92" fmla="*/ 502 w 782"/>
              <a:gd name="T93" fmla="*/ 363 h 493"/>
              <a:gd name="T94" fmla="*/ 536 w 782"/>
              <a:gd name="T95" fmla="*/ 350 h 493"/>
              <a:gd name="T96" fmla="*/ 547 w 782"/>
              <a:gd name="T97" fmla="*/ 366 h 493"/>
              <a:gd name="T98" fmla="*/ 519 w 782"/>
              <a:gd name="T99" fmla="*/ 405 h 493"/>
              <a:gd name="T100" fmla="*/ 559 w 782"/>
              <a:gd name="T101" fmla="*/ 389 h 493"/>
              <a:gd name="T102" fmla="*/ 564 w 782"/>
              <a:gd name="T103" fmla="*/ 408 h 493"/>
              <a:gd name="T104" fmla="*/ 588 w 782"/>
              <a:gd name="T105" fmla="*/ 453 h 493"/>
              <a:gd name="T106" fmla="*/ 548 w 782"/>
              <a:gd name="T107" fmla="*/ 457 h 493"/>
              <a:gd name="T108" fmla="*/ 536 w 782"/>
              <a:gd name="T109" fmla="*/ 423 h 493"/>
              <a:gd name="T110" fmla="*/ 588 w 782"/>
              <a:gd name="T111" fmla="*/ 448 h 493"/>
              <a:gd name="T112" fmla="*/ 591 w 782"/>
              <a:gd name="T113" fmla="*/ 382 h 493"/>
              <a:gd name="T114" fmla="*/ 635 w 782"/>
              <a:gd name="T115" fmla="*/ 409 h 493"/>
              <a:gd name="T116" fmla="*/ 616 w 782"/>
              <a:gd name="T117" fmla="*/ 449 h 493"/>
              <a:gd name="T118" fmla="*/ 639 w 782"/>
              <a:gd name="T119" fmla="*/ 423 h 493"/>
              <a:gd name="T120" fmla="*/ 670 w 782"/>
              <a:gd name="T121" fmla="*/ 449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82" h="493">
                <a:moveTo>
                  <a:pt x="111" y="206"/>
                </a:moveTo>
                <a:cubicBezTo>
                  <a:pt x="91" y="187"/>
                  <a:pt x="91" y="152"/>
                  <a:pt x="111" y="134"/>
                </a:cubicBezTo>
                <a:cubicBezTo>
                  <a:pt x="97" y="136"/>
                  <a:pt x="84" y="151"/>
                  <a:pt x="84" y="170"/>
                </a:cubicBezTo>
                <a:cubicBezTo>
                  <a:pt x="84" y="188"/>
                  <a:pt x="97" y="203"/>
                  <a:pt x="111" y="206"/>
                </a:cubicBezTo>
                <a:close/>
                <a:moveTo>
                  <a:pt x="698" y="170"/>
                </a:moveTo>
                <a:cubicBezTo>
                  <a:pt x="698" y="151"/>
                  <a:pt x="685" y="136"/>
                  <a:pt x="671" y="134"/>
                </a:cubicBezTo>
                <a:cubicBezTo>
                  <a:pt x="691" y="152"/>
                  <a:pt x="691" y="187"/>
                  <a:pt x="671" y="206"/>
                </a:cubicBezTo>
                <a:cubicBezTo>
                  <a:pt x="685" y="203"/>
                  <a:pt x="698" y="188"/>
                  <a:pt x="698" y="170"/>
                </a:cubicBezTo>
                <a:close/>
                <a:moveTo>
                  <a:pt x="696" y="232"/>
                </a:moveTo>
                <a:cubicBezTo>
                  <a:pt x="716" y="224"/>
                  <a:pt x="737" y="200"/>
                  <a:pt x="737" y="170"/>
                </a:cubicBezTo>
                <a:cubicBezTo>
                  <a:pt x="737" y="139"/>
                  <a:pt x="716" y="115"/>
                  <a:pt x="696" y="108"/>
                </a:cubicBezTo>
                <a:cubicBezTo>
                  <a:pt x="712" y="124"/>
                  <a:pt x="723" y="147"/>
                  <a:pt x="723" y="170"/>
                </a:cubicBezTo>
                <a:cubicBezTo>
                  <a:pt x="723" y="193"/>
                  <a:pt x="712" y="215"/>
                  <a:pt x="696" y="232"/>
                </a:cubicBezTo>
                <a:close/>
                <a:moveTo>
                  <a:pt x="87" y="232"/>
                </a:moveTo>
                <a:cubicBezTo>
                  <a:pt x="70" y="215"/>
                  <a:pt x="59" y="193"/>
                  <a:pt x="59" y="170"/>
                </a:cubicBezTo>
                <a:cubicBezTo>
                  <a:pt x="59" y="147"/>
                  <a:pt x="70" y="124"/>
                  <a:pt x="87" y="108"/>
                </a:cubicBezTo>
                <a:cubicBezTo>
                  <a:pt x="66" y="115"/>
                  <a:pt x="45" y="139"/>
                  <a:pt x="46" y="170"/>
                </a:cubicBezTo>
                <a:cubicBezTo>
                  <a:pt x="45" y="200"/>
                  <a:pt x="66" y="224"/>
                  <a:pt x="87" y="232"/>
                </a:cubicBezTo>
                <a:close/>
                <a:moveTo>
                  <a:pt x="714" y="448"/>
                </a:moveTo>
                <a:cubicBezTo>
                  <a:pt x="706" y="438"/>
                  <a:pt x="697" y="428"/>
                  <a:pt x="689" y="419"/>
                </a:cubicBezTo>
                <a:cubicBezTo>
                  <a:pt x="671" y="397"/>
                  <a:pt x="653" y="376"/>
                  <a:pt x="635" y="355"/>
                </a:cubicBezTo>
                <a:cubicBezTo>
                  <a:pt x="634" y="354"/>
                  <a:pt x="633" y="353"/>
                  <a:pt x="632" y="352"/>
                </a:cubicBezTo>
                <a:cubicBezTo>
                  <a:pt x="629" y="347"/>
                  <a:pt x="623" y="345"/>
                  <a:pt x="617" y="343"/>
                </a:cubicBezTo>
                <a:cubicBezTo>
                  <a:pt x="612" y="341"/>
                  <a:pt x="606" y="339"/>
                  <a:pt x="599" y="339"/>
                </a:cubicBezTo>
                <a:cubicBezTo>
                  <a:pt x="621" y="333"/>
                  <a:pt x="637" y="314"/>
                  <a:pt x="637" y="291"/>
                </a:cubicBezTo>
                <a:cubicBezTo>
                  <a:pt x="637" y="50"/>
                  <a:pt x="637" y="50"/>
                  <a:pt x="637" y="50"/>
                </a:cubicBezTo>
                <a:cubicBezTo>
                  <a:pt x="637" y="22"/>
                  <a:pt x="614" y="0"/>
                  <a:pt x="587" y="0"/>
                </a:cubicBezTo>
                <a:cubicBezTo>
                  <a:pt x="195" y="0"/>
                  <a:pt x="195" y="0"/>
                  <a:pt x="195" y="0"/>
                </a:cubicBezTo>
                <a:cubicBezTo>
                  <a:pt x="168" y="0"/>
                  <a:pt x="145" y="22"/>
                  <a:pt x="145" y="50"/>
                </a:cubicBezTo>
                <a:cubicBezTo>
                  <a:pt x="145" y="291"/>
                  <a:pt x="145" y="291"/>
                  <a:pt x="145" y="291"/>
                </a:cubicBezTo>
                <a:cubicBezTo>
                  <a:pt x="145" y="314"/>
                  <a:pt x="161" y="334"/>
                  <a:pt x="183" y="339"/>
                </a:cubicBezTo>
                <a:cubicBezTo>
                  <a:pt x="171" y="340"/>
                  <a:pt x="157" y="344"/>
                  <a:pt x="149" y="354"/>
                </a:cubicBezTo>
                <a:cubicBezTo>
                  <a:pt x="143" y="361"/>
                  <a:pt x="136" y="369"/>
                  <a:pt x="130" y="377"/>
                </a:cubicBezTo>
                <a:cubicBezTo>
                  <a:pt x="111" y="399"/>
                  <a:pt x="91" y="422"/>
                  <a:pt x="72" y="446"/>
                </a:cubicBezTo>
                <a:cubicBezTo>
                  <a:pt x="67" y="451"/>
                  <a:pt x="58" y="459"/>
                  <a:pt x="58" y="467"/>
                </a:cubicBezTo>
                <a:cubicBezTo>
                  <a:pt x="58" y="489"/>
                  <a:pt x="58" y="478"/>
                  <a:pt x="58" y="478"/>
                </a:cubicBezTo>
                <a:cubicBezTo>
                  <a:pt x="58" y="481"/>
                  <a:pt x="59" y="483"/>
                  <a:pt x="60" y="485"/>
                </a:cubicBezTo>
                <a:cubicBezTo>
                  <a:pt x="65" y="492"/>
                  <a:pt x="75" y="493"/>
                  <a:pt x="83" y="493"/>
                </a:cubicBezTo>
                <a:cubicBezTo>
                  <a:pt x="94" y="493"/>
                  <a:pt x="667" y="493"/>
                  <a:pt x="684" y="493"/>
                </a:cubicBezTo>
                <a:cubicBezTo>
                  <a:pt x="693" y="493"/>
                  <a:pt x="702" y="492"/>
                  <a:pt x="711" y="490"/>
                </a:cubicBezTo>
                <a:cubicBezTo>
                  <a:pt x="716" y="489"/>
                  <a:pt x="723" y="486"/>
                  <a:pt x="724" y="479"/>
                </a:cubicBezTo>
                <a:cubicBezTo>
                  <a:pt x="724" y="456"/>
                  <a:pt x="724" y="467"/>
                  <a:pt x="724" y="467"/>
                </a:cubicBezTo>
                <a:cubicBezTo>
                  <a:pt x="725" y="462"/>
                  <a:pt x="722" y="457"/>
                  <a:pt x="718" y="453"/>
                </a:cubicBezTo>
                <a:cubicBezTo>
                  <a:pt x="717" y="451"/>
                  <a:pt x="715" y="449"/>
                  <a:pt x="714" y="448"/>
                </a:cubicBezTo>
                <a:close/>
                <a:moveTo>
                  <a:pt x="164" y="299"/>
                </a:moveTo>
                <a:cubicBezTo>
                  <a:pt x="164" y="64"/>
                  <a:pt x="164" y="53"/>
                  <a:pt x="164" y="53"/>
                </a:cubicBezTo>
                <a:cubicBezTo>
                  <a:pt x="164" y="39"/>
                  <a:pt x="175" y="16"/>
                  <a:pt x="189" y="16"/>
                </a:cubicBezTo>
                <a:cubicBezTo>
                  <a:pt x="570" y="16"/>
                  <a:pt x="593" y="16"/>
                  <a:pt x="593" y="16"/>
                </a:cubicBezTo>
                <a:cubicBezTo>
                  <a:pt x="607" y="16"/>
                  <a:pt x="618" y="39"/>
                  <a:pt x="618" y="53"/>
                </a:cubicBezTo>
                <a:cubicBezTo>
                  <a:pt x="618" y="268"/>
                  <a:pt x="618" y="299"/>
                  <a:pt x="618" y="299"/>
                </a:cubicBezTo>
                <a:cubicBezTo>
                  <a:pt x="618" y="313"/>
                  <a:pt x="607" y="325"/>
                  <a:pt x="593" y="325"/>
                </a:cubicBezTo>
                <a:cubicBezTo>
                  <a:pt x="212" y="325"/>
                  <a:pt x="189" y="325"/>
                  <a:pt x="189" y="325"/>
                </a:cubicBezTo>
                <a:cubicBezTo>
                  <a:pt x="175" y="325"/>
                  <a:pt x="164" y="302"/>
                  <a:pt x="164" y="287"/>
                </a:cubicBezTo>
                <a:lnTo>
                  <a:pt x="164" y="299"/>
                </a:lnTo>
                <a:close/>
                <a:moveTo>
                  <a:pt x="613" y="367"/>
                </a:moveTo>
                <a:cubicBezTo>
                  <a:pt x="613" y="367"/>
                  <a:pt x="613" y="368"/>
                  <a:pt x="612" y="369"/>
                </a:cubicBezTo>
                <a:cubicBezTo>
                  <a:pt x="612" y="369"/>
                  <a:pt x="612" y="369"/>
                  <a:pt x="612" y="369"/>
                </a:cubicBezTo>
                <a:cubicBezTo>
                  <a:pt x="612" y="369"/>
                  <a:pt x="612" y="369"/>
                  <a:pt x="612" y="369"/>
                </a:cubicBezTo>
                <a:cubicBezTo>
                  <a:pt x="612" y="369"/>
                  <a:pt x="612" y="369"/>
                  <a:pt x="612" y="369"/>
                </a:cubicBezTo>
                <a:cubicBezTo>
                  <a:pt x="612" y="369"/>
                  <a:pt x="612" y="369"/>
                  <a:pt x="611" y="369"/>
                </a:cubicBezTo>
                <a:cubicBezTo>
                  <a:pt x="611" y="369"/>
                  <a:pt x="611" y="369"/>
                  <a:pt x="611" y="369"/>
                </a:cubicBezTo>
                <a:cubicBezTo>
                  <a:pt x="611" y="369"/>
                  <a:pt x="611" y="369"/>
                  <a:pt x="610" y="369"/>
                </a:cubicBezTo>
                <a:cubicBezTo>
                  <a:pt x="608" y="371"/>
                  <a:pt x="604" y="371"/>
                  <a:pt x="600" y="371"/>
                </a:cubicBezTo>
                <a:cubicBezTo>
                  <a:pt x="584" y="371"/>
                  <a:pt x="584" y="371"/>
                  <a:pt x="584" y="371"/>
                </a:cubicBezTo>
                <a:cubicBezTo>
                  <a:pt x="580" y="371"/>
                  <a:pt x="577" y="370"/>
                  <a:pt x="574" y="369"/>
                </a:cubicBezTo>
                <a:cubicBezTo>
                  <a:pt x="573" y="368"/>
                  <a:pt x="572" y="367"/>
                  <a:pt x="571" y="367"/>
                </a:cubicBezTo>
                <a:cubicBezTo>
                  <a:pt x="570" y="366"/>
                  <a:pt x="569" y="365"/>
                  <a:pt x="569" y="365"/>
                </a:cubicBezTo>
                <a:cubicBezTo>
                  <a:pt x="568" y="363"/>
                  <a:pt x="568" y="363"/>
                  <a:pt x="568" y="363"/>
                </a:cubicBezTo>
                <a:cubicBezTo>
                  <a:pt x="566" y="360"/>
                  <a:pt x="564" y="357"/>
                  <a:pt x="563" y="354"/>
                </a:cubicBezTo>
                <a:cubicBezTo>
                  <a:pt x="561" y="351"/>
                  <a:pt x="563" y="350"/>
                  <a:pt x="565" y="349"/>
                </a:cubicBezTo>
                <a:cubicBezTo>
                  <a:pt x="565" y="349"/>
                  <a:pt x="566" y="349"/>
                  <a:pt x="566" y="349"/>
                </a:cubicBezTo>
                <a:cubicBezTo>
                  <a:pt x="567" y="348"/>
                  <a:pt x="569" y="348"/>
                  <a:pt x="570" y="348"/>
                </a:cubicBezTo>
                <a:cubicBezTo>
                  <a:pt x="573" y="348"/>
                  <a:pt x="573" y="348"/>
                  <a:pt x="573" y="348"/>
                </a:cubicBezTo>
                <a:cubicBezTo>
                  <a:pt x="573" y="348"/>
                  <a:pt x="573" y="348"/>
                  <a:pt x="573" y="348"/>
                </a:cubicBezTo>
                <a:cubicBezTo>
                  <a:pt x="577" y="348"/>
                  <a:pt x="581" y="348"/>
                  <a:pt x="586" y="348"/>
                </a:cubicBezTo>
                <a:cubicBezTo>
                  <a:pt x="586" y="348"/>
                  <a:pt x="586" y="348"/>
                  <a:pt x="586" y="348"/>
                </a:cubicBezTo>
                <a:cubicBezTo>
                  <a:pt x="590" y="348"/>
                  <a:pt x="590" y="348"/>
                  <a:pt x="590" y="348"/>
                </a:cubicBezTo>
                <a:cubicBezTo>
                  <a:pt x="592" y="348"/>
                  <a:pt x="594" y="348"/>
                  <a:pt x="595" y="348"/>
                </a:cubicBezTo>
                <a:cubicBezTo>
                  <a:pt x="596" y="349"/>
                  <a:pt x="597" y="349"/>
                  <a:pt x="598" y="349"/>
                </a:cubicBezTo>
                <a:cubicBezTo>
                  <a:pt x="598" y="349"/>
                  <a:pt x="598" y="349"/>
                  <a:pt x="598" y="349"/>
                </a:cubicBezTo>
                <a:cubicBezTo>
                  <a:pt x="598" y="350"/>
                  <a:pt x="598" y="350"/>
                  <a:pt x="599" y="350"/>
                </a:cubicBezTo>
                <a:cubicBezTo>
                  <a:pt x="599" y="350"/>
                  <a:pt x="599" y="350"/>
                  <a:pt x="599" y="350"/>
                </a:cubicBezTo>
                <a:cubicBezTo>
                  <a:pt x="600" y="350"/>
                  <a:pt x="602" y="351"/>
                  <a:pt x="603" y="351"/>
                </a:cubicBezTo>
                <a:cubicBezTo>
                  <a:pt x="604" y="352"/>
                  <a:pt x="604" y="353"/>
                  <a:pt x="605" y="354"/>
                </a:cubicBezTo>
                <a:cubicBezTo>
                  <a:pt x="608" y="359"/>
                  <a:pt x="608" y="359"/>
                  <a:pt x="608" y="359"/>
                </a:cubicBezTo>
                <a:cubicBezTo>
                  <a:pt x="609" y="360"/>
                  <a:pt x="611" y="362"/>
                  <a:pt x="612" y="364"/>
                </a:cubicBezTo>
                <a:cubicBezTo>
                  <a:pt x="612" y="364"/>
                  <a:pt x="612" y="364"/>
                  <a:pt x="612" y="364"/>
                </a:cubicBezTo>
                <a:cubicBezTo>
                  <a:pt x="613" y="365"/>
                  <a:pt x="613" y="366"/>
                  <a:pt x="613" y="367"/>
                </a:cubicBezTo>
                <a:close/>
                <a:moveTo>
                  <a:pt x="410" y="363"/>
                </a:moveTo>
                <a:cubicBezTo>
                  <a:pt x="410" y="364"/>
                  <a:pt x="410" y="364"/>
                  <a:pt x="410" y="365"/>
                </a:cubicBezTo>
                <a:cubicBezTo>
                  <a:pt x="406" y="371"/>
                  <a:pt x="392" y="369"/>
                  <a:pt x="386" y="369"/>
                </a:cubicBezTo>
                <a:cubicBezTo>
                  <a:pt x="383" y="369"/>
                  <a:pt x="380" y="369"/>
                  <a:pt x="377" y="369"/>
                </a:cubicBezTo>
                <a:cubicBezTo>
                  <a:pt x="374" y="369"/>
                  <a:pt x="370" y="369"/>
                  <a:pt x="367" y="367"/>
                </a:cubicBezTo>
                <a:cubicBezTo>
                  <a:pt x="367" y="367"/>
                  <a:pt x="367" y="367"/>
                  <a:pt x="367" y="367"/>
                </a:cubicBezTo>
                <a:cubicBezTo>
                  <a:pt x="367" y="366"/>
                  <a:pt x="367" y="366"/>
                  <a:pt x="367" y="366"/>
                </a:cubicBezTo>
                <a:cubicBezTo>
                  <a:pt x="366" y="366"/>
                  <a:pt x="366" y="366"/>
                  <a:pt x="366" y="366"/>
                </a:cubicBezTo>
                <a:cubicBezTo>
                  <a:pt x="366" y="366"/>
                  <a:pt x="366" y="366"/>
                  <a:pt x="366" y="366"/>
                </a:cubicBezTo>
                <a:cubicBezTo>
                  <a:pt x="366" y="366"/>
                  <a:pt x="366" y="366"/>
                  <a:pt x="366" y="366"/>
                </a:cubicBezTo>
                <a:cubicBezTo>
                  <a:pt x="366" y="365"/>
                  <a:pt x="366" y="365"/>
                  <a:pt x="366" y="365"/>
                </a:cubicBezTo>
                <a:cubicBezTo>
                  <a:pt x="366" y="364"/>
                  <a:pt x="366" y="364"/>
                  <a:pt x="366" y="363"/>
                </a:cubicBezTo>
                <a:cubicBezTo>
                  <a:pt x="366" y="363"/>
                  <a:pt x="366" y="363"/>
                  <a:pt x="366" y="363"/>
                </a:cubicBezTo>
                <a:cubicBezTo>
                  <a:pt x="366" y="362"/>
                  <a:pt x="366" y="361"/>
                  <a:pt x="366" y="361"/>
                </a:cubicBezTo>
                <a:cubicBezTo>
                  <a:pt x="366" y="360"/>
                  <a:pt x="366" y="360"/>
                  <a:pt x="366" y="360"/>
                </a:cubicBezTo>
                <a:cubicBezTo>
                  <a:pt x="366" y="358"/>
                  <a:pt x="366" y="355"/>
                  <a:pt x="367" y="353"/>
                </a:cubicBezTo>
                <a:cubicBezTo>
                  <a:pt x="367" y="352"/>
                  <a:pt x="367" y="352"/>
                  <a:pt x="367" y="352"/>
                </a:cubicBezTo>
                <a:cubicBezTo>
                  <a:pt x="367" y="352"/>
                  <a:pt x="367" y="351"/>
                  <a:pt x="368" y="350"/>
                </a:cubicBezTo>
                <a:cubicBezTo>
                  <a:pt x="369" y="350"/>
                  <a:pt x="369" y="349"/>
                  <a:pt x="370" y="349"/>
                </a:cubicBezTo>
                <a:cubicBezTo>
                  <a:pt x="370" y="349"/>
                  <a:pt x="370" y="349"/>
                  <a:pt x="370" y="349"/>
                </a:cubicBezTo>
                <a:cubicBezTo>
                  <a:pt x="370" y="349"/>
                  <a:pt x="370" y="348"/>
                  <a:pt x="370" y="348"/>
                </a:cubicBezTo>
                <a:cubicBezTo>
                  <a:pt x="370" y="348"/>
                  <a:pt x="371" y="348"/>
                  <a:pt x="371" y="348"/>
                </a:cubicBezTo>
                <a:cubicBezTo>
                  <a:pt x="371" y="348"/>
                  <a:pt x="371" y="348"/>
                  <a:pt x="371" y="348"/>
                </a:cubicBezTo>
                <a:cubicBezTo>
                  <a:pt x="371" y="348"/>
                  <a:pt x="372" y="348"/>
                  <a:pt x="372" y="348"/>
                </a:cubicBezTo>
                <a:cubicBezTo>
                  <a:pt x="372" y="348"/>
                  <a:pt x="372" y="348"/>
                  <a:pt x="373" y="348"/>
                </a:cubicBezTo>
                <a:cubicBezTo>
                  <a:pt x="373" y="347"/>
                  <a:pt x="373" y="347"/>
                  <a:pt x="374" y="347"/>
                </a:cubicBezTo>
                <a:cubicBezTo>
                  <a:pt x="374" y="347"/>
                  <a:pt x="374" y="347"/>
                  <a:pt x="374" y="347"/>
                </a:cubicBezTo>
                <a:cubicBezTo>
                  <a:pt x="374" y="347"/>
                  <a:pt x="374" y="347"/>
                  <a:pt x="374" y="347"/>
                </a:cubicBezTo>
                <a:cubicBezTo>
                  <a:pt x="375" y="347"/>
                  <a:pt x="375" y="347"/>
                  <a:pt x="375" y="347"/>
                </a:cubicBezTo>
                <a:cubicBezTo>
                  <a:pt x="376" y="347"/>
                  <a:pt x="377" y="347"/>
                  <a:pt x="378" y="347"/>
                </a:cubicBezTo>
                <a:cubicBezTo>
                  <a:pt x="379" y="347"/>
                  <a:pt x="379" y="347"/>
                  <a:pt x="379" y="347"/>
                </a:cubicBezTo>
                <a:cubicBezTo>
                  <a:pt x="380" y="347"/>
                  <a:pt x="382" y="347"/>
                  <a:pt x="383" y="347"/>
                </a:cubicBezTo>
                <a:cubicBezTo>
                  <a:pt x="399" y="347"/>
                  <a:pt x="399" y="347"/>
                  <a:pt x="399" y="347"/>
                </a:cubicBezTo>
                <a:cubicBezTo>
                  <a:pt x="399" y="347"/>
                  <a:pt x="399" y="347"/>
                  <a:pt x="400" y="347"/>
                </a:cubicBezTo>
                <a:cubicBezTo>
                  <a:pt x="400" y="347"/>
                  <a:pt x="400" y="347"/>
                  <a:pt x="400" y="347"/>
                </a:cubicBezTo>
                <a:cubicBezTo>
                  <a:pt x="401" y="347"/>
                  <a:pt x="401" y="347"/>
                  <a:pt x="402" y="347"/>
                </a:cubicBezTo>
                <a:cubicBezTo>
                  <a:pt x="405" y="347"/>
                  <a:pt x="408" y="348"/>
                  <a:pt x="409" y="351"/>
                </a:cubicBezTo>
                <a:cubicBezTo>
                  <a:pt x="410" y="351"/>
                  <a:pt x="410" y="351"/>
                  <a:pt x="410" y="351"/>
                </a:cubicBezTo>
                <a:cubicBezTo>
                  <a:pt x="410" y="351"/>
                  <a:pt x="410" y="351"/>
                  <a:pt x="410" y="351"/>
                </a:cubicBezTo>
                <a:cubicBezTo>
                  <a:pt x="411" y="355"/>
                  <a:pt x="410" y="359"/>
                  <a:pt x="410" y="362"/>
                </a:cubicBezTo>
                <a:cubicBezTo>
                  <a:pt x="410" y="363"/>
                  <a:pt x="410" y="363"/>
                  <a:pt x="410" y="363"/>
                </a:cubicBezTo>
                <a:cubicBezTo>
                  <a:pt x="410" y="363"/>
                  <a:pt x="410" y="363"/>
                  <a:pt x="410" y="363"/>
                </a:cubicBezTo>
                <a:close/>
                <a:moveTo>
                  <a:pt x="387" y="381"/>
                </a:moveTo>
                <a:cubicBezTo>
                  <a:pt x="393" y="381"/>
                  <a:pt x="407" y="380"/>
                  <a:pt x="410" y="386"/>
                </a:cubicBezTo>
                <a:cubicBezTo>
                  <a:pt x="410" y="387"/>
                  <a:pt x="411" y="387"/>
                  <a:pt x="411" y="388"/>
                </a:cubicBezTo>
                <a:cubicBezTo>
                  <a:pt x="411" y="395"/>
                  <a:pt x="411" y="395"/>
                  <a:pt x="411" y="395"/>
                </a:cubicBezTo>
                <a:cubicBezTo>
                  <a:pt x="411" y="397"/>
                  <a:pt x="411" y="399"/>
                  <a:pt x="411" y="401"/>
                </a:cubicBezTo>
                <a:cubicBezTo>
                  <a:pt x="411" y="401"/>
                  <a:pt x="411" y="401"/>
                  <a:pt x="411" y="401"/>
                </a:cubicBezTo>
                <a:cubicBezTo>
                  <a:pt x="411" y="402"/>
                  <a:pt x="411" y="402"/>
                  <a:pt x="411" y="402"/>
                </a:cubicBezTo>
                <a:cubicBezTo>
                  <a:pt x="411" y="402"/>
                  <a:pt x="410" y="404"/>
                  <a:pt x="410" y="404"/>
                </a:cubicBezTo>
                <a:cubicBezTo>
                  <a:pt x="409" y="405"/>
                  <a:pt x="409" y="405"/>
                  <a:pt x="409" y="405"/>
                </a:cubicBezTo>
                <a:cubicBezTo>
                  <a:pt x="409" y="405"/>
                  <a:pt x="409" y="405"/>
                  <a:pt x="409" y="406"/>
                </a:cubicBezTo>
                <a:cubicBezTo>
                  <a:pt x="409" y="406"/>
                  <a:pt x="409" y="406"/>
                  <a:pt x="409" y="406"/>
                </a:cubicBezTo>
                <a:cubicBezTo>
                  <a:pt x="407" y="407"/>
                  <a:pt x="405" y="408"/>
                  <a:pt x="403" y="409"/>
                </a:cubicBezTo>
                <a:cubicBezTo>
                  <a:pt x="403" y="409"/>
                  <a:pt x="403" y="409"/>
                  <a:pt x="403" y="409"/>
                </a:cubicBezTo>
                <a:cubicBezTo>
                  <a:pt x="403" y="409"/>
                  <a:pt x="403" y="409"/>
                  <a:pt x="403" y="409"/>
                </a:cubicBezTo>
                <a:cubicBezTo>
                  <a:pt x="402" y="409"/>
                  <a:pt x="401" y="409"/>
                  <a:pt x="401" y="409"/>
                </a:cubicBezTo>
                <a:cubicBezTo>
                  <a:pt x="400" y="409"/>
                  <a:pt x="400" y="409"/>
                  <a:pt x="400" y="409"/>
                </a:cubicBezTo>
                <a:cubicBezTo>
                  <a:pt x="399" y="409"/>
                  <a:pt x="398" y="409"/>
                  <a:pt x="398" y="409"/>
                </a:cubicBezTo>
                <a:cubicBezTo>
                  <a:pt x="398" y="409"/>
                  <a:pt x="398" y="409"/>
                  <a:pt x="398" y="409"/>
                </a:cubicBezTo>
                <a:cubicBezTo>
                  <a:pt x="373" y="409"/>
                  <a:pt x="373" y="409"/>
                  <a:pt x="373" y="409"/>
                </a:cubicBezTo>
                <a:cubicBezTo>
                  <a:pt x="371" y="409"/>
                  <a:pt x="367" y="409"/>
                  <a:pt x="364" y="407"/>
                </a:cubicBezTo>
                <a:cubicBezTo>
                  <a:pt x="364" y="407"/>
                  <a:pt x="364" y="407"/>
                  <a:pt x="364" y="407"/>
                </a:cubicBezTo>
                <a:cubicBezTo>
                  <a:pt x="364" y="407"/>
                  <a:pt x="364" y="407"/>
                  <a:pt x="364" y="407"/>
                </a:cubicBezTo>
                <a:cubicBezTo>
                  <a:pt x="364" y="407"/>
                  <a:pt x="364" y="406"/>
                  <a:pt x="363" y="406"/>
                </a:cubicBezTo>
                <a:cubicBezTo>
                  <a:pt x="363" y="406"/>
                  <a:pt x="362" y="405"/>
                  <a:pt x="362" y="405"/>
                </a:cubicBezTo>
                <a:cubicBezTo>
                  <a:pt x="362" y="405"/>
                  <a:pt x="362" y="405"/>
                  <a:pt x="362" y="404"/>
                </a:cubicBezTo>
                <a:cubicBezTo>
                  <a:pt x="362" y="404"/>
                  <a:pt x="361" y="403"/>
                  <a:pt x="361" y="402"/>
                </a:cubicBezTo>
                <a:cubicBezTo>
                  <a:pt x="362" y="400"/>
                  <a:pt x="362" y="400"/>
                  <a:pt x="362" y="400"/>
                </a:cubicBezTo>
                <a:cubicBezTo>
                  <a:pt x="362" y="400"/>
                  <a:pt x="362" y="400"/>
                  <a:pt x="362" y="400"/>
                </a:cubicBezTo>
                <a:cubicBezTo>
                  <a:pt x="362" y="396"/>
                  <a:pt x="362" y="392"/>
                  <a:pt x="363" y="388"/>
                </a:cubicBezTo>
                <a:cubicBezTo>
                  <a:pt x="363" y="388"/>
                  <a:pt x="363" y="388"/>
                  <a:pt x="363" y="388"/>
                </a:cubicBezTo>
                <a:cubicBezTo>
                  <a:pt x="363" y="388"/>
                  <a:pt x="363" y="388"/>
                  <a:pt x="363" y="388"/>
                </a:cubicBezTo>
                <a:cubicBezTo>
                  <a:pt x="364" y="379"/>
                  <a:pt x="381" y="381"/>
                  <a:pt x="387" y="381"/>
                </a:cubicBezTo>
                <a:close/>
                <a:moveTo>
                  <a:pt x="289" y="407"/>
                </a:moveTo>
                <a:cubicBezTo>
                  <a:pt x="289" y="407"/>
                  <a:pt x="289" y="407"/>
                  <a:pt x="288" y="406"/>
                </a:cubicBezTo>
                <a:cubicBezTo>
                  <a:pt x="288" y="406"/>
                  <a:pt x="288" y="405"/>
                  <a:pt x="287" y="405"/>
                </a:cubicBezTo>
                <a:cubicBezTo>
                  <a:pt x="287" y="405"/>
                  <a:pt x="287" y="405"/>
                  <a:pt x="287" y="405"/>
                </a:cubicBezTo>
                <a:cubicBezTo>
                  <a:pt x="287" y="404"/>
                  <a:pt x="287" y="403"/>
                  <a:pt x="287" y="402"/>
                </a:cubicBezTo>
                <a:cubicBezTo>
                  <a:pt x="288" y="400"/>
                  <a:pt x="288" y="400"/>
                  <a:pt x="288" y="400"/>
                </a:cubicBezTo>
                <a:cubicBezTo>
                  <a:pt x="288" y="400"/>
                  <a:pt x="288" y="400"/>
                  <a:pt x="288" y="400"/>
                </a:cubicBezTo>
                <a:cubicBezTo>
                  <a:pt x="288" y="400"/>
                  <a:pt x="288" y="399"/>
                  <a:pt x="288" y="399"/>
                </a:cubicBezTo>
                <a:cubicBezTo>
                  <a:pt x="291" y="388"/>
                  <a:pt x="291" y="388"/>
                  <a:pt x="291" y="388"/>
                </a:cubicBezTo>
                <a:cubicBezTo>
                  <a:pt x="291" y="388"/>
                  <a:pt x="291" y="388"/>
                  <a:pt x="292" y="388"/>
                </a:cubicBezTo>
                <a:cubicBezTo>
                  <a:pt x="295" y="380"/>
                  <a:pt x="310" y="381"/>
                  <a:pt x="317" y="381"/>
                </a:cubicBezTo>
                <a:cubicBezTo>
                  <a:pt x="320" y="381"/>
                  <a:pt x="325" y="381"/>
                  <a:pt x="330" y="381"/>
                </a:cubicBezTo>
                <a:cubicBezTo>
                  <a:pt x="331" y="382"/>
                  <a:pt x="332" y="382"/>
                  <a:pt x="333" y="382"/>
                </a:cubicBezTo>
                <a:cubicBezTo>
                  <a:pt x="333" y="382"/>
                  <a:pt x="333" y="382"/>
                  <a:pt x="333" y="382"/>
                </a:cubicBezTo>
                <a:cubicBezTo>
                  <a:pt x="335" y="383"/>
                  <a:pt x="337" y="384"/>
                  <a:pt x="338" y="385"/>
                </a:cubicBezTo>
                <a:cubicBezTo>
                  <a:pt x="338" y="385"/>
                  <a:pt x="338" y="385"/>
                  <a:pt x="338" y="385"/>
                </a:cubicBezTo>
                <a:cubicBezTo>
                  <a:pt x="338" y="386"/>
                  <a:pt x="338" y="386"/>
                  <a:pt x="338" y="386"/>
                </a:cubicBezTo>
                <a:cubicBezTo>
                  <a:pt x="338" y="386"/>
                  <a:pt x="338" y="386"/>
                  <a:pt x="338" y="386"/>
                </a:cubicBezTo>
                <a:cubicBezTo>
                  <a:pt x="339" y="387"/>
                  <a:pt x="339" y="388"/>
                  <a:pt x="339" y="388"/>
                </a:cubicBezTo>
                <a:cubicBezTo>
                  <a:pt x="339" y="389"/>
                  <a:pt x="339" y="389"/>
                  <a:pt x="339" y="389"/>
                </a:cubicBezTo>
                <a:cubicBezTo>
                  <a:pt x="339" y="389"/>
                  <a:pt x="339" y="389"/>
                  <a:pt x="339" y="389"/>
                </a:cubicBezTo>
                <a:cubicBezTo>
                  <a:pt x="338" y="391"/>
                  <a:pt x="338" y="393"/>
                  <a:pt x="338" y="395"/>
                </a:cubicBezTo>
                <a:cubicBezTo>
                  <a:pt x="336" y="402"/>
                  <a:pt x="336" y="402"/>
                  <a:pt x="336" y="402"/>
                </a:cubicBezTo>
                <a:cubicBezTo>
                  <a:pt x="336" y="403"/>
                  <a:pt x="336" y="404"/>
                  <a:pt x="335" y="404"/>
                </a:cubicBezTo>
                <a:cubicBezTo>
                  <a:pt x="335" y="405"/>
                  <a:pt x="335" y="405"/>
                  <a:pt x="335" y="405"/>
                </a:cubicBezTo>
                <a:cubicBezTo>
                  <a:pt x="335" y="405"/>
                  <a:pt x="334" y="405"/>
                  <a:pt x="334" y="405"/>
                </a:cubicBezTo>
                <a:cubicBezTo>
                  <a:pt x="334" y="405"/>
                  <a:pt x="334" y="406"/>
                  <a:pt x="334" y="406"/>
                </a:cubicBezTo>
                <a:cubicBezTo>
                  <a:pt x="332" y="407"/>
                  <a:pt x="329" y="408"/>
                  <a:pt x="327" y="409"/>
                </a:cubicBezTo>
                <a:cubicBezTo>
                  <a:pt x="327" y="409"/>
                  <a:pt x="327" y="409"/>
                  <a:pt x="327" y="409"/>
                </a:cubicBezTo>
                <a:cubicBezTo>
                  <a:pt x="327" y="409"/>
                  <a:pt x="327" y="409"/>
                  <a:pt x="327" y="409"/>
                </a:cubicBezTo>
                <a:cubicBezTo>
                  <a:pt x="327" y="409"/>
                  <a:pt x="326" y="409"/>
                  <a:pt x="325" y="409"/>
                </a:cubicBezTo>
                <a:cubicBezTo>
                  <a:pt x="325" y="409"/>
                  <a:pt x="325" y="409"/>
                  <a:pt x="324" y="409"/>
                </a:cubicBezTo>
                <a:cubicBezTo>
                  <a:pt x="324" y="409"/>
                  <a:pt x="323" y="409"/>
                  <a:pt x="322" y="409"/>
                </a:cubicBezTo>
                <a:cubicBezTo>
                  <a:pt x="322" y="409"/>
                  <a:pt x="322" y="409"/>
                  <a:pt x="322" y="409"/>
                </a:cubicBezTo>
                <a:cubicBezTo>
                  <a:pt x="298" y="409"/>
                  <a:pt x="298" y="409"/>
                  <a:pt x="298" y="409"/>
                </a:cubicBezTo>
                <a:cubicBezTo>
                  <a:pt x="295" y="409"/>
                  <a:pt x="292" y="409"/>
                  <a:pt x="289" y="407"/>
                </a:cubicBezTo>
                <a:cubicBezTo>
                  <a:pt x="289" y="407"/>
                  <a:pt x="289" y="407"/>
                  <a:pt x="289" y="407"/>
                </a:cubicBezTo>
                <a:close/>
                <a:moveTo>
                  <a:pt x="320" y="369"/>
                </a:moveTo>
                <a:cubicBezTo>
                  <a:pt x="316" y="369"/>
                  <a:pt x="312" y="369"/>
                  <a:pt x="309" y="369"/>
                </a:cubicBezTo>
                <a:cubicBezTo>
                  <a:pt x="306" y="369"/>
                  <a:pt x="301" y="369"/>
                  <a:pt x="299" y="366"/>
                </a:cubicBezTo>
                <a:cubicBezTo>
                  <a:pt x="299" y="365"/>
                  <a:pt x="299" y="365"/>
                  <a:pt x="299" y="365"/>
                </a:cubicBezTo>
                <a:cubicBezTo>
                  <a:pt x="299" y="365"/>
                  <a:pt x="299" y="364"/>
                  <a:pt x="299" y="364"/>
                </a:cubicBezTo>
                <a:cubicBezTo>
                  <a:pt x="299" y="364"/>
                  <a:pt x="299" y="364"/>
                  <a:pt x="299" y="363"/>
                </a:cubicBezTo>
                <a:cubicBezTo>
                  <a:pt x="299" y="363"/>
                  <a:pt x="299" y="363"/>
                  <a:pt x="299" y="363"/>
                </a:cubicBezTo>
                <a:cubicBezTo>
                  <a:pt x="299" y="363"/>
                  <a:pt x="299" y="363"/>
                  <a:pt x="299" y="363"/>
                </a:cubicBezTo>
                <a:cubicBezTo>
                  <a:pt x="299" y="362"/>
                  <a:pt x="299" y="361"/>
                  <a:pt x="300" y="361"/>
                </a:cubicBezTo>
                <a:cubicBezTo>
                  <a:pt x="300" y="358"/>
                  <a:pt x="301" y="355"/>
                  <a:pt x="302" y="353"/>
                </a:cubicBezTo>
                <a:cubicBezTo>
                  <a:pt x="302" y="353"/>
                  <a:pt x="302" y="353"/>
                  <a:pt x="302" y="353"/>
                </a:cubicBezTo>
                <a:cubicBezTo>
                  <a:pt x="302" y="352"/>
                  <a:pt x="303" y="351"/>
                  <a:pt x="303" y="350"/>
                </a:cubicBezTo>
                <a:cubicBezTo>
                  <a:pt x="304" y="350"/>
                  <a:pt x="304" y="350"/>
                  <a:pt x="305" y="349"/>
                </a:cubicBezTo>
                <a:cubicBezTo>
                  <a:pt x="306" y="348"/>
                  <a:pt x="308" y="348"/>
                  <a:pt x="310" y="347"/>
                </a:cubicBezTo>
                <a:cubicBezTo>
                  <a:pt x="310" y="347"/>
                  <a:pt x="310" y="347"/>
                  <a:pt x="310" y="347"/>
                </a:cubicBezTo>
                <a:cubicBezTo>
                  <a:pt x="312" y="347"/>
                  <a:pt x="313" y="347"/>
                  <a:pt x="315" y="347"/>
                </a:cubicBezTo>
                <a:cubicBezTo>
                  <a:pt x="317" y="347"/>
                  <a:pt x="317" y="347"/>
                  <a:pt x="317" y="347"/>
                </a:cubicBezTo>
                <a:cubicBezTo>
                  <a:pt x="317" y="347"/>
                  <a:pt x="318" y="347"/>
                  <a:pt x="319" y="347"/>
                </a:cubicBezTo>
                <a:cubicBezTo>
                  <a:pt x="323" y="347"/>
                  <a:pt x="328" y="347"/>
                  <a:pt x="332" y="347"/>
                </a:cubicBezTo>
                <a:cubicBezTo>
                  <a:pt x="333" y="347"/>
                  <a:pt x="334" y="347"/>
                  <a:pt x="334" y="347"/>
                </a:cubicBezTo>
                <a:cubicBezTo>
                  <a:pt x="335" y="347"/>
                  <a:pt x="335" y="347"/>
                  <a:pt x="335" y="347"/>
                </a:cubicBezTo>
                <a:cubicBezTo>
                  <a:pt x="335" y="347"/>
                  <a:pt x="335" y="347"/>
                  <a:pt x="336" y="347"/>
                </a:cubicBezTo>
                <a:cubicBezTo>
                  <a:pt x="336" y="347"/>
                  <a:pt x="337" y="347"/>
                  <a:pt x="337" y="347"/>
                </a:cubicBezTo>
                <a:cubicBezTo>
                  <a:pt x="337" y="347"/>
                  <a:pt x="337" y="347"/>
                  <a:pt x="337" y="347"/>
                </a:cubicBezTo>
                <a:cubicBezTo>
                  <a:pt x="341" y="347"/>
                  <a:pt x="345" y="348"/>
                  <a:pt x="345" y="351"/>
                </a:cubicBezTo>
                <a:cubicBezTo>
                  <a:pt x="345" y="351"/>
                  <a:pt x="345" y="351"/>
                  <a:pt x="345" y="351"/>
                </a:cubicBezTo>
                <a:cubicBezTo>
                  <a:pt x="345" y="351"/>
                  <a:pt x="345" y="351"/>
                  <a:pt x="345" y="352"/>
                </a:cubicBezTo>
                <a:cubicBezTo>
                  <a:pt x="345" y="355"/>
                  <a:pt x="344" y="359"/>
                  <a:pt x="343" y="362"/>
                </a:cubicBezTo>
                <a:cubicBezTo>
                  <a:pt x="343" y="362"/>
                  <a:pt x="343" y="362"/>
                  <a:pt x="343" y="362"/>
                </a:cubicBezTo>
                <a:cubicBezTo>
                  <a:pt x="343" y="363"/>
                  <a:pt x="343" y="363"/>
                  <a:pt x="343" y="363"/>
                </a:cubicBezTo>
                <a:cubicBezTo>
                  <a:pt x="343" y="364"/>
                  <a:pt x="343" y="364"/>
                  <a:pt x="342" y="365"/>
                </a:cubicBezTo>
                <a:cubicBezTo>
                  <a:pt x="342" y="365"/>
                  <a:pt x="342" y="365"/>
                  <a:pt x="342" y="366"/>
                </a:cubicBezTo>
                <a:cubicBezTo>
                  <a:pt x="342" y="366"/>
                  <a:pt x="342" y="366"/>
                  <a:pt x="342" y="366"/>
                </a:cubicBezTo>
                <a:cubicBezTo>
                  <a:pt x="342" y="366"/>
                  <a:pt x="342" y="366"/>
                  <a:pt x="342" y="366"/>
                </a:cubicBezTo>
                <a:cubicBezTo>
                  <a:pt x="337" y="371"/>
                  <a:pt x="325" y="369"/>
                  <a:pt x="320" y="369"/>
                </a:cubicBezTo>
                <a:close/>
                <a:moveTo>
                  <a:pt x="212" y="404"/>
                </a:moveTo>
                <a:cubicBezTo>
                  <a:pt x="212" y="404"/>
                  <a:pt x="212" y="403"/>
                  <a:pt x="212" y="403"/>
                </a:cubicBezTo>
                <a:cubicBezTo>
                  <a:pt x="213" y="403"/>
                  <a:pt x="213" y="402"/>
                  <a:pt x="213" y="402"/>
                </a:cubicBezTo>
                <a:cubicBezTo>
                  <a:pt x="213" y="402"/>
                  <a:pt x="213" y="402"/>
                  <a:pt x="213" y="402"/>
                </a:cubicBezTo>
                <a:cubicBezTo>
                  <a:pt x="213" y="402"/>
                  <a:pt x="213" y="402"/>
                  <a:pt x="213" y="402"/>
                </a:cubicBezTo>
                <a:cubicBezTo>
                  <a:pt x="213" y="401"/>
                  <a:pt x="214" y="401"/>
                  <a:pt x="214" y="400"/>
                </a:cubicBezTo>
                <a:cubicBezTo>
                  <a:pt x="216" y="396"/>
                  <a:pt x="217" y="393"/>
                  <a:pt x="219" y="389"/>
                </a:cubicBezTo>
                <a:cubicBezTo>
                  <a:pt x="219" y="389"/>
                  <a:pt x="219" y="389"/>
                  <a:pt x="219" y="389"/>
                </a:cubicBezTo>
                <a:cubicBezTo>
                  <a:pt x="219" y="389"/>
                  <a:pt x="219" y="389"/>
                  <a:pt x="219" y="389"/>
                </a:cubicBezTo>
                <a:cubicBezTo>
                  <a:pt x="220" y="388"/>
                  <a:pt x="220" y="388"/>
                  <a:pt x="220" y="388"/>
                </a:cubicBezTo>
                <a:cubicBezTo>
                  <a:pt x="220" y="388"/>
                  <a:pt x="220" y="388"/>
                  <a:pt x="220" y="387"/>
                </a:cubicBezTo>
                <a:cubicBezTo>
                  <a:pt x="220" y="387"/>
                  <a:pt x="220" y="387"/>
                  <a:pt x="221" y="387"/>
                </a:cubicBezTo>
                <a:cubicBezTo>
                  <a:pt x="226" y="380"/>
                  <a:pt x="238" y="382"/>
                  <a:pt x="245" y="382"/>
                </a:cubicBezTo>
                <a:cubicBezTo>
                  <a:pt x="245" y="382"/>
                  <a:pt x="245" y="382"/>
                  <a:pt x="245" y="382"/>
                </a:cubicBezTo>
                <a:cubicBezTo>
                  <a:pt x="247" y="382"/>
                  <a:pt x="253" y="381"/>
                  <a:pt x="258" y="382"/>
                </a:cubicBezTo>
                <a:cubicBezTo>
                  <a:pt x="259" y="382"/>
                  <a:pt x="261" y="382"/>
                  <a:pt x="262" y="382"/>
                </a:cubicBezTo>
                <a:cubicBezTo>
                  <a:pt x="263" y="382"/>
                  <a:pt x="264" y="383"/>
                  <a:pt x="264" y="383"/>
                </a:cubicBezTo>
                <a:cubicBezTo>
                  <a:pt x="266" y="384"/>
                  <a:pt x="267" y="385"/>
                  <a:pt x="267" y="387"/>
                </a:cubicBezTo>
                <a:cubicBezTo>
                  <a:pt x="267" y="387"/>
                  <a:pt x="267" y="387"/>
                  <a:pt x="267" y="387"/>
                </a:cubicBezTo>
                <a:cubicBezTo>
                  <a:pt x="267" y="387"/>
                  <a:pt x="267" y="387"/>
                  <a:pt x="267" y="388"/>
                </a:cubicBezTo>
                <a:cubicBezTo>
                  <a:pt x="267" y="388"/>
                  <a:pt x="267" y="388"/>
                  <a:pt x="267" y="388"/>
                </a:cubicBezTo>
                <a:cubicBezTo>
                  <a:pt x="262" y="402"/>
                  <a:pt x="262" y="402"/>
                  <a:pt x="262" y="402"/>
                </a:cubicBezTo>
                <a:cubicBezTo>
                  <a:pt x="262" y="403"/>
                  <a:pt x="261" y="404"/>
                  <a:pt x="260" y="405"/>
                </a:cubicBezTo>
                <a:cubicBezTo>
                  <a:pt x="259" y="406"/>
                  <a:pt x="258" y="407"/>
                  <a:pt x="256" y="407"/>
                </a:cubicBezTo>
                <a:cubicBezTo>
                  <a:pt x="256" y="407"/>
                  <a:pt x="256" y="407"/>
                  <a:pt x="256" y="407"/>
                </a:cubicBezTo>
                <a:cubicBezTo>
                  <a:pt x="254" y="408"/>
                  <a:pt x="252" y="409"/>
                  <a:pt x="250" y="409"/>
                </a:cubicBezTo>
                <a:cubicBezTo>
                  <a:pt x="249" y="409"/>
                  <a:pt x="249" y="409"/>
                  <a:pt x="249" y="409"/>
                </a:cubicBezTo>
                <a:cubicBezTo>
                  <a:pt x="249" y="409"/>
                  <a:pt x="249" y="409"/>
                  <a:pt x="248" y="409"/>
                </a:cubicBezTo>
                <a:cubicBezTo>
                  <a:pt x="244" y="410"/>
                  <a:pt x="240" y="409"/>
                  <a:pt x="235" y="409"/>
                </a:cubicBezTo>
                <a:cubicBezTo>
                  <a:pt x="231" y="409"/>
                  <a:pt x="227" y="410"/>
                  <a:pt x="222" y="410"/>
                </a:cubicBezTo>
                <a:cubicBezTo>
                  <a:pt x="219" y="410"/>
                  <a:pt x="215" y="409"/>
                  <a:pt x="213" y="406"/>
                </a:cubicBezTo>
                <a:cubicBezTo>
                  <a:pt x="213" y="406"/>
                  <a:pt x="213" y="406"/>
                  <a:pt x="213" y="406"/>
                </a:cubicBezTo>
                <a:cubicBezTo>
                  <a:pt x="213" y="406"/>
                  <a:pt x="213" y="406"/>
                  <a:pt x="213" y="406"/>
                </a:cubicBezTo>
                <a:cubicBezTo>
                  <a:pt x="213" y="405"/>
                  <a:pt x="213" y="405"/>
                  <a:pt x="212" y="405"/>
                </a:cubicBezTo>
                <a:cubicBezTo>
                  <a:pt x="212" y="405"/>
                  <a:pt x="212" y="405"/>
                  <a:pt x="212" y="405"/>
                </a:cubicBezTo>
                <a:cubicBezTo>
                  <a:pt x="212" y="405"/>
                  <a:pt x="212" y="405"/>
                  <a:pt x="212" y="405"/>
                </a:cubicBezTo>
                <a:cubicBezTo>
                  <a:pt x="212" y="404"/>
                  <a:pt x="212" y="404"/>
                  <a:pt x="212" y="404"/>
                </a:cubicBezTo>
                <a:close/>
                <a:moveTo>
                  <a:pt x="212" y="359"/>
                </a:moveTo>
                <a:cubicBezTo>
                  <a:pt x="212" y="359"/>
                  <a:pt x="212" y="359"/>
                  <a:pt x="212" y="359"/>
                </a:cubicBezTo>
                <a:cubicBezTo>
                  <a:pt x="209" y="364"/>
                  <a:pt x="209" y="364"/>
                  <a:pt x="209" y="364"/>
                </a:cubicBezTo>
                <a:cubicBezTo>
                  <a:pt x="209" y="364"/>
                  <a:pt x="208" y="365"/>
                  <a:pt x="207" y="366"/>
                </a:cubicBezTo>
                <a:cubicBezTo>
                  <a:pt x="206" y="367"/>
                  <a:pt x="205" y="367"/>
                  <a:pt x="203" y="368"/>
                </a:cubicBezTo>
                <a:cubicBezTo>
                  <a:pt x="203" y="368"/>
                  <a:pt x="203" y="368"/>
                  <a:pt x="202" y="368"/>
                </a:cubicBezTo>
                <a:cubicBezTo>
                  <a:pt x="202" y="369"/>
                  <a:pt x="202" y="369"/>
                  <a:pt x="202" y="369"/>
                </a:cubicBezTo>
                <a:cubicBezTo>
                  <a:pt x="202" y="369"/>
                  <a:pt x="202" y="369"/>
                  <a:pt x="202" y="369"/>
                </a:cubicBezTo>
                <a:cubicBezTo>
                  <a:pt x="201" y="369"/>
                  <a:pt x="200" y="369"/>
                  <a:pt x="199" y="369"/>
                </a:cubicBezTo>
                <a:cubicBezTo>
                  <a:pt x="197" y="370"/>
                  <a:pt x="196" y="370"/>
                  <a:pt x="194" y="370"/>
                </a:cubicBezTo>
                <a:cubicBezTo>
                  <a:pt x="189" y="370"/>
                  <a:pt x="189" y="370"/>
                  <a:pt x="189" y="370"/>
                </a:cubicBezTo>
                <a:cubicBezTo>
                  <a:pt x="189" y="370"/>
                  <a:pt x="189" y="370"/>
                  <a:pt x="189" y="370"/>
                </a:cubicBezTo>
                <a:cubicBezTo>
                  <a:pt x="184" y="370"/>
                  <a:pt x="178" y="370"/>
                  <a:pt x="172" y="370"/>
                </a:cubicBezTo>
                <a:cubicBezTo>
                  <a:pt x="170" y="370"/>
                  <a:pt x="165" y="369"/>
                  <a:pt x="164" y="366"/>
                </a:cubicBezTo>
                <a:cubicBezTo>
                  <a:pt x="164" y="366"/>
                  <a:pt x="164" y="365"/>
                  <a:pt x="164" y="365"/>
                </a:cubicBezTo>
                <a:cubicBezTo>
                  <a:pt x="165" y="364"/>
                  <a:pt x="166" y="362"/>
                  <a:pt x="166" y="362"/>
                </a:cubicBezTo>
                <a:cubicBezTo>
                  <a:pt x="168" y="358"/>
                  <a:pt x="170" y="355"/>
                  <a:pt x="173" y="352"/>
                </a:cubicBezTo>
                <a:cubicBezTo>
                  <a:pt x="173" y="352"/>
                  <a:pt x="173" y="352"/>
                  <a:pt x="173" y="352"/>
                </a:cubicBezTo>
                <a:cubicBezTo>
                  <a:pt x="173" y="352"/>
                  <a:pt x="173" y="352"/>
                  <a:pt x="173" y="352"/>
                </a:cubicBezTo>
                <a:cubicBezTo>
                  <a:pt x="180" y="345"/>
                  <a:pt x="193" y="347"/>
                  <a:pt x="201" y="347"/>
                </a:cubicBezTo>
                <a:cubicBezTo>
                  <a:pt x="205" y="347"/>
                  <a:pt x="210" y="346"/>
                  <a:pt x="213" y="348"/>
                </a:cubicBezTo>
                <a:cubicBezTo>
                  <a:pt x="213" y="348"/>
                  <a:pt x="213" y="348"/>
                  <a:pt x="213" y="348"/>
                </a:cubicBezTo>
                <a:cubicBezTo>
                  <a:pt x="214" y="348"/>
                  <a:pt x="214" y="348"/>
                  <a:pt x="214" y="348"/>
                </a:cubicBezTo>
                <a:cubicBezTo>
                  <a:pt x="214" y="348"/>
                  <a:pt x="214" y="349"/>
                  <a:pt x="214" y="349"/>
                </a:cubicBezTo>
                <a:cubicBezTo>
                  <a:pt x="215" y="349"/>
                  <a:pt x="216" y="350"/>
                  <a:pt x="216" y="350"/>
                </a:cubicBezTo>
                <a:cubicBezTo>
                  <a:pt x="216" y="351"/>
                  <a:pt x="216" y="352"/>
                  <a:pt x="215" y="353"/>
                </a:cubicBezTo>
                <a:cubicBezTo>
                  <a:pt x="215" y="353"/>
                  <a:pt x="215" y="353"/>
                  <a:pt x="215" y="353"/>
                </a:cubicBezTo>
                <a:cubicBezTo>
                  <a:pt x="214" y="355"/>
                  <a:pt x="213" y="357"/>
                  <a:pt x="212" y="359"/>
                </a:cubicBezTo>
                <a:close/>
                <a:moveTo>
                  <a:pt x="266" y="369"/>
                </a:moveTo>
                <a:cubicBezTo>
                  <a:pt x="266" y="369"/>
                  <a:pt x="265" y="369"/>
                  <a:pt x="264" y="369"/>
                </a:cubicBezTo>
                <a:cubicBezTo>
                  <a:pt x="264" y="369"/>
                  <a:pt x="264" y="370"/>
                  <a:pt x="264" y="370"/>
                </a:cubicBezTo>
                <a:cubicBezTo>
                  <a:pt x="261" y="370"/>
                  <a:pt x="258" y="370"/>
                  <a:pt x="254" y="370"/>
                </a:cubicBezTo>
                <a:cubicBezTo>
                  <a:pt x="240" y="370"/>
                  <a:pt x="240" y="370"/>
                  <a:pt x="240" y="370"/>
                </a:cubicBezTo>
                <a:cubicBezTo>
                  <a:pt x="238" y="370"/>
                  <a:pt x="233" y="369"/>
                  <a:pt x="231" y="366"/>
                </a:cubicBezTo>
                <a:cubicBezTo>
                  <a:pt x="231" y="366"/>
                  <a:pt x="231" y="365"/>
                  <a:pt x="231" y="365"/>
                </a:cubicBezTo>
                <a:cubicBezTo>
                  <a:pt x="231" y="365"/>
                  <a:pt x="231" y="365"/>
                  <a:pt x="231" y="364"/>
                </a:cubicBezTo>
                <a:cubicBezTo>
                  <a:pt x="232" y="363"/>
                  <a:pt x="233" y="362"/>
                  <a:pt x="233" y="361"/>
                </a:cubicBezTo>
                <a:cubicBezTo>
                  <a:pt x="234" y="358"/>
                  <a:pt x="235" y="354"/>
                  <a:pt x="238" y="352"/>
                </a:cubicBezTo>
                <a:cubicBezTo>
                  <a:pt x="238" y="351"/>
                  <a:pt x="238" y="351"/>
                  <a:pt x="238" y="351"/>
                </a:cubicBezTo>
                <a:cubicBezTo>
                  <a:pt x="238" y="351"/>
                  <a:pt x="238" y="351"/>
                  <a:pt x="238" y="351"/>
                </a:cubicBezTo>
                <a:cubicBezTo>
                  <a:pt x="239" y="351"/>
                  <a:pt x="239" y="351"/>
                  <a:pt x="239" y="351"/>
                </a:cubicBezTo>
                <a:cubicBezTo>
                  <a:pt x="239" y="350"/>
                  <a:pt x="239" y="350"/>
                  <a:pt x="239" y="350"/>
                </a:cubicBezTo>
                <a:cubicBezTo>
                  <a:pt x="239" y="350"/>
                  <a:pt x="239" y="350"/>
                  <a:pt x="239" y="350"/>
                </a:cubicBezTo>
                <a:cubicBezTo>
                  <a:pt x="241" y="349"/>
                  <a:pt x="244" y="348"/>
                  <a:pt x="246" y="348"/>
                </a:cubicBezTo>
                <a:cubicBezTo>
                  <a:pt x="246" y="348"/>
                  <a:pt x="246" y="347"/>
                  <a:pt x="247" y="347"/>
                </a:cubicBezTo>
                <a:cubicBezTo>
                  <a:pt x="248" y="347"/>
                  <a:pt x="249" y="347"/>
                  <a:pt x="251" y="347"/>
                </a:cubicBezTo>
                <a:cubicBezTo>
                  <a:pt x="259" y="347"/>
                  <a:pt x="259" y="347"/>
                  <a:pt x="259" y="347"/>
                </a:cubicBezTo>
                <a:cubicBezTo>
                  <a:pt x="262" y="347"/>
                  <a:pt x="265" y="347"/>
                  <a:pt x="267" y="347"/>
                </a:cubicBezTo>
                <a:cubicBezTo>
                  <a:pt x="271" y="347"/>
                  <a:pt x="276" y="346"/>
                  <a:pt x="279" y="349"/>
                </a:cubicBezTo>
                <a:cubicBezTo>
                  <a:pt x="279" y="349"/>
                  <a:pt x="280" y="349"/>
                  <a:pt x="280" y="350"/>
                </a:cubicBezTo>
                <a:cubicBezTo>
                  <a:pt x="280" y="350"/>
                  <a:pt x="280" y="350"/>
                  <a:pt x="280" y="350"/>
                </a:cubicBezTo>
                <a:cubicBezTo>
                  <a:pt x="280" y="350"/>
                  <a:pt x="280" y="350"/>
                  <a:pt x="280" y="350"/>
                </a:cubicBezTo>
                <a:cubicBezTo>
                  <a:pt x="280" y="350"/>
                  <a:pt x="280" y="350"/>
                  <a:pt x="280" y="350"/>
                </a:cubicBezTo>
                <a:cubicBezTo>
                  <a:pt x="280" y="351"/>
                  <a:pt x="280" y="351"/>
                  <a:pt x="280" y="352"/>
                </a:cubicBezTo>
                <a:cubicBezTo>
                  <a:pt x="280" y="355"/>
                  <a:pt x="278" y="359"/>
                  <a:pt x="277" y="361"/>
                </a:cubicBezTo>
                <a:cubicBezTo>
                  <a:pt x="277" y="361"/>
                  <a:pt x="277" y="361"/>
                  <a:pt x="277" y="361"/>
                </a:cubicBezTo>
                <a:cubicBezTo>
                  <a:pt x="277" y="362"/>
                  <a:pt x="277" y="362"/>
                  <a:pt x="276" y="363"/>
                </a:cubicBezTo>
                <a:cubicBezTo>
                  <a:pt x="276" y="363"/>
                  <a:pt x="276" y="363"/>
                  <a:pt x="276" y="363"/>
                </a:cubicBezTo>
                <a:cubicBezTo>
                  <a:pt x="276" y="364"/>
                  <a:pt x="276" y="364"/>
                  <a:pt x="276" y="364"/>
                </a:cubicBezTo>
                <a:cubicBezTo>
                  <a:pt x="276" y="364"/>
                  <a:pt x="276" y="364"/>
                  <a:pt x="276" y="364"/>
                </a:cubicBezTo>
                <a:cubicBezTo>
                  <a:pt x="276" y="364"/>
                  <a:pt x="275" y="365"/>
                  <a:pt x="275" y="365"/>
                </a:cubicBezTo>
                <a:cubicBezTo>
                  <a:pt x="275" y="365"/>
                  <a:pt x="275" y="365"/>
                  <a:pt x="275" y="365"/>
                </a:cubicBezTo>
                <a:cubicBezTo>
                  <a:pt x="275" y="365"/>
                  <a:pt x="275" y="365"/>
                  <a:pt x="275" y="365"/>
                </a:cubicBezTo>
                <a:cubicBezTo>
                  <a:pt x="275" y="366"/>
                  <a:pt x="275" y="366"/>
                  <a:pt x="275" y="366"/>
                </a:cubicBezTo>
                <a:cubicBezTo>
                  <a:pt x="274" y="366"/>
                  <a:pt x="274" y="367"/>
                  <a:pt x="273" y="367"/>
                </a:cubicBezTo>
                <a:cubicBezTo>
                  <a:pt x="273" y="367"/>
                  <a:pt x="272" y="367"/>
                  <a:pt x="272" y="368"/>
                </a:cubicBezTo>
                <a:cubicBezTo>
                  <a:pt x="271" y="368"/>
                  <a:pt x="271" y="368"/>
                  <a:pt x="271" y="368"/>
                </a:cubicBezTo>
                <a:cubicBezTo>
                  <a:pt x="271" y="368"/>
                  <a:pt x="271" y="368"/>
                  <a:pt x="271" y="368"/>
                </a:cubicBezTo>
                <a:cubicBezTo>
                  <a:pt x="269" y="369"/>
                  <a:pt x="268" y="369"/>
                  <a:pt x="266" y="369"/>
                </a:cubicBezTo>
                <a:close/>
                <a:moveTo>
                  <a:pt x="172" y="430"/>
                </a:moveTo>
                <a:cubicBezTo>
                  <a:pt x="172" y="430"/>
                  <a:pt x="172" y="430"/>
                  <a:pt x="172" y="430"/>
                </a:cubicBezTo>
                <a:cubicBezTo>
                  <a:pt x="172" y="433"/>
                  <a:pt x="169" y="437"/>
                  <a:pt x="167" y="439"/>
                </a:cubicBezTo>
                <a:cubicBezTo>
                  <a:pt x="167" y="439"/>
                  <a:pt x="167" y="439"/>
                  <a:pt x="167" y="439"/>
                </a:cubicBezTo>
                <a:cubicBezTo>
                  <a:pt x="165" y="443"/>
                  <a:pt x="164" y="447"/>
                  <a:pt x="161" y="450"/>
                </a:cubicBezTo>
                <a:cubicBezTo>
                  <a:pt x="161" y="450"/>
                  <a:pt x="161" y="450"/>
                  <a:pt x="161" y="451"/>
                </a:cubicBezTo>
                <a:cubicBezTo>
                  <a:pt x="160" y="451"/>
                  <a:pt x="160" y="451"/>
                  <a:pt x="160" y="451"/>
                </a:cubicBezTo>
                <a:cubicBezTo>
                  <a:pt x="160" y="451"/>
                  <a:pt x="160" y="451"/>
                  <a:pt x="160" y="452"/>
                </a:cubicBezTo>
                <a:cubicBezTo>
                  <a:pt x="159" y="452"/>
                  <a:pt x="159" y="452"/>
                  <a:pt x="159" y="452"/>
                </a:cubicBezTo>
                <a:cubicBezTo>
                  <a:pt x="159" y="452"/>
                  <a:pt x="159" y="452"/>
                  <a:pt x="159" y="452"/>
                </a:cubicBezTo>
                <a:cubicBezTo>
                  <a:pt x="156" y="455"/>
                  <a:pt x="153" y="456"/>
                  <a:pt x="150" y="457"/>
                </a:cubicBezTo>
                <a:cubicBezTo>
                  <a:pt x="149" y="457"/>
                  <a:pt x="149" y="457"/>
                  <a:pt x="149" y="458"/>
                </a:cubicBezTo>
                <a:cubicBezTo>
                  <a:pt x="146" y="458"/>
                  <a:pt x="144" y="458"/>
                  <a:pt x="142" y="458"/>
                </a:cubicBezTo>
                <a:cubicBezTo>
                  <a:pt x="141" y="458"/>
                  <a:pt x="141" y="458"/>
                  <a:pt x="141" y="458"/>
                </a:cubicBezTo>
                <a:cubicBezTo>
                  <a:pt x="141" y="458"/>
                  <a:pt x="141" y="458"/>
                  <a:pt x="141" y="458"/>
                </a:cubicBezTo>
                <a:cubicBezTo>
                  <a:pt x="132" y="458"/>
                  <a:pt x="124" y="458"/>
                  <a:pt x="115" y="458"/>
                </a:cubicBezTo>
                <a:cubicBezTo>
                  <a:pt x="114" y="458"/>
                  <a:pt x="114" y="458"/>
                  <a:pt x="113" y="458"/>
                </a:cubicBezTo>
                <a:cubicBezTo>
                  <a:pt x="112" y="458"/>
                  <a:pt x="111" y="458"/>
                  <a:pt x="110" y="458"/>
                </a:cubicBezTo>
                <a:cubicBezTo>
                  <a:pt x="109" y="457"/>
                  <a:pt x="107" y="456"/>
                  <a:pt x="107" y="456"/>
                </a:cubicBezTo>
                <a:cubicBezTo>
                  <a:pt x="106" y="455"/>
                  <a:pt x="106" y="453"/>
                  <a:pt x="106" y="452"/>
                </a:cubicBezTo>
                <a:cubicBezTo>
                  <a:pt x="106" y="451"/>
                  <a:pt x="106" y="451"/>
                  <a:pt x="107" y="450"/>
                </a:cubicBezTo>
                <a:cubicBezTo>
                  <a:pt x="107" y="449"/>
                  <a:pt x="107" y="449"/>
                  <a:pt x="107" y="449"/>
                </a:cubicBezTo>
                <a:cubicBezTo>
                  <a:pt x="107" y="449"/>
                  <a:pt x="107" y="449"/>
                  <a:pt x="107" y="449"/>
                </a:cubicBezTo>
                <a:cubicBezTo>
                  <a:pt x="107" y="448"/>
                  <a:pt x="107" y="448"/>
                  <a:pt x="107" y="448"/>
                </a:cubicBezTo>
                <a:cubicBezTo>
                  <a:pt x="107" y="448"/>
                  <a:pt x="107" y="448"/>
                  <a:pt x="107" y="448"/>
                </a:cubicBezTo>
                <a:cubicBezTo>
                  <a:pt x="109" y="445"/>
                  <a:pt x="112" y="442"/>
                  <a:pt x="114" y="439"/>
                </a:cubicBezTo>
                <a:cubicBezTo>
                  <a:pt x="116" y="436"/>
                  <a:pt x="117" y="433"/>
                  <a:pt x="119" y="431"/>
                </a:cubicBezTo>
                <a:cubicBezTo>
                  <a:pt x="120" y="431"/>
                  <a:pt x="120" y="430"/>
                  <a:pt x="120" y="430"/>
                </a:cubicBezTo>
                <a:cubicBezTo>
                  <a:pt x="120" y="430"/>
                  <a:pt x="120" y="430"/>
                  <a:pt x="120" y="430"/>
                </a:cubicBezTo>
                <a:cubicBezTo>
                  <a:pt x="121" y="430"/>
                  <a:pt x="121" y="429"/>
                  <a:pt x="122" y="429"/>
                </a:cubicBezTo>
                <a:cubicBezTo>
                  <a:pt x="122" y="429"/>
                  <a:pt x="122" y="429"/>
                  <a:pt x="122" y="429"/>
                </a:cubicBezTo>
                <a:cubicBezTo>
                  <a:pt x="122" y="429"/>
                  <a:pt x="122" y="429"/>
                  <a:pt x="122" y="429"/>
                </a:cubicBezTo>
                <a:cubicBezTo>
                  <a:pt x="125" y="426"/>
                  <a:pt x="128" y="425"/>
                  <a:pt x="132" y="424"/>
                </a:cubicBezTo>
                <a:cubicBezTo>
                  <a:pt x="132" y="424"/>
                  <a:pt x="132" y="424"/>
                  <a:pt x="132" y="424"/>
                </a:cubicBezTo>
                <a:cubicBezTo>
                  <a:pt x="132" y="424"/>
                  <a:pt x="132" y="424"/>
                  <a:pt x="132" y="424"/>
                </a:cubicBezTo>
                <a:cubicBezTo>
                  <a:pt x="133" y="424"/>
                  <a:pt x="133" y="424"/>
                  <a:pt x="134" y="424"/>
                </a:cubicBezTo>
                <a:cubicBezTo>
                  <a:pt x="135" y="424"/>
                  <a:pt x="135" y="424"/>
                  <a:pt x="135" y="424"/>
                </a:cubicBezTo>
                <a:cubicBezTo>
                  <a:pt x="136" y="424"/>
                  <a:pt x="136" y="424"/>
                  <a:pt x="137" y="424"/>
                </a:cubicBezTo>
                <a:cubicBezTo>
                  <a:pt x="137" y="423"/>
                  <a:pt x="137" y="423"/>
                  <a:pt x="138" y="423"/>
                </a:cubicBezTo>
                <a:cubicBezTo>
                  <a:pt x="138" y="423"/>
                  <a:pt x="138" y="423"/>
                  <a:pt x="138" y="423"/>
                </a:cubicBezTo>
                <a:cubicBezTo>
                  <a:pt x="138" y="423"/>
                  <a:pt x="138" y="423"/>
                  <a:pt x="138" y="423"/>
                </a:cubicBezTo>
                <a:cubicBezTo>
                  <a:pt x="146" y="423"/>
                  <a:pt x="153" y="423"/>
                  <a:pt x="161" y="423"/>
                </a:cubicBezTo>
                <a:cubicBezTo>
                  <a:pt x="161" y="423"/>
                  <a:pt x="161" y="423"/>
                  <a:pt x="161" y="423"/>
                </a:cubicBezTo>
                <a:cubicBezTo>
                  <a:pt x="163" y="423"/>
                  <a:pt x="163" y="423"/>
                  <a:pt x="163" y="423"/>
                </a:cubicBezTo>
                <a:cubicBezTo>
                  <a:pt x="165" y="423"/>
                  <a:pt x="166" y="424"/>
                  <a:pt x="167" y="424"/>
                </a:cubicBezTo>
                <a:cubicBezTo>
                  <a:pt x="168" y="424"/>
                  <a:pt x="168" y="424"/>
                  <a:pt x="169" y="425"/>
                </a:cubicBezTo>
                <a:cubicBezTo>
                  <a:pt x="169" y="425"/>
                  <a:pt x="169" y="425"/>
                  <a:pt x="169" y="425"/>
                </a:cubicBezTo>
                <a:cubicBezTo>
                  <a:pt x="169" y="425"/>
                  <a:pt x="169" y="425"/>
                  <a:pt x="170" y="425"/>
                </a:cubicBezTo>
                <a:cubicBezTo>
                  <a:pt x="172" y="426"/>
                  <a:pt x="173" y="428"/>
                  <a:pt x="172" y="430"/>
                </a:cubicBezTo>
                <a:close/>
                <a:moveTo>
                  <a:pt x="188" y="402"/>
                </a:moveTo>
                <a:cubicBezTo>
                  <a:pt x="188" y="402"/>
                  <a:pt x="188" y="402"/>
                  <a:pt x="188" y="402"/>
                </a:cubicBezTo>
                <a:cubicBezTo>
                  <a:pt x="188" y="402"/>
                  <a:pt x="188" y="402"/>
                  <a:pt x="188" y="402"/>
                </a:cubicBezTo>
                <a:cubicBezTo>
                  <a:pt x="188" y="403"/>
                  <a:pt x="187" y="403"/>
                  <a:pt x="187" y="404"/>
                </a:cubicBezTo>
                <a:cubicBezTo>
                  <a:pt x="187" y="404"/>
                  <a:pt x="187" y="404"/>
                  <a:pt x="187" y="404"/>
                </a:cubicBezTo>
                <a:cubicBezTo>
                  <a:pt x="185" y="406"/>
                  <a:pt x="182" y="407"/>
                  <a:pt x="179" y="408"/>
                </a:cubicBezTo>
                <a:cubicBezTo>
                  <a:pt x="179" y="408"/>
                  <a:pt x="179" y="408"/>
                  <a:pt x="179" y="408"/>
                </a:cubicBezTo>
                <a:cubicBezTo>
                  <a:pt x="179" y="409"/>
                  <a:pt x="178" y="409"/>
                  <a:pt x="178" y="409"/>
                </a:cubicBezTo>
                <a:cubicBezTo>
                  <a:pt x="177" y="409"/>
                  <a:pt x="177" y="409"/>
                  <a:pt x="177" y="409"/>
                </a:cubicBezTo>
                <a:cubicBezTo>
                  <a:pt x="177" y="409"/>
                  <a:pt x="177" y="409"/>
                  <a:pt x="176" y="409"/>
                </a:cubicBezTo>
                <a:cubicBezTo>
                  <a:pt x="174" y="409"/>
                  <a:pt x="172" y="410"/>
                  <a:pt x="171" y="410"/>
                </a:cubicBezTo>
                <a:cubicBezTo>
                  <a:pt x="170" y="410"/>
                  <a:pt x="170" y="410"/>
                  <a:pt x="170" y="410"/>
                </a:cubicBezTo>
                <a:cubicBezTo>
                  <a:pt x="167" y="410"/>
                  <a:pt x="164" y="410"/>
                  <a:pt x="161" y="410"/>
                </a:cubicBezTo>
                <a:cubicBezTo>
                  <a:pt x="156" y="410"/>
                  <a:pt x="151" y="410"/>
                  <a:pt x="146" y="410"/>
                </a:cubicBezTo>
                <a:cubicBezTo>
                  <a:pt x="146" y="410"/>
                  <a:pt x="145" y="410"/>
                  <a:pt x="144" y="410"/>
                </a:cubicBezTo>
                <a:cubicBezTo>
                  <a:pt x="144" y="410"/>
                  <a:pt x="144" y="410"/>
                  <a:pt x="144" y="410"/>
                </a:cubicBezTo>
                <a:cubicBezTo>
                  <a:pt x="143" y="409"/>
                  <a:pt x="143" y="409"/>
                  <a:pt x="142" y="409"/>
                </a:cubicBezTo>
                <a:cubicBezTo>
                  <a:pt x="142" y="409"/>
                  <a:pt x="142" y="409"/>
                  <a:pt x="142" y="409"/>
                </a:cubicBezTo>
                <a:cubicBezTo>
                  <a:pt x="142" y="409"/>
                  <a:pt x="142" y="409"/>
                  <a:pt x="142" y="409"/>
                </a:cubicBezTo>
                <a:cubicBezTo>
                  <a:pt x="140" y="409"/>
                  <a:pt x="138" y="407"/>
                  <a:pt x="138" y="405"/>
                </a:cubicBezTo>
                <a:cubicBezTo>
                  <a:pt x="138" y="405"/>
                  <a:pt x="138" y="404"/>
                  <a:pt x="138" y="404"/>
                </a:cubicBezTo>
                <a:cubicBezTo>
                  <a:pt x="138" y="404"/>
                  <a:pt x="138" y="404"/>
                  <a:pt x="138" y="403"/>
                </a:cubicBezTo>
                <a:cubicBezTo>
                  <a:pt x="138" y="403"/>
                  <a:pt x="138" y="403"/>
                  <a:pt x="139" y="402"/>
                </a:cubicBezTo>
                <a:cubicBezTo>
                  <a:pt x="139" y="402"/>
                  <a:pt x="139" y="402"/>
                  <a:pt x="139" y="402"/>
                </a:cubicBezTo>
                <a:cubicBezTo>
                  <a:pt x="139" y="402"/>
                  <a:pt x="139" y="402"/>
                  <a:pt x="139" y="402"/>
                </a:cubicBezTo>
                <a:cubicBezTo>
                  <a:pt x="139" y="402"/>
                  <a:pt x="139" y="401"/>
                  <a:pt x="140" y="401"/>
                </a:cubicBezTo>
                <a:cubicBezTo>
                  <a:pt x="142" y="397"/>
                  <a:pt x="144" y="394"/>
                  <a:pt x="147" y="390"/>
                </a:cubicBezTo>
                <a:cubicBezTo>
                  <a:pt x="147" y="390"/>
                  <a:pt x="147" y="390"/>
                  <a:pt x="147" y="390"/>
                </a:cubicBezTo>
                <a:cubicBezTo>
                  <a:pt x="148" y="389"/>
                  <a:pt x="148" y="389"/>
                  <a:pt x="148" y="389"/>
                </a:cubicBezTo>
                <a:cubicBezTo>
                  <a:pt x="149" y="388"/>
                  <a:pt x="149" y="387"/>
                  <a:pt x="151" y="386"/>
                </a:cubicBezTo>
                <a:cubicBezTo>
                  <a:pt x="151" y="385"/>
                  <a:pt x="152" y="385"/>
                  <a:pt x="153" y="385"/>
                </a:cubicBezTo>
                <a:cubicBezTo>
                  <a:pt x="153" y="384"/>
                  <a:pt x="154" y="384"/>
                  <a:pt x="154" y="384"/>
                </a:cubicBezTo>
                <a:cubicBezTo>
                  <a:pt x="154" y="384"/>
                  <a:pt x="154" y="384"/>
                  <a:pt x="155" y="384"/>
                </a:cubicBezTo>
                <a:cubicBezTo>
                  <a:pt x="155" y="384"/>
                  <a:pt x="155" y="384"/>
                  <a:pt x="155" y="384"/>
                </a:cubicBezTo>
                <a:cubicBezTo>
                  <a:pt x="155" y="384"/>
                  <a:pt x="155" y="384"/>
                  <a:pt x="156" y="383"/>
                </a:cubicBezTo>
                <a:cubicBezTo>
                  <a:pt x="157" y="383"/>
                  <a:pt x="158" y="383"/>
                  <a:pt x="160" y="382"/>
                </a:cubicBezTo>
                <a:cubicBezTo>
                  <a:pt x="161" y="382"/>
                  <a:pt x="163" y="382"/>
                  <a:pt x="165" y="382"/>
                </a:cubicBezTo>
                <a:cubicBezTo>
                  <a:pt x="169" y="382"/>
                  <a:pt x="169" y="382"/>
                  <a:pt x="169" y="382"/>
                </a:cubicBezTo>
                <a:cubicBezTo>
                  <a:pt x="170" y="382"/>
                  <a:pt x="171" y="382"/>
                  <a:pt x="172" y="382"/>
                </a:cubicBezTo>
                <a:cubicBezTo>
                  <a:pt x="177" y="382"/>
                  <a:pt x="181" y="382"/>
                  <a:pt x="185" y="382"/>
                </a:cubicBezTo>
                <a:cubicBezTo>
                  <a:pt x="185" y="382"/>
                  <a:pt x="185" y="382"/>
                  <a:pt x="185" y="382"/>
                </a:cubicBezTo>
                <a:cubicBezTo>
                  <a:pt x="187" y="382"/>
                  <a:pt x="187" y="382"/>
                  <a:pt x="187" y="382"/>
                </a:cubicBezTo>
                <a:cubicBezTo>
                  <a:pt x="189" y="382"/>
                  <a:pt x="190" y="382"/>
                  <a:pt x="191" y="382"/>
                </a:cubicBezTo>
                <a:cubicBezTo>
                  <a:pt x="193" y="383"/>
                  <a:pt x="193" y="383"/>
                  <a:pt x="194" y="383"/>
                </a:cubicBezTo>
                <a:cubicBezTo>
                  <a:pt x="196" y="384"/>
                  <a:pt x="197" y="386"/>
                  <a:pt x="196" y="389"/>
                </a:cubicBezTo>
                <a:cubicBezTo>
                  <a:pt x="194" y="392"/>
                  <a:pt x="192" y="395"/>
                  <a:pt x="190" y="398"/>
                </a:cubicBezTo>
                <a:cubicBezTo>
                  <a:pt x="188" y="402"/>
                  <a:pt x="188" y="402"/>
                  <a:pt x="188" y="402"/>
                </a:cubicBezTo>
                <a:cubicBezTo>
                  <a:pt x="188" y="402"/>
                  <a:pt x="188" y="402"/>
                  <a:pt x="188" y="402"/>
                </a:cubicBezTo>
                <a:close/>
                <a:moveTo>
                  <a:pt x="411" y="448"/>
                </a:moveTo>
                <a:cubicBezTo>
                  <a:pt x="411" y="449"/>
                  <a:pt x="411" y="449"/>
                  <a:pt x="411" y="450"/>
                </a:cubicBezTo>
                <a:cubicBezTo>
                  <a:pt x="411" y="450"/>
                  <a:pt x="411" y="450"/>
                  <a:pt x="411" y="450"/>
                </a:cubicBezTo>
                <a:cubicBezTo>
                  <a:pt x="411" y="451"/>
                  <a:pt x="411" y="451"/>
                  <a:pt x="410" y="451"/>
                </a:cubicBezTo>
                <a:cubicBezTo>
                  <a:pt x="410" y="451"/>
                  <a:pt x="410" y="451"/>
                  <a:pt x="410" y="452"/>
                </a:cubicBezTo>
                <a:cubicBezTo>
                  <a:pt x="410" y="452"/>
                  <a:pt x="410" y="452"/>
                  <a:pt x="410" y="452"/>
                </a:cubicBezTo>
                <a:cubicBezTo>
                  <a:pt x="410" y="452"/>
                  <a:pt x="409" y="453"/>
                  <a:pt x="409" y="453"/>
                </a:cubicBezTo>
                <a:cubicBezTo>
                  <a:pt x="409" y="453"/>
                  <a:pt x="409" y="453"/>
                  <a:pt x="409" y="453"/>
                </a:cubicBezTo>
                <a:cubicBezTo>
                  <a:pt x="408" y="454"/>
                  <a:pt x="408" y="454"/>
                  <a:pt x="407" y="455"/>
                </a:cubicBezTo>
                <a:cubicBezTo>
                  <a:pt x="407" y="455"/>
                  <a:pt x="407" y="455"/>
                  <a:pt x="407" y="455"/>
                </a:cubicBezTo>
                <a:cubicBezTo>
                  <a:pt x="407" y="455"/>
                  <a:pt x="407" y="455"/>
                  <a:pt x="407" y="455"/>
                </a:cubicBezTo>
                <a:cubicBezTo>
                  <a:pt x="406" y="455"/>
                  <a:pt x="406" y="456"/>
                  <a:pt x="405" y="456"/>
                </a:cubicBezTo>
                <a:cubicBezTo>
                  <a:pt x="405" y="456"/>
                  <a:pt x="405" y="456"/>
                  <a:pt x="405" y="456"/>
                </a:cubicBezTo>
                <a:cubicBezTo>
                  <a:pt x="404" y="456"/>
                  <a:pt x="404" y="456"/>
                  <a:pt x="404" y="456"/>
                </a:cubicBezTo>
                <a:cubicBezTo>
                  <a:pt x="403" y="456"/>
                  <a:pt x="403" y="457"/>
                  <a:pt x="403" y="457"/>
                </a:cubicBezTo>
                <a:cubicBezTo>
                  <a:pt x="403" y="457"/>
                  <a:pt x="403" y="457"/>
                  <a:pt x="402" y="457"/>
                </a:cubicBezTo>
                <a:cubicBezTo>
                  <a:pt x="402" y="457"/>
                  <a:pt x="402" y="457"/>
                  <a:pt x="402" y="457"/>
                </a:cubicBezTo>
                <a:cubicBezTo>
                  <a:pt x="402" y="457"/>
                  <a:pt x="401" y="457"/>
                  <a:pt x="400" y="457"/>
                </a:cubicBezTo>
                <a:cubicBezTo>
                  <a:pt x="400" y="457"/>
                  <a:pt x="399" y="457"/>
                  <a:pt x="399" y="457"/>
                </a:cubicBezTo>
                <a:cubicBezTo>
                  <a:pt x="398" y="458"/>
                  <a:pt x="398" y="458"/>
                  <a:pt x="397" y="458"/>
                </a:cubicBezTo>
                <a:cubicBezTo>
                  <a:pt x="397" y="458"/>
                  <a:pt x="397" y="458"/>
                  <a:pt x="397" y="458"/>
                </a:cubicBezTo>
                <a:cubicBezTo>
                  <a:pt x="396" y="458"/>
                  <a:pt x="396" y="458"/>
                  <a:pt x="396" y="458"/>
                </a:cubicBezTo>
                <a:cubicBezTo>
                  <a:pt x="396" y="458"/>
                  <a:pt x="396" y="458"/>
                  <a:pt x="396" y="458"/>
                </a:cubicBezTo>
                <a:cubicBezTo>
                  <a:pt x="393" y="458"/>
                  <a:pt x="390" y="458"/>
                  <a:pt x="387" y="458"/>
                </a:cubicBezTo>
                <a:cubicBezTo>
                  <a:pt x="373" y="458"/>
                  <a:pt x="212" y="458"/>
                  <a:pt x="200" y="458"/>
                </a:cubicBezTo>
                <a:cubicBezTo>
                  <a:pt x="199" y="458"/>
                  <a:pt x="198" y="458"/>
                  <a:pt x="198" y="458"/>
                </a:cubicBezTo>
                <a:cubicBezTo>
                  <a:pt x="197" y="458"/>
                  <a:pt x="196" y="458"/>
                  <a:pt x="195" y="457"/>
                </a:cubicBezTo>
                <a:cubicBezTo>
                  <a:pt x="193" y="457"/>
                  <a:pt x="192" y="456"/>
                  <a:pt x="191" y="455"/>
                </a:cubicBezTo>
                <a:cubicBezTo>
                  <a:pt x="190" y="454"/>
                  <a:pt x="190" y="453"/>
                  <a:pt x="189" y="452"/>
                </a:cubicBezTo>
                <a:cubicBezTo>
                  <a:pt x="189" y="451"/>
                  <a:pt x="189" y="450"/>
                  <a:pt x="190" y="449"/>
                </a:cubicBezTo>
                <a:cubicBezTo>
                  <a:pt x="191" y="448"/>
                  <a:pt x="191" y="448"/>
                  <a:pt x="191" y="448"/>
                </a:cubicBezTo>
                <a:cubicBezTo>
                  <a:pt x="191" y="448"/>
                  <a:pt x="191" y="448"/>
                  <a:pt x="191" y="448"/>
                </a:cubicBezTo>
                <a:cubicBezTo>
                  <a:pt x="192" y="444"/>
                  <a:pt x="194" y="440"/>
                  <a:pt x="196" y="437"/>
                </a:cubicBezTo>
                <a:cubicBezTo>
                  <a:pt x="196" y="436"/>
                  <a:pt x="197" y="435"/>
                  <a:pt x="197" y="435"/>
                </a:cubicBezTo>
                <a:cubicBezTo>
                  <a:pt x="198" y="432"/>
                  <a:pt x="198" y="432"/>
                  <a:pt x="198" y="432"/>
                </a:cubicBezTo>
                <a:cubicBezTo>
                  <a:pt x="199" y="431"/>
                  <a:pt x="200" y="430"/>
                  <a:pt x="201" y="428"/>
                </a:cubicBezTo>
                <a:cubicBezTo>
                  <a:pt x="201" y="428"/>
                  <a:pt x="202" y="428"/>
                  <a:pt x="202" y="428"/>
                </a:cubicBezTo>
                <a:cubicBezTo>
                  <a:pt x="202" y="428"/>
                  <a:pt x="202" y="428"/>
                  <a:pt x="203" y="428"/>
                </a:cubicBezTo>
                <a:cubicBezTo>
                  <a:pt x="203" y="427"/>
                  <a:pt x="203" y="427"/>
                  <a:pt x="203" y="427"/>
                </a:cubicBezTo>
                <a:cubicBezTo>
                  <a:pt x="203" y="427"/>
                  <a:pt x="203" y="427"/>
                  <a:pt x="203" y="427"/>
                </a:cubicBezTo>
                <a:cubicBezTo>
                  <a:pt x="204" y="427"/>
                  <a:pt x="204" y="427"/>
                  <a:pt x="204" y="427"/>
                </a:cubicBezTo>
                <a:cubicBezTo>
                  <a:pt x="204" y="426"/>
                  <a:pt x="205" y="426"/>
                  <a:pt x="205" y="426"/>
                </a:cubicBezTo>
                <a:cubicBezTo>
                  <a:pt x="205" y="426"/>
                  <a:pt x="206" y="426"/>
                  <a:pt x="206" y="425"/>
                </a:cubicBezTo>
                <a:cubicBezTo>
                  <a:pt x="206" y="425"/>
                  <a:pt x="207" y="425"/>
                  <a:pt x="207" y="425"/>
                </a:cubicBezTo>
                <a:cubicBezTo>
                  <a:pt x="208" y="425"/>
                  <a:pt x="208" y="425"/>
                  <a:pt x="209" y="424"/>
                </a:cubicBezTo>
                <a:cubicBezTo>
                  <a:pt x="209" y="424"/>
                  <a:pt x="210" y="424"/>
                  <a:pt x="210" y="424"/>
                </a:cubicBezTo>
                <a:cubicBezTo>
                  <a:pt x="210" y="424"/>
                  <a:pt x="210" y="424"/>
                  <a:pt x="210" y="424"/>
                </a:cubicBezTo>
                <a:cubicBezTo>
                  <a:pt x="212" y="423"/>
                  <a:pt x="214" y="423"/>
                  <a:pt x="216" y="423"/>
                </a:cubicBezTo>
                <a:cubicBezTo>
                  <a:pt x="216" y="423"/>
                  <a:pt x="385" y="423"/>
                  <a:pt x="392" y="423"/>
                </a:cubicBezTo>
                <a:cubicBezTo>
                  <a:pt x="393" y="423"/>
                  <a:pt x="395" y="423"/>
                  <a:pt x="397" y="423"/>
                </a:cubicBezTo>
                <a:cubicBezTo>
                  <a:pt x="398" y="423"/>
                  <a:pt x="399" y="423"/>
                  <a:pt x="400" y="423"/>
                </a:cubicBezTo>
                <a:cubicBezTo>
                  <a:pt x="400" y="423"/>
                  <a:pt x="400" y="423"/>
                  <a:pt x="400" y="423"/>
                </a:cubicBezTo>
                <a:cubicBezTo>
                  <a:pt x="401" y="423"/>
                  <a:pt x="402" y="423"/>
                  <a:pt x="402" y="423"/>
                </a:cubicBezTo>
                <a:cubicBezTo>
                  <a:pt x="403" y="423"/>
                  <a:pt x="403" y="423"/>
                  <a:pt x="403" y="423"/>
                </a:cubicBezTo>
                <a:cubicBezTo>
                  <a:pt x="403" y="423"/>
                  <a:pt x="403" y="423"/>
                  <a:pt x="403" y="423"/>
                </a:cubicBezTo>
                <a:cubicBezTo>
                  <a:pt x="404" y="424"/>
                  <a:pt x="404" y="424"/>
                  <a:pt x="405" y="424"/>
                </a:cubicBezTo>
                <a:cubicBezTo>
                  <a:pt x="405" y="424"/>
                  <a:pt x="405" y="424"/>
                  <a:pt x="405" y="424"/>
                </a:cubicBezTo>
                <a:cubicBezTo>
                  <a:pt x="406" y="425"/>
                  <a:pt x="406" y="425"/>
                  <a:pt x="407" y="425"/>
                </a:cubicBezTo>
                <a:cubicBezTo>
                  <a:pt x="407" y="425"/>
                  <a:pt x="407" y="425"/>
                  <a:pt x="407" y="425"/>
                </a:cubicBezTo>
                <a:cubicBezTo>
                  <a:pt x="407" y="425"/>
                  <a:pt x="407" y="425"/>
                  <a:pt x="407" y="425"/>
                </a:cubicBezTo>
                <a:cubicBezTo>
                  <a:pt x="408" y="426"/>
                  <a:pt x="408" y="426"/>
                  <a:pt x="408" y="426"/>
                </a:cubicBezTo>
                <a:cubicBezTo>
                  <a:pt x="409" y="427"/>
                  <a:pt x="409" y="427"/>
                  <a:pt x="410" y="428"/>
                </a:cubicBezTo>
                <a:cubicBezTo>
                  <a:pt x="411" y="429"/>
                  <a:pt x="411" y="430"/>
                  <a:pt x="411" y="431"/>
                </a:cubicBezTo>
                <a:cubicBezTo>
                  <a:pt x="411" y="432"/>
                  <a:pt x="411" y="432"/>
                  <a:pt x="411" y="432"/>
                </a:cubicBezTo>
                <a:cubicBezTo>
                  <a:pt x="411" y="432"/>
                  <a:pt x="411" y="432"/>
                  <a:pt x="411" y="432"/>
                </a:cubicBezTo>
                <a:cubicBezTo>
                  <a:pt x="411" y="436"/>
                  <a:pt x="411" y="441"/>
                  <a:pt x="411" y="445"/>
                </a:cubicBezTo>
                <a:cubicBezTo>
                  <a:pt x="411" y="446"/>
                  <a:pt x="411" y="447"/>
                  <a:pt x="411" y="448"/>
                </a:cubicBezTo>
                <a:close/>
                <a:moveTo>
                  <a:pt x="434" y="366"/>
                </a:moveTo>
                <a:cubicBezTo>
                  <a:pt x="434" y="366"/>
                  <a:pt x="434" y="366"/>
                  <a:pt x="434" y="366"/>
                </a:cubicBezTo>
                <a:cubicBezTo>
                  <a:pt x="434" y="366"/>
                  <a:pt x="434" y="366"/>
                  <a:pt x="434" y="365"/>
                </a:cubicBezTo>
                <a:cubicBezTo>
                  <a:pt x="433" y="365"/>
                  <a:pt x="433" y="364"/>
                  <a:pt x="432" y="363"/>
                </a:cubicBezTo>
                <a:cubicBezTo>
                  <a:pt x="432" y="362"/>
                  <a:pt x="432" y="362"/>
                  <a:pt x="432" y="362"/>
                </a:cubicBezTo>
                <a:cubicBezTo>
                  <a:pt x="432" y="362"/>
                  <a:pt x="432" y="361"/>
                  <a:pt x="432" y="360"/>
                </a:cubicBezTo>
                <a:cubicBezTo>
                  <a:pt x="432" y="360"/>
                  <a:pt x="432" y="360"/>
                  <a:pt x="432" y="360"/>
                </a:cubicBezTo>
                <a:cubicBezTo>
                  <a:pt x="432" y="358"/>
                  <a:pt x="432" y="355"/>
                  <a:pt x="432" y="353"/>
                </a:cubicBezTo>
                <a:cubicBezTo>
                  <a:pt x="432" y="352"/>
                  <a:pt x="432" y="352"/>
                  <a:pt x="432" y="352"/>
                </a:cubicBezTo>
                <a:cubicBezTo>
                  <a:pt x="432" y="351"/>
                  <a:pt x="432" y="350"/>
                  <a:pt x="432" y="350"/>
                </a:cubicBezTo>
                <a:cubicBezTo>
                  <a:pt x="433" y="349"/>
                  <a:pt x="434" y="349"/>
                  <a:pt x="435" y="348"/>
                </a:cubicBezTo>
                <a:cubicBezTo>
                  <a:pt x="436" y="348"/>
                  <a:pt x="437" y="347"/>
                  <a:pt x="438" y="347"/>
                </a:cubicBezTo>
                <a:cubicBezTo>
                  <a:pt x="438" y="347"/>
                  <a:pt x="438" y="347"/>
                  <a:pt x="438" y="347"/>
                </a:cubicBezTo>
                <a:cubicBezTo>
                  <a:pt x="438" y="347"/>
                  <a:pt x="438" y="347"/>
                  <a:pt x="438" y="347"/>
                </a:cubicBezTo>
                <a:cubicBezTo>
                  <a:pt x="439" y="347"/>
                  <a:pt x="439" y="347"/>
                  <a:pt x="440" y="347"/>
                </a:cubicBezTo>
                <a:cubicBezTo>
                  <a:pt x="440" y="347"/>
                  <a:pt x="440" y="347"/>
                  <a:pt x="441" y="347"/>
                </a:cubicBezTo>
                <a:cubicBezTo>
                  <a:pt x="443" y="346"/>
                  <a:pt x="445" y="346"/>
                  <a:pt x="447" y="346"/>
                </a:cubicBezTo>
                <a:cubicBezTo>
                  <a:pt x="463" y="346"/>
                  <a:pt x="463" y="346"/>
                  <a:pt x="463" y="346"/>
                </a:cubicBezTo>
                <a:cubicBezTo>
                  <a:pt x="464" y="346"/>
                  <a:pt x="465" y="346"/>
                  <a:pt x="465" y="347"/>
                </a:cubicBezTo>
                <a:cubicBezTo>
                  <a:pt x="469" y="347"/>
                  <a:pt x="474" y="348"/>
                  <a:pt x="475" y="352"/>
                </a:cubicBezTo>
                <a:cubicBezTo>
                  <a:pt x="476" y="355"/>
                  <a:pt x="476" y="359"/>
                  <a:pt x="477" y="362"/>
                </a:cubicBezTo>
                <a:cubicBezTo>
                  <a:pt x="477" y="363"/>
                  <a:pt x="477" y="363"/>
                  <a:pt x="477" y="363"/>
                </a:cubicBezTo>
                <a:cubicBezTo>
                  <a:pt x="477" y="364"/>
                  <a:pt x="477" y="364"/>
                  <a:pt x="477" y="365"/>
                </a:cubicBezTo>
                <a:cubicBezTo>
                  <a:pt x="477" y="365"/>
                  <a:pt x="477" y="365"/>
                  <a:pt x="477" y="365"/>
                </a:cubicBezTo>
                <a:cubicBezTo>
                  <a:pt x="477" y="365"/>
                  <a:pt x="477" y="365"/>
                  <a:pt x="477" y="365"/>
                </a:cubicBezTo>
                <a:cubicBezTo>
                  <a:pt x="477" y="365"/>
                  <a:pt x="477" y="365"/>
                  <a:pt x="477" y="365"/>
                </a:cubicBezTo>
                <a:cubicBezTo>
                  <a:pt x="476" y="367"/>
                  <a:pt x="474" y="368"/>
                  <a:pt x="472" y="369"/>
                </a:cubicBezTo>
                <a:cubicBezTo>
                  <a:pt x="471" y="369"/>
                  <a:pt x="471" y="369"/>
                  <a:pt x="471" y="369"/>
                </a:cubicBezTo>
                <a:cubicBezTo>
                  <a:pt x="471" y="369"/>
                  <a:pt x="471" y="369"/>
                  <a:pt x="470" y="369"/>
                </a:cubicBezTo>
                <a:cubicBezTo>
                  <a:pt x="470" y="369"/>
                  <a:pt x="470" y="369"/>
                  <a:pt x="470" y="369"/>
                </a:cubicBezTo>
                <a:cubicBezTo>
                  <a:pt x="469" y="369"/>
                  <a:pt x="469" y="369"/>
                  <a:pt x="469" y="369"/>
                </a:cubicBezTo>
                <a:cubicBezTo>
                  <a:pt x="463" y="370"/>
                  <a:pt x="457" y="369"/>
                  <a:pt x="455" y="369"/>
                </a:cubicBezTo>
                <a:cubicBezTo>
                  <a:pt x="445" y="369"/>
                  <a:pt x="445" y="369"/>
                  <a:pt x="445" y="369"/>
                </a:cubicBezTo>
                <a:cubicBezTo>
                  <a:pt x="444" y="369"/>
                  <a:pt x="443" y="369"/>
                  <a:pt x="442" y="369"/>
                </a:cubicBezTo>
                <a:cubicBezTo>
                  <a:pt x="442" y="369"/>
                  <a:pt x="441" y="369"/>
                  <a:pt x="441" y="369"/>
                </a:cubicBezTo>
                <a:cubicBezTo>
                  <a:pt x="440" y="369"/>
                  <a:pt x="440" y="369"/>
                  <a:pt x="440" y="369"/>
                </a:cubicBezTo>
                <a:cubicBezTo>
                  <a:pt x="440" y="369"/>
                  <a:pt x="440" y="369"/>
                  <a:pt x="440" y="369"/>
                </a:cubicBezTo>
                <a:cubicBezTo>
                  <a:pt x="439" y="369"/>
                  <a:pt x="439" y="369"/>
                  <a:pt x="438" y="368"/>
                </a:cubicBezTo>
                <a:cubicBezTo>
                  <a:pt x="438" y="368"/>
                  <a:pt x="438" y="368"/>
                  <a:pt x="438" y="368"/>
                </a:cubicBezTo>
                <a:cubicBezTo>
                  <a:pt x="437" y="368"/>
                  <a:pt x="437" y="368"/>
                  <a:pt x="436" y="367"/>
                </a:cubicBezTo>
                <a:cubicBezTo>
                  <a:pt x="436" y="367"/>
                  <a:pt x="435" y="367"/>
                  <a:pt x="434" y="366"/>
                </a:cubicBezTo>
                <a:cubicBezTo>
                  <a:pt x="434" y="366"/>
                  <a:pt x="434" y="366"/>
                  <a:pt x="434" y="366"/>
                </a:cubicBezTo>
                <a:close/>
                <a:moveTo>
                  <a:pt x="437" y="404"/>
                </a:moveTo>
                <a:cubicBezTo>
                  <a:pt x="436" y="403"/>
                  <a:pt x="436" y="402"/>
                  <a:pt x="435" y="402"/>
                </a:cubicBezTo>
                <a:cubicBezTo>
                  <a:pt x="435" y="400"/>
                  <a:pt x="435" y="400"/>
                  <a:pt x="435" y="400"/>
                </a:cubicBezTo>
                <a:cubicBezTo>
                  <a:pt x="435" y="400"/>
                  <a:pt x="435" y="400"/>
                  <a:pt x="435" y="400"/>
                </a:cubicBezTo>
                <a:cubicBezTo>
                  <a:pt x="435" y="396"/>
                  <a:pt x="435" y="392"/>
                  <a:pt x="434" y="388"/>
                </a:cubicBezTo>
                <a:cubicBezTo>
                  <a:pt x="434" y="388"/>
                  <a:pt x="434" y="388"/>
                  <a:pt x="434" y="388"/>
                </a:cubicBezTo>
                <a:cubicBezTo>
                  <a:pt x="434" y="388"/>
                  <a:pt x="434" y="388"/>
                  <a:pt x="434" y="388"/>
                </a:cubicBezTo>
                <a:cubicBezTo>
                  <a:pt x="434" y="388"/>
                  <a:pt x="434" y="388"/>
                  <a:pt x="434" y="387"/>
                </a:cubicBezTo>
                <a:cubicBezTo>
                  <a:pt x="435" y="379"/>
                  <a:pt x="453" y="381"/>
                  <a:pt x="458" y="381"/>
                </a:cubicBezTo>
                <a:cubicBezTo>
                  <a:pt x="465" y="381"/>
                  <a:pt x="477" y="380"/>
                  <a:pt x="481" y="386"/>
                </a:cubicBezTo>
                <a:cubicBezTo>
                  <a:pt x="481" y="387"/>
                  <a:pt x="482" y="387"/>
                  <a:pt x="482" y="388"/>
                </a:cubicBezTo>
                <a:cubicBezTo>
                  <a:pt x="482" y="389"/>
                  <a:pt x="482" y="389"/>
                  <a:pt x="482" y="389"/>
                </a:cubicBezTo>
                <a:cubicBezTo>
                  <a:pt x="482" y="389"/>
                  <a:pt x="482" y="389"/>
                  <a:pt x="482" y="389"/>
                </a:cubicBezTo>
                <a:cubicBezTo>
                  <a:pt x="483" y="391"/>
                  <a:pt x="483" y="392"/>
                  <a:pt x="484" y="395"/>
                </a:cubicBezTo>
                <a:cubicBezTo>
                  <a:pt x="485" y="401"/>
                  <a:pt x="485" y="401"/>
                  <a:pt x="485" y="401"/>
                </a:cubicBezTo>
                <a:cubicBezTo>
                  <a:pt x="485" y="402"/>
                  <a:pt x="485" y="403"/>
                  <a:pt x="484" y="404"/>
                </a:cubicBezTo>
                <a:cubicBezTo>
                  <a:pt x="484" y="405"/>
                  <a:pt x="484" y="405"/>
                  <a:pt x="483" y="406"/>
                </a:cubicBezTo>
                <a:cubicBezTo>
                  <a:pt x="483" y="406"/>
                  <a:pt x="483" y="406"/>
                  <a:pt x="482" y="407"/>
                </a:cubicBezTo>
                <a:cubicBezTo>
                  <a:pt x="482" y="407"/>
                  <a:pt x="482" y="407"/>
                  <a:pt x="482" y="407"/>
                </a:cubicBezTo>
                <a:cubicBezTo>
                  <a:pt x="482" y="407"/>
                  <a:pt x="482" y="407"/>
                  <a:pt x="482" y="407"/>
                </a:cubicBezTo>
                <a:cubicBezTo>
                  <a:pt x="481" y="407"/>
                  <a:pt x="481" y="407"/>
                  <a:pt x="481" y="407"/>
                </a:cubicBezTo>
                <a:cubicBezTo>
                  <a:pt x="480" y="408"/>
                  <a:pt x="480" y="408"/>
                  <a:pt x="480" y="408"/>
                </a:cubicBezTo>
                <a:cubicBezTo>
                  <a:pt x="479" y="408"/>
                  <a:pt x="479" y="408"/>
                  <a:pt x="479" y="408"/>
                </a:cubicBezTo>
                <a:cubicBezTo>
                  <a:pt x="479" y="408"/>
                  <a:pt x="479" y="408"/>
                  <a:pt x="478" y="408"/>
                </a:cubicBezTo>
                <a:cubicBezTo>
                  <a:pt x="478" y="408"/>
                  <a:pt x="478" y="409"/>
                  <a:pt x="477" y="409"/>
                </a:cubicBezTo>
                <a:cubicBezTo>
                  <a:pt x="477" y="409"/>
                  <a:pt x="477" y="409"/>
                  <a:pt x="477" y="409"/>
                </a:cubicBezTo>
                <a:cubicBezTo>
                  <a:pt x="477" y="409"/>
                  <a:pt x="476" y="409"/>
                  <a:pt x="475" y="409"/>
                </a:cubicBezTo>
                <a:cubicBezTo>
                  <a:pt x="474" y="409"/>
                  <a:pt x="474" y="409"/>
                  <a:pt x="473" y="409"/>
                </a:cubicBezTo>
                <a:cubicBezTo>
                  <a:pt x="473" y="409"/>
                  <a:pt x="473" y="409"/>
                  <a:pt x="473" y="409"/>
                </a:cubicBezTo>
                <a:cubicBezTo>
                  <a:pt x="473" y="409"/>
                  <a:pt x="473" y="409"/>
                  <a:pt x="473" y="409"/>
                </a:cubicBezTo>
                <a:cubicBezTo>
                  <a:pt x="473" y="409"/>
                  <a:pt x="473" y="409"/>
                  <a:pt x="473" y="409"/>
                </a:cubicBezTo>
                <a:cubicBezTo>
                  <a:pt x="465" y="409"/>
                  <a:pt x="457" y="409"/>
                  <a:pt x="449" y="409"/>
                </a:cubicBezTo>
                <a:cubicBezTo>
                  <a:pt x="448" y="409"/>
                  <a:pt x="447" y="409"/>
                  <a:pt x="447" y="409"/>
                </a:cubicBezTo>
                <a:cubicBezTo>
                  <a:pt x="446" y="409"/>
                  <a:pt x="446" y="409"/>
                  <a:pt x="446" y="409"/>
                </a:cubicBezTo>
                <a:cubicBezTo>
                  <a:pt x="445" y="409"/>
                  <a:pt x="445" y="409"/>
                  <a:pt x="444" y="409"/>
                </a:cubicBezTo>
                <a:cubicBezTo>
                  <a:pt x="444" y="409"/>
                  <a:pt x="444" y="409"/>
                  <a:pt x="444" y="409"/>
                </a:cubicBezTo>
                <a:cubicBezTo>
                  <a:pt x="444" y="408"/>
                  <a:pt x="444" y="408"/>
                  <a:pt x="444" y="408"/>
                </a:cubicBezTo>
                <a:cubicBezTo>
                  <a:pt x="443" y="408"/>
                  <a:pt x="442" y="408"/>
                  <a:pt x="442" y="408"/>
                </a:cubicBezTo>
                <a:cubicBezTo>
                  <a:pt x="441" y="408"/>
                  <a:pt x="441" y="407"/>
                  <a:pt x="441" y="407"/>
                </a:cubicBezTo>
                <a:cubicBezTo>
                  <a:pt x="441" y="407"/>
                  <a:pt x="440" y="407"/>
                  <a:pt x="440" y="407"/>
                </a:cubicBezTo>
                <a:cubicBezTo>
                  <a:pt x="440" y="407"/>
                  <a:pt x="440" y="407"/>
                  <a:pt x="440" y="407"/>
                </a:cubicBezTo>
                <a:cubicBezTo>
                  <a:pt x="439" y="406"/>
                  <a:pt x="437" y="405"/>
                  <a:pt x="437" y="404"/>
                </a:cubicBezTo>
                <a:close/>
                <a:moveTo>
                  <a:pt x="494" y="451"/>
                </a:moveTo>
                <a:cubicBezTo>
                  <a:pt x="493" y="453"/>
                  <a:pt x="492" y="453"/>
                  <a:pt x="491" y="454"/>
                </a:cubicBezTo>
                <a:cubicBezTo>
                  <a:pt x="490" y="455"/>
                  <a:pt x="489" y="456"/>
                  <a:pt x="487" y="456"/>
                </a:cubicBezTo>
                <a:cubicBezTo>
                  <a:pt x="485" y="457"/>
                  <a:pt x="484" y="457"/>
                  <a:pt x="481" y="457"/>
                </a:cubicBezTo>
                <a:cubicBezTo>
                  <a:pt x="476" y="457"/>
                  <a:pt x="476" y="457"/>
                  <a:pt x="476" y="457"/>
                </a:cubicBezTo>
                <a:cubicBezTo>
                  <a:pt x="476" y="457"/>
                  <a:pt x="476" y="457"/>
                  <a:pt x="476" y="457"/>
                </a:cubicBezTo>
                <a:cubicBezTo>
                  <a:pt x="469" y="457"/>
                  <a:pt x="462" y="457"/>
                  <a:pt x="454" y="457"/>
                </a:cubicBezTo>
                <a:cubicBezTo>
                  <a:pt x="453" y="457"/>
                  <a:pt x="453" y="457"/>
                  <a:pt x="452" y="457"/>
                </a:cubicBezTo>
                <a:cubicBezTo>
                  <a:pt x="451" y="457"/>
                  <a:pt x="451" y="457"/>
                  <a:pt x="451" y="457"/>
                </a:cubicBezTo>
                <a:cubicBezTo>
                  <a:pt x="450" y="457"/>
                  <a:pt x="450" y="457"/>
                  <a:pt x="449" y="457"/>
                </a:cubicBezTo>
                <a:cubicBezTo>
                  <a:pt x="449" y="457"/>
                  <a:pt x="449" y="457"/>
                  <a:pt x="448" y="457"/>
                </a:cubicBezTo>
                <a:cubicBezTo>
                  <a:pt x="448" y="457"/>
                  <a:pt x="448" y="457"/>
                  <a:pt x="448" y="457"/>
                </a:cubicBezTo>
                <a:cubicBezTo>
                  <a:pt x="445" y="456"/>
                  <a:pt x="442" y="454"/>
                  <a:pt x="440" y="451"/>
                </a:cubicBezTo>
                <a:cubicBezTo>
                  <a:pt x="440" y="451"/>
                  <a:pt x="440" y="451"/>
                  <a:pt x="440" y="451"/>
                </a:cubicBezTo>
                <a:cubicBezTo>
                  <a:pt x="440" y="451"/>
                  <a:pt x="440" y="451"/>
                  <a:pt x="440" y="451"/>
                </a:cubicBezTo>
                <a:cubicBezTo>
                  <a:pt x="440" y="451"/>
                  <a:pt x="440" y="451"/>
                  <a:pt x="440" y="450"/>
                </a:cubicBezTo>
                <a:cubicBezTo>
                  <a:pt x="439" y="450"/>
                  <a:pt x="439" y="449"/>
                  <a:pt x="439" y="449"/>
                </a:cubicBezTo>
                <a:cubicBezTo>
                  <a:pt x="439" y="449"/>
                  <a:pt x="439" y="449"/>
                  <a:pt x="439" y="448"/>
                </a:cubicBezTo>
                <a:cubicBezTo>
                  <a:pt x="439" y="448"/>
                  <a:pt x="439" y="448"/>
                  <a:pt x="439" y="448"/>
                </a:cubicBezTo>
                <a:cubicBezTo>
                  <a:pt x="439" y="447"/>
                  <a:pt x="439" y="447"/>
                  <a:pt x="439" y="447"/>
                </a:cubicBezTo>
                <a:cubicBezTo>
                  <a:pt x="439" y="447"/>
                  <a:pt x="439" y="447"/>
                  <a:pt x="439" y="447"/>
                </a:cubicBezTo>
                <a:cubicBezTo>
                  <a:pt x="439" y="444"/>
                  <a:pt x="438" y="439"/>
                  <a:pt x="438" y="435"/>
                </a:cubicBezTo>
                <a:cubicBezTo>
                  <a:pt x="438" y="435"/>
                  <a:pt x="438" y="434"/>
                  <a:pt x="438" y="433"/>
                </a:cubicBezTo>
                <a:cubicBezTo>
                  <a:pt x="438" y="431"/>
                  <a:pt x="438" y="431"/>
                  <a:pt x="438" y="431"/>
                </a:cubicBezTo>
                <a:cubicBezTo>
                  <a:pt x="438" y="431"/>
                  <a:pt x="438" y="431"/>
                  <a:pt x="438" y="431"/>
                </a:cubicBezTo>
                <a:cubicBezTo>
                  <a:pt x="438" y="430"/>
                  <a:pt x="438" y="430"/>
                  <a:pt x="438" y="430"/>
                </a:cubicBezTo>
                <a:cubicBezTo>
                  <a:pt x="438" y="430"/>
                  <a:pt x="438" y="429"/>
                  <a:pt x="438" y="429"/>
                </a:cubicBezTo>
                <a:cubicBezTo>
                  <a:pt x="438" y="429"/>
                  <a:pt x="438" y="429"/>
                  <a:pt x="438" y="428"/>
                </a:cubicBezTo>
                <a:cubicBezTo>
                  <a:pt x="439" y="428"/>
                  <a:pt x="439" y="428"/>
                  <a:pt x="439" y="428"/>
                </a:cubicBezTo>
                <a:cubicBezTo>
                  <a:pt x="439" y="428"/>
                  <a:pt x="439" y="428"/>
                  <a:pt x="439" y="428"/>
                </a:cubicBezTo>
                <a:cubicBezTo>
                  <a:pt x="439" y="427"/>
                  <a:pt x="439" y="427"/>
                  <a:pt x="439" y="427"/>
                </a:cubicBezTo>
                <a:cubicBezTo>
                  <a:pt x="440" y="426"/>
                  <a:pt x="440" y="426"/>
                  <a:pt x="440" y="426"/>
                </a:cubicBezTo>
                <a:cubicBezTo>
                  <a:pt x="440" y="426"/>
                  <a:pt x="441" y="426"/>
                  <a:pt x="441" y="425"/>
                </a:cubicBezTo>
                <a:cubicBezTo>
                  <a:pt x="441" y="425"/>
                  <a:pt x="441" y="425"/>
                  <a:pt x="441" y="425"/>
                </a:cubicBezTo>
                <a:cubicBezTo>
                  <a:pt x="441" y="425"/>
                  <a:pt x="441" y="425"/>
                  <a:pt x="441" y="425"/>
                </a:cubicBezTo>
                <a:cubicBezTo>
                  <a:pt x="442" y="425"/>
                  <a:pt x="442" y="425"/>
                  <a:pt x="443" y="424"/>
                </a:cubicBezTo>
                <a:cubicBezTo>
                  <a:pt x="443" y="424"/>
                  <a:pt x="443" y="424"/>
                  <a:pt x="443" y="424"/>
                </a:cubicBezTo>
                <a:cubicBezTo>
                  <a:pt x="444" y="424"/>
                  <a:pt x="444" y="424"/>
                  <a:pt x="444" y="424"/>
                </a:cubicBezTo>
                <a:cubicBezTo>
                  <a:pt x="444" y="424"/>
                  <a:pt x="444" y="424"/>
                  <a:pt x="444" y="424"/>
                </a:cubicBezTo>
                <a:cubicBezTo>
                  <a:pt x="444" y="424"/>
                  <a:pt x="445" y="423"/>
                  <a:pt x="445" y="423"/>
                </a:cubicBezTo>
                <a:cubicBezTo>
                  <a:pt x="446" y="423"/>
                  <a:pt x="446" y="423"/>
                  <a:pt x="446" y="423"/>
                </a:cubicBezTo>
                <a:cubicBezTo>
                  <a:pt x="446" y="423"/>
                  <a:pt x="447" y="423"/>
                  <a:pt x="447" y="423"/>
                </a:cubicBezTo>
                <a:cubicBezTo>
                  <a:pt x="448" y="423"/>
                  <a:pt x="448" y="423"/>
                  <a:pt x="449" y="423"/>
                </a:cubicBezTo>
                <a:cubicBezTo>
                  <a:pt x="450" y="423"/>
                  <a:pt x="450" y="423"/>
                  <a:pt x="450" y="423"/>
                </a:cubicBezTo>
                <a:cubicBezTo>
                  <a:pt x="450" y="423"/>
                  <a:pt x="450" y="423"/>
                  <a:pt x="451" y="423"/>
                </a:cubicBezTo>
                <a:cubicBezTo>
                  <a:pt x="452" y="423"/>
                  <a:pt x="452" y="423"/>
                  <a:pt x="452" y="423"/>
                </a:cubicBezTo>
                <a:cubicBezTo>
                  <a:pt x="453" y="423"/>
                  <a:pt x="454" y="423"/>
                  <a:pt x="455" y="423"/>
                </a:cubicBezTo>
                <a:cubicBezTo>
                  <a:pt x="457" y="423"/>
                  <a:pt x="458" y="423"/>
                  <a:pt x="459" y="423"/>
                </a:cubicBezTo>
                <a:cubicBezTo>
                  <a:pt x="469" y="423"/>
                  <a:pt x="469" y="423"/>
                  <a:pt x="469" y="423"/>
                </a:cubicBezTo>
                <a:cubicBezTo>
                  <a:pt x="472" y="423"/>
                  <a:pt x="475" y="423"/>
                  <a:pt x="478" y="423"/>
                </a:cubicBezTo>
                <a:cubicBezTo>
                  <a:pt x="478" y="423"/>
                  <a:pt x="479" y="423"/>
                  <a:pt x="479" y="423"/>
                </a:cubicBezTo>
                <a:cubicBezTo>
                  <a:pt x="479" y="423"/>
                  <a:pt x="480" y="423"/>
                  <a:pt x="480" y="423"/>
                </a:cubicBezTo>
                <a:cubicBezTo>
                  <a:pt x="480" y="423"/>
                  <a:pt x="480" y="423"/>
                  <a:pt x="481" y="423"/>
                </a:cubicBezTo>
                <a:cubicBezTo>
                  <a:pt x="481" y="423"/>
                  <a:pt x="481" y="423"/>
                  <a:pt x="481" y="423"/>
                </a:cubicBezTo>
                <a:cubicBezTo>
                  <a:pt x="481" y="423"/>
                  <a:pt x="481" y="423"/>
                  <a:pt x="481" y="423"/>
                </a:cubicBezTo>
                <a:cubicBezTo>
                  <a:pt x="482" y="423"/>
                  <a:pt x="482" y="424"/>
                  <a:pt x="483" y="424"/>
                </a:cubicBezTo>
                <a:cubicBezTo>
                  <a:pt x="483" y="424"/>
                  <a:pt x="484" y="424"/>
                  <a:pt x="484" y="424"/>
                </a:cubicBezTo>
                <a:cubicBezTo>
                  <a:pt x="484" y="424"/>
                  <a:pt x="484" y="424"/>
                  <a:pt x="484" y="425"/>
                </a:cubicBezTo>
                <a:cubicBezTo>
                  <a:pt x="485" y="425"/>
                  <a:pt x="485" y="425"/>
                  <a:pt x="486" y="425"/>
                </a:cubicBezTo>
                <a:cubicBezTo>
                  <a:pt x="487" y="426"/>
                  <a:pt x="488" y="427"/>
                  <a:pt x="489" y="428"/>
                </a:cubicBezTo>
                <a:cubicBezTo>
                  <a:pt x="490" y="429"/>
                  <a:pt x="491" y="430"/>
                  <a:pt x="491" y="431"/>
                </a:cubicBezTo>
                <a:cubicBezTo>
                  <a:pt x="492" y="438"/>
                  <a:pt x="492" y="438"/>
                  <a:pt x="492" y="438"/>
                </a:cubicBezTo>
                <a:cubicBezTo>
                  <a:pt x="493" y="441"/>
                  <a:pt x="493" y="443"/>
                  <a:pt x="494" y="446"/>
                </a:cubicBezTo>
                <a:cubicBezTo>
                  <a:pt x="494" y="446"/>
                  <a:pt x="494" y="446"/>
                  <a:pt x="494" y="446"/>
                </a:cubicBezTo>
                <a:cubicBezTo>
                  <a:pt x="494" y="448"/>
                  <a:pt x="494" y="448"/>
                  <a:pt x="494" y="448"/>
                </a:cubicBezTo>
                <a:cubicBezTo>
                  <a:pt x="494" y="449"/>
                  <a:pt x="494" y="450"/>
                  <a:pt x="494" y="451"/>
                </a:cubicBezTo>
                <a:close/>
                <a:moveTo>
                  <a:pt x="508" y="369"/>
                </a:moveTo>
                <a:cubicBezTo>
                  <a:pt x="507" y="368"/>
                  <a:pt x="505" y="368"/>
                  <a:pt x="505" y="367"/>
                </a:cubicBezTo>
                <a:cubicBezTo>
                  <a:pt x="504" y="366"/>
                  <a:pt x="503" y="365"/>
                  <a:pt x="503" y="365"/>
                </a:cubicBezTo>
                <a:cubicBezTo>
                  <a:pt x="502" y="363"/>
                  <a:pt x="502" y="363"/>
                  <a:pt x="502" y="363"/>
                </a:cubicBezTo>
                <a:cubicBezTo>
                  <a:pt x="502" y="361"/>
                  <a:pt x="501" y="359"/>
                  <a:pt x="500" y="357"/>
                </a:cubicBezTo>
                <a:cubicBezTo>
                  <a:pt x="500" y="356"/>
                  <a:pt x="499" y="355"/>
                  <a:pt x="499" y="353"/>
                </a:cubicBezTo>
                <a:cubicBezTo>
                  <a:pt x="499" y="353"/>
                  <a:pt x="499" y="353"/>
                  <a:pt x="499" y="353"/>
                </a:cubicBezTo>
                <a:cubicBezTo>
                  <a:pt x="499" y="353"/>
                  <a:pt x="499" y="353"/>
                  <a:pt x="499" y="353"/>
                </a:cubicBezTo>
                <a:cubicBezTo>
                  <a:pt x="499" y="352"/>
                  <a:pt x="499" y="352"/>
                  <a:pt x="499" y="352"/>
                </a:cubicBezTo>
                <a:cubicBezTo>
                  <a:pt x="499" y="352"/>
                  <a:pt x="499" y="352"/>
                  <a:pt x="499" y="352"/>
                </a:cubicBezTo>
                <a:cubicBezTo>
                  <a:pt x="499" y="352"/>
                  <a:pt x="499" y="352"/>
                  <a:pt x="499" y="352"/>
                </a:cubicBezTo>
                <a:cubicBezTo>
                  <a:pt x="501" y="348"/>
                  <a:pt x="508" y="348"/>
                  <a:pt x="511" y="348"/>
                </a:cubicBezTo>
                <a:cubicBezTo>
                  <a:pt x="528" y="348"/>
                  <a:pt x="528" y="348"/>
                  <a:pt x="528" y="348"/>
                </a:cubicBezTo>
                <a:cubicBezTo>
                  <a:pt x="529" y="348"/>
                  <a:pt x="531" y="348"/>
                  <a:pt x="532" y="349"/>
                </a:cubicBezTo>
                <a:cubicBezTo>
                  <a:pt x="532" y="349"/>
                  <a:pt x="533" y="349"/>
                  <a:pt x="533" y="349"/>
                </a:cubicBezTo>
                <a:cubicBezTo>
                  <a:pt x="533" y="349"/>
                  <a:pt x="534" y="349"/>
                  <a:pt x="534" y="349"/>
                </a:cubicBezTo>
                <a:cubicBezTo>
                  <a:pt x="534" y="349"/>
                  <a:pt x="534" y="349"/>
                  <a:pt x="534" y="349"/>
                </a:cubicBezTo>
                <a:cubicBezTo>
                  <a:pt x="535" y="349"/>
                  <a:pt x="536" y="350"/>
                  <a:pt x="536" y="350"/>
                </a:cubicBezTo>
                <a:cubicBezTo>
                  <a:pt x="536" y="350"/>
                  <a:pt x="536" y="350"/>
                  <a:pt x="536" y="350"/>
                </a:cubicBezTo>
                <a:cubicBezTo>
                  <a:pt x="536" y="350"/>
                  <a:pt x="536" y="350"/>
                  <a:pt x="536" y="350"/>
                </a:cubicBezTo>
                <a:cubicBezTo>
                  <a:pt x="537" y="350"/>
                  <a:pt x="537" y="350"/>
                  <a:pt x="538" y="350"/>
                </a:cubicBezTo>
                <a:cubicBezTo>
                  <a:pt x="538" y="351"/>
                  <a:pt x="538" y="351"/>
                  <a:pt x="538" y="351"/>
                </a:cubicBezTo>
                <a:cubicBezTo>
                  <a:pt x="538" y="351"/>
                  <a:pt x="538" y="351"/>
                  <a:pt x="539" y="351"/>
                </a:cubicBezTo>
                <a:cubicBezTo>
                  <a:pt x="539" y="351"/>
                  <a:pt x="539" y="351"/>
                  <a:pt x="539" y="351"/>
                </a:cubicBezTo>
                <a:cubicBezTo>
                  <a:pt x="539" y="352"/>
                  <a:pt x="539" y="352"/>
                  <a:pt x="539" y="352"/>
                </a:cubicBezTo>
                <a:cubicBezTo>
                  <a:pt x="540" y="352"/>
                  <a:pt x="541" y="353"/>
                  <a:pt x="541" y="354"/>
                </a:cubicBezTo>
                <a:cubicBezTo>
                  <a:pt x="541" y="354"/>
                  <a:pt x="541" y="354"/>
                  <a:pt x="541" y="354"/>
                </a:cubicBezTo>
                <a:cubicBezTo>
                  <a:pt x="543" y="356"/>
                  <a:pt x="544" y="359"/>
                  <a:pt x="545" y="361"/>
                </a:cubicBezTo>
                <a:cubicBezTo>
                  <a:pt x="545" y="361"/>
                  <a:pt x="545" y="361"/>
                  <a:pt x="545" y="361"/>
                </a:cubicBezTo>
                <a:cubicBezTo>
                  <a:pt x="546" y="363"/>
                  <a:pt x="547" y="364"/>
                  <a:pt x="547" y="365"/>
                </a:cubicBezTo>
                <a:cubicBezTo>
                  <a:pt x="547" y="366"/>
                  <a:pt x="547" y="366"/>
                  <a:pt x="547" y="366"/>
                </a:cubicBezTo>
                <a:cubicBezTo>
                  <a:pt x="547" y="366"/>
                  <a:pt x="547" y="366"/>
                  <a:pt x="547" y="366"/>
                </a:cubicBezTo>
                <a:cubicBezTo>
                  <a:pt x="547" y="368"/>
                  <a:pt x="545" y="369"/>
                  <a:pt x="543" y="370"/>
                </a:cubicBezTo>
                <a:cubicBezTo>
                  <a:pt x="542" y="370"/>
                  <a:pt x="542" y="370"/>
                  <a:pt x="542" y="370"/>
                </a:cubicBezTo>
                <a:cubicBezTo>
                  <a:pt x="542" y="370"/>
                  <a:pt x="542" y="370"/>
                  <a:pt x="542" y="370"/>
                </a:cubicBezTo>
                <a:cubicBezTo>
                  <a:pt x="542" y="370"/>
                  <a:pt x="541" y="370"/>
                  <a:pt x="541" y="371"/>
                </a:cubicBezTo>
                <a:cubicBezTo>
                  <a:pt x="540" y="371"/>
                  <a:pt x="540" y="371"/>
                  <a:pt x="540" y="371"/>
                </a:cubicBezTo>
                <a:cubicBezTo>
                  <a:pt x="540" y="371"/>
                  <a:pt x="539" y="371"/>
                  <a:pt x="539" y="371"/>
                </a:cubicBezTo>
                <a:cubicBezTo>
                  <a:pt x="539" y="371"/>
                  <a:pt x="538" y="371"/>
                  <a:pt x="538" y="371"/>
                </a:cubicBezTo>
                <a:cubicBezTo>
                  <a:pt x="538" y="371"/>
                  <a:pt x="538" y="371"/>
                  <a:pt x="538" y="371"/>
                </a:cubicBezTo>
                <a:cubicBezTo>
                  <a:pt x="538" y="371"/>
                  <a:pt x="538" y="371"/>
                  <a:pt x="538" y="371"/>
                </a:cubicBezTo>
                <a:cubicBezTo>
                  <a:pt x="535" y="371"/>
                  <a:pt x="532" y="371"/>
                  <a:pt x="530" y="371"/>
                </a:cubicBezTo>
                <a:cubicBezTo>
                  <a:pt x="526" y="371"/>
                  <a:pt x="521" y="371"/>
                  <a:pt x="517" y="371"/>
                </a:cubicBezTo>
                <a:cubicBezTo>
                  <a:pt x="514" y="371"/>
                  <a:pt x="511" y="370"/>
                  <a:pt x="508" y="369"/>
                </a:cubicBezTo>
                <a:cubicBezTo>
                  <a:pt x="508" y="369"/>
                  <a:pt x="508" y="369"/>
                  <a:pt x="508" y="369"/>
                </a:cubicBezTo>
                <a:close/>
                <a:moveTo>
                  <a:pt x="519" y="405"/>
                </a:moveTo>
                <a:cubicBezTo>
                  <a:pt x="518" y="404"/>
                  <a:pt x="517" y="403"/>
                  <a:pt x="517" y="402"/>
                </a:cubicBezTo>
                <a:cubicBezTo>
                  <a:pt x="515" y="396"/>
                  <a:pt x="515" y="396"/>
                  <a:pt x="515" y="396"/>
                </a:cubicBezTo>
                <a:cubicBezTo>
                  <a:pt x="514" y="394"/>
                  <a:pt x="513" y="392"/>
                  <a:pt x="512" y="390"/>
                </a:cubicBezTo>
                <a:cubicBezTo>
                  <a:pt x="512" y="390"/>
                  <a:pt x="512" y="390"/>
                  <a:pt x="512" y="390"/>
                </a:cubicBezTo>
                <a:cubicBezTo>
                  <a:pt x="512" y="389"/>
                  <a:pt x="512" y="389"/>
                  <a:pt x="512" y="389"/>
                </a:cubicBezTo>
                <a:cubicBezTo>
                  <a:pt x="512" y="388"/>
                  <a:pt x="512" y="387"/>
                  <a:pt x="512" y="386"/>
                </a:cubicBezTo>
                <a:cubicBezTo>
                  <a:pt x="512" y="386"/>
                  <a:pt x="513" y="385"/>
                  <a:pt x="513" y="385"/>
                </a:cubicBezTo>
                <a:cubicBezTo>
                  <a:pt x="513" y="385"/>
                  <a:pt x="513" y="385"/>
                  <a:pt x="514" y="385"/>
                </a:cubicBezTo>
                <a:cubicBezTo>
                  <a:pt x="514" y="384"/>
                  <a:pt x="514" y="384"/>
                  <a:pt x="514" y="384"/>
                </a:cubicBezTo>
                <a:cubicBezTo>
                  <a:pt x="515" y="384"/>
                  <a:pt x="516" y="383"/>
                  <a:pt x="517" y="383"/>
                </a:cubicBezTo>
                <a:cubicBezTo>
                  <a:pt x="518" y="383"/>
                  <a:pt x="519" y="383"/>
                  <a:pt x="520" y="382"/>
                </a:cubicBezTo>
                <a:cubicBezTo>
                  <a:pt x="525" y="382"/>
                  <a:pt x="530" y="382"/>
                  <a:pt x="532" y="382"/>
                </a:cubicBezTo>
                <a:cubicBezTo>
                  <a:pt x="540" y="382"/>
                  <a:pt x="554" y="381"/>
                  <a:pt x="559" y="389"/>
                </a:cubicBezTo>
                <a:cubicBezTo>
                  <a:pt x="559" y="389"/>
                  <a:pt x="559" y="389"/>
                  <a:pt x="559" y="389"/>
                </a:cubicBezTo>
                <a:cubicBezTo>
                  <a:pt x="559" y="389"/>
                  <a:pt x="559" y="389"/>
                  <a:pt x="559" y="389"/>
                </a:cubicBezTo>
                <a:cubicBezTo>
                  <a:pt x="559" y="389"/>
                  <a:pt x="559" y="389"/>
                  <a:pt x="559" y="389"/>
                </a:cubicBezTo>
                <a:cubicBezTo>
                  <a:pt x="561" y="393"/>
                  <a:pt x="562" y="396"/>
                  <a:pt x="564" y="400"/>
                </a:cubicBezTo>
                <a:cubicBezTo>
                  <a:pt x="565" y="401"/>
                  <a:pt x="565" y="402"/>
                  <a:pt x="566" y="403"/>
                </a:cubicBezTo>
                <a:cubicBezTo>
                  <a:pt x="566" y="403"/>
                  <a:pt x="566" y="403"/>
                  <a:pt x="566" y="403"/>
                </a:cubicBezTo>
                <a:cubicBezTo>
                  <a:pt x="566" y="404"/>
                  <a:pt x="566" y="404"/>
                  <a:pt x="566" y="404"/>
                </a:cubicBezTo>
                <a:cubicBezTo>
                  <a:pt x="566" y="404"/>
                  <a:pt x="566" y="405"/>
                  <a:pt x="566" y="405"/>
                </a:cubicBezTo>
                <a:cubicBezTo>
                  <a:pt x="566" y="405"/>
                  <a:pt x="566" y="405"/>
                  <a:pt x="566" y="405"/>
                </a:cubicBezTo>
                <a:cubicBezTo>
                  <a:pt x="566" y="405"/>
                  <a:pt x="566" y="405"/>
                  <a:pt x="566" y="405"/>
                </a:cubicBezTo>
                <a:cubicBezTo>
                  <a:pt x="566" y="406"/>
                  <a:pt x="565" y="406"/>
                  <a:pt x="565" y="406"/>
                </a:cubicBezTo>
                <a:cubicBezTo>
                  <a:pt x="565" y="406"/>
                  <a:pt x="565" y="406"/>
                  <a:pt x="565" y="406"/>
                </a:cubicBezTo>
                <a:cubicBezTo>
                  <a:pt x="565" y="407"/>
                  <a:pt x="565" y="407"/>
                  <a:pt x="564" y="407"/>
                </a:cubicBezTo>
                <a:cubicBezTo>
                  <a:pt x="564" y="407"/>
                  <a:pt x="564" y="407"/>
                  <a:pt x="564" y="407"/>
                </a:cubicBezTo>
                <a:cubicBezTo>
                  <a:pt x="564" y="408"/>
                  <a:pt x="564" y="408"/>
                  <a:pt x="564" y="408"/>
                </a:cubicBezTo>
                <a:cubicBezTo>
                  <a:pt x="564" y="408"/>
                  <a:pt x="563" y="408"/>
                  <a:pt x="563" y="408"/>
                </a:cubicBezTo>
                <a:cubicBezTo>
                  <a:pt x="563" y="408"/>
                  <a:pt x="562" y="409"/>
                  <a:pt x="561" y="409"/>
                </a:cubicBezTo>
                <a:cubicBezTo>
                  <a:pt x="561" y="409"/>
                  <a:pt x="561" y="409"/>
                  <a:pt x="560" y="409"/>
                </a:cubicBezTo>
                <a:cubicBezTo>
                  <a:pt x="560" y="409"/>
                  <a:pt x="559" y="409"/>
                  <a:pt x="559" y="410"/>
                </a:cubicBezTo>
                <a:cubicBezTo>
                  <a:pt x="559" y="410"/>
                  <a:pt x="559" y="410"/>
                  <a:pt x="559" y="410"/>
                </a:cubicBezTo>
                <a:cubicBezTo>
                  <a:pt x="558" y="410"/>
                  <a:pt x="558" y="410"/>
                  <a:pt x="558" y="410"/>
                </a:cubicBezTo>
                <a:cubicBezTo>
                  <a:pt x="550" y="410"/>
                  <a:pt x="541" y="410"/>
                  <a:pt x="532" y="410"/>
                </a:cubicBezTo>
                <a:cubicBezTo>
                  <a:pt x="532" y="410"/>
                  <a:pt x="531" y="410"/>
                  <a:pt x="530" y="410"/>
                </a:cubicBezTo>
                <a:cubicBezTo>
                  <a:pt x="530" y="410"/>
                  <a:pt x="530" y="410"/>
                  <a:pt x="530" y="410"/>
                </a:cubicBezTo>
                <a:cubicBezTo>
                  <a:pt x="527" y="409"/>
                  <a:pt x="524" y="408"/>
                  <a:pt x="521" y="406"/>
                </a:cubicBezTo>
                <a:cubicBezTo>
                  <a:pt x="520" y="406"/>
                  <a:pt x="520" y="406"/>
                  <a:pt x="519" y="405"/>
                </a:cubicBezTo>
                <a:close/>
                <a:moveTo>
                  <a:pt x="589" y="451"/>
                </a:moveTo>
                <a:cubicBezTo>
                  <a:pt x="589" y="452"/>
                  <a:pt x="588" y="452"/>
                  <a:pt x="588" y="452"/>
                </a:cubicBezTo>
                <a:cubicBezTo>
                  <a:pt x="588" y="452"/>
                  <a:pt x="588" y="452"/>
                  <a:pt x="588" y="453"/>
                </a:cubicBezTo>
                <a:cubicBezTo>
                  <a:pt x="588" y="453"/>
                  <a:pt x="588" y="453"/>
                  <a:pt x="588" y="453"/>
                </a:cubicBezTo>
                <a:cubicBezTo>
                  <a:pt x="588" y="453"/>
                  <a:pt x="588" y="453"/>
                  <a:pt x="588" y="454"/>
                </a:cubicBezTo>
                <a:cubicBezTo>
                  <a:pt x="588" y="454"/>
                  <a:pt x="588" y="454"/>
                  <a:pt x="587" y="454"/>
                </a:cubicBezTo>
                <a:cubicBezTo>
                  <a:pt x="587" y="454"/>
                  <a:pt x="587" y="454"/>
                  <a:pt x="587" y="454"/>
                </a:cubicBezTo>
                <a:cubicBezTo>
                  <a:pt x="587" y="454"/>
                  <a:pt x="587" y="454"/>
                  <a:pt x="587" y="455"/>
                </a:cubicBezTo>
                <a:cubicBezTo>
                  <a:pt x="585" y="456"/>
                  <a:pt x="583" y="457"/>
                  <a:pt x="581" y="457"/>
                </a:cubicBezTo>
                <a:cubicBezTo>
                  <a:pt x="581" y="457"/>
                  <a:pt x="581" y="457"/>
                  <a:pt x="581" y="457"/>
                </a:cubicBezTo>
                <a:cubicBezTo>
                  <a:pt x="580" y="457"/>
                  <a:pt x="579" y="457"/>
                  <a:pt x="578" y="457"/>
                </a:cubicBezTo>
                <a:cubicBezTo>
                  <a:pt x="578" y="457"/>
                  <a:pt x="578" y="457"/>
                  <a:pt x="578" y="457"/>
                </a:cubicBezTo>
                <a:cubicBezTo>
                  <a:pt x="577" y="457"/>
                  <a:pt x="577" y="457"/>
                  <a:pt x="577" y="457"/>
                </a:cubicBezTo>
                <a:cubicBezTo>
                  <a:pt x="577" y="457"/>
                  <a:pt x="576" y="457"/>
                  <a:pt x="575" y="457"/>
                </a:cubicBezTo>
                <a:cubicBezTo>
                  <a:pt x="552" y="457"/>
                  <a:pt x="552" y="457"/>
                  <a:pt x="552" y="457"/>
                </a:cubicBezTo>
                <a:cubicBezTo>
                  <a:pt x="551" y="457"/>
                  <a:pt x="550" y="457"/>
                  <a:pt x="549" y="457"/>
                </a:cubicBezTo>
                <a:cubicBezTo>
                  <a:pt x="549" y="457"/>
                  <a:pt x="549" y="457"/>
                  <a:pt x="548" y="457"/>
                </a:cubicBezTo>
                <a:cubicBezTo>
                  <a:pt x="543" y="456"/>
                  <a:pt x="538" y="454"/>
                  <a:pt x="535" y="450"/>
                </a:cubicBezTo>
                <a:cubicBezTo>
                  <a:pt x="534" y="449"/>
                  <a:pt x="534" y="449"/>
                  <a:pt x="534" y="448"/>
                </a:cubicBezTo>
                <a:cubicBezTo>
                  <a:pt x="534" y="448"/>
                  <a:pt x="534" y="448"/>
                  <a:pt x="534" y="448"/>
                </a:cubicBezTo>
                <a:cubicBezTo>
                  <a:pt x="534" y="448"/>
                  <a:pt x="534" y="448"/>
                  <a:pt x="534" y="448"/>
                </a:cubicBezTo>
                <a:cubicBezTo>
                  <a:pt x="533" y="444"/>
                  <a:pt x="531" y="441"/>
                  <a:pt x="530" y="438"/>
                </a:cubicBezTo>
                <a:cubicBezTo>
                  <a:pt x="530" y="436"/>
                  <a:pt x="528" y="434"/>
                  <a:pt x="528" y="432"/>
                </a:cubicBezTo>
                <a:cubicBezTo>
                  <a:pt x="528" y="432"/>
                  <a:pt x="528" y="432"/>
                  <a:pt x="528" y="432"/>
                </a:cubicBezTo>
                <a:cubicBezTo>
                  <a:pt x="528" y="431"/>
                  <a:pt x="528" y="431"/>
                  <a:pt x="528" y="431"/>
                </a:cubicBezTo>
                <a:cubicBezTo>
                  <a:pt x="528" y="431"/>
                  <a:pt x="528" y="431"/>
                  <a:pt x="528" y="431"/>
                </a:cubicBezTo>
                <a:cubicBezTo>
                  <a:pt x="528" y="430"/>
                  <a:pt x="528" y="429"/>
                  <a:pt x="528" y="428"/>
                </a:cubicBezTo>
                <a:cubicBezTo>
                  <a:pt x="528" y="428"/>
                  <a:pt x="528" y="427"/>
                  <a:pt x="528" y="427"/>
                </a:cubicBezTo>
                <a:cubicBezTo>
                  <a:pt x="528" y="427"/>
                  <a:pt x="528" y="427"/>
                  <a:pt x="528" y="427"/>
                </a:cubicBezTo>
                <a:cubicBezTo>
                  <a:pt x="530" y="425"/>
                  <a:pt x="532" y="424"/>
                  <a:pt x="535" y="423"/>
                </a:cubicBezTo>
                <a:cubicBezTo>
                  <a:pt x="535" y="423"/>
                  <a:pt x="535" y="423"/>
                  <a:pt x="536" y="423"/>
                </a:cubicBezTo>
                <a:cubicBezTo>
                  <a:pt x="536" y="423"/>
                  <a:pt x="537" y="423"/>
                  <a:pt x="538" y="423"/>
                </a:cubicBezTo>
                <a:cubicBezTo>
                  <a:pt x="538" y="423"/>
                  <a:pt x="538" y="423"/>
                  <a:pt x="538" y="423"/>
                </a:cubicBezTo>
                <a:cubicBezTo>
                  <a:pt x="540" y="423"/>
                  <a:pt x="540" y="423"/>
                  <a:pt x="540" y="423"/>
                </a:cubicBezTo>
                <a:cubicBezTo>
                  <a:pt x="540" y="423"/>
                  <a:pt x="540" y="423"/>
                  <a:pt x="541" y="423"/>
                </a:cubicBezTo>
                <a:cubicBezTo>
                  <a:pt x="548" y="423"/>
                  <a:pt x="555" y="423"/>
                  <a:pt x="563" y="423"/>
                </a:cubicBezTo>
                <a:cubicBezTo>
                  <a:pt x="563" y="423"/>
                  <a:pt x="563" y="423"/>
                  <a:pt x="563" y="423"/>
                </a:cubicBezTo>
                <a:cubicBezTo>
                  <a:pt x="563" y="423"/>
                  <a:pt x="563" y="423"/>
                  <a:pt x="563" y="423"/>
                </a:cubicBezTo>
                <a:cubicBezTo>
                  <a:pt x="563" y="423"/>
                  <a:pt x="564" y="423"/>
                  <a:pt x="565" y="423"/>
                </a:cubicBezTo>
                <a:cubicBezTo>
                  <a:pt x="565" y="423"/>
                  <a:pt x="565" y="423"/>
                  <a:pt x="565" y="423"/>
                </a:cubicBezTo>
                <a:cubicBezTo>
                  <a:pt x="570" y="424"/>
                  <a:pt x="576" y="426"/>
                  <a:pt x="579" y="430"/>
                </a:cubicBezTo>
                <a:cubicBezTo>
                  <a:pt x="579" y="430"/>
                  <a:pt x="579" y="431"/>
                  <a:pt x="580" y="431"/>
                </a:cubicBezTo>
                <a:cubicBezTo>
                  <a:pt x="581" y="433"/>
                  <a:pt x="581" y="433"/>
                  <a:pt x="581" y="433"/>
                </a:cubicBezTo>
                <a:cubicBezTo>
                  <a:pt x="582" y="436"/>
                  <a:pt x="584" y="439"/>
                  <a:pt x="585" y="442"/>
                </a:cubicBezTo>
                <a:cubicBezTo>
                  <a:pt x="586" y="443"/>
                  <a:pt x="588" y="446"/>
                  <a:pt x="588" y="448"/>
                </a:cubicBezTo>
                <a:cubicBezTo>
                  <a:pt x="589" y="449"/>
                  <a:pt x="589" y="450"/>
                  <a:pt x="589" y="451"/>
                </a:cubicBezTo>
                <a:close/>
                <a:moveTo>
                  <a:pt x="594" y="406"/>
                </a:moveTo>
                <a:cubicBezTo>
                  <a:pt x="593" y="406"/>
                  <a:pt x="593" y="405"/>
                  <a:pt x="592" y="405"/>
                </a:cubicBezTo>
                <a:cubicBezTo>
                  <a:pt x="591" y="404"/>
                  <a:pt x="590" y="403"/>
                  <a:pt x="590" y="402"/>
                </a:cubicBezTo>
                <a:cubicBezTo>
                  <a:pt x="589" y="401"/>
                  <a:pt x="589" y="401"/>
                  <a:pt x="589" y="401"/>
                </a:cubicBezTo>
                <a:cubicBezTo>
                  <a:pt x="589" y="401"/>
                  <a:pt x="589" y="401"/>
                  <a:pt x="589" y="401"/>
                </a:cubicBezTo>
                <a:cubicBezTo>
                  <a:pt x="587" y="398"/>
                  <a:pt x="585" y="394"/>
                  <a:pt x="583" y="390"/>
                </a:cubicBezTo>
                <a:cubicBezTo>
                  <a:pt x="583" y="390"/>
                  <a:pt x="583" y="390"/>
                  <a:pt x="583" y="390"/>
                </a:cubicBezTo>
                <a:cubicBezTo>
                  <a:pt x="582" y="389"/>
                  <a:pt x="582" y="389"/>
                  <a:pt x="582" y="389"/>
                </a:cubicBezTo>
                <a:cubicBezTo>
                  <a:pt x="582" y="388"/>
                  <a:pt x="582" y="387"/>
                  <a:pt x="582" y="386"/>
                </a:cubicBezTo>
                <a:cubicBezTo>
                  <a:pt x="582" y="385"/>
                  <a:pt x="582" y="385"/>
                  <a:pt x="583" y="384"/>
                </a:cubicBezTo>
                <a:cubicBezTo>
                  <a:pt x="584" y="383"/>
                  <a:pt x="585" y="383"/>
                  <a:pt x="586" y="383"/>
                </a:cubicBezTo>
                <a:cubicBezTo>
                  <a:pt x="588" y="382"/>
                  <a:pt x="589" y="382"/>
                  <a:pt x="591" y="382"/>
                </a:cubicBezTo>
                <a:cubicBezTo>
                  <a:pt x="591" y="382"/>
                  <a:pt x="591" y="382"/>
                  <a:pt x="591" y="382"/>
                </a:cubicBezTo>
                <a:cubicBezTo>
                  <a:pt x="594" y="382"/>
                  <a:pt x="598" y="382"/>
                  <a:pt x="600" y="382"/>
                </a:cubicBezTo>
                <a:cubicBezTo>
                  <a:pt x="609" y="382"/>
                  <a:pt x="623" y="380"/>
                  <a:pt x="629" y="389"/>
                </a:cubicBezTo>
                <a:cubicBezTo>
                  <a:pt x="631" y="392"/>
                  <a:pt x="633" y="394"/>
                  <a:pt x="635" y="397"/>
                </a:cubicBezTo>
                <a:cubicBezTo>
                  <a:pt x="636" y="399"/>
                  <a:pt x="637" y="401"/>
                  <a:pt x="638" y="402"/>
                </a:cubicBezTo>
                <a:cubicBezTo>
                  <a:pt x="639" y="403"/>
                  <a:pt x="639" y="404"/>
                  <a:pt x="639" y="405"/>
                </a:cubicBezTo>
                <a:cubicBezTo>
                  <a:pt x="639" y="405"/>
                  <a:pt x="639" y="406"/>
                  <a:pt x="639" y="406"/>
                </a:cubicBezTo>
                <a:cubicBezTo>
                  <a:pt x="639" y="407"/>
                  <a:pt x="638" y="407"/>
                  <a:pt x="638" y="407"/>
                </a:cubicBezTo>
                <a:cubicBezTo>
                  <a:pt x="638" y="407"/>
                  <a:pt x="638" y="407"/>
                  <a:pt x="638" y="407"/>
                </a:cubicBezTo>
                <a:cubicBezTo>
                  <a:pt x="638" y="407"/>
                  <a:pt x="638" y="407"/>
                  <a:pt x="638" y="407"/>
                </a:cubicBezTo>
                <a:cubicBezTo>
                  <a:pt x="638" y="408"/>
                  <a:pt x="638" y="408"/>
                  <a:pt x="637" y="408"/>
                </a:cubicBezTo>
                <a:cubicBezTo>
                  <a:pt x="637" y="408"/>
                  <a:pt x="637" y="408"/>
                  <a:pt x="637" y="408"/>
                </a:cubicBezTo>
                <a:cubicBezTo>
                  <a:pt x="637" y="408"/>
                  <a:pt x="637" y="408"/>
                  <a:pt x="636" y="408"/>
                </a:cubicBezTo>
                <a:cubicBezTo>
                  <a:pt x="636" y="408"/>
                  <a:pt x="635" y="409"/>
                  <a:pt x="635" y="409"/>
                </a:cubicBezTo>
                <a:cubicBezTo>
                  <a:pt x="635" y="409"/>
                  <a:pt x="635" y="409"/>
                  <a:pt x="635" y="409"/>
                </a:cubicBezTo>
                <a:cubicBezTo>
                  <a:pt x="635" y="409"/>
                  <a:pt x="635" y="409"/>
                  <a:pt x="635" y="409"/>
                </a:cubicBezTo>
                <a:cubicBezTo>
                  <a:pt x="631" y="410"/>
                  <a:pt x="625" y="410"/>
                  <a:pt x="621" y="410"/>
                </a:cubicBezTo>
                <a:cubicBezTo>
                  <a:pt x="616" y="410"/>
                  <a:pt x="611" y="410"/>
                  <a:pt x="607" y="410"/>
                </a:cubicBezTo>
                <a:cubicBezTo>
                  <a:pt x="602" y="410"/>
                  <a:pt x="598" y="408"/>
                  <a:pt x="594" y="406"/>
                </a:cubicBezTo>
                <a:close/>
                <a:moveTo>
                  <a:pt x="670" y="454"/>
                </a:moveTo>
                <a:cubicBezTo>
                  <a:pt x="670" y="454"/>
                  <a:pt x="670" y="454"/>
                  <a:pt x="670" y="454"/>
                </a:cubicBezTo>
                <a:cubicBezTo>
                  <a:pt x="669" y="455"/>
                  <a:pt x="668" y="456"/>
                  <a:pt x="666" y="456"/>
                </a:cubicBezTo>
                <a:cubicBezTo>
                  <a:pt x="665" y="457"/>
                  <a:pt x="664" y="457"/>
                  <a:pt x="662" y="457"/>
                </a:cubicBezTo>
                <a:cubicBezTo>
                  <a:pt x="660" y="457"/>
                  <a:pt x="660" y="457"/>
                  <a:pt x="660" y="457"/>
                </a:cubicBezTo>
                <a:cubicBezTo>
                  <a:pt x="660" y="457"/>
                  <a:pt x="660" y="457"/>
                  <a:pt x="660" y="457"/>
                </a:cubicBezTo>
                <a:cubicBezTo>
                  <a:pt x="651" y="457"/>
                  <a:pt x="643" y="457"/>
                  <a:pt x="635" y="457"/>
                </a:cubicBezTo>
                <a:cubicBezTo>
                  <a:pt x="634" y="457"/>
                  <a:pt x="633" y="457"/>
                  <a:pt x="632" y="457"/>
                </a:cubicBezTo>
                <a:cubicBezTo>
                  <a:pt x="632" y="457"/>
                  <a:pt x="632" y="457"/>
                  <a:pt x="632" y="457"/>
                </a:cubicBezTo>
                <a:cubicBezTo>
                  <a:pt x="626" y="456"/>
                  <a:pt x="620" y="454"/>
                  <a:pt x="616" y="449"/>
                </a:cubicBezTo>
                <a:cubicBezTo>
                  <a:pt x="616" y="449"/>
                  <a:pt x="616" y="448"/>
                  <a:pt x="615" y="448"/>
                </a:cubicBezTo>
                <a:cubicBezTo>
                  <a:pt x="615" y="448"/>
                  <a:pt x="615" y="448"/>
                  <a:pt x="615" y="448"/>
                </a:cubicBezTo>
                <a:cubicBezTo>
                  <a:pt x="615" y="448"/>
                  <a:pt x="615" y="448"/>
                  <a:pt x="615" y="448"/>
                </a:cubicBezTo>
                <a:cubicBezTo>
                  <a:pt x="614" y="445"/>
                  <a:pt x="612" y="441"/>
                  <a:pt x="610" y="438"/>
                </a:cubicBezTo>
                <a:cubicBezTo>
                  <a:pt x="609" y="436"/>
                  <a:pt x="606" y="433"/>
                  <a:pt x="606" y="430"/>
                </a:cubicBezTo>
                <a:cubicBezTo>
                  <a:pt x="606" y="430"/>
                  <a:pt x="606" y="430"/>
                  <a:pt x="606" y="430"/>
                </a:cubicBezTo>
                <a:cubicBezTo>
                  <a:pt x="605" y="429"/>
                  <a:pt x="605" y="429"/>
                  <a:pt x="605" y="429"/>
                </a:cubicBezTo>
                <a:cubicBezTo>
                  <a:pt x="605" y="426"/>
                  <a:pt x="607" y="425"/>
                  <a:pt x="610" y="424"/>
                </a:cubicBezTo>
                <a:cubicBezTo>
                  <a:pt x="610" y="424"/>
                  <a:pt x="610" y="424"/>
                  <a:pt x="610" y="424"/>
                </a:cubicBezTo>
                <a:cubicBezTo>
                  <a:pt x="610" y="424"/>
                  <a:pt x="610" y="424"/>
                  <a:pt x="610" y="424"/>
                </a:cubicBezTo>
                <a:cubicBezTo>
                  <a:pt x="610" y="424"/>
                  <a:pt x="610" y="424"/>
                  <a:pt x="611" y="423"/>
                </a:cubicBezTo>
                <a:cubicBezTo>
                  <a:pt x="612" y="423"/>
                  <a:pt x="613" y="423"/>
                  <a:pt x="615" y="423"/>
                </a:cubicBezTo>
                <a:cubicBezTo>
                  <a:pt x="631" y="423"/>
                  <a:pt x="631" y="423"/>
                  <a:pt x="631" y="423"/>
                </a:cubicBezTo>
                <a:cubicBezTo>
                  <a:pt x="634" y="423"/>
                  <a:pt x="637" y="423"/>
                  <a:pt x="639" y="423"/>
                </a:cubicBezTo>
                <a:cubicBezTo>
                  <a:pt x="639" y="423"/>
                  <a:pt x="639" y="423"/>
                  <a:pt x="639" y="423"/>
                </a:cubicBezTo>
                <a:cubicBezTo>
                  <a:pt x="639" y="423"/>
                  <a:pt x="639" y="423"/>
                  <a:pt x="640" y="423"/>
                </a:cubicBezTo>
                <a:cubicBezTo>
                  <a:pt x="640" y="423"/>
                  <a:pt x="641" y="423"/>
                  <a:pt x="642" y="423"/>
                </a:cubicBezTo>
                <a:cubicBezTo>
                  <a:pt x="642" y="423"/>
                  <a:pt x="642" y="423"/>
                  <a:pt x="642" y="423"/>
                </a:cubicBezTo>
                <a:cubicBezTo>
                  <a:pt x="647" y="424"/>
                  <a:pt x="653" y="426"/>
                  <a:pt x="656" y="429"/>
                </a:cubicBezTo>
                <a:cubicBezTo>
                  <a:pt x="657" y="429"/>
                  <a:pt x="657" y="430"/>
                  <a:pt x="657" y="430"/>
                </a:cubicBezTo>
                <a:cubicBezTo>
                  <a:pt x="657" y="430"/>
                  <a:pt x="657" y="430"/>
                  <a:pt x="657" y="431"/>
                </a:cubicBezTo>
                <a:cubicBezTo>
                  <a:pt x="658" y="431"/>
                  <a:pt x="658" y="431"/>
                  <a:pt x="658" y="431"/>
                </a:cubicBezTo>
                <a:cubicBezTo>
                  <a:pt x="658" y="431"/>
                  <a:pt x="658" y="431"/>
                  <a:pt x="658" y="431"/>
                </a:cubicBezTo>
                <a:cubicBezTo>
                  <a:pt x="659" y="432"/>
                  <a:pt x="659" y="432"/>
                  <a:pt x="659" y="432"/>
                </a:cubicBezTo>
                <a:cubicBezTo>
                  <a:pt x="660" y="434"/>
                  <a:pt x="662" y="436"/>
                  <a:pt x="663" y="439"/>
                </a:cubicBezTo>
                <a:cubicBezTo>
                  <a:pt x="663" y="439"/>
                  <a:pt x="663" y="439"/>
                  <a:pt x="663" y="439"/>
                </a:cubicBezTo>
                <a:cubicBezTo>
                  <a:pt x="665" y="442"/>
                  <a:pt x="668" y="445"/>
                  <a:pt x="670" y="449"/>
                </a:cubicBezTo>
                <a:cubicBezTo>
                  <a:pt x="670" y="449"/>
                  <a:pt x="670" y="449"/>
                  <a:pt x="670" y="449"/>
                </a:cubicBezTo>
                <a:cubicBezTo>
                  <a:pt x="670" y="449"/>
                  <a:pt x="670" y="449"/>
                  <a:pt x="670" y="449"/>
                </a:cubicBezTo>
                <a:cubicBezTo>
                  <a:pt x="671" y="451"/>
                  <a:pt x="671" y="453"/>
                  <a:pt x="670" y="454"/>
                </a:cubicBezTo>
                <a:close/>
                <a:moveTo>
                  <a:pt x="729" y="79"/>
                </a:moveTo>
                <a:cubicBezTo>
                  <a:pt x="753" y="103"/>
                  <a:pt x="766" y="136"/>
                  <a:pt x="766" y="170"/>
                </a:cubicBezTo>
                <a:cubicBezTo>
                  <a:pt x="766" y="204"/>
                  <a:pt x="753" y="237"/>
                  <a:pt x="729" y="261"/>
                </a:cubicBezTo>
                <a:cubicBezTo>
                  <a:pt x="757" y="248"/>
                  <a:pt x="782" y="212"/>
                  <a:pt x="782" y="170"/>
                </a:cubicBezTo>
                <a:cubicBezTo>
                  <a:pt x="782" y="127"/>
                  <a:pt x="757" y="92"/>
                  <a:pt x="729" y="79"/>
                </a:cubicBezTo>
                <a:close/>
                <a:moveTo>
                  <a:pt x="53" y="79"/>
                </a:moveTo>
                <a:cubicBezTo>
                  <a:pt x="26" y="92"/>
                  <a:pt x="0" y="127"/>
                  <a:pt x="0" y="170"/>
                </a:cubicBezTo>
                <a:cubicBezTo>
                  <a:pt x="0" y="212"/>
                  <a:pt x="26" y="248"/>
                  <a:pt x="53" y="261"/>
                </a:cubicBezTo>
                <a:cubicBezTo>
                  <a:pt x="30" y="237"/>
                  <a:pt x="16" y="204"/>
                  <a:pt x="16" y="170"/>
                </a:cubicBezTo>
                <a:cubicBezTo>
                  <a:pt x="16" y="136"/>
                  <a:pt x="30" y="103"/>
                  <a:pt x="53" y="79"/>
                </a:cubicBezTo>
                <a:close/>
              </a:path>
            </a:pathLst>
          </a:custGeom>
          <a:solidFill>
            <a:srgbClr val="FFFFFF"/>
          </a:solidFill>
          <a:ln w="9525">
            <a:noFill/>
            <a:round/>
          </a:ln>
        </p:spPr>
        <p:txBody>
          <a:bodyPr vert="horz" wrap="square" lIns="91427" tIns="45713" rIns="91427" bIns="45713" numCol="1" anchor="t" anchorCtr="0" compatLnSpc="1"/>
          <a:lstStyle/>
          <a:p>
            <a:pPr defTabSz="932180"/>
            <a:endParaRPr lang="en-GB">
              <a:solidFill>
                <a:srgbClr val="FFFFFF"/>
              </a:solidFill>
            </a:endParaRPr>
          </a:p>
        </p:txBody>
      </p:sp>
      <p:grpSp>
        <p:nvGrpSpPr>
          <p:cNvPr id="78" name="组合 77"/>
          <p:cNvGrpSpPr/>
          <p:nvPr/>
        </p:nvGrpSpPr>
        <p:grpSpPr>
          <a:xfrm>
            <a:off x="1185194" y="4976795"/>
            <a:ext cx="370834" cy="383273"/>
            <a:chOff x="3260005" y="1560934"/>
            <a:chExt cx="370834" cy="500500"/>
          </a:xfrm>
        </p:grpSpPr>
        <p:sp>
          <p:nvSpPr>
            <p:cNvPr id="79" name="Freeform 41"/>
            <p:cNvSpPr/>
            <p:nvPr/>
          </p:nvSpPr>
          <p:spPr bwMode="auto">
            <a:xfrm>
              <a:off x="3320003" y="1560934"/>
              <a:ext cx="310836" cy="403323"/>
            </a:xfrm>
            <a:custGeom>
              <a:avLst/>
              <a:gdLst>
                <a:gd name="T0" fmla="*/ 533 w 594"/>
                <a:gd name="T1" fmla="*/ 0 h 771"/>
                <a:gd name="T2" fmla="*/ 63 w 594"/>
                <a:gd name="T3" fmla="*/ 0 h 771"/>
                <a:gd name="T4" fmla="*/ 0 w 594"/>
                <a:gd name="T5" fmla="*/ 61 h 771"/>
                <a:gd name="T6" fmla="*/ 0 w 594"/>
                <a:gd name="T7" fmla="*/ 554 h 771"/>
                <a:gd name="T8" fmla="*/ 10 w 594"/>
                <a:gd name="T9" fmla="*/ 536 h 771"/>
                <a:gd name="T10" fmla="*/ 57 w 594"/>
                <a:gd name="T11" fmla="*/ 445 h 771"/>
                <a:gd name="T12" fmla="*/ 57 w 594"/>
                <a:gd name="T13" fmla="*/ 61 h 771"/>
                <a:gd name="T14" fmla="*/ 63 w 594"/>
                <a:gd name="T15" fmla="*/ 56 h 771"/>
                <a:gd name="T16" fmla="*/ 533 w 594"/>
                <a:gd name="T17" fmla="*/ 56 h 771"/>
                <a:gd name="T18" fmla="*/ 537 w 594"/>
                <a:gd name="T19" fmla="*/ 61 h 771"/>
                <a:gd name="T20" fmla="*/ 537 w 594"/>
                <a:gd name="T21" fmla="*/ 708 h 771"/>
                <a:gd name="T22" fmla="*/ 533 w 594"/>
                <a:gd name="T23" fmla="*/ 714 h 771"/>
                <a:gd name="T24" fmla="*/ 255 w 594"/>
                <a:gd name="T25" fmla="*/ 714 h 771"/>
                <a:gd name="T26" fmla="*/ 258 w 594"/>
                <a:gd name="T27" fmla="*/ 771 h 771"/>
                <a:gd name="T28" fmla="*/ 533 w 594"/>
                <a:gd name="T29" fmla="*/ 771 h 771"/>
                <a:gd name="T30" fmla="*/ 594 w 594"/>
                <a:gd name="T31" fmla="*/ 708 h 771"/>
                <a:gd name="T32" fmla="*/ 594 w 594"/>
                <a:gd name="T33" fmla="*/ 61 h 771"/>
                <a:gd name="T34" fmla="*/ 533 w 594"/>
                <a:gd name="T35" fmla="*/ 0 h 7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94" h="771">
                  <a:moveTo>
                    <a:pt x="533" y="0"/>
                  </a:moveTo>
                  <a:cubicBezTo>
                    <a:pt x="63" y="0"/>
                    <a:pt x="63" y="0"/>
                    <a:pt x="63" y="0"/>
                  </a:cubicBezTo>
                  <a:cubicBezTo>
                    <a:pt x="28" y="0"/>
                    <a:pt x="0" y="28"/>
                    <a:pt x="0" y="61"/>
                  </a:cubicBezTo>
                  <a:cubicBezTo>
                    <a:pt x="0" y="554"/>
                    <a:pt x="0" y="554"/>
                    <a:pt x="0" y="554"/>
                  </a:cubicBezTo>
                  <a:cubicBezTo>
                    <a:pt x="10" y="536"/>
                    <a:pt x="10" y="536"/>
                    <a:pt x="10" y="536"/>
                  </a:cubicBezTo>
                  <a:cubicBezTo>
                    <a:pt x="57" y="445"/>
                    <a:pt x="57" y="445"/>
                    <a:pt x="57" y="445"/>
                  </a:cubicBezTo>
                  <a:cubicBezTo>
                    <a:pt x="57" y="61"/>
                    <a:pt x="57" y="61"/>
                    <a:pt x="57" y="61"/>
                  </a:cubicBezTo>
                  <a:cubicBezTo>
                    <a:pt x="57" y="58"/>
                    <a:pt x="59" y="56"/>
                    <a:pt x="63" y="56"/>
                  </a:cubicBezTo>
                  <a:cubicBezTo>
                    <a:pt x="533" y="56"/>
                    <a:pt x="533" y="56"/>
                    <a:pt x="533" y="56"/>
                  </a:cubicBezTo>
                  <a:cubicBezTo>
                    <a:pt x="535" y="56"/>
                    <a:pt x="537" y="58"/>
                    <a:pt x="537" y="61"/>
                  </a:cubicBezTo>
                  <a:cubicBezTo>
                    <a:pt x="537" y="708"/>
                    <a:pt x="537" y="708"/>
                    <a:pt x="537" y="708"/>
                  </a:cubicBezTo>
                  <a:cubicBezTo>
                    <a:pt x="537" y="712"/>
                    <a:pt x="535" y="714"/>
                    <a:pt x="533" y="714"/>
                  </a:cubicBezTo>
                  <a:cubicBezTo>
                    <a:pt x="255" y="714"/>
                    <a:pt x="255" y="714"/>
                    <a:pt x="255" y="714"/>
                  </a:cubicBezTo>
                  <a:cubicBezTo>
                    <a:pt x="266" y="734"/>
                    <a:pt x="266" y="755"/>
                    <a:pt x="258" y="771"/>
                  </a:cubicBezTo>
                  <a:cubicBezTo>
                    <a:pt x="533" y="771"/>
                    <a:pt x="533" y="771"/>
                    <a:pt x="533" y="771"/>
                  </a:cubicBezTo>
                  <a:cubicBezTo>
                    <a:pt x="568" y="771"/>
                    <a:pt x="594" y="742"/>
                    <a:pt x="594" y="708"/>
                  </a:cubicBezTo>
                  <a:cubicBezTo>
                    <a:pt x="594" y="61"/>
                    <a:pt x="594" y="61"/>
                    <a:pt x="594" y="61"/>
                  </a:cubicBezTo>
                  <a:cubicBezTo>
                    <a:pt x="594" y="28"/>
                    <a:pt x="568" y="0"/>
                    <a:pt x="533" y="0"/>
                  </a:cubicBezTo>
                  <a:close/>
                </a:path>
              </a:pathLst>
            </a:custGeom>
            <a:solidFill>
              <a:srgbClr val="FFFFFF"/>
            </a:solidFill>
            <a:ln>
              <a:noFill/>
            </a:ln>
          </p:spPr>
          <p:txBody>
            <a:bodyPr vert="horz" wrap="square" lIns="91427" tIns="45713" rIns="91427" bIns="45713" numCol="1" anchor="t" anchorCtr="0" compatLnSpc="1"/>
            <a:lstStyle/>
            <a:p>
              <a:pPr>
                <a:defRPr/>
              </a:pPr>
              <a:endParaRPr lang="en-US" kern="0" dirty="0">
                <a:solidFill>
                  <a:srgbClr val="FFFFFF"/>
                </a:solidFill>
              </a:endParaRPr>
            </a:p>
          </p:txBody>
        </p:sp>
        <p:sp>
          <p:nvSpPr>
            <p:cNvPr id="80" name="Freeform 42"/>
            <p:cNvSpPr/>
            <p:nvPr/>
          </p:nvSpPr>
          <p:spPr bwMode="auto">
            <a:xfrm>
              <a:off x="3260005" y="1772335"/>
              <a:ext cx="178886" cy="289099"/>
            </a:xfrm>
            <a:custGeom>
              <a:avLst/>
              <a:gdLst>
                <a:gd name="T0" fmla="*/ 306 w 342"/>
                <a:gd name="T1" fmla="*/ 296 h 553"/>
                <a:gd name="T2" fmla="*/ 196 w 342"/>
                <a:gd name="T3" fmla="*/ 225 h 553"/>
                <a:gd name="T4" fmla="*/ 277 w 342"/>
                <a:gd name="T5" fmla="*/ 56 h 553"/>
                <a:gd name="T6" fmla="*/ 263 w 342"/>
                <a:gd name="T7" fmla="*/ 10 h 553"/>
                <a:gd name="T8" fmla="*/ 223 w 342"/>
                <a:gd name="T9" fmla="*/ 29 h 553"/>
                <a:gd name="T10" fmla="*/ 102 w 342"/>
                <a:gd name="T11" fmla="*/ 261 h 553"/>
                <a:gd name="T12" fmla="*/ 85 w 342"/>
                <a:gd name="T13" fmla="*/ 186 h 553"/>
                <a:gd name="T14" fmla="*/ 20 w 342"/>
                <a:gd name="T15" fmla="*/ 135 h 553"/>
                <a:gd name="T16" fmla="*/ 20 w 342"/>
                <a:gd name="T17" fmla="*/ 196 h 553"/>
                <a:gd name="T18" fmla="*/ 50 w 342"/>
                <a:gd name="T19" fmla="*/ 434 h 553"/>
                <a:gd name="T20" fmla="*/ 56 w 342"/>
                <a:gd name="T21" fmla="*/ 471 h 553"/>
                <a:gd name="T22" fmla="*/ 64 w 342"/>
                <a:gd name="T23" fmla="*/ 488 h 553"/>
                <a:gd name="T24" fmla="*/ 106 w 342"/>
                <a:gd name="T25" fmla="*/ 528 h 553"/>
                <a:gd name="T26" fmla="*/ 244 w 342"/>
                <a:gd name="T27" fmla="*/ 490 h 553"/>
                <a:gd name="T28" fmla="*/ 246 w 342"/>
                <a:gd name="T29" fmla="*/ 486 h 553"/>
                <a:gd name="T30" fmla="*/ 335 w 342"/>
                <a:gd name="T31" fmla="*/ 357 h 553"/>
                <a:gd name="T32" fmla="*/ 306 w 342"/>
                <a:gd name="T33" fmla="*/ 296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42" h="553">
                  <a:moveTo>
                    <a:pt x="306" y="296"/>
                  </a:moveTo>
                  <a:cubicBezTo>
                    <a:pt x="196" y="225"/>
                    <a:pt x="196" y="225"/>
                    <a:pt x="196" y="225"/>
                  </a:cubicBezTo>
                  <a:cubicBezTo>
                    <a:pt x="225" y="169"/>
                    <a:pt x="248" y="111"/>
                    <a:pt x="277" y="56"/>
                  </a:cubicBezTo>
                  <a:cubicBezTo>
                    <a:pt x="287" y="40"/>
                    <a:pt x="279" y="17"/>
                    <a:pt x="263" y="10"/>
                  </a:cubicBezTo>
                  <a:cubicBezTo>
                    <a:pt x="246" y="0"/>
                    <a:pt x="233" y="12"/>
                    <a:pt x="223" y="29"/>
                  </a:cubicBezTo>
                  <a:cubicBezTo>
                    <a:pt x="187" y="102"/>
                    <a:pt x="141" y="188"/>
                    <a:pt x="102" y="261"/>
                  </a:cubicBezTo>
                  <a:cubicBezTo>
                    <a:pt x="100" y="244"/>
                    <a:pt x="85" y="186"/>
                    <a:pt x="85" y="186"/>
                  </a:cubicBezTo>
                  <a:cubicBezTo>
                    <a:pt x="81" y="165"/>
                    <a:pt x="45" y="133"/>
                    <a:pt x="20" y="135"/>
                  </a:cubicBezTo>
                  <a:cubicBezTo>
                    <a:pt x="0" y="135"/>
                    <a:pt x="16" y="173"/>
                    <a:pt x="20" y="196"/>
                  </a:cubicBezTo>
                  <a:cubicBezTo>
                    <a:pt x="33" y="277"/>
                    <a:pt x="37" y="354"/>
                    <a:pt x="50" y="434"/>
                  </a:cubicBezTo>
                  <a:cubicBezTo>
                    <a:pt x="50" y="448"/>
                    <a:pt x="52" y="459"/>
                    <a:pt x="56" y="471"/>
                  </a:cubicBezTo>
                  <a:cubicBezTo>
                    <a:pt x="58" y="477"/>
                    <a:pt x="62" y="484"/>
                    <a:pt x="64" y="488"/>
                  </a:cubicBezTo>
                  <a:cubicBezTo>
                    <a:pt x="75" y="503"/>
                    <a:pt x="89" y="519"/>
                    <a:pt x="106" y="528"/>
                  </a:cubicBezTo>
                  <a:cubicBezTo>
                    <a:pt x="156" y="553"/>
                    <a:pt x="216" y="536"/>
                    <a:pt x="244" y="490"/>
                  </a:cubicBezTo>
                  <a:cubicBezTo>
                    <a:pt x="244" y="490"/>
                    <a:pt x="246" y="488"/>
                    <a:pt x="246" y="486"/>
                  </a:cubicBezTo>
                  <a:cubicBezTo>
                    <a:pt x="335" y="357"/>
                    <a:pt x="335" y="357"/>
                    <a:pt x="335" y="357"/>
                  </a:cubicBezTo>
                  <a:cubicBezTo>
                    <a:pt x="342" y="340"/>
                    <a:pt x="323" y="306"/>
                    <a:pt x="306" y="296"/>
                  </a:cubicBezTo>
                  <a:close/>
                </a:path>
              </a:pathLst>
            </a:custGeom>
            <a:solidFill>
              <a:srgbClr val="FFFFFF"/>
            </a:solidFill>
            <a:ln>
              <a:noFill/>
            </a:ln>
          </p:spPr>
          <p:txBody>
            <a:bodyPr vert="horz" wrap="square" lIns="91427" tIns="45713" rIns="91427" bIns="45713" numCol="1" anchor="t" anchorCtr="0" compatLnSpc="1"/>
            <a:lstStyle/>
            <a:p>
              <a:pPr>
                <a:defRPr/>
              </a:pPr>
              <a:endParaRPr lang="en-US" kern="0" dirty="0">
                <a:solidFill>
                  <a:srgbClr val="FFFFFF"/>
                </a:solidFill>
              </a:endParaRPr>
            </a:p>
          </p:txBody>
        </p:sp>
      </p:grpSp>
      <p:sp>
        <p:nvSpPr>
          <p:cNvPr id="83" name="文本框 165"/>
          <p:cNvSpPr txBox="1"/>
          <p:nvPr/>
        </p:nvSpPr>
        <p:spPr>
          <a:xfrm>
            <a:off x="2042174" y="1716218"/>
            <a:ext cx="301686" cy="461665"/>
          </a:xfrm>
          <a:prstGeom prst="rect">
            <a:avLst/>
          </a:prstGeom>
          <a:noFill/>
        </p:spPr>
        <p:txBody>
          <a:bodyPr wrap="none" rtlCol="0">
            <a:spAutoFit/>
          </a:bodyPr>
          <a:lstStyle/>
          <a:p>
            <a:r>
              <a:rPr lang="en-US" altLang="zh-CN" sz="2400" dirty="0">
                <a:solidFill>
                  <a:schemeClr val="bg1"/>
                </a:solidFill>
                <a:latin typeface="Impact" panose="020B0806030902050204" pitchFamily="34" charset="0"/>
              </a:rPr>
              <a:t>1</a:t>
            </a:r>
            <a:endParaRPr lang="zh-CN" altLang="en-US" sz="2400" dirty="0">
              <a:solidFill>
                <a:schemeClr val="bg1"/>
              </a:solidFill>
              <a:latin typeface="Impact" panose="020B0806030902050204" pitchFamily="34" charset="0"/>
            </a:endParaRPr>
          </a:p>
        </p:txBody>
      </p:sp>
      <p:sp>
        <p:nvSpPr>
          <p:cNvPr id="84" name="文本框 166"/>
          <p:cNvSpPr txBox="1"/>
          <p:nvPr/>
        </p:nvSpPr>
        <p:spPr>
          <a:xfrm>
            <a:off x="2023740" y="3352134"/>
            <a:ext cx="338554" cy="461665"/>
          </a:xfrm>
          <a:prstGeom prst="rect">
            <a:avLst/>
          </a:prstGeom>
          <a:noFill/>
        </p:spPr>
        <p:txBody>
          <a:bodyPr wrap="none" rtlCol="0">
            <a:spAutoFit/>
          </a:bodyPr>
          <a:lstStyle/>
          <a:p>
            <a:r>
              <a:rPr lang="en-US" altLang="zh-CN" sz="2400" dirty="0" smtClean="0">
                <a:solidFill>
                  <a:schemeClr val="bg1"/>
                </a:solidFill>
                <a:latin typeface="Impact" panose="020B0806030902050204" pitchFamily="34" charset="0"/>
              </a:rPr>
              <a:t>2</a:t>
            </a:r>
            <a:endParaRPr lang="zh-CN" altLang="en-US" sz="2400" dirty="0">
              <a:solidFill>
                <a:schemeClr val="bg1"/>
              </a:solidFill>
              <a:latin typeface="Impact" panose="020B0806030902050204" pitchFamily="34" charset="0"/>
            </a:endParaRPr>
          </a:p>
        </p:txBody>
      </p:sp>
      <p:sp>
        <p:nvSpPr>
          <p:cNvPr id="85" name="文本框 167"/>
          <p:cNvSpPr txBox="1"/>
          <p:nvPr/>
        </p:nvSpPr>
        <p:spPr>
          <a:xfrm>
            <a:off x="1818555" y="4980909"/>
            <a:ext cx="348172" cy="461665"/>
          </a:xfrm>
          <a:prstGeom prst="rect">
            <a:avLst/>
          </a:prstGeom>
          <a:noFill/>
        </p:spPr>
        <p:txBody>
          <a:bodyPr wrap="none" rtlCol="0">
            <a:spAutoFit/>
          </a:bodyPr>
          <a:lstStyle/>
          <a:p>
            <a:r>
              <a:rPr lang="en-US" altLang="zh-CN" sz="2400" dirty="0">
                <a:solidFill>
                  <a:schemeClr val="bg1"/>
                </a:solidFill>
                <a:latin typeface="Impact" panose="020B0806030902050204" pitchFamily="34" charset="0"/>
              </a:rPr>
              <a:t>3</a:t>
            </a:r>
            <a:endParaRPr lang="zh-CN" altLang="en-US" sz="2400" dirty="0">
              <a:solidFill>
                <a:schemeClr val="bg1"/>
              </a:solidFill>
              <a:latin typeface="Impact" panose="020B0806030902050204" pitchFamily="34" charset="0"/>
            </a:endParaRPr>
          </a:p>
        </p:txBody>
      </p:sp>
      <p:pic>
        <p:nvPicPr>
          <p:cNvPr id="16386"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173" y="0"/>
            <a:ext cx="8686800" cy="914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 name="矩形 1"/>
          <p:cNvSpPr/>
          <p:nvPr/>
        </p:nvSpPr>
        <p:spPr>
          <a:xfrm>
            <a:off x="-36626" y="0"/>
            <a:ext cx="5724644" cy="646331"/>
          </a:xfrm>
          <a:prstGeom prst="rect">
            <a:avLst/>
          </a:prstGeom>
        </p:spPr>
        <p:txBody>
          <a:bodyPr wrap="none">
            <a:spAutoFit/>
          </a:bodyPr>
          <a:lstStyle/>
          <a:p>
            <a:r>
              <a:rPr lang="zh-CN" altLang="en-US" sz="3600" b="1" dirty="0">
                <a:latin typeface="微软雅黑" panose="020B0503020204020204" pitchFamily="34" charset="-122"/>
                <a:ea typeface="微软雅黑" panose="020B0503020204020204" pitchFamily="34" charset="-122"/>
              </a:rPr>
              <a:t>五、近红外光谱技术的特点</a:t>
            </a:r>
          </a:p>
        </p:txBody>
      </p:sp>
      <p:sp>
        <p:nvSpPr>
          <p:cNvPr id="3" name="矩形 2"/>
          <p:cNvSpPr/>
          <p:nvPr/>
        </p:nvSpPr>
        <p:spPr>
          <a:xfrm>
            <a:off x="3049588" y="1608255"/>
            <a:ext cx="8419292" cy="584775"/>
          </a:xfrm>
          <a:prstGeom prst="rect">
            <a:avLst/>
          </a:prstGeom>
        </p:spPr>
        <p:txBody>
          <a:bodyPr wrap="none">
            <a:spAutoFit/>
          </a:bodyPr>
          <a:lstStyle/>
          <a:p>
            <a:r>
              <a:rPr lang="zh-CN" altLang="en-US" sz="3200" b="1" dirty="0">
                <a:solidFill>
                  <a:srgbClr val="FF0000"/>
                </a:solidFill>
              </a:rPr>
              <a:t>分析速度快</a:t>
            </a:r>
            <a:r>
              <a:rPr lang="zh-CN" altLang="en-US" sz="3200" b="1" dirty="0"/>
              <a:t>，测量过程大多可在</a:t>
            </a:r>
            <a:r>
              <a:rPr lang="en-US" altLang="zh-CN" sz="3200" b="1" dirty="0"/>
              <a:t>1min</a:t>
            </a:r>
            <a:r>
              <a:rPr lang="zh-CN" altLang="en-US" sz="3200" b="1" dirty="0"/>
              <a:t>内完成。</a:t>
            </a:r>
          </a:p>
        </p:txBody>
      </p:sp>
      <p:sp>
        <p:nvSpPr>
          <p:cNvPr id="7168" name="矩形 7167"/>
          <p:cNvSpPr/>
          <p:nvPr/>
        </p:nvSpPr>
        <p:spPr>
          <a:xfrm>
            <a:off x="3049588" y="2627292"/>
            <a:ext cx="9144000" cy="1569660"/>
          </a:xfrm>
          <a:prstGeom prst="rect">
            <a:avLst/>
          </a:prstGeom>
        </p:spPr>
        <p:txBody>
          <a:bodyPr wrap="square">
            <a:spAutoFit/>
          </a:bodyPr>
          <a:lstStyle/>
          <a:p>
            <a:r>
              <a:rPr lang="zh-CN" altLang="en-US" sz="3200" b="1" dirty="0">
                <a:solidFill>
                  <a:srgbClr val="FF0000"/>
                </a:solidFill>
              </a:rPr>
              <a:t>分析效率高</a:t>
            </a:r>
            <a:r>
              <a:rPr lang="zh-CN" altLang="en-US" sz="3200" b="1" dirty="0"/>
              <a:t>，通过一次光谱测量和已建立的相应校正模型，可同时对样品的多个组分或性质进行测定，提供定性、测量结果。</a:t>
            </a:r>
          </a:p>
        </p:txBody>
      </p:sp>
      <p:sp>
        <p:nvSpPr>
          <p:cNvPr id="7169" name="矩形 7168"/>
          <p:cNvSpPr/>
          <p:nvPr/>
        </p:nvSpPr>
        <p:spPr>
          <a:xfrm>
            <a:off x="3049588" y="4448532"/>
            <a:ext cx="9013372" cy="1569660"/>
          </a:xfrm>
          <a:prstGeom prst="rect">
            <a:avLst/>
          </a:prstGeom>
        </p:spPr>
        <p:txBody>
          <a:bodyPr wrap="square">
            <a:spAutoFit/>
          </a:bodyPr>
          <a:lstStyle/>
          <a:p>
            <a:r>
              <a:rPr lang="zh-CN" altLang="en-US" sz="3200" b="1" dirty="0">
                <a:solidFill>
                  <a:srgbClr val="FF0000"/>
                </a:solidFill>
              </a:rPr>
              <a:t>适用的样品范围广</a:t>
            </a:r>
            <a:r>
              <a:rPr lang="zh-CN" altLang="en-US" sz="3200" b="1" dirty="0"/>
              <a:t>，通过相应的测样器件可直接测量液体、固体、半固体和胶状体等不同物质的样品，光谱测量方便。</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0" y="6334579"/>
            <a:ext cx="12193588" cy="530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8" name="Freeform 5"/>
          <p:cNvSpPr/>
          <p:nvPr/>
        </p:nvSpPr>
        <p:spPr bwMode="auto">
          <a:xfrm>
            <a:off x="321468" y="4551491"/>
            <a:ext cx="1081087" cy="955675"/>
          </a:xfrm>
          <a:custGeom>
            <a:avLst/>
            <a:gdLst>
              <a:gd name="T0" fmla="*/ 0 w 681"/>
              <a:gd name="T1" fmla="*/ 0 h 602"/>
              <a:gd name="T2" fmla="*/ 681 w 681"/>
              <a:gd name="T3" fmla="*/ 0 h 602"/>
              <a:gd name="T4" fmla="*/ 681 w 681"/>
              <a:gd name="T5" fmla="*/ 602 h 602"/>
              <a:gd name="T6" fmla="*/ 0 w 681"/>
              <a:gd name="T7" fmla="*/ 602 h 602"/>
              <a:gd name="T8" fmla="*/ 183 w 681"/>
              <a:gd name="T9" fmla="*/ 304 h 602"/>
              <a:gd name="T10" fmla="*/ 0 w 681"/>
              <a:gd name="T11" fmla="*/ 0 h 602"/>
              <a:gd name="T12" fmla="*/ 0 w 681"/>
              <a:gd name="T13" fmla="*/ 0 h 602"/>
            </a:gdLst>
            <a:ahLst/>
            <a:cxnLst>
              <a:cxn ang="0">
                <a:pos x="T0" y="T1"/>
              </a:cxn>
              <a:cxn ang="0">
                <a:pos x="T2" y="T3"/>
              </a:cxn>
              <a:cxn ang="0">
                <a:pos x="T4" y="T5"/>
              </a:cxn>
              <a:cxn ang="0">
                <a:pos x="T6" y="T7"/>
              </a:cxn>
              <a:cxn ang="0">
                <a:pos x="T8" y="T9"/>
              </a:cxn>
              <a:cxn ang="0">
                <a:pos x="T10" y="T11"/>
              </a:cxn>
              <a:cxn ang="0">
                <a:pos x="T12" y="T13"/>
              </a:cxn>
            </a:cxnLst>
            <a:rect l="0" t="0" r="r" b="b"/>
            <a:pathLst>
              <a:path w="681" h="602">
                <a:moveTo>
                  <a:pt x="0" y="0"/>
                </a:moveTo>
                <a:lnTo>
                  <a:pt x="681" y="0"/>
                </a:lnTo>
                <a:lnTo>
                  <a:pt x="681" y="602"/>
                </a:lnTo>
                <a:lnTo>
                  <a:pt x="0" y="602"/>
                </a:lnTo>
                <a:lnTo>
                  <a:pt x="183" y="304"/>
                </a:lnTo>
                <a:lnTo>
                  <a:pt x="0" y="0"/>
                </a:lnTo>
                <a:lnTo>
                  <a:pt x="0" y="0"/>
                </a:lnTo>
                <a:close/>
              </a:path>
            </a:pathLst>
          </a:custGeom>
          <a:solidFill>
            <a:srgbClr val="4BAEE2"/>
          </a:solidFill>
          <a:ln>
            <a:noFill/>
          </a:ln>
        </p:spPr>
        <p:txBody>
          <a:bodyPr vert="horz" wrap="square" lIns="91440" tIns="45720" rIns="91440" bIns="45720" numCol="1" anchor="t" anchorCtr="0" compatLnSpc="1"/>
          <a:lstStyle/>
          <a:p>
            <a:endParaRPr lang="zh-CN" altLang="en-US"/>
          </a:p>
        </p:txBody>
      </p:sp>
      <p:sp>
        <p:nvSpPr>
          <p:cNvPr id="9" name="Freeform 6"/>
          <p:cNvSpPr>
            <a:spLocks noEditPoints="1"/>
          </p:cNvSpPr>
          <p:nvPr/>
        </p:nvSpPr>
        <p:spPr bwMode="auto">
          <a:xfrm>
            <a:off x="437355" y="4618166"/>
            <a:ext cx="998537" cy="25400"/>
          </a:xfrm>
          <a:custGeom>
            <a:avLst/>
            <a:gdLst>
              <a:gd name="T0" fmla="*/ 1 w 120"/>
              <a:gd name="T1" fmla="*/ 0 h 3"/>
              <a:gd name="T2" fmla="*/ 13 w 120"/>
              <a:gd name="T3" fmla="*/ 0 h 3"/>
              <a:gd name="T4" fmla="*/ 15 w 120"/>
              <a:gd name="T5" fmla="*/ 1 h 3"/>
              <a:gd name="T6" fmla="*/ 15 w 120"/>
              <a:gd name="T7" fmla="*/ 1 h 3"/>
              <a:gd name="T8" fmla="*/ 13 w 120"/>
              <a:gd name="T9" fmla="*/ 3 h 3"/>
              <a:gd name="T10" fmla="*/ 1 w 120"/>
              <a:gd name="T11" fmla="*/ 3 h 3"/>
              <a:gd name="T12" fmla="*/ 0 w 120"/>
              <a:gd name="T13" fmla="*/ 1 h 3"/>
              <a:gd name="T14" fmla="*/ 0 w 120"/>
              <a:gd name="T15" fmla="*/ 1 h 3"/>
              <a:gd name="T16" fmla="*/ 1 w 120"/>
              <a:gd name="T17" fmla="*/ 0 h 3"/>
              <a:gd name="T18" fmla="*/ 22 w 120"/>
              <a:gd name="T19" fmla="*/ 0 h 3"/>
              <a:gd name="T20" fmla="*/ 34 w 120"/>
              <a:gd name="T21" fmla="*/ 0 h 3"/>
              <a:gd name="T22" fmla="*/ 36 w 120"/>
              <a:gd name="T23" fmla="*/ 1 h 3"/>
              <a:gd name="T24" fmla="*/ 36 w 120"/>
              <a:gd name="T25" fmla="*/ 1 h 3"/>
              <a:gd name="T26" fmla="*/ 34 w 120"/>
              <a:gd name="T27" fmla="*/ 3 h 3"/>
              <a:gd name="T28" fmla="*/ 22 w 120"/>
              <a:gd name="T29" fmla="*/ 3 h 3"/>
              <a:gd name="T30" fmla="*/ 21 w 120"/>
              <a:gd name="T31" fmla="*/ 1 h 3"/>
              <a:gd name="T32" fmla="*/ 21 w 120"/>
              <a:gd name="T33" fmla="*/ 1 h 3"/>
              <a:gd name="T34" fmla="*/ 22 w 120"/>
              <a:gd name="T35" fmla="*/ 0 h 3"/>
              <a:gd name="T36" fmla="*/ 43 w 120"/>
              <a:gd name="T37" fmla="*/ 0 h 3"/>
              <a:gd name="T38" fmla="*/ 55 w 120"/>
              <a:gd name="T39" fmla="*/ 0 h 3"/>
              <a:gd name="T40" fmla="*/ 57 w 120"/>
              <a:gd name="T41" fmla="*/ 1 h 3"/>
              <a:gd name="T42" fmla="*/ 57 w 120"/>
              <a:gd name="T43" fmla="*/ 1 h 3"/>
              <a:gd name="T44" fmla="*/ 55 w 120"/>
              <a:gd name="T45" fmla="*/ 3 h 3"/>
              <a:gd name="T46" fmla="*/ 43 w 120"/>
              <a:gd name="T47" fmla="*/ 3 h 3"/>
              <a:gd name="T48" fmla="*/ 42 w 120"/>
              <a:gd name="T49" fmla="*/ 1 h 3"/>
              <a:gd name="T50" fmla="*/ 42 w 120"/>
              <a:gd name="T51" fmla="*/ 1 h 3"/>
              <a:gd name="T52" fmla="*/ 43 w 120"/>
              <a:gd name="T53" fmla="*/ 0 h 3"/>
              <a:gd name="T54" fmla="*/ 64 w 120"/>
              <a:gd name="T55" fmla="*/ 0 h 3"/>
              <a:gd name="T56" fmla="*/ 76 w 120"/>
              <a:gd name="T57" fmla="*/ 0 h 3"/>
              <a:gd name="T58" fmla="*/ 78 w 120"/>
              <a:gd name="T59" fmla="*/ 1 h 3"/>
              <a:gd name="T60" fmla="*/ 78 w 120"/>
              <a:gd name="T61" fmla="*/ 1 h 3"/>
              <a:gd name="T62" fmla="*/ 76 w 120"/>
              <a:gd name="T63" fmla="*/ 3 h 3"/>
              <a:gd name="T64" fmla="*/ 64 w 120"/>
              <a:gd name="T65" fmla="*/ 3 h 3"/>
              <a:gd name="T66" fmla="*/ 63 w 120"/>
              <a:gd name="T67" fmla="*/ 1 h 3"/>
              <a:gd name="T68" fmla="*/ 63 w 120"/>
              <a:gd name="T69" fmla="*/ 1 h 3"/>
              <a:gd name="T70" fmla="*/ 64 w 120"/>
              <a:gd name="T71" fmla="*/ 0 h 3"/>
              <a:gd name="T72" fmla="*/ 85 w 120"/>
              <a:gd name="T73" fmla="*/ 0 h 3"/>
              <a:gd name="T74" fmla="*/ 97 w 120"/>
              <a:gd name="T75" fmla="*/ 0 h 3"/>
              <a:gd name="T76" fmla="*/ 99 w 120"/>
              <a:gd name="T77" fmla="*/ 1 h 3"/>
              <a:gd name="T78" fmla="*/ 99 w 120"/>
              <a:gd name="T79" fmla="*/ 1 h 3"/>
              <a:gd name="T80" fmla="*/ 97 w 120"/>
              <a:gd name="T81" fmla="*/ 3 h 3"/>
              <a:gd name="T82" fmla="*/ 85 w 120"/>
              <a:gd name="T83" fmla="*/ 3 h 3"/>
              <a:gd name="T84" fmla="*/ 84 w 120"/>
              <a:gd name="T85" fmla="*/ 1 h 3"/>
              <a:gd name="T86" fmla="*/ 84 w 120"/>
              <a:gd name="T87" fmla="*/ 1 h 3"/>
              <a:gd name="T88" fmla="*/ 85 w 120"/>
              <a:gd name="T89" fmla="*/ 0 h 3"/>
              <a:gd name="T90" fmla="*/ 106 w 120"/>
              <a:gd name="T91" fmla="*/ 0 h 3"/>
              <a:gd name="T92" fmla="*/ 118 w 120"/>
              <a:gd name="T93" fmla="*/ 0 h 3"/>
              <a:gd name="T94" fmla="*/ 120 w 120"/>
              <a:gd name="T95" fmla="*/ 1 h 3"/>
              <a:gd name="T96" fmla="*/ 120 w 120"/>
              <a:gd name="T97" fmla="*/ 1 h 3"/>
              <a:gd name="T98" fmla="*/ 118 w 120"/>
              <a:gd name="T99" fmla="*/ 3 h 3"/>
              <a:gd name="T100" fmla="*/ 106 w 120"/>
              <a:gd name="T101" fmla="*/ 3 h 3"/>
              <a:gd name="T102" fmla="*/ 105 w 120"/>
              <a:gd name="T103" fmla="*/ 1 h 3"/>
              <a:gd name="T104" fmla="*/ 105 w 120"/>
              <a:gd name="T105" fmla="*/ 1 h 3"/>
              <a:gd name="T106" fmla="*/ 106 w 120"/>
              <a:gd name="T107" fmla="*/ 0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0" h="3">
                <a:moveTo>
                  <a:pt x="1" y="0"/>
                </a:moveTo>
                <a:cubicBezTo>
                  <a:pt x="5" y="0"/>
                  <a:pt x="9" y="0"/>
                  <a:pt x="13" y="0"/>
                </a:cubicBezTo>
                <a:cubicBezTo>
                  <a:pt x="14" y="0"/>
                  <a:pt x="15" y="0"/>
                  <a:pt x="15" y="1"/>
                </a:cubicBezTo>
                <a:cubicBezTo>
                  <a:pt x="15" y="1"/>
                  <a:pt x="15" y="1"/>
                  <a:pt x="15" y="1"/>
                </a:cubicBezTo>
                <a:cubicBezTo>
                  <a:pt x="15" y="2"/>
                  <a:pt x="14" y="3"/>
                  <a:pt x="13" y="3"/>
                </a:cubicBezTo>
                <a:cubicBezTo>
                  <a:pt x="9" y="3"/>
                  <a:pt x="5" y="3"/>
                  <a:pt x="1" y="3"/>
                </a:cubicBezTo>
                <a:cubicBezTo>
                  <a:pt x="0" y="3"/>
                  <a:pt x="0" y="2"/>
                  <a:pt x="0" y="1"/>
                </a:cubicBezTo>
                <a:cubicBezTo>
                  <a:pt x="0" y="1"/>
                  <a:pt x="0" y="1"/>
                  <a:pt x="0" y="1"/>
                </a:cubicBezTo>
                <a:cubicBezTo>
                  <a:pt x="0" y="0"/>
                  <a:pt x="0" y="0"/>
                  <a:pt x="1" y="0"/>
                </a:cubicBezTo>
                <a:close/>
                <a:moveTo>
                  <a:pt x="22" y="0"/>
                </a:moveTo>
                <a:cubicBezTo>
                  <a:pt x="26" y="0"/>
                  <a:pt x="30" y="0"/>
                  <a:pt x="34" y="0"/>
                </a:cubicBezTo>
                <a:cubicBezTo>
                  <a:pt x="35" y="0"/>
                  <a:pt x="36" y="0"/>
                  <a:pt x="36" y="1"/>
                </a:cubicBezTo>
                <a:cubicBezTo>
                  <a:pt x="36" y="1"/>
                  <a:pt x="36" y="1"/>
                  <a:pt x="36" y="1"/>
                </a:cubicBezTo>
                <a:cubicBezTo>
                  <a:pt x="36" y="2"/>
                  <a:pt x="35" y="3"/>
                  <a:pt x="34" y="3"/>
                </a:cubicBezTo>
                <a:cubicBezTo>
                  <a:pt x="30" y="3"/>
                  <a:pt x="26" y="3"/>
                  <a:pt x="22" y="3"/>
                </a:cubicBezTo>
                <a:cubicBezTo>
                  <a:pt x="21" y="3"/>
                  <a:pt x="21" y="2"/>
                  <a:pt x="21" y="1"/>
                </a:cubicBezTo>
                <a:cubicBezTo>
                  <a:pt x="21" y="1"/>
                  <a:pt x="21" y="1"/>
                  <a:pt x="21" y="1"/>
                </a:cubicBezTo>
                <a:cubicBezTo>
                  <a:pt x="21" y="0"/>
                  <a:pt x="21" y="0"/>
                  <a:pt x="22" y="0"/>
                </a:cubicBezTo>
                <a:close/>
                <a:moveTo>
                  <a:pt x="43" y="0"/>
                </a:moveTo>
                <a:cubicBezTo>
                  <a:pt x="47" y="0"/>
                  <a:pt x="51" y="0"/>
                  <a:pt x="55" y="0"/>
                </a:cubicBezTo>
                <a:cubicBezTo>
                  <a:pt x="56" y="0"/>
                  <a:pt x="57" y="0"/>
                  <a:pt x="57" y="1"/>
                </a:cubicBezTo>
                <a:cubicBezTo>
                  <a:pt x="57" y="1"/>
                  <a:pt x="57" y="1"/>
                  <a:pt x="57" y="1"/>
                </a:cubicBezTo>
                <a:cubicBezTo>
                  <a:pt x="57" y="2"/>
                  <a:pt x="56" y="3"/>
                  <a:pt x="55" y="3"/>
                </a:cubicBezTo>
                <a:cubicBezTo>
                  <a:pt x="51" y="3"/>
                  <a:pt x="47" y="3"/>
                  <a:pt x="43" y="3"/>
                </a:cubicBezTo>
                <a:cubicBezTo>
                  <a:pt x="42" y="3"/>
                  <a:pt x="42" y="2"/>
                  <a:pt x="42" y="1"/>
                </a:cubicBezTo>
                <a:cubicBezTo>
                  <a:pt x="42" y="1"/>
                  <a:pt x="42" y="1"/>
                  <a:pt x="42" y="1"/>
                </a:cubicBezTo>
                <a:cubicBezTo>
                  <a:pt x="42" y="0"/>
                  <a:pt x="42" y="0"/>
                  <a:pt x="43" y="0"/>
                </a:cubicBezTo>
                <a:close/>
                <a:moveTo>
                  <a:pt x="64" y="0"/>
                </a:moveTo>
                <a:cubicBezTo>
                  <a:pt x="68" y="0"/>
                  <a:pt x="72" y="0"/>
                  <a:pt x="76" y="0"/>
                </a:cubicBezTo>
                <a:cubicBezTo>
                  <a:pt x="77" y="0"/>
                  <a:pt x="78" y="0"/>
                  <a:pt x="78" y="1"/>
                </a:cubicBezTo>
                <a:cubicBezTo>
                  <a:pt x="78" y="1"/>
                  <a:pt x="78" y="1"/>
                  <a:pt x="78" y="1"/>
                </a:cubicBezTo>
                <a:cubicBezTo>
                  <a:pt x="78" y="2"/>
                  <a:pt x="77" y="3"/>
                  <a:pt x="76" y="3"/>
                </a:cubicBezTo>
                <a:cubicBezTo>
                  <a:pt x="72" y="3"/>
                  <a:pt x="68" y="3"/>
                  <a:pt x="64" y="3"/>
                </a:cubicBezTo>
                <a:cubicBezTo>
                  <a:pt x="63" y="3"/>
                  <a:pt x="63" y="2"/>
                  <a:pt x="63" y="1"/>
                </a:cubicBezTo>
                <a:cubicBezTo>
                  <a:pt x="63" y="1"/>
                  <a:pt x="63" y="1"/>
                  <a:pt x="63" y="1"/>
                </a:cubicBezTo>
                <a:cubicBezTo>
                  <a:pt x="63" y="0"/>
                  <a:pt x="63" y="0"/>
                  <a:pt x="64" y="0"/>
                </a:cubicBezTo>
                <a:close/>
                <a:moveTo>
                  <a:pt x="85" y="0"/>
                </a:moveTo>
                <a:cubicBezTo>
                  <a:pt x="89" y="0"/>
                  <a:pt x="93" y="0"/>
                  <a:pt x="97" y="0"/>
                </a:cubicBezTo>
                <a:cubicBezTo>
                  <a:pt x="98" y="0"/>
                  <a:pt x="99" y="0"/>
                  <a:pt x="99" y="1"/>
                </a:cubicBezTo>
                <a:cubicBezTo>
                  <a:pt x="99" y="1"/>
                  <a:pt x="99" y="1"/>
                  <a:pt x="99" y="1"/>
                </a:cubicBezTo>
                <a:cubicBezTo>
                  <a:pt x="99" y="2"/>
                  <a:pt x="98" y="3"/>
                  <a:pt x="97" y="3"/>
                </a:cubicBezTo>
                <a:cubicBezTo>
                  <a:pt x="93" y="3"/>
                  <a:pt x="89" y="3"/>
                  <a:pt x="85" y="3"/>
                </a:cubicBezTo>
                <a:cubicBezTo>
                  <a:pt x="84" y="3"/>
                  <a:pt x="84" y="2"/>
                  <a:pt x="84" y="1"/>
                </a:cubicBezTo>
                <a:cubicBezTo>
                  <a:pt x="84" y="1"/>
                  <a:pt x="84" y="1"/>
                  <a:pt x="84" y="1"/>
                </a:cubicBezTo>
                <a:cubicBezTo>
                  <a:pt x="84" y="0"/>
                  <a:pt x="84" y="0"/>
                  <a:pt x="85" y="0"/>
                </a:cubicBezTo>
                <a:close/>
                <a:moveTo>
                  <a:pt x="106" y="0"/>
                </a:moveTo>
                <a:cubicBezTo>
                  <a:pt x="110" y="0"/>
                  <a:pt x="114" y="0"/>
                  <a:pt x="118" y="0"/>
                </a:cubicBezTo>
                <a:cubicBezTo>
                  <a:pt x="119" y="0"/>
                  <a:pt x="120" y="0"/>
                  <a:pt x="120" y="1"/>
                </a:cubicBezTo>
                <a:cubicBezTo>
                  <a:pt x="120" y="1"/>
                  <a:pt x="120" y="1"/>
                  <a:pt x="120" y="1"/>
                </a:cubicBezTo>
                <a:cubicBezTo>
                  <a:pt x="120" y="2"/>
                  <a:pt x="119" y="3"/>
                  <a:pt x="118" y="3"/>
                </a:cubicBezTo>
                <a:cubicBezTo>
                  <a:pt x="114" y="3"/>
                  <a:pt x="110" y="3"/>
                  <a:pt x="106" y="3"/>
                </a:cubicBezTo>
                <a:cubicBezTo>
                  <a:pt x="105" y="3"/>
                  <a:pt x="105" y="2"/>
                  <a:pt x="105" y="1"/>
                </a:cubicBezTo>
                <a:cubicBezTo>
                  <a:pt x="105" y="1"/>
                  <a:pt x="105" y="1"/>
                  <a:pt x="105" y="1"/>
                </a:cubicBezTo>
                <a:cubicBezTo>
                  <a:pt x="105" y="0"/>
                  <a:pt x="105" y="0"/>
                  <a:pt x="106" y="0"/>
                </a:cubicBezTo>
                <a:close/>
              </a:path>
            </a:pathLst>
          </a:custGeom>
          <a:solidFill>
            <a:srgbClr val="BCE1DF"/>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 name="Freeform 7"/>
          <p:cNvSpPr>
            <a:spLocks noEditPoints="1"/>
          </p:cNvSpPr>
          <p:nvPr/>
        </p:nvSpPr>
        <p:spPr bwMode="auto">
          <a:xfrm>
            <a:off x="437355" y="5424616"/>
            <a:ext cx="998537" cy="25400"/>
          </a:xfrm>
          <a:custGeom>
            <a:avLst/>
            <a:gdLst>
              <a:gd name="T0" fmla="*/ 1 w 120"/>
              <a:gd name="T1" fmla="*/ 0 h 3"/>
              <a:gd name="T2" fmla="*/ 13 w 120"/>
              <a:gd name="T3" fmla="*/ 0 h 3"/>
              <a:gd name="T4" fmla="*/ 15 w 120"/>
              <a:gd name="T5" fmla="*/ 1 h 3"/>
              <a:gd name="T6" fmla="*/ 15 w 120"/>
              <a:gd name="T7" fmla="*/ 1 h 3"/>
              <a:gd name="T8" fmla="*/ 13 w 120"/>
              <a:gd name="T9" fmla="*/ 3 h 3"/>
              <a:gd name="T10" fmla="*/ 1 w 120"/>
              <a:gd name="T11" fmla="*/ 3 h 3"/>
              <a:gd name="T12" fmla="*/ 0 w 120"/>
              <a:gd name="T13" fmla="*/ 1 h 3"/>
              <a:gd name="T14" fmla="*/ 0 w 120"/>
              <a:gd name="T15" fmla="*/ 1 h 3"/>
              <a:gd name="T16" fmla="*/ 1 w 120"/>
              <a:gd name="T17" fmla="*/ 0 h 3"/>
              <a:gd name="T18" fmla="*/ 22 w 120"/>
              <a:gd name="T19" fmla="*/ 0 h 3"/>
              <a:gd name="T20" fmla="*/ 34 w 120"/>
              <a:gd name="T21" fmla="*/ 0 h 3"/>
              <a:gd name="T22" fmla="*/ 36 w 120"/>
              <a:gd name="T23" fmla="*/ 1 h 3"/>
              <a:gd name="T24" fmla="*/ 36 w 120"/>
              <a:gd name="T25" fmla="*/ 1 h 3"/>
              <a:gd name="T26" fmla="*/ 34 w 120"/>
              <a:gd name="T27" fmla="*/ 3 h 3"/>
              <a:gd name="T28" fmla="*/ 22 w 120"/>
              <a:gd name="T29" fmla="*/ 3 h 3"/>
              <a:gd name="T30" fmla="*/ 21 w 120"/>
              <a:gd name="T31" fmla="*/ 1 h 3"/>
              <a:gd name="T32" fmla="*/ 21 w 120"/>
              <a:gd name="T33" fmla="*/ 1 h 3"/>
              <a:gd name="T34" fmla="*/ 22 w 120"/>
              <a:gd name="T35" fmla="*/ 0 h 3"/>
              <a:gd name="T36" fmla="*/ 43 w 120"/>
              <a:gd name="T37" fmla="*/ 0 h 3"/>
              <a:gd name="T38" fmla="*/ 55 w 120"/>
              <a:gd name="T39" fmla="*/ 0 h 3"/>
              <a:gd name="T40" fmla="*/ 57 w 120"/>
              <a:gd name="T41" fmla="*/ 1 h 3"/>
              <a:gd name="T42" fmla="*/ 57 w 120"/>
              <a:gd name="T43" fmla="*/ 1 h 3"/>
              <a:gd name="T44" fmla="*/ 55 w 120"/>
              <a:gd name="T45" fmla="*/ 3 h 3"/>
              <a:gd name="T46" fmla="*/ 43 w 120"/>
              <a:gd name="T47" fmla="*/ 3 h 3"/>
              <a:gd name="T48" fmla="*/ 42 w 120"/>
              <a:gd name="T49" fmla="*/ 1 h 3"/>
              <a:gd name="T50" fmla="*/ 42 w 120"/>
              <a:gd name="T51" fmla="*/ 1 h 3"/>
              <a:gd name="T52" fmla="*/ 43 w 120"/>
              <a:gd name="T53" fmla="*/ 0 h 3"/>
              <a:gd name="T54" fmla="*/ 64 w 120"/>
              <a:gd name="T55" fmla="*/ 0 h 3"/>
              <a:gd name="T56" fmla="*/ 76 w 120"/>
              <a:gd name="T57" fmla="*/ 0 h 3"/>
              <a:gd name="T58" fmla="*/ 78 w 120"/>
              <a:gd name="T59" fmla="*/ 1 h 3"/>
              <a:gd name="T60" fmla="*/ 78 w 120"/>
              <a:gd name="T61" fmla="*/ 1 h 3"/>
              <a:gd name="T62" fmla="*/ 76 w 120"/>
              <a:gd name="T63" fmla="*/ 3 h 3"/>
              <a:gd name="T64" fmla="*/ 64 w 120"/>
              <a:gd name="T65" fmla="*/ 3 h 3"/>
              <a:gd name="T66" fmla="*/ 63 w 120"/>
              <a:gd name="T67" fmla="*/ 1 h 3"/>
              <a:gd name="T68" fmla="*/ 63 w 120"/>
              <a:gd name="T69" fmla="*/ 1 h 3"/>
              <a:gd name="T70" fmla="*/ 64 w 120"/>
              <a:gd name="T71" fmla="*/ 0 h 3"/>
              <a:gd name="T72" fmla="*/ 85 w 120"/>
              <a:gd name="T73" fmla="*/ 0 h 3"/>
              <a:gd name="T74" fmla="*/ 97 w 120"/>
              <a:gd name="T75" fmla="*/ 0 h 3"/>
              <a:gd name="T76" fmla="*/ 99 w 120"/>
              <a:gd name="T77" fmla="*/ 1 h 3"/>
              <a:gd name="T78" fmla="*/ 99 w 120"/>
              <a:gd name="T79" fmla="*/ 1 h 3"/>
              <a:gd name="T80" fmla="*/ 97 w 120"/>
              <a:gd name="T81" fmla="*/ 3 h 3"/>
              <a:gd name="T82" fmla="*/ 85 w 120"/>
              <a:gd name="T83" fmla="*/ 3 h 3"/>
              <a:gd name="T84" fmla="*/ 84 w 120"/>
              <a:gd name="T85" fmla="*/ 1 h 3"/>
              <a:gd name="T86" fmla="*/ 84 w 120"/>
              <a:gd name="T87" fmla="*/ 1 h 3"/>
              <a:gd name="T88" fmla="*/ 85 w 120"/>
              <a:gd name="T89" fmla="*/ 0 h 3"/>
              <a:gd name="T90" fmla="*/ 106 w 120"/>
              <a:gd name="T91" fmla="*/ 0 h 3"/>
              <a:gd name="T92" fmla="*/ 118 w 120"/>
              <a:gd name="T93" fmla="*/ 0 h 3"/>
              <a:gd name="T94" fmla="*/ 120 w 120"/>
              <a:gd name="T95" fmla="*/ 1 h 3"/>
              <a:gd name="T96" fmla="*/ 120 w 120"/>
              <a:gd name="T97" fmla="*/ 1 h 3"/>
              <a:gd name="T98" fmla="*/ 118 w 120"/>
              <a:gd name="T99" fmla="*/ 3 h 3"/>
              <a:gd name="T100" fmla="*/ 106 w 120"/>
              <a:gd name="T101" fmla="*/ 3 h 3"/>
              <a:gd name="T102" fmla="*/ 105 w 120"/>
              <a:gd name="T103" fmla="*/ 1 h 3"/>
              <a:gd name="T104" fmla="*/ 105 w 120"/>
              <a:gd name="T105" fmla="*/ 1 h 3"/>
              <a:gd name="T106" fmla="*/ 106 w 120"/>
              <a:gd name="T107" fmla="*/ 0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0" h="3">
                <a:moveTo>
                  <a:pt x="1" y="0"/>
                </a:moveTo>
                <a:cubicBezTo>
                  <a:pt x="5" y="0"/>
                  <a:pt x="9" y="0"/>
                  <a:pt x="13" y="0"/>
                </a:cubicBezTo>
                <a:cubicBezTo>
                  <a:pt x="14" y="0"/>
                  <a:pt x="15" y="0"/>
                  <a:pt x="15" y="1"/>
                </a:cubicBezTo>
                <a:cubicBezTo>
                  <a:pt x="15" y="1"/>
                  <a:pt x="15" y="1"/>
                  <a:pt x="15" y="1"/>
                </a:cubicBezTo>
                <a:cubicBezTo>
                  <a:pt x="15" y="2"/>
                  <a:pt x="14" y="3"/>
                  <a:pt x="13" y="3"/>
                </a:cubicBezTo>
                <a:cubicBezTo>
                  <a:pt x="9" y="3"/>
                  <a:pt x="5" y="3"/>
                  <a:pt x="1" y="3"/>
                </a:cubicBezTo>
                <a:cubicBezTo>
                  <a:pt x="0" y="3"/>
                  <a:pt x="0" y="2"/>
                  <a:pt x="0" y="1"/>
                </a:cubicBezTo>
                <a:cubicBezTo>
                  <a:pt x="0" y="1"/>
                  <a:pt x="0" y="1"/>
                  <a:pt x="0" y="1"/>
                </a:cubicBezTo>
                <a:cubicBezTo>
                  <a:pt x="0" y="0"/>
                  <a:pt x="0" y="0"/>
                  <a:pt x="1" y="0"/>
                </a:cubicBezTo>
                <a:close/>
                <a:moveTo>
                  <a:pt x="22" y="0"/>
                </a:moveTo>
                <a:cubicBezTo>
                  <a:pt x="26" y="0"/>
                  <a:pt x="30" y="0"/>
                  <a:pt x="34" y="0"/>
                </a:cubicBezTo>
                <a:cubicBezTo>
                  <a:pt x="35" y="0"/>
                  <a:pt x="36" y="0"/>
                  <a:pt x="36" y="1"/>
                </a:cubicBezTo>
                <a:cubicBezTo>
                  <a:pt x="36" y="1"/>
                  <a:pt x="36" y="1"/>
                  <a:pt x="36" y="1"/>
                </a:cubicBezTo>
                <a:cubicBezTo>
                  <a:pt x="36" y="2"/>
                  <a:pt x="35" y="3"/>
                  <a:pt x="34" y="3"/>
                </a:cubicBezTo>
                <a:cubicBezTo>
                  <a:pt x="30" y="3"/>
                  <a:pt x="26" y="3"/>
                  <a:pt x="22" y="3"/>
                </a:cubicBezTo>
                <a:cubicBezTo>
                  <a:pt x="21" y="3"/>
                  <a:pt x="21" y="2"/>
                  <a:pt x="21" y="1"/>
                </a:cubicBezTo>
                <a:cubicBezTo>
                  <a:pt x="21" y="1"/>
                  <a:pt x="21" y="1"/>
                  <a:pt x="21" y="1"/>
                </a:cubicBezTo>
                <a:cubicBezTo>
                  <a:pt x="21" y="0"/>
                  <a:pt x="21" y="0"/>
                  <a:pt x="22" y="0"/>
                </a:cubicBezTo>
                <a:close/>
                <a:moveTo>
                  <a:pt x="43" y="0"/>
                </a:moveTo>
                <a:cubicBezTo>
                  <a:pt x="47" y="0"/>
                  <a:pt x="51" y="0"/>
                  <a:pt x="55" y="0"/>
                </a:cubicBezTo>
                <a:cubicBezTo>
                  <a:pt x="56" y="0"/>
                  <a:pt x="57" y="0"/>
                  <a:pt x="57" y="1"/>
                </a:cubicBezTo>
                <a:cubicBezTo>
                  <a:pt x="57" y="1"/>
                  <a:pt x="57" y="1"/>
                  <a:pt x="57" y="1"/>
                </a:cubicBezTo>
                <a:cubicBezTo>
                  <a:pt x="57" y="2"/>
                  <a:pt x="56" y="3"/>
                  <a:pt x="55" y="3"/>
                </a:cubicBezTo>
                <a:cubicBezTo>
                  <a:pt x="51" y="3"/>
                  <a:pt x="47" y="3"/>
                  <a:pt x="43" y="3"/>
                </a:cubicBezTo>
                <a:cubicBezTo>
                  <a:pt x="42" y="3"/>
                  <a:pt x="42" y="2"/>
                  <a:pt x="42" y="1"/>
                </a:cubicBezTo>
                <a:cubicBezTo>
                  <a:pt x="42" y="1"/>
                  <a:pt x="42" y="1"/>
                  <a:pt x="42" y="1"/>
                </a:cubicBezTo>
                <a:cubicBezTo>
                  <a:pt x="42" y="0"/>
                  <a:pt x="42" y="0"/>
                  <a:pt x="43" y="0"/>
                </a:cubicBezTo>
                <a:close/>
                <a:moveTo>
                  <a:pt x="64" y="0"/>
                </a:moveTo>
                <a:cubicBezTo>
                  <a:pt x="68" y="0"/>
                  <a:pt x="72" y="0"/>
                  <a:pt x="76" y="0"/>
                </a:cubicBezTo>
                <a:cubicBezTo>
                  <a:pt x="77" y="0"/>
                  <a:pt x="78" y="0"/>
                  <a:pt x="78" y="1"/>
                </a:cubicBezTo>
                <a:cubicBezTo>
                  <a:pt x="78" y="1"/>
                  <a:pt x="78" y="1"/>
                  <a:pt x="78" y="1"/>
                </a:cubicBezTo>
                <a:cubicBezTo>
                  <a:pt x="78" y="2"/>
                  <a:pt x="77" y="3"/>
                  <a:pt x="76" y="3"/>
                </a:cubicBezTo>
                <a:cubicBezTo>
                  <a:pt x="72" y="3"/>
                  <a:pt x="68" y="3"/>
                  <a:pt x="64" y="3"/>
                </a:cubicBezTo>
                <a:cubicBezTo>
                  <a:pt x="63" y="3"/>
                  <a:pt x="63" y="2"/>
                  <a:pt x="63" y="1"/>
                </a:cubicBezTo>
                <a:cubicBezTo>
                  <a:pt x="63" y="1"/>
                  <a:pt x="63" y="1"/>
                  <a:pt x="63" y="1"/>
                </a:cubicBezTo>
                <a:cubicBezTo>
                  <a:pt x="63" y="0"/>
                  <a:pt x="63" y="0"/>
                  <a:pt x="64" y="0"/>
                </a:cubicBezTo>
                <a:close/>
                <a:moveTo>
                  <a:pt x="85" y="0"/>
                </a:moveTo>
                <a:cubicBezTo>
                  <a:pt x="89" y="0"/>
                  <a:pt x="93" y="0"/>
                  <a:pt x="97" y="0"/>
                </a:cubicBezTo>
                <a:cubicBezTo>
                  <a:pt x="98" y="0"/>
                  <a:pt x="99" y="0"/>
                  <a:pt x="99" y="1"/>
                </a:cubicBezTo>
                <a:cubicBezTo>
                  <a:pt x="99" y="1"/>
                  <a:pt x="99" y="1"/>
                  <a:pt x="99" y="1"/>
                </a:cubicBezTo>
                <a:cubicBezTo>
                  <a:pt x="99" y="2"/>
                  <a:pt x="98" y="3"/>
                  <a:pt x="97" y="3"/>
                </a:cubicBezTo>
                <a:cubicBezTo>
                  <a:pt x="93" y="3"/>
                  <a:pt x="89" y="3"/>
                  <a:pt x="85" y="3"/>
                </a:cubicBezTo>
                <a:cubicBezTo>
                  <a:pt x="84" y="3"/>
                  <a:pt x="84" y="2"/>
                  <a:pt x="84" y="1"/>
                </a:cubicBezTo>
                <a:cubicBezTo>
                  <a:pt x="84" y="1"/>
                  <a:pt x="84" y="1"/>
                  <a:pt x="84" y="1"/>
                </a:cubicBezTo>
                <a:cubicBezTo>
                  <a:pt x="84" y="0"/>
                  <a:pt x="84" y="0"/>
                  <a:pt x="85" y="0"/>
                </a:cubicBezTo>
                <a:close/>
                <a:moveTo>
                  <a:pt x="106" y="0"/>
                </a:moveTo>
                <a:cubicBezTo>
                  <a:pt x="110" y="0"/>
                  <a:pt x="114" y="0"/>
                  <a:pt x="118" y="0"/>
                </a:cubicBezTo>
                <a:cubicBezTo>
                  <a:pt x="119" y="0"/>
                  <a:pt x="120" y="0"/>
                  <a:pt x="120" y="1"/>
                </a:cubicBezTo>
                <a:cubicBezTo>
                  <a:pt x="120" y="1"/>
                  <a:pt x="120" y="1"/>
                  <a:pt x="120" y="1"/>
                </a:cubicBezTo>
                <a:cubicBezTo>
                  <a:pt x="120" y="2"/>
                  <a:pt x="119" y="3"/>
                  <a:pt x="118" y="3"/>
                </a:cubicBezTo>
                <a:cubicBezTo>
                  <a:pt x="114" y="3"/>
                  <a:pt x="110" y="3"/>
                  <a:pt x="106" y="3"/>
                </a:cubicBezTo>
                <a:cubicBezTo>
                  <a:pt x="105" y="3"/>
                  <a:pt x="105" y="2"/>
                  <a:pt x="105" y="1"/>
                </a:cubicBezTo>
                <a:cubicBezTo>
                  <a:pt x="105" y="1"/>
                  <a:pt x="105" y="1"/>
                  <a:pt x="105" y="1"/>
                </a:cubicBezTo>
                <a:cubicBezTo>
                  <a:pt x="105" y="0"/>
                  <a:pt x="105" y="0"/>
                  <a:pt x="106" y="0"/>
                </a:cubicBezTo>
                <a:close/>
              </a:path>
            </a:pathLst>
          </a:custGeom>
          <a:solidFill>
            <a:srgbClr val="BCE1DF"/>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 name="Freeform 9"/>
          <p:cNvSpPr>
            <a:spLocks noEditPoints="1"/>
          </p:cNvSpPr>
          <p:nvPr/>
        </p:nvSpPr>
        <p:spPr bwMode="auto">
          <a:xfrm>
            <a:off x="769938" y="5770564"/>
            <a:ext cx="498475" cy="515938"/>
          </a:xfrm>
          <a:custGeom>
            <a:avLst/>
            <a:gdLst>
              <a:gd name="T0" fmla="*/ 60 w 60"/>
              <a:gd name="T1" fmla="*/ 57 h 62"/>
              <a:gd name="T2" fmla="*/ 60 w 60"/>
              <a:gd name="T3" fmla="*/ 62 h 62"/>
              <a:gd name="T4" fmla="*/ 53 w 60"/>
              <a:gd name="T5" fmla="*/ 56 h 62"/>
              <a:gd name="T6" fmla="*/ 53 w 60"/>
              <a:gd name="T7" fmla="*/ 53 h 62"/>
              <a:gd name="T8" fmla="*/ 53 w 60"/>
              <a:gd name="T9" fmla="*/ 53 h 62"/>
              <a:gd name="T10" fmla="*/ 56 w 60"/>
              <a:gd name="T11" fmla="*/ 53 h 62"/>
              <a:gd name="T12" fmla="*/ 60 w 60"/>
              <a:gd name="T13" fmla="*/ 57 h 62"/>
              <a:gd name="T14" fmla="*/ 0 w 60"/>
              <a:gd name="T15" fmla="*/ 4 h 62"/>
              <a:gd name="T16" fmla="*/ 0 w 60"/>
              <a:gd name="T17" fmla="*/ 0 h 62"/>
              <a:gd name="T18" fmla="*/ 3 w 60"/>
              <a:gd name="T19" fmla="*/ 3 h 62"/>
              <a:gd name="T20" fmla="*/ 4 w 60"/>
              <a:gd name="T21" fmla="*/ 6 h 62"/>
              <a:gd name="T22" fmla="*/ 4 w 60"/>
              <a:gd name="T23" fmla="*/ 6 h 62"/>
              <a:gd name="T24" fmla="*/ 1 w 60"/>
              <a:gd name="T25" fmla="*/ 6 h 62"/>
              <a:gd name="T26" fmla="*/ 0 w 60"/>
              <a:gd name="T27" fmla="*/ 4 h 62"/>
              <a:gd name="T28" fmla="*/ 10 w 60"/>
              <a:gd name="T29" fmla="*/ 10 h 62"/>
              <a:gd name="T30" fmla="*/ 19 w 60"/>
              <a:gd name="T31" fmla="*/ 18 h 62"/>
              <a:gd name="T32" fmla="*/ 19 w 60"/>
              <a:gd name="T33" fmla="*/ 20 h 62"/>
              <a:gd name="T34" fmla="*/ 19 w 60"/>
              <a:gd name="T35" fmla="*/ 20 h 62"/>
              <a:gd name="T36" fmla="*/ 16 w 60"/>
              <a:gd name="T37" fmla="*/ 20 h 62"/>
              <a:gd name="T38" fmla="*/ 8 w 60"/>
              <a:gd name="T39" fmla="*/ 12 h 62"/>
              <a:gd name="T40" fmla="*/ 8 w 60"/>
              <a:gd name="T41" fmla="*/ 10 h 62"/>
              <a:gd name="T42" fmla="*/ 8 w 60"/>
              <a:gd name="T43" fmla="*/ 10 h 62"/>
              <a:gd name="T44" fmla="*/ 10 w 60"/>
              <a:gd name="T45" fmla="*/ 10 h 62"/>
              <a:gd name="T46" fmla="*/ 25 w 60"/>
              <a:gd name="T47" fmla="*/ 24 h 62"/>
              <a:gd name="T48" fmla="*/ 34 w 60"/>
              <a:gd name="T49" fmla="*/ 32 h 62"/>
              <a:gd name="T50" fmla="*/ 34 w 60"/>
              <a:gd name="T51" fmla="*/ 35 h 62"/>
              <a:gd name="T52" fmla="*/ 34 w 60"/>
              <a:gd name="T53" fmla="*/ 35 h 62"/>
              <a:gd name="T54" fmla="*/ 32 w 60"/>
              <a:gd name="T55" fmla="*/ 35 h 62"/>
              <a:gd name="T56" fmla="*/ 23 w 60"/>
              <a:gd name="T57" fmla="*/ 27 h 62"/>
              <a:gd name="T58" fmla="*/ 23 w 60"/>
              <a:gd name="T59" fmla="*/ 24 h 62"/>
              <a:gd name="T60" fmla="*/ 23 w 60"/>
              <a:gd name="T61" fmla="*/ 24 h 62"/>
              <a:gd name="T62" fmla="*/ 25 w 60"/>
              <a:gd name="T63" fmla="*/ 24 h 62"/>
              <a:gd name="T64" fmla="*/ 41 w 60"/>
              <a:gd name="T65" fmla="*/ 39 h 62"/>
              <a:gd name="T66" fmla="*/ 49 w 60"/>
              <a:gd name="T67" fmla="*/ 47 h 62"/>
              <a:gd name="T68" fmla="*/ 49 w 60"/>
              <a:gd name="T69" fmla="*/ 49 h 62"/>
              <a:gd name="T70" fmla="*/ 49 w 60"/>
              <a:gd name="T71" fmla="*/ 49 h 62"/>
              <a:gd name="T72" fmla="*/ 47 w 60"/>
              <a:gd name="T73" fmla="*/ 49 h 62"/>
              <a:gd name="T74" fmla="*/ 38 w 60"/>
              <a:gd name="T75" fmla="*/ 41 h 62"/>
              <a:gd name="T76" fmla="*/ 38 w 60"/>
              <a:gd name="T77" fmla="*/ 39 h 62"/>
              <a:gd name="T78" fmla="*/ 38 w 60"/>
              <a:gd name="T79" fmla="*/ 39 h 62"/>
              <a:gd name="T80" fmla="*/ 41 w 60"/>
              <a:gd name="T81" fmla="*/ 39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0" h="62">
                <a:moveTo>
                  <a:pt x="60" y="57"/>
                </a:moveTo>
                <a:cubicBezTo>
                  <a:pt x="60" y="62"/>
                  <a:pt x="60" y="62"/>
                  <a:pt x="60" y="62"/>
                </a:cubicBezTo>
                <a:cubicBezTo>
                  <a:pt x="58" y="60"/>
                  <a:pt x="56" y="58"/>
                  <a:pt x="53" y="56"/>
                </a:cubicBezTo>
                <a:cubicBezTo>
                  <a:pt x="53" y="55"/>
                  <a:pt x="53" y="54"/>
                  <a:pt x="53" y="53"/>
                </a:cubicBezTo>
                <a:cubicBezTo>
                  <a:pt x="53" y="53"/>
                  <a:pt x="53" y="53"/>
                  <a:pt x="53" y="53"/>
                </a:cubicBezTo>
                <a:cubicBezTo>
                  <a:pt x="54" y="53"/>
                  <a:pt x="55" y="53"/>
                  <a:pt x="56" y="53"/>
                </a:cubicBezTo>
                <a:cubicBezTo>
                  <a:pt x="57" y="55"/>
                  <a:pt x="58" y="56"/>
                  <a:pt x="60" y="57"/>
                </a:cubicBezTo>
                <a:close/>
                <a:moveTo>
                  <a:pt x="0" y="4"/>
                </a:moveTo>
                <a:cubicBezTo>
                  <a:pt x="0" y="0"/>
                  <a:pt x="0" y="0"/>
                  <a:pt x="0" y="0"/>
                </a:cubicBezTo>
                <a:cubicBezTo>
                  <a:pt x="1" y="1"/>
                  <a:pt x="2" y="2"/>
                  <a:pt x="3" y="3"/>
                </a:cubicBezTo>
                <a:cubicBezTo>
                  <a:pt x="4" y="4"/>
                  <a:pt x="4" y="5"/>
                  <a:pt x="4" y="6"/>
                </a:cubicBezTo>
                <a:cubicBezTo>
                  <a:pt x="4" y="6"/>
                  <a:pt x="4" y="6"/>
                  <a:pt x="4" y="6"/>
                </a:cubicBezTo>
                <a:cubicBezTo>
                  <a:pt x="3" y="7"/>
                  <a:pt x="2" y="7"/>
                  <a:pt x="1" y="6"/>
                </a:cubicBezTo>
                <a:cubicBezTo>
                  <a:pt x="1" y="5"/>
                  <a:pt x="0" y="5"/>
                  <a:pt x="0" y="4"/>
                </a:cubicBezTo>
                <a:close/>
                <a:moveTo>
                  <a:pt x="10" y="10"/>
                </a:moveTo>
                <a:cubicBezTo>
                  <a:pt x="13" y="13"/>
                  <a:pt x="16" y="15"/>
                  <a:pt x="19" y="18"/>
                </a:cubicBezTo>
                <a:cubicBezTo>
                  <a:pt x="19" y="19"/>
                  <a:pt x="19" y="20"/>
                  <a:pt x="19" y="20"/>
                </a:cubicBezTo>
                <a:cubicBezTo>
                  <a:pt x="19" y="20"/>
                  <a:pt x="19" y="20"/>
                  <a:pt x="19" y="20"/>
                </a:cubicBezTo>
                <a:cubicBezTo>
                  <a:pt x="18" y="21"/>
                  <a:pt x="17" y="21"/>
                  <a:pt x="16" y="20"/>
                </a:cubicBezTo>
                <a:cubicBezTo>
                  <a:pt x="14" y="18"/>
                  <a:pt x="11" y="15"/>
                  <a:pt x="8" y="12"/>
                </a:cubicBezTo>
                <a:cubicBezTo>
                  <a:pt x="7" y="12"/>
                  <a:pt x="7" y="11"/>
                  <a:pt x="8" y="10"/>
                </a:cubicBezTo>
                <a:cubicBezTo>
                  <a:pt x="8" y="10"/>
                  <a:pt x="8" y="10"/>
                  <a:pt x="8" y="10"/>
                </a:cubicBezTo>
                <a:cubicBezTo>
                  <a:pt x="8" y="9"/>
                  <a:pt x="9" y="9"/>
                  <a:pt x="10" y="10"/>
                </a:cubicBezTo>
                <a:close/>
                <a:moveTo>
                  <a:pt x="25" y="24"/>
                </a:moveTo>
                <a:cubicBezTo>
                  <a:pt x="28" y="27"/>
                  <a:pt x="31" y="30"/>
                  <a:pt x="34" y="32"/>
                </a:cubicBezTo>
                <a:cubicBezTo>
                  <a:pt x="35" y="33"/>
                  <a:pt x="35" y="34"/>
                  <a:pt x="34" y="35"/>
                </a:cubicBezTo>
                <a:cubicBezTo>
                  <a:pt x="34" y="35"/>
                  <a:pt x="34" y="35"/>
                  <a:pt x="34" y="35"/>
                </a:cubicBezTo>
                <a:cubicBezTo>
                  <a:pt x="33" y="35"/>
                  <a:pt x="32" y="35"/>
                  <a:pt x="32" y="35"/>
                </a:cubicBezTo>
                <a:cubicBezTo>
                  <a:pt x="29" y="32"/>
                  <a:pt x="26" y="29"/>
                  <a:pt x="23" y="27"/>
                </a:cubicBezTo>
                <a:cubicBezTo>
                  <a:pt x="22" y="26"/>
                  <a:pt x="22" y="25"/>
                  <a:pt x="23" y="24"/>
                </a:cubicBezTo>
                <a:cubicBezTo>
                  <a:pt x="23" y="24"/>
                  <a:pt x="23" y="24"/>
                  <a:pt x="23" y="24"/>
                </a:cubicBezTo>
                <a:cubicBezTo>
                  <a:pt x="24" y="24"/>
                  <a:pt x="25" y="24"/>
                  <a:pt x="25" y="24"/>
                </a:cubicBezTo>
                <a:close/>
                <a:moveTo>
                  <a:pt x="41" y="39"/>
                </a:moveTo>
                <a:cubicBezTo>
                  <a:pt x="43" y="42"/>
                  <a:pt x="46" y="44"/>
                  <a:pt x="49" y="47"/>
                </a:cubicBezTo>
                <a:cubicBezTo>
                  <a:pt x="50" y="48"/>
                  <a:pt x="50" y="49"/>
                  <a:pt x="49" y="49"/>
                </a:cubicBezTo>
                <a:cubicBezTo>
                  <a:pt x="49" y="49"/>
                  <a:pt x="49" y="49"/>
                  <a:pt x="49" y="49"/>
                </a:cubicBezTo>
                <a:cubicBezTo>
                  <a:pt x="48" y="50"/>
                  <a:pt x="47" y="50"/>
                  <a:pt x="47" y="49"/>
                </a:cubicBezTo>
                <a:cubicBezTo>
                  <a:pt x="44" y="47"/>
                  <a:pt x="41" y="44"/>
                  <a:pt x="38" y="41"/>
                </a:cubicBezTo>
                <a:cubicBezTo>
                  <a:pt x="38" y="41"/>
                  <a:pt x="38" y="40"/>
                  <a:pt x="38" y="39"/>
                </a:cubicBezTo>
                <a:cubicBezTo>
                  <a:pt x="38" y="39"/>
                  <a:pt x="38" y="39"/>
                  <a:pt x="38" y="39"/>
                </a:cubicBezTo>
                <a:cubicBezTo>
                  <a:pt x="39" y="38"/>
                  <a:pt x="40" y="38"/>
                  <a:pt x="41" y="39"/>
                </a:cubicBezTo>
                <a:close/>
              </a:path>
            </a:pathLst>
          </a:custGeom>
          <a:solidFill>
            <a:srgbClr val="369CAB"/>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 name="Freeform 15"/>
          <p:cNvSpPr/>
          <p:nvPr/>
        </p:nvSpPr>
        <p:spPr bwMode="auto">
          <a:xfrm>
            <a:off x="338138" y="2805115"/>
            <a:ext cx="1081087" cy="955675"/>
          </a:xfrm>
          <a:custGeom>
            <a:avLst/>
            <a:gdLst>
              <a:gd name="T0" fmla="*/ 0 w 681"/>
              <a:gd name="T1" fmla="*/ 0 h 602"/>
              <a:gd name="T2" fmla="*/ 681 w 681"/>
              <a:gd name="T3" fmla="*/ 0 h 602"/>
              <a:gd name="T4" fmla="*/ 681 w 681"/>
              <a:gd name="T5" fmla="*/ 602 h 602"/>
              <a:gd name="T6" fmla="*/ 0 w 681"/>
              <a:gd name="T7" fmla="*/ 602 h 602"/>
              <a:gd name="T8" fmla="*/ 183 w 681"/>
              <a:gd name="T9" fmla="*/ 303 h 602"/>
              <a:gd name="T10" fmla="*/ 0 w 681"/>
              <a:gd name="T11" fmla="*/ 0 h 602"/>
              <a:gd name="T12" fmla="*/ 0 w 681"/>
              <a:gd name="T13" fmla="*/ 0 h 602"/>
            </a:gdLst>
            <a:ahLst/>
            <a:cxnLst>
              <a:cxn ang="0">
                <a:pos x="T0" y="T1"/>
              </a:cxn>
              <a:cxn ang="0">
                <a:pos x="T2" y="T3"/>
              </a:cxn>
              <a:cxn ang="0">
                <a:pos x="T4" y="T5"/>
              </a:cxn>
              <a:cxn ang="0">
                <a:pos x="T6" y="T7"/>
              </a:cxn>
              <a:cxn ang="0">
                <a:pos x="T8" y="T9"/>
              </a:cxn>
              <a:cxn ang="0">
                <a:pos x="T10" y="T11"/>
              </a:cxn>
              <a:cxn ang="0">
                <a:pos x="T12" y="T13"/>
              </a:cxn>
            </a:cxnLst>
            <a:rect l="0" t="0" r="r" b="b"/>
            <a:pathLst>
              <a:path w="681" h="602">
                <a:moveTo>
                  <a:pt x="0" y="0"/>
                </a:moveTo>
                <a:lnTo>
                  <a:pt x="681" y="0"/>
                </a:lnTo>
                <a:lnTo>
                  <a:pt x="681" y="602"/>
                </a:lnTo>
                <a:lnTo>
                  <a:pt x="0" y="602"/>
                </a:lnTo>
                <a:lnTo>
                  <a:pt x="183" y="303"/>
                </a:lnTo>
                <a:lnTo>
                  <a:pt x="0" y="0"/>
                </a:lnTo>
                <a:lnTo>
                  <a:pt x="0" y="0"/>
                </a:lnTo>
                <a:close/>
              </a:path>
            </a:pathLst>
          </a:custGeom>
          <a:solidFill>
            <a:srgbClr val="757975"/>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 name="Freeform 16"/>
          <p:cNvSpPr>
            <a:spLocks noEditPoints="1"/>
          </p:cNvSpPr>
          <p:nvPr/>
        </p:nvSpPr>
        <p:spPr bwMode="auto">
          <a:xfrm>
            <a:off x="454025" y="2862265"/>
            <a:ext cx="998537" cy="33338"/>
          </a:xfrm>
          <a:custGeom>
            <a:avLst/>
            <a:gdLst>
              <a:gd name="T0" fmla="*/ 1 w 120"/>
              <a:gd name="T1" fmla="*/ 0 h 4"/>
              <a:gd name="T2" fmla="*/ 13 w 120"/>
              <a:gd name="T3" fmla="*/ 0 h 4"/>
              <a:gd name="T4" fmla="*/ 15 w 120"/>
              <a:gd name="T5" fmla="*/ 2 h 4"/>
              <a:gd name="T6" fmla="*/ 15 w 120"/>
              <a:gd name="T7" fmla="*/ 2 h 4"/>
              <a:gd name="T8" fmla="*/ 13 w 120"/>
              <a:gd name="T9" fmla="*/ 4 h 4"/>
              <a:gd name="T10" fmla="*/ 1 w 120"/>
              <a:gd name="T11" fmla="*/ 4 h 4"/>
              <a:gd name="T12" fmla="*/ 0 w 120"/>
              <a:gd name="T13" fmla="*/ 2 h 4"/>
              <a:gd name="T14" fmla="*/ 0 w 120"/>
              <a:gd name="T15" fmla="*/ 2 h 4"/>
              <a:gd name="T16" fmla="*/ 1 w 120"/>
              <a:gd name="T17" fmla="*/ 0 h 4"/>
              <a:gd name="T18" fmla="*/ 22 w 120"/>
              <a:gd name="T19" fmla="*/ 0 h 4"/>
              <a:gd name="T20" fmla="*/ 34 w 120"/>
              <a:gd name="T21" fmla="*/ 0 h 4"/>
              <a:gd name="T22" fmla="*/ 36 w 120"/>
              <a:gd name="T23" fmla="*/ 2 h 4"/>
              <a:gd name="T24" fmla="*/ 36 w 120"/>
              <a:gd name="T25" fmla="*/ 2 h 4"/>
              <a:gd name="T26" fmla="*/ 34 w 120"/>
              <a:gd name="T27" fmla="*/ 4 h 4"/>
              <a:gd name="T28" fmla="*/ 22 w 120"/>
              <a:gd name="T29" fmla="*/ 4 h 4"/>
              <a:gd name="T30" fmla="*/ 21 w 120"/>
              <a:gd name="T31" fmla="*/ 2 h 4"/>
              <a:gd name="T32" fmla="*/ 21 w 120"/>
              <a:gd name="T33" fmla="*/ 2 h 4"/>
              <a:gd name="T34" fmla="*/ 22 w 120"/>
              <a:gd name="T35" fmla="*/ 0 h 4"/>
              <a:gd name="T36" fmla="*/ 43 w 120"/>
              <a:gd name="T37" fmla="*/ 0 h 4"/>
              <a:gd name="T38" fmla="*/ 55 w 120"/>
              <a:gd name="T39" fmla="*/ 0 h 4"/>
              <a:gd name="T40" fmla="*/ 57 w 120"/>
              <a:gd name="T41" fmla="*/ 2 h 4"/>
              <a:gd name="T42" fmla="*/ 57 w 120"/>
              <a:gd name="T43" fmla="*/ 2 h 4"/>
              <a:gd name="T44" fmla="*/ 55 w 120"/>
              <a:gd name="T45" fmla="*/ 4 h 4"/>
              <a:gd name="T46" fmla="*/ 43 w 120"/>
              <a:gd name="T47" fmla="*/ 4 h 4"/>
              <a:gd name="T48" fmla="*/ 42 w 120"/>
              <a:gd name="T49" fmla="*/ 2 h 4"/>
              <a:gd name="T50" fmla="*/ 42 w 120"/>
              <a:gd name="T51" fmla="*/ 2 h 4"/>
              <a:gd name="T52" fmla="*/ 43 w 120"/>
              <a:gd name="T53" fmla="*/ 0 h 4"/>
              <a:gd name="T54" fmla="*/ 64 w 120"/>
              <a:gd name="T55" fmla="*/ 0 h 4"/>
              <a:gd name="T56" fmla="*/ 76 w 120"/>
              <a:gd name="T57" fmla="*/ 0 h 4"/>
              <a:gd name="T58" fmla="*/ 78 w 120"/>
              <a:gd name="T59" fmla="*/ 2 h 4"/>
              <a:gd name="T60" fmla="*/ 78 w 120"/>
              <a:gd name="T61" fmla="*/ 2 h 4"/>
              <a:gd name="T62" fmla="*/ 76 w 120"/>
              <a:gd name="T63" fmla="*/ 4 h 4"/>
              <a:gd name="T64" fmla="*/ 64 w 120"/>
              <a:gd name="T65" fmla="*/ 4 h 4"/>
              <a:gd name="T66" fmla="*/ 63 w 120"/>
              <a:gd name="T67" fmla="*/ 2 h 4"/>
              <a:gd name="T68" fmla="*/ 63 w 120"/>
              <a:gd name="T69" fmla="*/ 2 h 4"/>
              <a:gd name="T70" fmla="*/ 64 w 120"/>
              <a:gd name="T71" fmla="*/ 0 h 4"/>
              <a:gd name="T72" fmla="*/ 85 w 120"/>
              <a:gd name="T73" fmla="*/ 0 h 4"/>
              <a:gd name="T74" fmla="*/ 97 w 120"/>
              <a:gd name="T75" fmla="*/ 0 h 4"/>
              <a:gd name="T76" fmla="*/ 99 w 120"/>
              <a:gd name="T77" fmla="*/ 2 h 4"/>
              <a:gd name="T78" fmla="*/ 99 w 120"/>
              <a:gd name="T79" fmla="*/ 2 h 4"/>
              <a:gd name="T80" fmla="*/ 97 w 120"/>
              <a:gd name="T81" fmla="*/ 4 h 4"/>
              <a:gd name="T82" fmla="*/ 85 w 120"/>
              <a:gd name="T83" fmla="*/ 4 h 4"/>
              <a:gd name="T84" fmla="*/ 84 w 120"/>
              <a:gd name="T85" fmla="*/ 2 h 4"/>
              <a:gd name="T86" fmla="*/ 84 w 120"/>
              <a:gd name="T87" fmla="*/ 2 h 4"/>
              <a:gd name="T88" fmla="*/ 85 w 120"/>
              <a:gd name="T89" fmla="*/ 0 h 4"/>
              <a:gd name="T90" fmla="*/ 106 w 120"/>
              <a:gd name="T91" fmla="*/ 0 h 4"/>
              <a:gd name="T92" fmla="*/ 118 w 120"/>
              <a:gd name="T93" fmla="*/ 0 h 4"/>
              <a:gd name="T94" fmla="*/ 120 w 120"/>
              <a:gd name="T95" fmla="*/ 2 h 4"/>
              <a:gd name="T96" fmla="*/ 120 w 120"/>
              <a:gd name="T97" fmla="*/ 2 h 4"/>
              <a:gd name="T98" fmla="*/ 118 w 120"/>
              <a:gd name="T99" fmla="*/ 4 h 4"/>
              <a:gd name="T100" fmla="*/ 106 w 120"/>
              <a:gd name="T101" fmla="*/ 4 h 4"/>
              <a:gd name="T102" fmla="*/ 105 w 120"/>
              <a:gd name="T103" fmla="*/ 2 h 4"/>
              <a:gd name="T104" fmla="*/ 105 w 120"/>
              <a:gd name="T105" fmla="*/ 2 h 4"/>
              <a:gd name="T106" fmla="*/ 106 w 120"/>
              <a:gd name="T107"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0" h="4">
                <a:moveTo>
                  <a:pt x="1" y="0"/>
                </a:moveTo>
                <a:cubicBezTo>
                  <a:pt x="5" y="0"/>
                  <a:pt x="9" y="0"/>
                  <a:pt x="13" y="0"/>
                </a:cubicBezTo>
                <a:cubicBezTo>
                  <a:pt x="14" y="0"/>
                  <a:pt x="15" y="1"/>
                  <a:pt x="15" y="2"/>
                </a:cubicBezTo>
                <a:cubicBezTo>
                  <a:pt x="15" y="2"/>
                  <a:pt x="15" y="2"/>
                  <a:pt x="15" y="2"/>
                </a:cubicBezTo>
                <a:cubicBezTo>
                  <a:pt x="15" y="3"/>
                  <a:pt x="14" y="4"/>
                  <a:pt x="13" y="4"/>
                </a:cubicBezTo>
                <a:cubicBezTo>
                  <a:pt x="9" y="4"/>
                  <a:pt x="5" y="4"/>
                  <a:pt x="1" y="4"/>
                </a:cubicBezTo>
                <a:cubicBezTo>
                  <a:pt x="0" y="4"/>
                  <a:pt x="0" y="3"/>
                  <a:pt x="0" y="2"/>
                </a:cubicBezTo>
                <a:cubicBezTo>
                  <a:pt x="0" y="2"/>
                  <a:pt x="0" y="2"/>
                  <a:pt x="0" y="2"/>
                </a:cubicBezTo>
                <a:cubicBezTo>
                  <a:pt x="0" y="1"/>
                  <a:pt x="0" y="0"/>
                  <a:pt x="1" y="0"/>
                </a:cubicBezTo>
                <a:close/>
                <a:moveTo>
                  <a:pt x="22" y="0"/>
                </a:moveTo>
                <a:cubicBezTo>
                  <a:pt x="26" y="0"/>
                  <a:pt x="30" y="0"/>
                  <a:pt x="34" y="0"/>
                </a:cubicBezTo>
                <a:cubicBezTo>
                  <a:pt x="35" y="0"/>
                  <a:pt x="36" y="1"/>
                  <a:pt x="36" y="2"/>
                </a:cubicBezTo>
                <a:cubicBezTo>
                  <a:pt x="36" y="2"/>
                  <a:pt x="36" y="2"/>
                  <a:pt x="36" y="2"/>
                </a:cubicBezTo>
                <a:cubicBezTo>
                  <a:pt x="36" y="3"/>
                  <a:pt x="35" y="4"/>
                  <a:pt x="34" y="4"/>
                </a:cubicBezTo>
                <a:cubicBezTo>
                  <a:pt x="30" y="4"/>
                  <a:pt x="26" y="4"/>
                  <a:pt x="22" y="4"/>
                </a:cubicBezTo>
                <a:cubicBezTo>
                  <a:pt x="21" y="4"/>
                  <a:pt x="21" y="3"/>
                  <a:pt x="21" y="2"/>
                </a:cubicBezTo>
                <a:cubicBezTo>
                  <a:pt x="21" y="2"/>
                  <a:pt x="21" y="2"/>
                  <a:pt x="21" y="2"/>
                </a:cubicBezTo>
                <a:cubicBezTo>
                  <a:pt x="21" y="1"/>
                  <a:pt x="21" y="0"/>
                  <a:pt x="22" y="0"/>
                </a:cubicBezTo>
                <a:close/>
                <a:moveTo>
                  <a:pt x="43" y="0"/>
                </a:moveTo>
                <a:cubicBezTo>
                  <a:pt x="47" y="0"/>
                  <a:pt x="51" y="0"/>
                  <a:pt x="55" y="0"/>
                </a:cubicBezTo>
                <a:cubicBezTo>
                  <a:pt x="56" y="0"/>
                  <a:pt x="57" y="1"/>
                  <a:pt x="57" y="2"/>
                </a:cubicBezTo>
                <a:cubicBezTo>
                  <a:pt x="57" y="2"/>
                  <a:pt x="57" y="2"/>
                  <a:pt x="57" y="2"/>
                </a:cubicBezTo>
                <a:cubicBezTo>
                  <a:pt x="57" y="3"/>
                  <a:pt x="56" y="4"/>
                  <a:pt x="55" y="4"/>
                </a:cubicBezTo>
                <a:cubicBezTo>
                  <a:pt x="51" y="4"/>
                  <a:pt x="47" y="4"/>
                  <a:pt x="43" y="4"/>
                </a:cubicBezTo>
                <a:cubicBezTo>
                  <a:pt x="42" y="4"/>
                  <a:pt x="42" y="3"/>
                  <a:pt x="42" y="2"/>
                </a:cubicBezTo>
                <a:cubicBezTo>
                  <a:pt x="42" y="2"/>
                  <a:pt x="42" y="2"/>
                  <a:pt x="42" y="2"/>
                </a:cubicBezTo>
                <a:cubicBezTo>
                  <a:pt x="42" y="1"/>
                  <a:pt x="42" y="0"/>
                  <a:pt x="43" y="0"/>
                </a:cubicBezTo>
                <a:close/>
                <a:moveTo>
                  <a:pt x="64" y="0"/>
                </a:moveTo>
                <a:cubicBezTo>
                  <a:pt x="68" y="0"/>
                  <a:pt x="72" y="0"/>
                  <a:pt x="76" y="0"/>
                </a:cubicBezTo>
                <a:cubicBezTo>
                  <a:pt x="77" y="0"/>
                  <a:pt x="78" y="1"/>
                  <a:pt x="78" y="2"/>
                </a:cubicBezTo>
                <a:cubicBezTo>
                  <a:pt x="78" y="2"/>
                  <a:pt x="78" y="2"/>
                  <a:pt x="78" y="2"/>
                </a:cubicBezTo>
                <a:cubicBezTo>
                  <a:pt x="78" y="3"/>
                  <a:pt x="77" y="4"/>
                  <a:pt x="76" y="4"/>
                </a:cubicBezTo>
                <a:cubicBezTo>
                  <a:pt x="72" y="4"/>
                  <a:pt x="68" y="4"/>
                  <a:pt x="64" y="4"/>
                </a:cubicBezTo>
                <a:cubicBezTo>
                  <a:pt x="63" y="4"/>
                  <a:pt x="63" y="3"/>
                  <a:pt x="63" y="2"/>
                </a:cubicBezTo>
                <a:cubicBezTo>
                  <a:pt x="63" y="2"/>
                  <a:pt x="63" y="2"/>
                  <a:pt x="63" y="2"/>
                </a:cubicBezTo>
                <a:cubicBezTo>
                  <a:pt x="63" y="1"/>
                  <a:pt x="63" y="0"/>
                  <a:pt x="64" y="0"/>
                </a:cubicBezTo>
                <a:close/>
                <a:moveTo>
                  <a:pt x="85" y="0"/>
                </a:moveTo>
                <a:cubicBezTo>
                  <a:pt x="89" y="0"/>
                  <a:pt x="93" y="0"/>
                  <a:pt x="97" y="0"/>
                </a:cubicBezTo>
                <a:cubicBezTo>
                  <a:pt x="98" y="0"/>
                  <a:pt x="99" y="1"/>
                  <a:pt x="99" y="2"/>
                </a:cubicBezTo>
                <a:cubicBezTo>
                  <a:pt x="99" y="2"/>
                  <a:pt x="99" y="2"/>
                  <a:pt x="99" y="2"/>
                </a:cubicBezTo>
                <a:cubicBezTo>
                  <a:pt x="99" y="3"/>
                  <a:pt x="98" y="4"/>
                  <a:pt x="97" y="4"/>
                </a:cubicBezTo>
                <a:cubicBezTo>
                  <a:pt x="93" y="4"/>
                  <a:pt x="89" y="4"/>
                  <a:pt x="85" y="4"/>
                </a:cubicBezTo>
                <a:cubicBezTo>
                  <a:pt x="84" y="4"/>
                  <a:pt x="84" y="3"/>
                  <a:pt x="84" y="2"/>
                </a:cubicBezTo>
                <a:cubicBezTo>
                  <a:pt x="84" y="2"/>
                  <a:pt x="84" y="2"/>
                  <a:pt x="84" y="2"/>
                </a:cubicBezTo>
                <a:cubicBezTo>
                  <a:pt x="84" y="1"/>
                  <a:pt x="84" y="0"/>
                  <a:pt x="85" y="0"/>
                </a:cubicBezTo>
                <a:close/>
                <a:moveTo>
                  <a:pt x="106" y="0"/>
                </a:moveTo>
                <a:cubicBezTo>
                  <a:pt x="110" y="0"/>
                  <a:pt x="114" y="0"/>
                  <a:pt x="118" y="0"/>
                </a:cubicBezTo>
                <a:cubicBezTo>
                  <a:pt x="119" y="0"/>
                  <a:pt x="120" y="1"/>
                  <a:pt x="120" y="2"/>
                </a:cubicBezTo>
                <a:cubicBezTo>
                  <a:pt x="120" y="2"/>
                  <a:pt x="120" y="2"/>
                  <a:pt x="120" y="2"/>
                </a:cubicBezTo>
                <a:cubicBezTo>
                  <a:pt x="120" y="3"/>
                  <a:pt x="119" y="4"/>
                  <a:pt x="118" y="4"/>
                </a:cubicBezTo>
                <a:cubicBezTo>
                  <a:pt x="114" y="4"/>
                  <a:pt x="110" y="4"/>
                  <a:pt x="106" y="4"/>
                </a:cubicBezTo>
                <a:cubicBezTo>
                  <a:pt x="105" y="4"/>
                  <a:pt x="105" y="3"/>
                  <a:pt x="105" y="2"/>
                </a:cubicBezTo>
                <a:cubicBezTo>
                  <a:pt x="105" y="2"/>
                  <a:pt x="105" y="2"/>
                  <a:pt x="105" y="2"/>
                </a:cubicBezTo>
                <a:cubicBezTo>
                  <a:pt x="105" y="1"/>
                  <a:pt x="105" y="0"/>
                  <a:pt x="106" y="0"/>
                </a:cubicBezTo>
                <a:close/>
              </a:path>
            </a:pathLst>
          </a:custGeom>
          <a:solidFill>
            <a:srgbClr val="979895"/>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 name="Freeform 17"/>
          <p:cNvSpPr>
            <a:spLocks noEditPoints="1"/>
          </p:cNvSpPr>
          <p:nvPr/>
        </p:nvSpPr>
        <p:spPr bwMode="auto">
          <a:xfrm>
            <a:off x="454025" y="3668715"/>
            <a:ext cx="998537" cy="33338"/>
          </a:xfrm>
          <a:custGeom>
            <a:avLst/>
            <a:gdLst>
              <a:gd name="T0" fmla="*/ 1 w 120"/>
              <a:gd name="T1" fmla="*/ 0 h 4"/>
              <a:gd name="T2" fmla="*/ 13 w 120"/>
              <a:gd name="T3" fmla="*/ 0 h 4"/>
              <a:gd name="T4" fmla="*/ 15 w 120"/>
              <a:gd name="T5" fmla="*/ 2 h 4"/>
              <a:gd name="T6" fmla="*/ 15 w 120"/>
              <a:gd name="T7" fmla="*/ 2 h 4"/>
              <a:gd name="T8" fmla="*/ 13 w 120"/>
              <a:gd name="T9" fmla="*/ 4 h 4"/>
              <a:gd name="T10" fmla="*/ 1 w 120"/>
              <a:gd name="T11" fmla="*/ 4 h 4"/>
              <a:gd name="T12" fmla="*/ 0 w 120"/>
              <a:gd name="T13" fmla="*/ 2 h 4"/>
              <a:gd name="T14" fmla="*/ 0 w 120"/>
              <a:gd name="T15" fmla="*/ 2 h 4"/>
              <a:gd name="T16" fmla="*/ 1 w 120"/>
              <a:gd name="T17" fmla="*/ 0 h 4"/>
              <a:gd name="T18" fmla="*/ 22 w 120"/>
              <a:gd name="T19" fmla="*/ 0 h 4"/>
              <a:gd name="T20" fmla="*/ 34 w 120"/>
              <a:gd name="T21" fmla="*/ 0 h 4"/>
              <a:gd name="T22" fmla="*/ 36 w 120"/>
              <a:gd name="T23" fmla="*/ 2 h 4"/>
              <a:gd name="T24" fmla="*/ 36 w 120"/>
              <a:gd name="T25" fmla="*/ 2 h 4"/>
              <a:gd name="T26" fmla="*/ 34 w 120"/>
              <a:gd name="T27" fmla="*/ 4 h 4"/>
              <a:gd name="T28" fmla="*/ 22 w 120"/>
              <a:gd name="T29" fmla="*/ 4 h 4"/>
              <a:gd name="T30" fmla="*/ 21 w 120"/>
              <a:gd name="T31" fmla="*/ 2 h 4"/>
              <a:gd name="T32" fmla="*/ 21 w 120"/>
              <a:gd name="T33" fmla="*/ 2 h 4"/>
              <a:gd name="T34" fmla="*/ 22 w 120"/>
              <a:gd name="T35" fmla="*/ 0 h 4"/>
              <a:gd name="T36" fmla="*/ 43 w 120"/>
              <a:gd name="T37" fmla="*/ 0 h 4"/>
              <a:gd name="T38" fmla="*/ 55 w 120"/>
              <a:gd name="T39" fmla="*/ 0 h 4"/>
              <a:gd name="T40" fmla="*/ 57 w 120"/>
              <a:gd name="T41" fmla="*/ 2 h 4"/>
              <a:gd name="T42" fmla="*/ 57 w 120"/>
              <a:gd name="T43" fmla="*/ 2 h 4"/>
              <a:gd name="T44" fmla="*/ 55 w 120"/>
              <a:gd name="T45" fmla="*/ 4 h 4"/>
              <a:gd name="T46" fmla="*/ 43 w 120"/>
              <a:gd name="T47" fmla="*/ 4 h 4"/>
              <a:gd name="T48" fmla="*/ 42 w 120"/>
              <a:gd name="T49" fmla="*/ 2 h 4"/>
              <a:gd name="T50" fmla="*/ 42 w 120"/>
              <a:gd name="T51" fmla="*/ 2 h 4"/>
              <a:gd name="T52" fmla="*/ 43 w 120"/>
              <a:gd name="T53" fmla="*/ 0 h 4"/>
              <a:gd name="T54" fmla="*/ 64 w 120"/>
              <a:gd name="T55" fmla="*/ 0 h 4"/>
              <a:gd name="T56" fmla="*/ 76 w 120"/>
              <a:gd name="T57" fmla="*/ 0 h 4"/>
              <a:gd name="T58" fmla="*/ 78 w 120"/>
              <a:gd name="T59" fmla="*/ 2 h 4"/>
              <a:gd name="T60" fmla="*/ 78 w 120"/>
              <a:gd name="T61" fmla="*/ 2 h 4"/>
              <a:gd name="T62" fmla="*/ 76 w 120"/>
              <a:gd name="T63" fmla="*/ 4 h 4"/>
              <a:gd name="T64" fmla="*/ 64 w 120"/>
              <a:gd name="T65" fmla="*/ 4 h 4"/>
              <a:gd name="T66" fmla="*/ 63 w 120"/>
              <a:gd name="T67" fmla="*/ 2 h 4"/>
              <a:gd name="T68" fmla="*/ 63 w 120"/>
              <a:gd name="T69" fmla="*/ 2 h 4"/>
              <a:gd name="T70" fmla="*/ 64 w 120"/>
              <a:gd name="T71" fmla="*/ 0 h 4"/>
              <a:gd name="T72" fmla="*/ 85 w 120"/>
              <a:gd name="T73" fmla="*/ 0 h 4"/>
              <a:gd name="T74" fmla="*/ 97 w 120"/>
              <a:gd name="T75" fmla="*/ 0 h 4"/>
              <a:gd name="T76" fmla="*/ 99 w 120"/>
              <a:gd name="T77" fmla="*/ 2 h 4"/>
              <a:gd name="T78" fmla="*/ 99 w 120"/>
              <a:gd name="T79" fmla="*/ 2 h 4"/>
              <a:gd name="T80" fmla="*/ 97 w 120"/>
              <a:gd name="T81" fmla="*/ 4 h 4"/>
              <a:gd name="T82" fmla="*/ 85 w 120"/>
              <a:gd name="T83" fmla="*/ 4 h 4"/>
              <a:gd name="T84" fmla="*/ 84 w 120"/>
              <a:gd name="T85" fmla="*/ 2 h 4"/>
              <a:gd name="T86" fmla="*/ 84 w 120"/>
              <a:gd name="T87" fmla="*/ 2 h 4"/>
              <a:gd name="T88" fmla="*/ 85 w 120"/>
              <a:gd name="T89" fmla="*/ 0 h 4"/>
              <a:gd name="T90" fmla="*/ 106 w 120"/>
              <a:gd name="T91" fmla="*/ 0 h 4"/>
              <a:gd name="T92" fmla="*/ 118 w 120"/>
              <a:gd name="T93" fmla="*/ 0 h 4"/>
              <a:gd name="T94" fmla="*/ 120 w 120"/>
              <a:gd name="T95" fmla="*/ 2 h 4"/>
              <a:gd name="T96" fmla="*/ 120 w 120"/>
              <a:gd name="T97" fmla="*/ 2 h 4"/>
              <a:gd name="T98" fmla="*/ 118 w 120"/>
              <a:gd name="T99" fmla="*/ 4 h 4"/>
              <a:gd name="T100" fmla="*/ 106 w 120"/>
              <a:gd name="T101" fmla="*/ 4 h 4"/>
              <a:gd name="T102" fmla="*/ 105 w 120"/>
              <a:gd name="T103" fmla="*/ 2 h 4"/>
              <a:gd name="T104" fmla="*/ 105 w 120"/>
              <a:gd name="T105" fmla="*/ 2 h 4"/>
              <a:gd name="T106" fmla="*/ 106 w 120"/>
              <a:gd name="T107"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0" h="4">
                <a:moveTo>
                  <a:pt x="1" y="0"/>
                </a:moveTo>
                <a:cubicBezTo>
                  <a:pt x="5" y="0"/>
                  <a:pt x="9" y="0"/>
                  <a:pt x="13" y="0"/>
                </a:cubicBezTo>
                <a:cubicBezTo>
                  <a:pt x="14" y="0"/>
                  <a:pt x="15" y="1"/>
                  <a:pt x="15" y="2"/>
                </a:cubicBezTo>
                <a:cubicBezTo>
                  <a:pt x="15" y="2"/>
                  <a:pt x="15" y="2"/>
                  <a:pt x="15" y="2"/>
                </a:cubicBezTo>
                <a:cubicBezTo>
                  <a:pt x="15" y="3"/>
                  <a:pt x="14" y="4"/>
                  <a:pt x="13" y="4"/>
                </a:cubicBezTo>
                <a:cubicBezTo>
                  <a:pt x="9" y="4"/>
                  <a:pt x="5" y="4"/>
                  <a:pt x="1" y="4"/>
                </a:cubicBezTo>
                <a:cubicBezTo>
                  <a:pt x="0" y="4"/>
                  <a:pt x="0" y="3"/>
                  <a:pt x="0" y="2"/>
                </a:cubicBezTo>
                <a:cubicBezTo>
                  <a:pt x="0" y="2"/>
                  <a:pt x="0" y="2"/>
                  <a:pt x="0" y="2"/>
                </a:cubicBezTo>
                <a:cubicBezTo>
                  <a:pt x="0" y="1"/>
                  <a:pt x="0" y="0"/>
                  <a:pt x="1" y="0"/>
                </a:cubicBezTo>
                <a:close/>
                <a:moveTo>
                  <a:pt x="22" y="0"/>
                </a:moveTo>
                <a:cubicBezTo>
                  <a:pt x="26" y="0"/>
                  <a:pt x="30" y="0"/>
                  <a:pt x="34" y="0"/>
                </a:cubicBezTo>
                <a:cubicBezTo>
                  <a:pt x="35" y="0"/>
                  <a:pt x="36" y="1"/>
                  <a:pt x="36" y="2"/>
                </a:cubicBezTo>
                <a:cubicBezTo>
                  <a:pt x="36" y="2"/>
                  <a:pt x="36" y="2"/>
                  <a:pt x="36" y="2"/>
                </a:cubicBezTo>
                <a:cubicBezTo>
                  <a:pt x="36" y="3"/>
                  <a:pt x="35" y="4"/>
                  <a:pt x="34" y="4"/>
                </a:cubicBezTo>
                <a:cubicBezTo>
                  <a:pt x="30" y="4"/>
                  <a:pt x="26" y="4"/>
                  <a:pt x="22" y="4"/>
                </a:cubicBezTo>
                <a:cubicBezTo>
                  <a:pt x="21" y="4"/>
                  <a:pt x="21" y="3"/>
                  <a:pt x="21" y="2"/>
                </a:cubicBezTo>
                <a:cubicBezTo>
                  <a:pt x="21" y="2"/>
                  <a:pt x="21" y="2"/>
                  <a:pt x="21" y="2"/>
                </a:cubicBezTo>
                <a:cubicBezTo>
                  <a:pt x="21" y="1"/>
                  <a:pt x="21" y="0"/>
                  <a:pt x="22" y="0"/>
                </a:cubicBezTo>
                <a:close/>
                <a:moveTo>
                  <a:pt x="43" y="0"/>
                </a:moveTo>
                <a:cubicBezTo>
                  <a:pt x="47" y="0"/>
                  <a:pt x="51" y="0"/>
                  <a:pt x="55" y="0"/>
                </a:cubicBezTo>
                <a:cubicBezTo>
                  <a:pt x="56" y="0"/>
                  <a:pt x="57" y="1"/>
                  <a:pt x="57" y="2"/>
                </a:cubicBezTo>
                <a:cubicBezTo>
                  <a:pt x="57" y="2"/>
                  <a:pt x="57" y="2"/>
                  <a:pt x="57" y="2"/>
                </a:cubicBezTo>
                <a:cubicBezTo>
                  <a:pt x="57" y="3"/>
                  <a:pt x="56" y="4"/>
                  <a:pt x="55" y="4"/>
                </a:cubicBezTo>
                <a:cubicBezTo>
                  <a:pt x="51" y="4"/>
                  <a:pt x="47" y="4"/>
                  <a:pt x="43" y="4"/>
                </a:cubicBezTo>
                <a:cubicBezTo>
                  <a:pt x="42" y="4"/>
                  <a:pt x="42" y="3"/>
                  <a:pt x="42" y="2"/>
                </a:cubicBezTo>
                <a:cubicBezTo>
                  <a:pt x="42" y="2"/>
                  <a:pt x="42" y="2"/>
                  <a:pt x="42" y="2"/>
                </a:cubicBezTo>
                <a:cubicBezTo>
                  <a:pt x="42" y="1"/>
                  <a:pt x="42" y="0"/>
                  <a:pt x="43" y="0"/>
                </a:cubicBezTo>
                <a:close/>
                <a:moveTo>
                  <a:pt x="64" y="0"/>
                </a:moveTo>
                <a:cubicBezTo>
                  <a:pt x="68" y="0"/>
                  <a:pt x="72" y="0"/>
                  <a:pt x="76" y="0"/>
                </a:cubicBezTo>
                <a:cubicBezTo>
                  <a:pt x="77" y="0"/>
                  <a:pt x="78" y="1"/>
                  <a:pt x="78" y="2"/>
                </a:cubicBezTo>
                <a:cubicBezTo>
                  <a:pt x="78" y="2"/>
                  <a:pt x="78" y="2"/>
                  <a:pt x="78" y="2"/>
                </a:cubicBezTo>
                <a:cubicBezTo>
                  <a:pt x="78" y="3"/>
                  <a:pt x="77" y="4"/>
                  <a:pt x="76" y="4"/>
                </a:cubicBezTo>
                <a:cubicBezTo>
                  <a:pt x="72" y="4"/>
                  <a:pt x="68" y="4"/>
                  <a:pt x="64" y="4"/>
                </a:cubicBezTo>
                <a:cubicBezTo>
                  <a:pt x="63" y="4"/>
                  <a:pt x="63" y="3"/>
                  <a:pt x="63" y="2"/>
                </a:cubicBezTo>
                <a:cubicBezTo>
                  <a:pt x="63" y="2"/>
                  <a:pt x="63" y="2"/>
                  <a:pt x="63" y="2"/>
                </a:cubicBezTo>
                <a:cubicBezTo>
                  <a:pt x="63" y="1"/>
                  <a:pt x="63" y="0"/>
                  <a:pt x="64" y="0"/>
                </a:cubicBezTo>
                <a:close/>
                <a:moveTo>
                  <a:pt x="85" y="0"/>
                </a:moveTo>
                <a:cubicBezTo>
                  <a:pt x="89" y="0"/>
                  <a:pt x="93" y="0"/>
                  <a:pt x="97" y="0"/>
                </a:cubicBezTo>
                <a:cubicBezTo>
                  <a:pt x="98" y="0"/>
                  <a:pt x="99" y="1"/>
                  <a:pt x="99" y="2"/>
                </a:cubicBezTo>
                <a:cubicBezTo>
                  <a:pt x="99" y="2"/>
                  <a:pt x="99" y="2"/>
                  <a:pt x="99" y="2"/>
                </a:cubicBezTo>
                <a:cubicBezTo>
                  <a:pt x="99" y="3"/>
                  <a:pt x="98" y="4"/>
                  <a:pt x="97" y="4"/>
                </a:cubicBezTo>
                <a:cubicBezTo>
                  <a:pt x="93" y="4"/>
                  <a:pt x="89" y="4"/>
                  <a:pt x="85" y="4"/>
                </a:cubicBezTo>
                <a:cubicBezTo>
                  <a:pt x="84" y="4"/>
                  <a:pt x="84" y="3"/>
                  <a:pt x="84" y="2"/>
                </a:cubicBezTo>
                <a:cubicBezTo>
                  <a:pt x="84" y="2"/>
                  <a:pt x="84" y="2"/>
                  <a:pt x="84" y="2"/>
                </a:cubicBezTo>
                <a:cubicBezTo>
                  <a:pt x="84" y="1"/>
                  <a:pt x="84" y="0"/>
                  <a:pt x="85" y="0"/>
                </a:cubicBezTo>
                <a:close/>
                <a:moveTo>
                  <a:pt x="106" y="0"/>
                </a:moveTo>
                <a:cubicBezTo>
                  <a:pt x="110" y="0"/>
                  <a:pt x="114" y="0"/>
                  <a:pt x="118" y="0"/>
                </a:cubicBezTo>
                <a:cubicBezTo>
                  <a:pt x="119" y="0"/>
                  <a:pt x="120" y="1"/>
                  <a:pt x="120" y="2"/>
                </a:cubicBezTo>
                <a:cubicBezTo>
                  <a:pt x="120" y="2"/>
                  <a:pt x="120" y="2"/>
                  <a:pt x="120" y="2"/>
                </a:cubicBezTo>
                <a:cubicBezTo>
                  <a:pt x="120" y="3"/>
                  <a:pt x="119" y="4"/>
                  <a:pt x="118" y="4"/>
                </a:cubicBezTo>
                <a:cubicBezTo>
                  <a:pt x="114" y="4"/>
                  <a:pt x="110" y="4"/>
                  <a:pt x="106" y="4"/>
                </a:cubicBezTo>
                <a:cubicBezTo>
                  <a:pt x="105" y="4"/>
                  <a:pt x="105" y="3"/>
                  <a:pt x="105" y="2"/>
                </a:cubicBezTo>
                <a:cubicBezTo>
                  <a:pt x="105" y="2"/>
                  <a:pt x="105" y="2"/>
                  <a:pt x="105" y="2"/>
                </a:cubicBezTo>
                <a:cubicBezTo>
                  <a:pt x="105" y="1"/>
                  <a:pt x="105" y="0"/>
                  <a:pt x="106" y="0"/>
                </a:cubicBezTo>
                <a:close/>
              </a:path>
            </a:pathLst>
          </a:custGeom>
          <a:solidFill>
            <a:srgbClr val="979895"/>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 name="Freeform 18"/>
          <p:cNvSpPr/>
          <p:nvPr/>
        </p:nvSpPr>
        <p:spPr bwMode="auto">
          <a:xfrm>
            <a:off x="769938" y="2430465"/>
            <a:ext cx="498475" cy="1430338"/>
          </a:xfrm>
          <a:custGeom>
            <a:avLst/>
            <a:gdLst>
              <a:gd name="T0" fmla="*/ 0 w 314"/>
              <a:gd name="T1" fmla="*/ 0 h 901"/>
              <a:gd name="T2" fmla="*/ 314 w 314"/>
              <a:gd name="T3" fmla="*/ 299 h 901"/>
              <a:gd name="T4" fmla="*/ 314 w 314"/>
              <a:gd name="T5" fmla="*/ 901 h 901"/>
              <a:gd name="T6" fmla="*/ 0 w 314"/>
              <a:gd name="T7" fmla="*/ 602 h 901"/>
              <a:gd name="T8" fmla="*/ 0 w 314"/>
              <a:gd name="T9" fmla="*/ 0 h 901"/>
              <a:gd name="T10" fmla="*/ 0 w 314"/>
              <a:gd name="T11" fmla="*/ 0 h 901"/>
            </a:gdLst>
            <a:ahLst/>
            <a:cxnLst>
              <a:cxn ang="0">
                <a:pos x="T0" y="T1"/>
              </a:cxn>
              <a:cxn ang="0">
                <a:pos x="T2" y="T3"/>
              </a:cxn>
              <a:cxn ang="0">
                <a:pos x="T4" y="T5"/>
              </a:cxn>
              <a:cxn ang="0">
                <a:pos x="T6" y="T7"/>
              </a:cxn>
              <a:cxn ang="0">
                <a:pos x="T8" y="T9"/>
              </a:cxn>
              <a:cxn ang="0">
                <a:pos x="T10" y="T11"/>
              </a:cxn>
            </a:cxnLst>
            <a:rect l="0" t="0" r="r" b="b"/>
            <a:pathLst>
              <a:path w="314" h="901">
                <a:moveTo>
                  <a:pt x="0" y="0"/>
                </a:moveTo>
                <a:lnTo>
                  <a:pt x="314" y="299"/>
                </a:lnTo>
                <a:lnTo>
                  <a:pt x="314" y="901"/>
                </a:lnTo>
                <a:lnTo>
                  <a:pt x="0" y="602"/>
                </a:lnTo>
                <a:lnTo>
                  <a:pt x="0" y="0"/>
                </a:lnTo>
                <a:lnTo>
                  <a:pt x="0" y="0"/>
                </a:lnTo>
                <a:close/>
              </a:path>
            </a:pathLst>
          </a:custGeom>
          <a:solidFill>
            <a:srgbClr val="3D4947"/>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 name="Freeform 19"/>
          <p:cNvSpPr>
            <a:spLocks noEditPoints="1"/>
          </p:cNvSpPr>
          <p:nvPr/>
        </p:nvSpPr>
        <p:spPr bwMode="auto">
          <a:xfrm>
            <a:off x="769938" y="3262315"/>
            <a:ext cx="498475" cy="506413"/>
          </a:xfrm>
          <a:custGeom>
            <a:avLst/>
            <a:gdLst>
              <a:gd name="T0" fmla="*/ 60 w 60"/>
              <a:gd name="T1" fmla="*/ 57 h 61"/>
              <a:gd name="T2" fmla="*/ 60 w 60"/>
              <a:gd name="T3" fmla="*/ 61 h 61"/>
              <a:gd name="T4" fmla="*/ 53 w 60"/>
              <a:gd name="T5" fmla="*/ 55 h 61"/>
              <a:gd name="T6" fmla="*/ 53 w 60"/>
              <a:gd name="T7" fmla="*/ 53 h 61"/>
              <a:gd name="T8" fmla="*/ 53 w 60"/>
              <a:gd name="T9" fmla="*/ 53 h 61"/>
              <a:gd name="T10" fmla="*/ 56 w 60"/>
              <a:gd name="T11" fmla="*/ 53 h 61"/>
              <a:gd name="T12" fmla="*/ 60 w 60"/>
              <a:gd name="T13" fmla="*/ 57 h 61"/>
              <a:gd name="T14" fmla="*/ 0 w 60"/>
              <a:gd name="T15" fmla="*/ 4 h 61"/>
              <a:gd name="T16" fmla="*/ 0 w 60"/>
              <a:gd name="T17" fmla="*/ 0 h 61"/>
              <a:gd name="T18" fmla="*/ 3 w 60"/>
              <a:gd name="T19" fmla="*/ 3 h 61"/>
              <a:gd name="T20" fmla="*/ 4 w 60"/>
              <a:gd name="T21" fmla="*/ 6 h 61"/>
              <a:gd name="T22" fmla="*/ 4 w 60"/>
              <a:gd name="T23" fmla="*/ 6 h 61"/>
              <a:gd name="T24" fmla="*/ 1 w 60"/>
              <a:gd name="T25" fmla="*/ 6 h 61"/>
              <a:gd name="T26" fmla="*/ 0 w 60"/>
              <a:gd name="T27" fmla="*/ 4 h 61"/>
              <a:gd name="T28" fmla="*/ 10 w 60"/>
              <a:gd name="T29" fmla="*/ 10 h 61"/>
              <a:gd name="T30" fmla="*/ 19 w 60"/>
              <a:gd name="T31" fmla="*/ 18 h 61"/>
              <a:gd name="T32" fmla="*/ 19 w 60"/>
              <a:gd name="T33" fmla="*/ 20 h 61"/>
              <a:gd name="T34" fmla="*/ 19 w 60"/>
              <a:gd name="T35" fmla="*/ 20 h 61"/>
              <a:gd name="T36" fmla="*/ 16 w 60"/>
              <a:gd name="T37" fmla="*/ 20 h 61"/>
              <a:gd name="T38" fmla="*/ 8 w 60"/>
              <a:gd name="T39" fmla="*/ 12 h 61"/>
              <a:gd name="T40" fmla="*/ 8 w 60"/>
              <a:gd name="T41" fmla="*/ 10 h 61"/>
              <a:gd name="T42" fmla="*/ 8 w 60"/>
              <a:gd name="T43" fmla="*/ 10 h 61"/>
              <a:gd name="T44" fmla="*/ 10 w 60"/>
              <a:gd name="T45" fmla="*/ 10 h 61"/>
              <a:gd name="T46" fmla="*/ 25 w 60"/>
              <a:gd name="T47" fmla="*/ 24 h 61"/>
              <a:gd name="T48" fmla="*/ 34 w 60"/>
              <a:gd name="T49" fmla="*/ 32 h 61"/>
              <a:gd name="T50" fmla="*/ 34 w 60"/>
              <a:gd name="T51" fmla="*/ 35 h 61"/>
              <a:gd name="T52" fmla="*/ 34 w 60"/>
              <a:gd name="T53" fmla="*/ 35 h 61"/>
              <a:gd name="T54" fmla="*/ 32 w 60"/>
              <a:gd name="T55" fmla="*/ 35 h 61"/>
              <a:gd name="T56" fmla="*/ 23 w 60"/>
              <a:gd name="T57" fmla="*/ 26 h 61"/>
              <a:gd name="T58" fmla="*/ 23 w 60"/>
              <a:gd name="T59" fmla="*/ 24 h 61"/>
              <a:gd name="T60" fmla="*/ 23 w 60"/>
              <a:gd name="T61" fmla="*/ 24 h 61"/>
              <a:gd name="T62" fmla="*/ 25 w 60"/>
              <a:gd name="T63" fmla="*/ 24 h 61"/>
              <a:gd name="T64" fmla="*/ 41 w 60"/>
              <a:gd name="T65" fmla="*/ 39 h 61"/>
              <a:gd name="T66" fmla="*/ 49 w 60"/>
              <a:gd name="T67" fmla="*/ 47 h 61"/>
              <a:gd name="T68" fmla="*/ 49 w 60"/>
              <a:gd name="T69" fmla="*/ 49 h 61"/>
              <a:gd name="T70" fmla="*/ 49 w 60"/>
              <a:gd name="T71" fmla="*/ 49 h 61"/>
              <a:gd name="T72" fmla="*/ 47 w 60"/>
              <a:gd name="T73" fmla="*/ 49 h 61"/>
              <a:gd name="T74" fmla="*/ 38 w 60"/>
              <a:gd name="T75" fmla="*/ 41 h 61"/>
              <a:gd name="T76" fmla="*/ 38 w 60"/>
              <a:gd name="T77" fmla="*/ 39 h 61"/>
              <a:gd name="T78" fmla="*/ 38 w 60"/>
              <a:gd name="T79" fmla="*/ 39 h 61"/>
              <a:gd name="T80" fmla="*/ 41 w 60"/>
              <a:gd name="T81" fmla="*/ 39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0" h="61">
                <a:moveTo>
                  <a:pt x="60" y="57"/>
                </a:moveTo>
                <a:cubicBezTo>
                  <a:pt x="60" y="61"/>
                  <a:pt x="60" y="61"/>
                  <a:pt x="60" y="61"/>
                </a:cubicBezTo>
                <a:cubicBezTo>
                  <a:pt x="58" y="59"/>
                  <a:pt x="56" y="57"/>
                  <a:pt x="53" y="55"/>
                </a:cubicBezTo>
                <a:cubicBezTo>
                  <a:pt x="53" y="55"/>
                  <a:pt x="53" y="54"/>
                  <a:pt x="53" y="53"/>
                </a:cubicBezTo>
                <a:cubicBezTo>
                  <a:pt x="53" y="53"/>
                  <a:pt x="53" y="53"/>
                  <a:pt x="53" y="53"/>
                </a:cubicBezTo>
                <a:cubicBezTo>
                  <a:pt x="54" y="52"/>
                  <a:pt x="55" y="52"/>
                  <a:pt x="56" y="53"/>
                </a:cubicBezTo>
                <a:cubicBezTo>
                  <a:pt x="57" y="54"/>
                  <a:pt x="58" y="55"/>
                  <a:pt x="60" y="57"/>
                </a:cubicBezTo>
                <a:close/>
                <a:moveTo>
                  <a:pt x="0" y="4"/>
                </a:moveTo>
                <a:cubicBezTo>
                  <a:pt x="0" y="0"/>
                  <a:pt x="0" y="0"/>
                  <a:pt x="0" y="0"/>
                </a:cubicBezTo>
                <a:cubicBezTo>
                  <a:pt x="1" y="1"/>
                  <a:pt x="2" y="2"/>
                  <a:pt x="3" y="3"/>
                </a:cubicBezTo>
                <a:cubicBezTo>
                  <a:pt x="4" y="4"/>
                  <a:pt x="4" y="5"/>
                  <a:pt x="4" y="6"/>
                </a:cubicBezTo>
                <a:cubicBezTo>
                  <a:pt x="4" y="6"/>
                  <a:pt x="4" y="6"/>
                  <a:pt x="4" y="6"/>
                </a:cubicBezTo>
                <a:cubicBezTo>
                  <a:pt x="3" y="6"/>
                  <a:pt x="2" y="6"/>
                  <a:pt x="1" y="6"/>
                </a:cubicBezTo>
                <a:cubicBezTo>
                  <a:pt x="1" y="5"/>
                  <a:pt x="0" y="5"/>
                  <a:pt x="0" y="4"/>
                </a:cubicBezTo>
                <a:close/>
                <a:moveTo>
                  <a:pt x="10" y="10"/>
                </a:moveTo>
                <a:cubicBezTo>
                  <a:pt x="13" y="12"/>
                  <a:pt x="16" y="15"/>
                  <a:pt x="19" y="18"/>
                </a:cubicBezTo>
                <a:cubicBezTo>
                  <a:pt x="19" y="18"/>
                  <a:pt x="19" y="19"/>
                  <a:pt x="19" y="20"/>
                </a:cubicBezTo>
                <a:cubicBezTo>
                  <a:pt x="19" y="20"/>
                  <a:pt x="19" y="20"/>
                  <a:pt x="19" y="20"/>
                </a:cubicBezTo>
                <a:cubicBezTo>
                  <a:pt x="18" y="21"/>
                  <a:pt x="17" y="21"/>
                  <a:pt x="16" y="20"/>
                </a:cubicBezTo>
                <a:cubicBezTo>
                  <a:pt x="14" y="17"/>
                  <a:pt x="11" y="15"/>
                  <a:pt x="8" y="12"/>
                </a:cubicBezTo>
                <a:cubicBezTo>
                  <a:pt x="7" y="11"/>
                  <a:pt x="7" y="10"/>
                  <a:pt x="8" y="10"/>
                </a:cubicBezTo>
                <a:cubicBezTo>
                  <a:pt x="8" y="10"/>
                  <a:pt x="8" y="10"/>
                  <a:pt x="8" y="10"/>
                </a:cubicBezTo>
                <a:cubicBezTo>
                  <a:pt x="8" y="9"/>
                  <a:pt x="9" y="9"/>
                  <a:pt x="10" y="10"/>
                </a:cubicBezTo>
                <a:close/>
                <a:moveTo>
                  <a:pt x="25" y="24"/>
                </a:moveTo>
                <a:cubicBezTo>
                  <a:pt x="28" y="27"/>
                  <a:pt x="31" y="29"/>
                  <a:pt x="34" y="32"/>
                </a:cubicBezTo>
                <a:cubicBezTo>
                  <a:pt x="35" y="33"/>
                  <a:pt x="35" y="34"/>
                  <a:pt x="34" y="35"/>
                </a:cubicBezTo>
                <a:cubicBezTo>
                  <a:pt x="34" y="35"/>
                  <a:pt x="34" y="35"/>
                  <a:pt x="34" y="35"/>
                </a:cubicBezTo>
                <a:cubicBezTo>
                  <a:pt x="33" y="35"/>
                  <a:pt x="32" y="35"/>
                  <a:pt x="32" y="35"/>
                </a:cubicBezTo>
                <a:cubicBezTo>
                  <a:pt x="29" y="32"/>
                  <a:pt x="26" y="29"/>
                  <a:pt x="23" y="26"/>
                </a:cubicBezTo>
                <a:cubicBezTo>
                  <a:pt x="22" y="26"/>
                  <a:pt x="22" y="25"/>
                  <a:pt x="23" y="24"/>
                </a:cubicBezTo>
                <a:cubicBezTo>
                  <a:pt x="23" y="24"/>
                  <a:pt x="23" y="24"/>
                  <a:pt x="23" y="24"/>
                </a:cubicBezTo>
                <a:cubicBezTo>
                  <a:pt x="24" y="23"/>
                  <a:pt x="25" y="23"/>
                  <a:pt x="25" y="24"/>
                </a:cubicBezTo>
                <a:close/>
                <a:moveTo>
                  <a:pt x="41" y="39"/>
                </a:moveTo>
                <a:cubicBezTo>
                  <a:pt x="43" y="41"/>
                  <a:pt x="46" y="44"/>
                  <a:pt x="49" y="47"/>
                </a:cubicBezTo>
                <a:cubicBezTo>
                  <a:pt x="50" y="47"/>
                  <a:pt x="50" y="48"/>
                  <a:pt x="49" y="49"/>
                </a:cubicBezTo>
                <a:cubicBezTo>
                  <a:pt x="49" y="49"/>
                  <a:pt x="49" y="49"/>
                  <a:pt x="49" y="49"/>
                </a:cubicBezTo>
                <a:cubicBezTo>
                  <a:pt x="48" y="50"/>
                  <a:pt x="47" y="50"/>
                  <a:pt x="47" y="49"/>
                </a:cubicBezTo>
                <a:cubicBezTo>
                  <a:pt x="44" y="46"/>
                  <a:pt x="41" y="44"/>
                  <a:pt x="38" y="41"/>
                </a:cubicBezTo>
                <a:cubicBezTo>
                  <a:pt x="38" y="40"/>
                  <a:pt x="38" y="39"/>
                  <a:pt x="38" y="39"/>
                </a:cubicBezTo>
                <a:cubicBezTo>
                  <a:pt x="38" y="39"/>
                  <a:pt x="38" y="39"/>
                  <a:pt x="38" y="39"/>
                </a:cubicBezTo>
                <a:cubicBezTo>
                  <a:pt x="39" y="38"/>
                  <a:pt x="40" y="38"/>
                  <a:pt x="41" y="39"/>
                </a:cubicBezTo>
                <a:close/>
              </a:path>
            </a:pathLst>
          </a:custGeom>
          <a:solidFill>
            <a:srgbClr val="4B5754"/>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 name="Freeform 20"/>
          <p:cNvSpPr/>
          <p:nvPr/>
        </p:nvSpPr>
        <p:spPr bwMode="auto">
          <a:xfrm>
            <a:off x="338138" y="1184278"/>
            <a:ext cx="1081087" cy="955675"/>
          </a:xfrm>
          <a:custGeom>
            <a:avLst/>
            <a:gdLst>
              <a:gd name="T0" fmla="*/ 0 w 681"/>
              <a:gd name="T1" fmla="*/ 0 h 602"/>
              <a:gd name="T2" fmla="*/ 681 w 681"/>
              <a:gd name="T3" fmla="*/ 0 h 602"/>
              <a:gd name="T4" fmla="*/ 681 w 681"/>
              <a:gd name="T5" fmla="*/ 602 h 602"/>
              <a:gd name="T6" fmla="*/ 0 w 681"/>
              <a:gd name="T7" fmla="*/ 602 h 602"/>
              <a:gd name="T8" fmla="*/ 183 w 681"/>
              <a:gd name="T9" fmla="*/ 298 h 602"/>
              <a:gd name="T10" fmla="*/ 0 w 681"/>
              <a:gd name="T11" fmla="*/ 0 h 602"/>
              <a:gd name="T12" fmla="*/ 0 w 681"/>
              <a:gd name="T13" fmla="*/ 0 h 602"/>
            </a:gdLst>
            <a:ahLst/>
            <a:cxnLst>
              <a:cxn ang="0">
                <a:pos x="T0" y="T1"/>
              </a:cxn>
              <a:cxn ang="0">
                <a:pos x="T2" y="T3"/>
              </a:cxn>
              <a:cxn ang="0">
                <a:pos x="T4" y="T5"/>
              </a:cxn>
              <a:cxn ang="0">
                <a:pos x="T6" y="T7"/>
              </a:cxn>
              <a:cxn ang="0">
                <a:pos x="T8" y="T9"/>
              </a:cxn>
              <a:cxn ang="0">
                <a:pos x="T10" y="T11"/>
              </a:cxn>
              <a:cxn ang="0">
                <a:pos x="T12" y="T13"/>
              </a:cxn>
            </a:cxnLst>
            <a:rect l="0" t="0" r="r" b="b"/>
            <a:pathLst>
              <a:path w="681" h="602">
                <a:moveTo>
                  <a:pt x="0" y="0"/>
                </a:moveTo>
                <a:lnTo>
                  <a:pt x="681" y="0"/>
                </a:lnTo>
                <a:lnTo>
                  <a:pt x="681" y="602"/>
                </a:lnTo>
                <a:lnTo>
                  <a:pt x="0" y="602"/>
                </a:lnTo>
                <a:lnTo>
                  <a:pt x="183" y="298"/>
                </a:lnTo>
                <a:lnTo>
                  <a:pt x="0" y="0"/>
                </a:lnTo>
                <a:lnTo>
                  <a:pt x="0" y="0"/>
                </a:lnTo>
                <a:close/>
              </a:path>
            </a:pathLst>
          </a:custGeom>
          <a:solidFill>
            <a:srgbClr val="EE7640"/>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 name="Freeform 21"/>
          <p:cNvSpPr>
            <a:spLocks noEditPoints="1"/>
          </p:cNvSpPr>
          <p:nvPr/>
        </p:nvSpPr>
        <p:spPr bwMode="auto">
          <a:xfrm>
            <a:off x="454025" y="1241428"/>
            <a:ext cx="998537" cy="33338"/>
          </a:xfrm>
          <a:custGeom>
            <a:avLst/>
            <a:gdLst>
              <a:gd name="T0" fmla="*/ 1 w 120"/>
              <a:gd name="T1" fmla="*/ 0 h 4"/>
              <a:gd name="T2" fmla="*/ 13 w 120"/>
              <a:gd name="T3" fmla="*/ 0 h 4"/>
              <a:gd name="T4" fmla="*/ 15 w 120"/>
              <a:gd name="T5" fmla="*/ 2 h 4"/>
              <a:gd name="T6" fmla="*/ 15 w 120"/>
              <a:gd name="T7" fmla="*/ 2 h 4"/>
              <a:gd name="T8" fmla="*/ 13 w 120"/>
              <a:gd name="T9" fmla="*/ 4 h 4"/>
              <a:gd name="T10" fmla="*/ 1 w 120"/>
              <a:gd name="T11" fmla="*/ 4 h 4"/>
              <a:gd name="T12" fmla="*/ 0 w 120"/>
              <a:gd name="T13" fmla="*/ 2 h 4"/>
              <a:gd name="T14" fmla="*/ 0 w 120"/>
              <a:gd name="T15" fmla="*/ 2 h 4"/>
              <a:gd name="T16" fmla="*/ 1 w 120"/>
              <a:gd name="T17" fmla="*/ 0 h 4"/>
              <a:gd name="T18" fmla="*/ 22 w 120"/>
              <a:gd name="T19" fmla="*/ 0 h 4"/>
              <a:gd name="T20" fmla="*/ 34 w 120"/>
              <a:gd name="T21" fmla="*/ 0 h 4"/>
              <a:gd name="T22" fmla="*/ 36 w 120"/>
              <a:gd name="T23" fmla="*/ 2 h 4"/>
              <a:gd name="T24" fmla="*/ 36 w 120"/>
              <a:gd name="T25" fmla="*/ 2 h 4"/>
              <a:gd name="T26" fmla="*/ 34 w 120"/>
              <a:gd name="T27" fmla="*/ 4 h 4"/>
              <a:gd name="T28" fmla="*/ 22 w 120"/>
              <a:gd name="T29" fmla="*/ 4 h 4"/>
              <a:gd name="T30" fmla="*/ 21 w 120"/>
              <a:gd name="T31" fmla="*/ 2 h 4"/>
              <a:gd name="T32" fmla="*/ 21 w 120"/>
              <a:gd name="T33" fmla="*/ 2 h 4"/>
              <a:gd name="T34" fmla="*/ 22 w 120"/>
              <a:gd name="T35" fmla="*/ 0 h 4"/>
              <a:gd name="T36" fmla="*/ 43 w 120"/>
              <a:gd name="T37" fmla="*/ 0 h 4"/>
              <a:gd name="T38" fmla="*/ 55 w 120"/>
              <a:gd name="T39" fmla="*/ 0 h 4"/>
              <a:gd name="T40" fmla="*/ 57 w 120"/>
              <a:gd name="T41" fmla="*/ 2 h 4"/>
              <a:gd name="T42" fmla="*/ 57 w 120"/>
              <a:gd name="T43" fmla="*/ 2 h 4"/>
              <a:gd name="T44" fmla="*/ 55 w 120"/>
              <a:gd name="T45" fmla="*/ 4 h 4"/>
              <a:gd name="T46" fmla="*/ 43 w 120"/>
              <a:gd name="T47" fmla="*/ 4 h 4"/>
              <a:gd name="T48" fmla="*/ 42 w 120"/>
              <a:gd name="T49" fmla="*/ 2 h 4"/>
              <a:gd name="T50" fmla="*/ 42 w 120"/>
              <a:gd name="T51" fmla="*/ 2 h 4"/>
              <a:gd name="T52" fmla="*/ 43 w 120"/>
              <a:gd name="T53" fmla="*/ 0 h 4"/>
              <a:gd name="T54" fmla="*/ 64 w 120"/>
              <a:gd name="T55" fmla="*/ 0 h 4"/>
              <a:gd name="T56" fmla="*/ 76 w 120"/>
              <a:gd name="T57" fmla="*/ 0 h 4"/>
              <a:gd name="T58" fmla="*/ 78 w 120"/>
              <a:gd name="T59" fmla="*/ 2 h 4"/>
              <a:gd name="T60" fmla="*/ 78 w 120"/>
              <a:gd name="T61" fmla="*/ 2 h 4"/>
              <a:gd name="T62" fmla="*/ 76 w 120"/>
              <a:gd name="T63" fmla="*/ 4 h 4"/>
              <a:gd name="T64" fmla="*/ 64 w 120"/>
              <a:gd name="T65" fmla="*/ 4 h 4"/>
              <a:gd name="T66" fmla="*/ 63 w 120"/>
              <a:gd name="T67" fmla="*/ 2 h 4"/>
              <a:gd name="T68" fmla="*/ 63 w 120"/>
              <a:gd name="T69" fmla="*/ 2 h 4"/>
              <a:gd name="T70" fmla="*/ 64 w 120"/>
              <a:gd name="T71" fmla="*/ 0 h 4"/>
              <a:gd name="T72" fmla="*/ 85 w 120"/>
              <a:gd name="T73" fmla="*/ 0 h 4"/>
              <a:gd name="T74" fmla="*/ 97 w 120"/>
              <a:gd name="T75" fmla="*/ 0 h 4"/>
              <a:gd name="T76" fmla="*/ 99 w 120"/>
              <a:gd name="T77" fmla="*/ 2 h 4"/>
              <a:gd name="T78" fmla="*/ 99 w 120"/>
              <a:gd name="T79" fmla="*/ 2 h 4"/>
              <a:gd name="T80" fmla="*/ 97 w 120"/>
              <a:gd name="T81" fmla="*/ 4 h 4"/>
              <a:gd name="T82" fmla="*/ 85 w 120"/>
              <a:gd name="T83" fmla="*/ 4 h 4"/>
              <a:gd name="T84" fmla="*/ 84 w 120"/>
              <a:gd name="T85" fmla="*/ 2 h 4"/>
              <a:gd name="T86" fmla="*/ 84 w 120"/>
              <a:gd name="T87" fmla="*/ 2 h 4"/>
              <a:gd name="T88" fmla="*/ 85 w 120"/>
              <a:gd name="T89" fmla="*/ 0 h 4"/>
              <a:gd name="T90" fmla="*/ 106 w 120"/>
              <a:gd name="T91" fmla="*/ 0 h 4"/>
              <a:gd name="T92" fmla="*/ 118 w 120"/>
              <a:gd name="T93" fmla="*/ 0 h 4"/>
              <a:gd name="T94" fmla="*/ 120 w 120"/>
              <a:gd name="T95" fmla="*/ 2 h 4"/>
              <a:gd name="T96" fmla="*/ 120 w 120"/>
              <a:gd name="T97" fmla="*/ 2 h 4"/>
              <a:gd name="T98" fmla="*/ 118 w 120"/>
              <a:gd name="T99" fmla="*/ 4 h 4"/>
              <a:gd name="T100" fmla="*/ 106 w 120"/>
              <a:gd name="T101" fmla="*/ 4 h 4"/>
              <a:gd name="T102" fmla="*/ 105 w 120"/>
              <a:gd name="T103" fmla="*/ 2 h 4"/>
              <a:gd name="T104" fmla="*/ 105 w 120"/>
              <a:gd name="T105" fmla="*/ 2 h 4"/>
              <a:gd name="T106" fmla="*/ 106 w 120"/>
              <a:gd name="T107"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0" h="4">
                <a:moveTo>
                  <a:pt x="1" y="0"/>
                </a:moveTo>
                <a:cubicBezTo>
                  <a:pt x="5" y="0"/>
                  <a:pt x="9" y="0"/>
                  <a:pt x="13" y="0"/>
                </a:cubicBezTo>
                <a:cubicBezTo>
                  <a:pt x="14" y="0"/>
                  <a:pt x="15" y="1"/>
                  <a:pt x="15" y="2"/>
                </a:cubicBezTo>
                <a:cubicBezTo>
                  <a:pt x="15" y="2"/>
                  <a:pt x="15" y="2"/>
                  <a:pt x="15" y="2"/>
                </a:cubicBezTo>
                <a:cubicBezTo>
                  <a:pt x="15" y="3"/>
                  <a:pt x="14" y="4"/>
                  <a:pt x="13" y="4"/>
                </a:cubicBezTo>
                <a:cubicBezTo>
                  <a:pt x="9" y="4"/>
                  <a:pt x="5" y="4"/>
                  <a:pt x="1" y="4"/>
                </a:cubicBezTo>
                <a:cubicBezTo>
                  <a:pt x="0" y="4"/>
                  <a:pt x="0" y="3"/>
                  <a:pt x="0" y="2"/>
                </a:cubicBezTo>
                <a:cubicBezTo>
                  <a:pt x="0" y="2"/>
                  <a:pt x="0" y="2"/>
                  <a:pt x="0" y="2"/>
                </a:cubicBezTo>
                <a:cubicBezTo>
                  <a:pt x="0" y="1"/>
                  <a:pt x="0" y="0"/>
                  <a:pt x="1" y="0"/>
                </a:cubicBezTo>
                <a:close/>
                <a:moveTo>
                  <a:pt x="22" y="0"/>
                </a:moveTo>
                <a:cubicBezTo>
                  <a:pt x="26" y="0"/>
                  <a:pt x="30" y="0"/>
                  <a:pt x="34" y="0"/>
                </a:cubicBezTo>
                <a:cubicBezTo>
                  <a:pt x="35" y="0"/>
                  <a:pt x="36" y="1"/>
                  <a:pt x="36" y="2"/>
                </a:cubicBezTo>
                <a:cubicBezTo>
                  <a:pt x="36" y="2"/>
                  <a:pt x="36" y="2"/>
                  <a:pt x="36" y="2"/>
                </a:cubicBezTo>
                <a:cubicBezTo>
                  <a:pt x="36" y="3"/>
                  <a:pt x="35" y="4"/>
                  <a:pt x="34" y="4"/>
                </a:cubicBezTo>
                <a:cubicBezTo>
                  <a:pt x="30" y="4"/>
                  <a:pt x="26" y="4"/>
                  <a:pt x="22" y="4"/>
                </a:cubicBezTo>
                <a:cubicBezTo>
                  <a:pt x="21" y="4"/>
                  <a:pt x="21" y="3"/>
                  <a:pt x="21" y="2"/>
                </a:cubicBezTo>
                <a:cubicBezTo>
                  <a:pt x="21" y="2"/>
                  <a:pt x="21" y="2"/>
                  <a:pt x="21" y="2"/>
                </a:cubicBezTo>
                <a:cubicBezTo>
                  <a:pt x="21" y="1"/>
                  <a:pt x="21" y="0"/>
                  <a:pt x="22" y="0"/>
                </a:cubicBezTo>
                <a:close/>
                <a:moveTo>
                  <a:pt x="43" y="0"/>
                </a:moveTo>
                <a:cubicBezTo>
                  <a:pt x="47" y="0"/>
                  <a:pt x="51" y="0"/>
                  <a:pt x="55" y="0"/>
                </a:cubicBezTo>
                <a:cubicBezTo>
                  <a:pt x="56" y="0"/>
                  <a:pt x="57" y="1"/>
                  <a:pt x="57" y="2"/>
                </a:cubicBezTo>
                <a:cubicBezTo>
                  <a:pt x="57" y="2"/>
                  <a:pt x="57" y="2"/>
                  <a:pt x="57" y="2"/>
                </a:cubicBezTo>
                <a:cubicBezTo>
                  <a:pt x="57" y="3"/>
                  <a:pt x="56" y="4"/>
                  <a:pt x="55" y="4"/>
                </a:cubicBezTo>
                <a:cubicBezTo>
                  <a:pt x="51" y="4"/>
                  <a:pt x="47" y="4"/>
                  <a:pt x="43" y="4"/>
                </a:cubicBezTo>
                <a:cubicBezTo>
                  <a:pt x="42" y="4"/>
                  <a:pt x="42" y="3"/>
                  <a:pt x="42" y="2"/>
                </a:cubicBezTo>
                <a:cubicBezTo>
                  <a:pt x="42" y="2"/>
                  <a:pt x="42" y="2"/>
                  <a:pt x="42" y="2"/>
                </a:cubicBezTo>
                <a:cubicBezTo>
                  <a:pt x="42" y="1"/>
                  <a:pt x="42" y="0"/>
                  <a:pt x="43" y="0"/>
                </a:cubicBezTo>
                <a:close/>
                <a:moveTo>
                  <a:pt x="64" y="0"/>
                </a:moveTo>
                <a:cubicBezTo>
                  <a:pt x="68" y="0"/>
                  <a:pt x="72" y="0"/>
                  <a:pt x="76" y="0"/>
                </a:cubicBezTo>
                <a:cubicBezTo>
                  <a:pt x="77" y="0"/>
                  <a:pt x="78" y="1"/>
                  <a:pt x="78" y="2"/>
                </a:cubicBezTo>
                <a:cubicBezTo>
                  <a:pt x="78" y="2"/>
                  <a:pt x="78" y="2"/>
                  <a:pt x="78" y="2"/>
                </a:cubicBezTo>
                <a:cubicBezTo>
                  <a:pt x="78" y="3"/>
                  <a:pt x="77" y="4"/>
                  <a:pt x="76" y="4"/>
                </a:cubicBezTo>
                <a:cubicBezTo>
                  <a:pt x="72" y="4"/>
                  <a:pt x="68" y="4"/>
                  <a:pt x="64" y="4"/>
                </a:cubicBezTo>
                <a:cubicBezTo>
                  <a:pt x="63" y="4"/>
                  <a:pt x="63" y="3"/>
                  <a:pt x="63" y="2"/>
                </a:cubicBezTo>
                <a:cubicBezTo>
                  <a:pt x="63" y="2"/>
                  <a:pt x="63" y="2"/>
                  <a:pt x="63" y="2"/>
                </a:cubicBezTo>
                <a:cubicBezTo>
                  <a:pt x="63" y="1"/>
                  <a:pt x="63" y="0"/>
                  <a:pt x="64" y="0"/>
                </a:cubicBezTo>
                <a:close/>
                <a:moveTo>
                  <a:pt x="85" y="0"/>
                </a:moveTo>
                <a:cubicBezTo>
                  <a:pt x="89" y="0"/>
                  <a:pt x="93" y="0"/>
                  <a:pt x="97" y="0"/>
                </a:cubicBezTo>
                <a:cubicBezTo>
                  <a:pt x="98" y="0"/>
                  <a:pt x="99" y="1"/>
                  <a:pt x="99" y="2"/>
                </a:cubicBezTo>
                <a:cubicBezTo>
                  <a:pt x="99" y="2"/>
                  <a:pt x="99" y="2"/>
                  <a:pt x="99" y="2"/>
                </a:cubicBezTo>
                <a:cubicBezTo>
                  <a:pt x="99" y="3"/>
                  <a:pt x="98" y="4"/>
                  <a:pt x="97" y="4"/>
                </a:cubicBezTo>
                <a:cubicBezTo>
                  <a:pt x="93" y="4"/>
                  <a:pt x="89" y="4"/>
                  <a:pt x="85" y="4"/>
                </a:cubicBezTo>
                <a:cubicBezTo>
                  <a:pt x="84" y="4"/>
                  <a:pt x="84" y="3"/>
                  <a:pt x="84" y="2"/>
                </a:cubicBezTo>
                <a:cubicBezTo>
                  <a:pt x="84" y="2"/>
                  <a:pt x="84" y="2"/>
                  <a:pt x="84" y="2"/>
                </a:cubicBezTo>
                <a:cubicBezTo>
                  <a:pt x="84" y="1"/>
                  <a:pt x="84" y="0"/>
                  <a:pt x="85" y="0"/>
                </a:cubicBezTo>
                <a:close/>
                <a:moveTo>
                  <a:pt x="106" y="0"/>
                </a:moveTo>
                <a:cubicBezTo>
                  <a:pt x="110" y="0"/>
                  <a:pt x="114" y="0"/>
                  <a:pt x="118" y="0"/>
                </a:cubicBezTo>
                <a:cubicBezTo>
                  <a:pt x="119" y="0"/>
                  <a:pt x="120" y="1"/>
                  <a:pt x="120" y="2"/>
                </a:cubicBezTo>
                <a:cubicBezTo>
                  <a:pt x="120" y="2"/>
                  <a:pt x="120" y="2"/>
                  <a:pt x="120" y="2"/>
                </a:cubicBezTo>
                <a:cubicBezTo>
                  <a:pt x="120" y="3"/>
                  <a:pt x="119" y="4"/>
                  <a:pt x="118" y="4"/>
                </a:cubicBezTo>
                <a:cubicBezTo>
                  <a:pt x="114" y="4"/>
                  <a:pt x="110" y="4"/>
                  <a:pt x="106" y="4"/>
                </a:cubicBezTo>
                <a:cubicBezTo>
                  <a:pt x="105" y="4"/>
                  <a:pt x="105" y="3"/>
                  <a:pt x="105" y="2"/>
                </a:cubicBezTo>
                <a:cubicBezTo>
                  <a:pt x="105" y="2"/>
                  <a:pt x="105" y="2"/>
                  <a:pt x="105" y="2"/>
                </a:cubicBezTo>
                <a:cubicBezTo>
                  <a:pt x="105" y="1"/>
                  <a:pt x="105" y="0"/>
                  <a:pt x="106" y="0"/>
                </a:cubicBezTo>
                <a:close/>
              </a:path>
            </a:pathLst>
          </a:custGeom>
          <a:solidFill>
            <a:srgbClr val="FAD1B7"/>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 name="Freeform 22"/>
          <p:cNvSpPr>
            <a:spLocks noEditPoints="1"/>
          </p:cNvSpPr>
          <p:nvPr/>
        </p:nvSpPr>
        <p:spPr bwMode="auto">
          <a:xfrm>
            <a:off x="454025" y="2047878"/>
            <a:ext cx="998537" cy="25400"/>
          </a:xfrm>
          <a:custGeom>
            <a:avLst/>
            <a:gdLst>
              <a:gd name="T0" fmla="*/ 1 w 120"/>
              <a:gd name="T1" fmla="*/ 0 h 3"/>
              <a:gd name="T2" fmla="*/ 13 w 120"/>
              <a:gd name="T3" fmla="*/ 0 h 3"/>
              <a:gd name="T4" fmla="*/ 15 w 120"/>
              <a:gd name="T5" fmla="*/ 2 h 3"/>
              <a:gd name="T6" fmla="*/ 15 w 120"/>
              <a:gd name="T7" fmla="*/ 2 h 3"/>
              <a:gd name="T8" fmla="*/ 13 w 120"/>
              <a:gd name="T9" fmla="*/ 3 h 3"/>
              <a:gd name="T10" fmla="*/ 1 w 120"/>
              <a:gd name="T11" fmla="*/ 3 h 3"/>
              <a:gd name="T12" fmla="*/ 0 w 120"/>
              <a:gd name="T13" fmla="*/ 2 h 3"/>
              <a:gd name="T14" fmla="*/ 0 w 120"/>
              <a:gd name="T15" fmla="*/ 2 h 3"/>
              <a:gd name="T16" fmla="*/ 1 w 120"/>
              <a:gd name="T17" fmla="*/ 0 h 3"/>
              <a:gd name="T18" fmla="*/ 22 w 120"/>
              <a:gd name="T19" fmla="*/ 0 h 3"/>
              <a:gd name="T20" fmla="*/ 34 w 120"/>
              <a:gd name="T21" fmla="*/ 0 h 3"/>
              <a:gd name="T22" fmla="*/ 36 w 120"/>
              <a:gd name="T23" fmla="*/ 2 h 3"/>
              <a:gd name="T24" fmla="*/ 36 w 120"/>
              <a:gd name="T25" fmla="*/ 2 h 3"/>
              <a:gd name="T26" fmla="*/ 34 w 120"/>
              <a:gd name="T27" fmla="*/ 3 h 3"/>
              <a:gd name="T28" fmla="*/ 22 w 120"/>
              <a:gd name="T29" fmla="*/ 3 h 3"/>
              <a:gd name="T30" fmla="*/ 21 w 120"/>
              <a:gd name="T31" fmla="*/ 2 h 3"/>
              <a:gd name="T32" fmla="*/ 21 w 120"/>
              <a:gd name="T33" fmla="*/ 2 h 3"/>
              <a:gd name="T34" fmla="*/ 22 w 120"/>
              <a:gd name="T35" fmla="*/ 0 h 3"/>
              <a:gd name="T36" fmla="*/ 43 w 120"/>
              <a:gd name="T37" fmla="*/ 0 h 3"/>
              <a:gd name="T38" fmla="*/ 55 w 120"/>
              <a:gd name="T39" fmla="*/ 0 h 3"/>
              <a:gd name="T40" fmla="*/ 57 w 120"/>
              <a:gd name="T41" fmla="*/ 2 h 3"/>
              <a:gd name="T42" fmla="*/ 57 w 120"/>
              <a:gd name="T43" fmla="*/ 2 h 3"/>
              <a:gd name="T44" fmla="*/ 55 w 120"/>
              <a:gd name="T45" fmla="*/ 3 h 3"/>
              <a:gd name="T46" fmla="*/ 43 w 120"/>
              <a:gd name="T47" fmla="*/ 3 h 3"/>
              <a:gd name="T48" fmla="*/ 42 w 120"/>
              <a:gd name="T49" fmla="*/ 2 h 3"/>
              <a:gd name="T50" fmla="*/ 42 w 120"/>
              <a:gd name="T51" fmla="*/ 2 h 3"/>
              <a:gd name="T52" fmla="*/ 43 w 120"/>
              <a:gd name="T53" fmla="*/ 0 h 3"/>
              <a:gd name="T54" fmla="*/ 64 w 120"/>
              <a:gd name="T55" fmla="*/ 0 h 3"/>
              <a:gd name="T56" fmla="*/ 76 w 120"/>
              <a:gd name="T57" fmla="*/ 0 h 3"/>
              <a:gd name="T58" fmla="*/ 78 w 120"/>
              <a:gd name="T59" fmla="*/ 2 h 3"/>
              <a:gd name="T60" fmla="*/ 78 w 120"/>
              <a:gd name="T61" fmla="*/ 2 h 3"/>
              <a:gd name="T62" fmla="*/ 76 w 120"/>
              <a:gd name="T63" fmla="*/ 3 h 3"/>
              <a:gd name="T64" fmla="*/ 64 w 120"/>
              <a:gd name="T65" fmla="*/ 3 h 3"/>
              <a:gd name="T66" fmla="*/ 63 w 120"/>
              <a:gd name="T67" fmla="*/ 2 h 3"/>
              <a:gd name="T68" fmla="*/ 63 w 120"/>
              <a:gd name="T69" fmla="*/ 2 h 3"/>
              <a:gd name="T70" fmla="*/ 64 w 120"/>
              <a:gd name="T71" fmla="*/ 0 h 3"/>
              <a:gd name="T72" fmla="*/ 85 w 120"/>
              <a:gd name="T73" fmla="*/ 0 h 3"/>
              <a:gd name="T74" fmla="*/ 97 w 120"/>
              <a:gd name="T75" fmla="*/ 0 h 3"/>
              <a:gd name="T76" fmla="*/ 99 w 120"/>
              <a:gd name="T77" fmla="*/ 2 h 3"/>
              <a:gd name="T78" fmla="*/ 99 w 120"/>
              <a:gd name="T79" fmla="*/ 2 h 3"/>
              <a:gd name="T80" fmla="*/ 97 w 120"/>
              <a:gd name="T81" fmla="*/ 3 h 3"/>
              <a:gd name="T82" fmla="*/ 85 w 120"/>
              <a:gd name="T83" fmla="*/ 3 h 3"/>
              <a:gd name="T84" fmla="*/ 84 w 120"/>
              <a:gd name="T85" fmla="*/ 2 h 3"/>
              <a:gd name="T86" fmla="*/ 84 w 120"/>
              <a:gd name="T87" fmla="*/ 2 h 3"/>
              <a:gd name="T88" fmla="*/ 85 w 120"/>
              <a:gd name="T89" fmla="*/ 0 h 3"/>
              <a:gd name="T90" fmla="*/ 106 w 120"/>
              <a:gd name="T91" fmla="*/ 0 h 3"/>
              <a:gd name="T92" fmla="*/ 118 w 120"/>
              <a:gd name="T93" fmla="*/ 0 h 3"/>
              <a:gd name="T94" fmla="*/ 120 w 120"/>
              <a:gd name="T95" fmla="*/ 2 h 3"/>
              <a:gd name="T96" fmla="*/ 120 w 120"/>
              <a:gd name="T97" fmla="*/ 2 h 3"/>
              <a:gd name="T98" fmla="*/ 118 w 120"/>
              <a:gd name="T99" fmla="*/ 3 h 3"/>
              <a:gd name="T100" fmla="*/ 106 w 120"/>
              <a:gd name="T101" fmla="*/ 3 h 3"/>
              <a:gd name="T102" fmla="*/ 105 w 120"/>
              <a:gd name="T103" fmla="*/ 2 h 3"/>
              <a:gd name="T104" fmla="*/ 105 w 120"/>
              <a:gd name="T105" fmla="*/ 2 h 3"/>
              <a:gd name="T106" fmla="*/ 106 w 120"/>
              <a:gd name="T107" fmla="*/ 0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0" h="3">
                <a:moveTo>
                  <a:pt x="1" y="0"/>
                </a:moveTo>
                <a:cubicBezTo>
                  <a:pt x="5" y="0"/>
                  <a:pt x="9" y="0"/>
                  <a:pt x="13" y="0"/>
                </a:cubicBezTo>
                <a:cubicBezTo>
                  <a:pt x="14" y="0"/>
                  <a:pt x="15" y="1"/>
                  <a:pt x="15" y="2"/>
                </a:cubicBezTo>
                <a:cubicBezTo>
                  <a:pt x="15" y="2"/>
                  <a:pt x="15" y="2"/>
                  <a:pt x="15" y="2"/>
                </a:cubicBezTo>
                <a:cubicBezTo>
                  <a:pt x="15" y="3"/>
                  <a:pt x="14" y="3"/>
                  <a:pt x="13" y="3"/>
                </a:cubicBezTo>
                <a:cubicBezTo>
                  <a:pt x="9" y="3"/>
                  <a:pt x="5" y="3"/>
                  <a:pt x="1" y="3"/>
                </a:cubicBezTo>
                <a:cubicBezTo>
                  <a:pt x="0" y="3"/>
                  <a:pt x="0" y="3"/>
                  <a:pt x="0" y="2"/>
                </a:cubicBezTo>
                <a:cubicBezTo>
                  <a:pt x="0" y="2"/>
                  <a:pt x="0" y="2"/>
                  <a:pt x="0" y="2"/>
                </a:cubicBezTo>
                <a:cubicBezTo>
                  <a:pt x="0" y="1"/>
                  <a:pt x="0" y="0"/>
                  <a:pt x="1" y="0"/>
                </a:cubicBezTo>
                <a:close/>
                <a:moveTo>
                  <a:pt x="22" y="0"/>
                </a:moveTo>
                <a:cubicBezTo>
                  <a:pt x="26" y="0"/>
                  <a:pt x="30" y="0"/>
                  <a:pt x="34" y="0"/>
                </a:cubicBezTo>
                <a:cubicBezTo>
                  <a:pt x="35" y="0"/>
                  <a:pt x="36" y="1"/>
                  <a:pt x="36" y="2"/>
                </a:cubicBezTo>
                <a:cubicBezTo>
                  <a:pt x="36" y="2"/>
                  <a:pt x="36" y="2"/>
                  <a:pt x="36" y="2"/>
                </a:cubicBezTo>
                <a:cubicBezTo>
                  <a:pt x="36" y="3"/>
                  <a:pt x="35" y="3"/>
                  <a:pt x="34" y="3"/>
                </a:cubicBezTo>
                <a:cubicBezTo>
                  <a:pt x="30" y="3"/>
                  <a:pt x="26" y="3"/>
                  <a:pt x="22" y="3"/>
                </a:cubicBezTo>
                <a:cubicBezTo>
                  <a:pt x="21" y="3"/>
                  <a:pt x="21" y="3"/>
                  <a:pt x="21" y="2"/>
                </a:cubicBezTo>
                <a:cubicBezTo>
                  <a:pt x="21" y="2"/>
                  <a:pt x="21" y="2"/>
                  <a:pt x="21" y="2"/>
                </a:cubicBezTo>
                <a:cubicBezTo>
                  <a:pt x="21" y="1"/>
                  <a:pt x="21" y="0"/>
                  <a:pt x="22" y="0"/>
                </a:cubicBezTo>
                <a:close/>
                <a:moveTo>
                  <a:pt x="43" y="0"/>
                </a:moveTo>
                <a:cubicBezTo>
                  <a:pt x="47" y="0"/>
                  <a:pt x="51" y="0"/>
                  <a:pt x="55" y="0"/>
                </a:cubicBezTo>
                <a:cubicBezTo>
                  <a:pt x="56" y="0"/>
                  <a:pt x="57" y="1"/>
                  <a:pt x="57" y="2"/>
                </a:cubicBezTo>
                <a:cubicBezTo>
                  <a:pt x="57" y="2"/>
                  <a:pt x="57" y="2"/>
                  <a:pt x="57" y="2"/>
                </a:cubicBezTo>
                <a:cubicBezTo>
                  <a:pt x="57" y="3"/>
                  <a:pt x="56" y="3"/>
                  <a:pt x="55" y="3"/>
                </a:cubicBezTo>
                <a:cubicBezTo>
                  <a:pt x="51" y="3"/>
                  <a:pt x="47" y="3"/>
                  <a:pt x="43" y="3"/>
                </a:cubicBezTo>
                <a:cubicBezTo>
                  <a:pt x="42" y="3"/>
                  <a:pt x="42" y="3"/>
                  <a:pt x="42" y="2"/>
                </a:cubicBezTo>
                <a:cubicBezTo>
                  <a:pt x="42" y="2"/>
                  <a:pt x="42" y="2"/>
                  <a:pt x="42" y="2"/>
                </a:cubicBezTo>
                <a:cubicBezTo>
                  <a:pt x="42" y="1"/>
                  <a:pt x="42" y="0"/>
                  <a:pt x="43" y="0"/>
                </a:cubicBezTo>
                <a:close/>
                <a:moveTo>
                  <a:pt x="64" y="0"/>
                </a:moveTo>
                <a:cubicBezTo>
                  <a:pt x="68" y="0"/>
                  <a:pt x="72" y="0"/>
                  <a:pt x="76" y="0"/>
                </a:cubicBezTo>
                <a:cubicBezTo>
                  <a:pt x="77" y="0"/>
                  <a:pt x="78" y="1"/>
                  <a:pt x="78" y="2"/>
                </a:cubicBezTo>
                <a:cubicBezTo>
                  <a:pt x="78" y="2"/>
                  <a:pt x="78" y="2"/>
                  <a:pt x="78" y="2"/>
                </a:cubicBezTo>
                <a:cubicBezTo>
                  <a:pt x="78" y="3"/>
                  <a:pt x="77" y="3"/>
                  <a:pt x="76" y="3"/>
                </a:cubicBezTo>
                <a:cubicBezTo>
                  <a:pt x="72" y="3"/>
                  <a:pt x="68" y="3"/>
                  <a:pt x="64" y="3"/>
                </a:cubicBezTo>
                <a:cubicBezTo>
                  <a:pt x="63" y="3"/>
                  <a:pt x="63" y="3"/>
                  <a:pt x="63" y="2"/>
                </a:cubicBezTo>
                <a:cubicBezTo>
                  <a:pt x="63" y="2"/>
                  <a:pt x="63" y="2"/>
                  <a:pt x="63" y="2"/>
                </a:cubicBezTo>
                <a:cubicBezTo>
                  <a:pt x="63" y="1"/>
                  <a:pt x="63" y="0"/>
                  <a:pt x="64" y="0"/>
                </a:cubicBezTo>
                <a:close/>
                <a:moveTo>
                  <a:pt x="85" y="0"/>
                </a:moveTo>
                <a:cubicBezTo>
                  <a:pt x="89" y="0"/>
                  <a:pt x="93" y="0"/>
                  <a:pt x="97" y="0"/>
                </a:cubicBezTo>
                <a:cubicBezTo>
                  <a:pt x="98" y="0"/>
                  <a:pt x="99" y="1"/>
                  <a:pt x="99" y="2"/>
                </a:cubicBezTo>
                <a:cubicBezTo>
                  <a:pt x="99" y="2"/>
                  <a:pt x="99" y="2"/>
                  <a:pt x="99" y="2"/>
                </a:cubicBezTo>
                <a:cubicBezTo>
                  <a:pt x="99" y="3"/>
                  <a:pt x="98" y="3"/>
                  <a:pt x="97" y="3"/>
                </a:cubicBezTo>
                <a:cubicBezTo>
                  <a:pt x="93" y="3"/>
                  <a:pt x="89" y="3"/>
                  <a:pt x="85" y="3"/>
                </a:cubicBezTo>
                <a:cubicBezTo>
                  <a:pt x="84" y="3"/>
                  <a:pt x="84" y="3"/>
                  <a:pt x="84" y="2"/>
                </a:cubicBezTo>
                <a:cubicBezTo>
                  <a:pt x="84" y="2"/>
                  <a:pt x="84" y="2"/>
                  <a:pt x="84" y="2"/>
                </a:cubicBezTo>
                <a:cubicBezTo>
                  <a:pt x="84" y="1"/>
                  <a:pt x="84" y="0"/>
                  <a:pt x="85" y="0"/>
                </a:cubicBezTo>
                <a:close/>
                <a:moveTo>
                  <a:pt x="106" y="0"/>
                </a:moveTo>
                <a:cubicBezTo>
                  <a:pt x="110" y="0"/>
                  <a:pt x="114" y="0"/>
                  <a:pt x="118" y="0"/>
                </a:cubicBezTo>
                <a:cubicBezTo>
                  <a:pt x="119" y="0"/>
                  <a:pt x="120" y="1"/>
                  <a:pt x="120" y="2"/>
                </a:cubicBezTo>
                <a:cubicBezTo>
                  <a:pt x="120" y="2"/>
                  <a:pt x="120" y="2"/>
                  <a:pt x="120" y="2"/>
                </a:cubicBezTo>
                <a:cubicBezTo>
                  <a:pt x="120" y="3"/>
                  <a:pt x="119" y="3"/>
                  <a:pt x="118" y="3"/>
                </a:cubicBezTo>
                <a:cubicBezTo>
                  <a:pt x="114" y="3"/>
                  <a:pt x="110" y="3"/>
                  <a:pt x="106" y="3"/>
                </a:cubicBezTo>
                <a:cubicBezTo>
                  <a:pt x="105" y="3"/>
                  <a:pt x="105" y="3"/>
                  <a:pt x="105" y="2"/>
                </a:cubicBezTo>
                <a:cubicBezTo>
                  <a:pt x="105" y="2"/>
                  <a:pt x="105" y="2"/>
                  <a:pt x="105" y="2"/>
                </a:cubicBezTo>
                <a:cubicBezTo>
                  <a:pt x="105" y="1"/>
                  <a:pt x="105" y="0"/>
                  <a:pt x="106" y="0"/>
                </a:cubicBezTo>
                <a:close/>
              </a:path>
            </a:pathLst>
          </a:custGeom>
          <a:solidFill>
            <a:srgbClr val="FAD1B7"/>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 name="Freeform 23"/>
          <p:cNvSpPr/>
          <p:nvPr/>
        </p:nvSpPr>
        <p:spPr bwMode="auto">
          <a:xfrm>
            <a:off x="769938" y="809628"/>
            <a:ext cx="498475" cy="1430338"/>
          </a:xfrm>
          <a:custGeom>
            <a:avLst/>
            <a:gdLst>
              <a:gd name="T0" fmla="*/ 0 w 314"/>
              <a:gd name="T1" fmla="*/ 0 h 901"/>
              <a:gd name="T2" fmla="*/ 314 w 314"/>
              <a:gd name="T3" fmla="*/ 299 h 901"/>
              <a:gd name="T4" fmla="*/ 314 w 314"/>
              <a:gd name="T5" fmla="*/ 901 h 901"/>
              <a:gd name="T6" fmla="*/ 0 w 314"/>
              <a:gd name="T7" fmla="*/ 602 h 901"/>
              <a:gd name="T8" fmla="*/ 0 w 314"/>
              <a:gd name="T9" fmla="*/ 0 h 901"/>
              <a:gd name="T10" fmla="*/ 0 w 314"/>
              <a:gd name="T11" fmla="*/ 0 h 901"/>
            </a:gdLst>
            <a:ahLst/>
            <a:cxnLst>
              <a:cxn ang="0">
                <a:pos x="T0" y="T1"/>
              </a:cxn>
              <a:cxn ang="0">
                <a:pos x="T2" y="T3"/>
              </a:cxn>
              <a:cxn ang="0">
                <a:pos x="T4" y="T5"/>
              </a:cxn>
              <a:cxn ang="0">
                <a:pos x="T6" y="T7"/>
              </a:cxn>
              <a:cxn ang="0">
                <a:pos x="T8" y="T9"/>
              </a:cxn>
              <a:cxn ang="0">
                <a:pos x="T10" y="T11"/>
              </a:cxn>
            </a:cxnLst>
            <a:rect l="0" t="0" r="r" b="b"/>
            <a:pathLst>
              <a:path w="314" h="901">
                <a:moveTo>
                  <a:pt x="0" y="0"/>
                </a:moveTo>
                <a:lnTo>
                  <a:pt x="314" y="299"/>
                </a:lnTo>
                <a:lnTo>
                  <a:pt x="314" y="901"/>
                </a:lnTo>
                <a:lnTo>
                  <a:pt x="0" y="602"/>
                </a:lnTo>
                <a:lnTo>
                  <a:pt x="0" y="0"/>
                </a:lnTo>
                <a:lnTo>
                  <a:pt x="0" y="0"/>
                </a:lnTo>
                <a:close/>
              </a:path>
            </a:pathLst>
          </a:custGeom>
          <a:solidFill>
            <a:srgbClr val="CD4019"/>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 name="Freeform 24"/>
          <p:cNvSpPr>
            <a:spLocks noEditPoints="1"/>
          </p:cNvSpPr>
          <p:nvPr/>
        </p:nvSpPr>
        <p:spPr bwMode="auto">
          <a:xfrm>
            <a:off x="769938" y="1631953"/>
            <a:ext cx="498475" cy="515938"/>
          </a:xfrm>
          <a:custGeom>
            <a:avLst/>
            <a:gdLst>
              <a:gd name="T0" fmla="*/ 60 w 60"/>
              <a:gd name="T1" fmla="*/ 57 h 62"/>
              <a:gd name="T2" fmla="*/ 60 w 60"/>
              <a:gd name="T3" fmla="*/ 62 h 62"/>
              <a:gd name="T4" fmla="*/ 53 w 60"/>
              <a:gd name="T5" fmla="*/ 56 h 62"/>
              <a:gd name="T6" fmla="*/ 53 w 60"/>
              <a:gd name="T7" fmla="*/ 54 h 62"/>
              <a:gd name="T8" fmla="*/ 53 w 60"/>
              <a:gd name="T9" fmla="*/ 54 h 62"/>
              <a:gd name="T10" fmla="*/ 56 w 60"/>
              <a:gd name="T11" fmla="*/ 54 h 62"/>
              <a:gd name="T12" fmla="*/ 60 w 60"/>
              <a:gd name="T13" fmla="*/ 57 h 62"/>
              <a:gd name="T14" fmla="*/ 0 w 60"/>
              <a:gd name="T15" fmla="*/ 5 h 62"/>
              <a:gd name="T16" fmla="*/ 0 w 60"/>
              <a:gd name="T17" fmla="*/ 0 h 62"/>
              <a:gd name="T18" fmla="*/ 3 w 60"/>
              <a:gd name="T19" fmla="*/ 4 h 62"/>
              <a:gd name="T20" fmla="*/ 4 w 60"/>
              <a:gd name="T21" fmla="*/ 6 h 62"/>
              <a:gd name="T22" fmla="*/ 4 w 60"/>
              <a:gd name="T23" fmla="*/ 6 h 62"/>
              <a:gd name="T24" fmla="*/ 1 w 60"/>
              <a:gd name="T25" fmla="*/ 6 h 62"/>
              <a:gd name="T26" fmla="*/ 0 w 60"/>
              <a:gd name="T27" fmla="*/ 5 h 62"/>
              <a:gd name="T28" fmla="*/ 10 w 60"/>
              <a:gd name="T29" fmla="*/ 10 h 62"/>
              <a:gd name="T30" fmla="*/ 19 w 60"/>
              <a:gd name="T31" fmla="*/ 18 h 62"/>
              <a:gd name="T32" fmla="*/ 19 w 60"/>
              <a:gd name="T33" fmla="*/ 21 h 62"/>
              <a:gd name="T34" fmla="*/ 19 w 60"/>
              <a:gd name="T35" fmla="*/ 21 h 62"/>
              <a:gd name="T36" fmla="*/ 16 w 60"/>
              <a:gd name="T37" fmla="*/ 21 h 62"/>
              <a:gd name="T38" fmla="*/ 8 w 60"/>
              <a:gd name="T39" fmla="*/ 13 h 62"/>
              <a:gd name="T40" fmla="*/ 8 w 60"/>
              <a:gd name="T41" fmla="*/ 10 h 62"/>
              <a:gd name="T42" fmla="*/ 8 w 60"/>
              <a:gd name="T43" fmla="*/ 10 h 62"/>
              <a:gd name="T44" fmla="*/ 10 w 60"/>
              <a:gd name="T45" fmla="*/ 10 h 62"/>
              <a:gd name="T46" fmla="*/ 25 w 60"/>
              <a:gd name="T47" fmla="*/ 25 h 62"/>
              <a:gd name="T48" fmla="*/ 34 w 60"/>
              <a:gd name="T49" fmla="*/ 33 h 62"/>
              <a:gd name="T50" fmla="*/ 34 w 60"/>
              <a:gd name="T51" fmla="*/ 35 h 62"/>
              <a:gd name="T52" fmla="*/ 34 w 60"/>
              <a:gd name="T53" fmla="*/ 35 h 62"/>
              <a:gd name="T54" fmla="*/ 32 w 60"/>
              <a:gd name="T55" fmla="*/ 35 h 62"/>
              <a:gd name="T56" fmla="*/ 23 w 60"/>
              <a:gd name="T57" fmla="*/ 27 h 62"/>
              <a:gd name="T58" fmla="*/ 23 w 60"/>
              <a:gd name="T59" fmla="*/ 25 h 62"/>
              <a:gd name="T60" fmla="*/ 23 w 60"/>
              <a:gd name="T61" fmla="*/ 25 h 62"/>
              <a:gd name="T62" fmla="*/ 25 w 60"/>
              <a:gd name="T63" fmla="*/ 25 h 62"/>
              <a:gd name="T64" fmla="*/ 41 w 60"/>
              <a:gd name="T65" fmla="*/ 39 h 62"/>
              <a:gd name="T66" fmla="*/ 49 w 60"/>
              <a:gd name="T67" fmla="*/ 47 h 62"/>
              <a:gd name="T68" fmla="*/ 49 w 60"/>
              <a:gd name="T69" fmla="*/ 50 h 62"/>
              <a:gd name="T70" fmla="*/ 49 w 60"/>
              <a:gd name="T71" fmla="*/ 50 h 62"/>
              <a:gd name="T72" fmla="*/ 47 w 60"/>
              <a:gd name="T73" fmla="*/ 50 h 62"/>
              <a:gd name="T74" fmla="*/ 38 w 60"/>
              <a:gd name="T75" fmla="*/ 42 h 62"/>
              <a:gd name="T76" fmla="*/ 38 w 60"/>
              <a:gd name="T77" fmla="*/ 39 h 62"/>
              <a:gd name="T78" fmla="*/ 38 w 60"/>
              <a:gd name="T79" fmla="*/ 39 h 62"/>
              <a:gd name="T80" fmla="*/ 41 w 60"/>
              <a:gd name="T81" fmla="*/ 39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0" h="62">
                <a:moveTo>
                  <a:pt x="60" y="57"/>
                </a:moveTo>
                <a:cubicBezTo>
                  <a:pt x="60" y="62"/>
                  <a:pt x="60" y="62"/>
                  <a:pt x="60" y="62"/>
                </a:cubicBezTo>
                <a:cubicBezTo>
                  <a:pt x="58" y="60"/>
                  <a:pt x="56" y="58"/>
                  <a:pt x="53" y="56"/>
                </a:cubicBezTo>
                <a:cubicBezTo>
                  <a:pt x="53" y="56"/>
                  <a:pt x="53" y="55"/>
                  <a:pt x="53" y="54"/>
                </a:cubicBezTo>
                <a:cubicBezTo>
                  <a:pt x="53" y="54"/>
                  <a:pt x="53" y="54"/>
                  <a:pt x="53" y="54"/>
                </a:cubicBezTo>
                <a:cubicBezTo>
                  <a:pt x="54" y="53"/>
                  <a:pt x="55" y="53"/>
                  <a:pt x="56" y="54"/>
                </a:cubicBezTo>
                <a:cubicBezTo>
                  <a:pt x="57" y="55"/>
                  <a:pt x="58" y="56"/>
                  <a:pt x="60" y="57"/>
                </a:cubicBezTo>
                <a:close/>
                <a:moveTo>
                  <a:pt x="0" y="5"/>
                </a:moveTo>
                <a:cubicBezTo>
                  <a:pt x="0" y="0"/>
                  <a:pt x="0" y="0"/>
                  <a:pt x="0" y="0"/>
                </a:cubicBezTo>
                <a:cubicBezTo>
                  <a:pt x="1" y="2"/>
                  <a:pt x="2" y="3"/>
                  <a:pt x="3" y="4"/>
                </a:cubicBezTo>
                <a:cubicBezTo>
                  <a:pt x="4" y="5"/>
                  <a:pt x="4" y="6"/>
                  <a:pt x="4" y="6"/>
                </a:cubicBezTo>
                <a:cubicBezTo>
                  <a:pt x="4" y="6"/>
                  <a:pt x="4" y="6"/>
                  <a:pt x="4" y="6"/>
                </a:cubicBezTo>
                <a:cubicBezTo>
                  <a:pt x="3" y="7"/>
                  <a:pt x="2" y="7"/>
                  <a:pt x="1" y="6"/>
                </a:cubicBezTo>
                <a:cubicBezTo>
                  <a:pt x="1" y="6"/>
                  <a:pt x="0" y="5"/>
                  <a:pt x="0" y="5"/>
                </a:cubicBezTo>
                <a:close/>
                <a:moveTo>
                  <a:pt x="10" y="10"/>
                </a:moveTo>
                <a:cubicBezTo>
                  <a:pt x="13" y="13"/>
                  <a:pt x="16" y="16"/>
                  <a:pt x="19" y="18"/>
                </a:cubicBezTo>
                <a:cubicBezTo>
                  <a:pt x="19" y="19"/>
                  <a:pt x="19" y="20"/>
                  <a:pt x="19" y="21"/>
                </a:cubicBezTo>
                <a:cubicBezTo>
                  <a:pt x="19" y="21"/>
                  <a:pt x="19" y="21"/>
                  <a:pt x="19" y="21"/>
                </a:cubicBezTo>
                <a:cubicBezTo>
                  <a:pt x="18" y="21"/>
                  <a:pt x="17" y="22"/>
                  <a:pt x="16" y="21"/>
                </a:cubicBezTo>
                <a:cubicBezTo>
                  <a:pt x="14" y="18"/>
                  <a:pt x="11" y="15"/>
                  <a:pt x="8" y="13"/>
                </a:cubicBezTo>
                <a:cubicBezTo>
                  <a:pt x="7" y="12"/>
                  <a:pt x="7" y="11"/>
                  <a:pt x="8" y="10"/>
                </a:cubicBezTo>
                <a:cubicBezTo>
                  <a:pt x="8" y="10"/>
                  <a:pt x="8" y="10"/>
                  <a:pt x="8" y="10"/>
                </a:cubicBezTo>
                <a:cubicBezTo>
                  <a:pt x="8" y="10"/>
                  <a:pt x="9" y="10"/>
                  <a:pt x="10" y="10"/>
                </a:cubicBezTo>
                <a:close/>
                <a:moveTo>
                  <a:pt x="25" y="25"/>
                </a:moveTo>
                <a:cubicBezTo>
                  <a:pt x="28" y="28"/>
                  <a:pt x="31" y="30"/>
                  <a:pt x="34" y="33"/>
                </a:cubicBezTo>
                <a:cubicBezTo>
                  <a:pt x="35" y="34"/>
                  <a:pt x="35" y="35"/>
                  <a:pt x="34" y="35"/>
                </a:cubicBezTo>
                <a:cubicBezTo>
                  <a:pt x="34" y="35"/>
                  <a:pt x="34" y="35"/>
                  <a:pt x="34" y="35"/>
                </a:cubicBezTo>
                <a:cubicBezTo>
                  <a:pt x="33" y="36"/>
                  <a:pt x="32" y="36"/>
                  <a:pt x="32" y="35"/>
                </a:cubicBezTo>
                <a:cubicBezTo>
                  <a:pt x="29" y="33"/>
                  <a:pt x="26" y="30"/>
                  <a:pt x="23" y="27"/>
                </a:cubicBezTo>
                <a:cubicBezTo>
                  <a:pt x="22" y="27"/>
                  <a:pt x="22" y="26"/>
                  <a:pt x="23" y="25"/>
                </a:cubicBezTo>
                <a:cubicBezTo>
                  <a:pt x="23" y="25"/>
                  <a:pt x="23" y="25"/>
                  <a:pt x="23" y="25"/>
                </a:cubicBezTo>
                <a:cubicBezTo>
                  <a:pt x="24" y="24"/>
                  <a:pt x="25" y="24"/>
                  <a:pt x="25" y="25"/>
                </a:cubicBezTo>
                <a:close/>
                <a:moveTo>
                  <a:pt x="41" y="39"/>
                </a:moveTo>
                <a:cubicBezTo>
                  <a:pt x="43" y="42"/>
                  <a:pt x="46" y="45"/>
                  <a:pt x="49" y="47"/>
                </a:cubicBezTo>
                <a:cubicBezTo>
                  <a:pt x="50" y="48"/>
                  <a:pt x="50" y="49"/>
                  <a:pt x="49" y="50"/>
                </a:cubicBezTo>
                <a:cubicBezTo>
                  <a:pt x="49" y="50"/>
                  <a:pt x="49" y="50"/>
                  <a:pt x="49" y="50"/>
                </a:cubicBezTo>
                <a:cubicBezTo>
                  <a:pt x="48" y="50"/>
                  <a:pt x="47" y="50"/>
                  <a:pt x="47" y="50"/>
                </a:cubicBezTo>
                <a:cubicBezTo>
                  <a:pt x="44" y="47"/>
                  <a:pt x="41" y="44"/>
                  <a:pt x="38" y="42"/>
                </a:cubicBezTo>
                <a:cubicBezTo>
                  <a:pt x="38" y="41"/>
                  <a:pt x="38" y="40"/>
                  <a:pt x="38" y="39"/>
                </a:cubicBezTo>
                <a:cubicBezTo>
                  <a:pt x="38" y="39"/>
                  <a:pt x="38" y="39"/>
                  <a:pt x="38" y="39"/>
                </a:cubicBezTo>
                <a:cubicBezTo>
                  <a:pt x="39" y="39"/>
                  <a:pt x="40" y="39"/>
                  <a:pt x="41" y="39"/>
                </a:cubicBezTo>
                <a:close/>
              </a:path>
            </a:pathLst>
          </a:custGeom>
          <a:solidFill>
            <a:srgbClr val="E84A1F"/>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 name="Freeform 26"/>
          <p:cNvSpPr/>
          <p:nvPr/>
        </p:nvSpPr>
        <p:spPr bwMode="auto">
          <a:xfrm>
            <a:off x="1077913" y="909640"/>
            <a:ext cx="1736725" cy="955675"/>
          </a:xfrm>
          <a:custGeom>
            <a:avLst/>
            <a:gdLst>
              <a:gd name="T0" fmla="*/ 0 w 1094"/>
              <a:gd name="T1" fmla="*/ 0 h 602"/>
              <a:gd name="T2" fmla="*/ 911 w 1094"/>
              <a:gd name="T3" fmla="*/ 0 h 602"/>
              <a:gd name="T4" fmla="*/ 1094 w 1094"/>
              <a:gd name="T5" fmla="*/ 304 h 602"/>
              <a:gd name="T6" fmla="*/ 911 w 1094"/>
              <a:gd name="T7" fmla="*/ 602 h 602"/>
              <a:gd name="T8" fmla="*/ 0 w 1094"/>
              <a:gd name="T9" fmla="*/ 602 h 602"/>
              <a:gd name="T10" fmla="*/ 0 w 1094"/>
              <a:gd name="T11" fmla="*/ 0 h 602"/>
              <a:gd name="T12" fmla="*/ 0 w 1094"/>
              <a:gd name="T13" fmla="*/ 0 h 602"/>
            </a:gdLst>
            <a:ahLst/>
            <a:cxnLst>
              <a:cxn ang="0">
                <a:pos x="T0" y="T1"/>
              </a:cxn>
              <a:cxn ang="0">
                <a:pos x="T2" y="T3"/>
              </a:cxn>
              <a:cxn ang="0">
                <a:pos x="T4" y="T5"/>
              </a:cxn>
              <a:cxn ang="0">
                <a:pos x="T6" y="T7"/>
              </a:cxn>
              <a:cxn ang="0">
                <a:pos x="T8" y="T9"/>
              </a:cxn>
              <a:cxn ang="0">
                <a:pos x="T10" y="T11"/>
              </a:cxn>
              <a:cxn ang="0">
                <a:pos x="T12" y="T13"/>
              </a:cxn>
            </a:cxnLst>
            <a:rect l="0" t="0" r="r" b="b"/>
            <a:pathLst>
              <a:path w="1094" h="602">
                <a:moveTo>
                  <a:pt x="0" y="0"/>
                </a:moveTo>
                <a:lnTo>
                  <a:pt x="911" y="0"/>
                </a:lnTo>
                <a:lnTo>
                  <a:pt x="1094" y="304"/>
                </a:lnTo>
                <a:lnTo>
                  <a:pt x="911" y="602"/>
                </a:lnTo>
                <a:lnTo>
                  <a:pt x="0" y="602"/>
                </a:lnTo>
                <a:lnTo>
                  <a:pt x="0" y="0"/>
                </a:lnTo>
                <a:lnTo>
                  <a:pt x="0" y="0"/>
                </a:lnTo>
                <a:close/>
              </a:path>
            </a:pathLst>
          </a:custGeom>
          <a:solidFill>
            <a:srgbClr val="C9CACA"/>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 name="Freeform 27"/>
          <p:cNvSpPr/>
          <p:nvPr/>
        </p:nvSpPr>
        <p:spPr bwMode="auto">
          <a:xfrm>
            <a:off x="769938" y="809628"/>
            <a:ext cx="1954212" cy="955675"/>
          </a:xfrm>
          <a:custGeom>
            <a:avLst/>
            <a:gdLst>
              <a:gd name="T0" fmla="*/ 0 w 1231"/>
              <a:gd name="T1" fmla="*/ 0 h 602"/>
              <a:gd name="T2" fmla="*/ 1047 w 1231"/>
              <a:gd name="T3" fmla="*/ 0 h 602"/>
              <a:gd name="T4" fmla="*/ 1231 w 1231"/>
              <a:gd name="T5" fmla="*/ 299 h 602"/>
              <a:gd name="T6" fmla="*/ 1047 w 1231"/>
              <a:gd name="T7" fmla="*/ 602 h 602"/>
              <a:gd name="T8" fmla="*/ 0 w 1231"/>
              <a:gd name="T9" fmla="*/ 602 h 602"/>
              <a:gd name="T10" fmla="*/ 0 w 1231"/>
              <a:gd name="T11" fmla="*/ 0 h 602"/>
              <a:gd name="T12" fmla="*/ 0 w 1231"/>
              <a:gd name="T13" fmla="*/ 0 h 602"/>
            </a:gdLst>
            <a:ahLst/>
            <a:cxnLst>
              <a:cxn ang="0">
                <a:pos x="T0" y="T1"/>
              </a:cxn>
              <a:cxn ang="0">
                <a:pos x="T2" y="T3"/>
              </a:cxn>
              <a:cxn ang="0">
                <a:pos x="T4" y="T5"/>
              </a:cxn>
              <a:cxn ang="0">
                <a:pos x="T6" y="T7"/>
              </a:cxn>
              <a:cxn ang="0">
                <a:pos x="T8" y="T9"/>
              </a:cxn>
              <a:cxn ang="0">
                <a:pos x="T10" y="T11"/>
              </a:cxn>
              <a:cxn ang="0">
                <a:pos x="T12" y="T13"/>
              </a:cxn>
            </a:cxnLst>
            <a:rect l="0" t="0" r="r" b="b"/>
            <a:pathLst>
              <a:path w="1231" h="602">
                <a:moveTo>
                  <a:pt x="0" y="0"/>
                </a:moveTo>
                <a:lnTo>
                  <a:pt x="1047" y="0"/>
                </a:lnTo>
                <a:lnTo>
                  <a:pt x="1231" y="299"/>
                </a:lnTo>
                <a:lnTo>
                  <a:pt x="1047" y="602"/>
                </a:lnTo>
                <a:lnTo>
                  <a:pt x="0" y="602"/>
                </a:lnTo>
                <a:lnTo>
                  <a:pt x="0" y="0"/>
                </a:lnTo>
                <a:lnTo>
                  <a:pt x="0" y="0"/>
                </a:lnTo>
                <a:close/>
              </a:path>
            </a:pathLst>
          </a:custGeom>
          <a:solidFill>
            <a:srgbClr val="E84A1F"/>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 name="Freeform 28"/>
          <p:cNvSpPr>
            <a:spLocks noEditPoints="1"/>
          </p:cNvSpPr>
          <p:nvPr/>
        </p:nvSpPr>
        <p:spPr bwMode="auto">
          <a:xfrm>
            <a:off x="769938" y="1333503"/>
            <a:ext cx="1836737" cy="365125"/>
          </a:xfrm>
          <a:custGeom>
            <a:avLst/>
            <a:gdLst>
              <a:gd name="T0" fmla="*/ 30 w 221"/>
              <a:gd name="T1" fmla="*/ 44 h 44"/>
              <a:gd name="T2" fmla="*/ 32 w 221"/>
              <a:gd name="T3" fmla="*/ 43 h 44"/>
              <a:gd name="T4" fmla="*/ 19 w 221"/>
              <a:gd name="T5" fmla="*/ 41 h 44"/>
              <a:gd name="T6" fmla="*/ 17 w 221"/>
              <a:gd name="T7" fmla="*/ 43 h 44"/>
              <a:gd name="T8" fmla="*/ 196 w 221"/>
              <a:gd name="T9" fmla="*/ 43 h 44"/>
              <a:gd name="T10" fmla="*/ 198 w 221"/>
              <a:gd name="T11" fmla="*/ 37 h 44"/>
              <a:gd name="T12" fmla="*/ 195 w 221"/>
              <a:gd name="T13" fmla="*/ 37 h 44"/>
              <a:gd name="T14" fmla="*/ 186 w 221"/>
              <a:gd name="T15" fmla="*/ 41 h 44"/>
              <a:gd name="T16" fmla="*/ 185 w 221"/>
              <a:gd name="T17" fmla="*/ 43 h 44"/>
              <a:gd name="T18" fmla="*/ 194 w 221"/>
              <a:gd name="T19" fmla="*/ 44 h 44"/>
              <a:gd name="T20" fmla="*/ 217 w 221"/>
              <a:gd name="T21" fmla="*/ 1 h 44"/>
              <a:gd name="T22" fmla="*/ 212 w 221"/>
              <a:gd name="T23" fmla="*/ 14 h 44"/>
              <a:gd name="T24" fmla="*/ 214 w 221"/>
              <a:gd name="T25" fmla="*/ 13 h 44"/>
              <a:gd name="T26" fmla="*/ 219 w 221"/>
              <a:gd name="T27" fmla="*/ 1 h 44"/>
              <a:gd name="T28" fmla="*/ 217 w 221"/>
              <a:gd name="T29" fmla="*/ 1 h 44"/>
              <a:gd name="T30" fmla="*/ 200 w 221"/>
              <a:gd name="T31" fmla="*/ 29 h 44"/>
              <a:gd name="T32" fmla="*/ 201 w 221"/>
              <a:gd name="T33" fmla="*/ 32 h 44"/>
              <a:gd name="T34" fmla="*/ 209 w 221"/>
              <a:gd name="T35" fmla="*/ 21 h 44"/>
              <a:gd name="T36" fmla="*/ 209 w 221"/>
              <a:gd name="T37" fmla="*/ 19 h 44"/>
              <a:gd name="T38" fmla="*/ 0 w 221"/>
              <a:gd name="T39" fmla="*/ 41 h 44"/>
              <a:gd name="T40" fmla="*/ 8 w 221"/>
              <a:gd name="T41" fmla="*/ 44 h 44"/>
              <a:gd name="T42" fmla="*/ 10 w 221"/>
              <a:gd name="T43" fmla="*/ 43 h 44"/>
              <a:gd name="T44" fmla="*/ 0 w 221"/>
              <a:gd name="T45" fmla="*/ 41 h 44"/>
              <a:gd name="T46" fmla="*/ 51 w 221"/>
              <a:gd name="T47" fmla="*/ 44 h 44"/>
              <a:gd name="T48" fmla="*/ 53 w 221"/>
              <a:gd name="T49" fmla="*/ 43 h 44"/>
              <a:gd name="T50" fmla="*/ 40 w 221"/>
              <a:gd name="T51" fmla="*/ 41 h 44"/>
              <a:gd name="T52" fmla="*/ 38 w 221"/>
              <a:gd name="T53" fmla="*/ 43 h 44"/>
              <a:gd name="T54" fmla="*/ 60 w 221"/>
              <a:gd name="T55" fmla="*/ 44 h 44"/>
              <a:gd name="T56" fmla="*/ 74 w 221"/>
              <a:gd name="T57" fmla="*/ 43 h 44"/>
              <a:gd name="T58" fmla="*/ 72 w 221"/>
              <a:gd name="T59" fmla="*/ 41 h 44"/>
              <a:gd name="T60" fmla="*/ 59 w 221"/>
              <a:gd name="T61" fmla="*/ 43 h 44"/>
              <a:gd name="T62" fmla="*/ 60 w 221"/>
              <a:gd name="T63" fmla="*/ 44 h 44"/>
              <a:gd name="T64" fmla="*/ 93 w 221"/>
              <a:gd name="T65" fmla="*/ 44 h 44"/>
              <a:gd name="T66" fmla="*/ 95 w 221"/>
              <a:gd name="T67" fmla="*/ 43 h 44"/>
              <a:gd name="T68" fmla="*/ 81 w 221"/>
              <a:gd name="T69" fmla="*/ 41 h 44"/>
              <a:gd name="T70" fmla="*/ 80 w 221"/>
              <a:gd name="T71" fmla="*/ 43 h 44"/>
              <a:gd name="T72" fmla="*/ 102 w 221"/>
              <a:gd name="T73" fmla="*/ 44 h 44"/>
              <a:gd name="T74" fmla="*/ 116 w 221"/>
              <a:gd name="T75" fmla="*/ 43 h 44"/>
              <a:gd name="T76" fmla="*/ 114 w 221"/>
              <a:gd name="T77" fmla="*/ 41 h 44"/>
              <a:gd name="T78" fmla="*/ 101 w 221"/>
              <a:gd name="T79" fmla="*/ 43 h 44"/>
              <a:gd name="T80" fmla="*/ 102 w 221"/>
              <a:gd name="T81" fmla="*/ 44 h 44"/>
              <a:gd name="T82" fmla="*/ 135 w 221"/>
              <a:gd name="T83" fmla="*/ 44 h 44"/>
              <a:gd name="T84" fmla="*/ 137 w 221"/>
              <a:gd name="T85" fmla="*/ 43 h 44"/>
              <a:gd name="T86" fmla="*/ 123 w 221"/>
              <a:gd name="T87" fmla="*/ 41 h 44"/>
              <a:gd name="T88" fmla="*/ 122 w 221"/>
              <a:gd name="T89" fmla="*/ 43 h 44"/>
              <a:gd name="T90" fmla="*/ 144 w 221"/>
              <a:gd name="T91" fmla="*/ 44 h 44"/>
              <a:gd name="T92" fmla="*/ 158 w 221"/>
              <a:gd name="T93" fmla="*/ 43 h 44"/>
              <a:gd name="T94" fmla="*/ 156 w 221"/>
              <a:gd name="T95" fmla="*/ 41 h 44"/>
              <a:gd name="T96" fmla="*/ 143 w 221"/>
              <a:gd name="T97" fmla="*/ 43 h 44"/>
              <a:gd name="T98" fmla="*/ 144 w 221"/>
              <a:gd name="T99" fmla="*/ 44 h 44"/>
              <a:gd name="T100" fmla="*/ 177 w 221"/>
              <a:gd name="T101" fmla="*/ 44 h 44"/>
              <a:gd name="T102" fmla="*/ 179 w 221"/>
              <a:gd name="T103" fmla="*/ 43 h 44"/>
              <a:gd name="T104" fmla="*/ 165 w 221"/>
              <a:gd name="T105" fmla="*/ 41 h 44"/>
              <a:gd name="T106" fmla="*/ 164 w 221"/>
              <a:gd name="T107" fmla="*/ 43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21" h="44">
                <a:moveTo>
                  <a:pt x="19" y="44"/>
                </a:moveTo>
                <a:cubicBezTo>
                  <a:pt x="22" y="44"/>
                  <a:pt x="26" y="44"/>
                  <a:pt x="30" y="44"/>
                </a:cubicBezTo>
                <a:cubicBezTo>
                  <a:pt x="31" y="44"/>
                  <a:pt x="32" y="44"/>
                  <a:pt x="32" y="43"/>
                </a:cubicBezTo>
                <a:cubicBezTo>
                  <a:pt x="32" y="43"/>
                  <a:pt x="32" y="43"/>
                  <a:pt x="32" y="43"/>
                </a:cubicBezTo>
                <a:cubicBezTo>
                  <a:pt x="32" y="42"/>
                  <a:pt x="31" y="41"/>
                  <a:pt x="30" y="41"/>
                </a:cubicBezTo>
                <a:cubicBezTo>
                  <a:pt x="26" y="41"/>
                  <a:pt x="22" y="41"/>
                  <a:pt x="19" y="41"/>
                </a:cubicBezTo>
                <a:cubicBezTo>
                  <a:pt x="18" y="41"/>
                  <a:pt x="17" y="42"/>
                  <a:pt x="17" y="43"/>
                </a:cubicBezTo>
                <a:cubicBezTo>
                  <a:pt x="17" y="43"/>
                  <a:pt x="17" y="43"/>
                  <a:pt x="17" y="43"/>
                </a:cubicBezTo>
                <a:cubicBezTo>
                  <a:pt x="17" y="44"/>
                  <a:pt x="18" y="44"/>
                  <a:pt x="19" y="44"/>
                </a:cubicBezTo>
                <a:close/>
                <a:moveTo>
                  <a:pt x="196" y="43"/>
                </a:moveTo>
                <a:cubicBezTo>
                  <a:pt x="196" y="42"/>
                  <a:pt x="197" y="40"/>
                  <a:pt x="198" y="39"/>
                </a:cubicBezTo>
                <a:cubicBezTo>
                  <a:pt x="199" y="38"/>
                  <a:pt x="198" y="37"/>
                  <a:pt x="198" y="37"/>
                </a:cubicBezTo>
                <a:cubicBezTo>
                  <a:pt x="198" y="37"/>
                  <a:pt x="198" y="37"/>
                  <a:pt x="198" y="37"/>
                </a:cubicBezTo>
                <a:cubicBezTo>
                  <a:pt x="197" y="36"/>
                  <a:pt x="196" y="37"/>
                  <a:pt x="195" y="37"/>
                </a:cubicBezTo>
                <a:cubicBezTo>
                  <a:pt x="195" y="39"/>
                  <a:pt x="194" y="40"/>
                  <a:pt x="193" y="41"/>
                </a:cubicBezTo>
                <a:cubicBezTo>
                  <a:pt x="190" y="41"/>
                  <a:pt x="190" y="41"/>
                  <a:pt x="186" y="41"/>
                </a:cubicBezTo>
                <a:cubicBezTo>
                  <a:pt x="186" y="41"/>
                  <a:pt x="185" y="42"/>
                  <a:pt x="185" y="43"/>
                </a:cubicBezTo>
                <a:cubicBezTo>
                  <a:pt x="185" y="43"/>
                  <a:pt x="185" y="43"/>
                  <a:pt x="185" y="43"/>
                </a:cubicBezTo>
                <a:cubicBezTo>
                  <a:pt x="185" y="44"/>
                  <a:pt x="186" y="44"/>
                  <a:pt x="186" y="44"/>
                </a:cubicBezTo>
                <a:cubicBezTo>
                  <a:pt x="194" y="44"/>
                  <a:pt x="194" y="44"/>
                  <a:pt x="194" y="44"/>
                </a:cubicBezTo>
                <a:cubicBezTo>
                  <a:pt x="195" y="44"/>
                  <a:pt x="195" y="44"/>
                  <a:pt x="196" y="43"/>
                </a:cubicBezTo>
                <a:close/>
                <a:moveTo>
                  <a:pt x="217" y="1"/>
                </a:moveTo>
                <a:cubicBezTo>
                  <a:pt x="215" y="5"/>
                  <a:pt x="213" y="8"/>
                  <a:pt x="211" y="12"/>
                </a:cubicBezTo>
                <a:cubicBezTo>
                  <a:pt x="211" y="12"/>
                  <a:pt x="211" y="13"/>
                  <a:pt x="212" y="14"/>
                </a:cubicBezTo>
                <a:cubicBezTo>
                  <a:pt x="212" y="14"/>
                  <a:pt x="212" y="14"/>
                  <a:pt x="212" y="14"/>
                </a:cubicBezTo>
                <a:cubicBezTo>
                  <a:pt x="212" y="14"/>
                  <a:pt x="213" y="14"/>
                  <a:pt x="214" y="13"/>
                </a:cubicBezTo>
                <a:cubicBezTo>
                  <a:pt x="216" y="10"/>
                  <a:pt x="218" y="7"/>
                  <a:pt x="220" y="3"/>
                </a:cubicBezTo>
                <a:cubicBezTo>
                  <a:pt x="221" y="2"/>
                  <a:pt x="220" y="1"/>
                  <a:pt x="219" y="1"/>
                </a:cubicBezTo>
                <a:cubicBezTo>
                  <a:pt x="219" y="1"/>
                  <a:pt x="219" y="1"/>
                  <a:pt x="219" y="1"/>
                </a:cubicBezTo>
                <a:cubicBezTo>
                  <a:pt x="219" y="0"/>
                  <a:pt x="218" y="1"/>
                  <a:pt x="217" y="1"/>
                </a:cubicBezTo>
                <a:close/>
                <a:moveTo>
                  <a:pt x="206" y="19"/>
                </a:moveTo>
                <a:cubicBezTo>
                  <a:pt x="204" y="23"/>
                  <a:pt x="202" y="26"/>
                  <a:pt x="200" y="29"/>
                </a:cubicBezTo>
                <a:cubicBezTo>
                  <a:pt x="200" y="30"/>
                  <a:pt x="200" y="31"/>
                  <a:pt x="201" y="32"/>
                </a:cubicBezTo>
                <a:cubicBezTo>
                  <a:pt x="201" y="32"/>
                  <a:pt x="201" y="32"/>
                  <a:pt x="201" y="32"/>
                </a:cubicBezTo>
                <a:cubicBezTo>
                  <a:pt x="201" y="32"/>
                  <a:pt x="203" y="32"/>
                  <a:pt x="203" y="31"/>
                </a:cubicBezTo>
                <a:cubicBezTo>
                  <a:pt x="205" y="28"/>
                  <a:pt x="207" y="24"/>
                  <a:pt x="209" y="21"/>
                </a:cubicBezTo>
                <a:cubicBezTo>
                  <a:pt x="210" y="20"/>
                  <a:pt x="209" y="19"/>
                  <a:pt x="209" y="19"/>
                </a:cubicBezTo>
                <a:cubicBezTo>
                  <a:pt x="209" y="19"/>
                  <a:pt x="209" y="19"/>
                  <a:pt x="209" y="19"/>
                </a:cubicBezTo>
                <a:cubicBezTo>
                  <a:pt x="208" y="18"/>
                  <a:pt x="207" y="19"/>
                  <a:pt x="206" y="19"/>
                </a:cubicBezTo>
                <a:close/>
                <a:moveTo>
                  <a:pt x="0" y="41"/>
                </a:moveTo>
                <a:cubicBezTo>
                  <a:pt x="0" y="44"/>
                  <a:pt x="0" y="44"/>
                  <a:pt x="0" y="44"/>
                </a:cubicBezTo>
                <a:cubicBezTo>
                  <a:pt x="8" y="44"/>
                  <a:pt x="8" y="44"/>
                  <a:pt x="8" y="44"/>
                </a:cubicBezTo>
                <a:cubicBezTo>
                  <a:pt x="9" y="44"/>
                  <a:pt x="10" y="44"/>
                  <a:pt x="10" y="43"/>
                </a:cubicBezTo>
                <a:cubicBezTo>
                  <a:pt x="10" y="43"/>
                  <a:pt x="10" y="43"/>
                  <a:pt x="10" y="43"/>
                </a:cubicBezTo>
                <a:cubicBezTo>
                  <a:pt x="10" y="42"/>
                  <a:pt x="9" y="41"/>
                  <a:pt x="8" y="41"/>
                </a:cubicBezTo>
                <a:cubicBezTo>
                  <a:pt x="0" y="41"/>
                  <a:pt x="0" y="41"/>
                  <a:pt x="0" y="41"/>
                </a:cubicBezTo>
                <a:close/>
                <a:moveTo>
                  <a:pt x="40" y="44"/>
                </a:moveTo>
                <a:cubicBezTo>
                  <a:pt x="43" y="44"/>
                  <a:pt x="47" y="44"/>
                  <a:pt x="51" y="44"/>
                </a:cubicBezTo>
                <a:cubicBezTo>
                  <a:pt x="52" y="44"/>
                  <a:pt x="53" y="44"/>
                  <a:pt x="53" y="43"/>
                </a:cubicBezTo>
                <a:cubicBezTo>
                  <a:pt x="53" y="43"/>
                  <a:pt x="53" y="43"/>
                  <a:pt x="53" y="43"/>
                </a:cubicBezTo>
                <a:cubicBezTo>
                  <a:pt x="53" y="42"/>
                  <a:pt x="52" y="41"/>
                  <a:pt x="51" y="41"/>
                </a:cubicBezTo>
                <a:cubicBezTo>
                  <a:pt x="47" y="41"/>
                  <a:pt x="43" y="41"/>
                  <a:pt x="40" y="41"/>
                </a:cubicBezTo>
                <a:cubicBezTo>
                  <a:pt x="39" y="41"/>
                  <a:pt x="38" y="42"/>
                  <a:pt x="38" y="43"/>
                </a:cubicBezTo>
                <a:cubicBezTo>
                  <a:pt x="38" y="43"/>
                  <a:pt x="38" y="43"/>
                  <a:pt x="38" y="43"/>
                </a:cubicBezTo>
                <a:cubicBezTo>
                  <a:pt x="38" y="44"/>
                  <a:pt x="39" y="44"/>
                  <a:pt x="40" y="44"/>
                </a:cubicBezTo>
                <a:close/>
                <a:moveTo>
                  <a:pt x="60" y="44"/>
                </a:moveTo>
                <a:cubicBezTo>
                  <a:pt x="64" y="44"/>
                  <a:pt x="68" y="44"/>
                  <a:pt x="72" y="44"/>
                </a:cubicBezTo>
                <a:cubicBezTo>
                  <a:pt x="73" y="44"/>
                  <a:pt x="74" y="44"/>
                  <a:pt x="74" y="43"/>
                </a:cubicBezTo>
                <a:cubicBezTo>
                  <a:pt x="74" y="43"/>
                  <a:pt x="74" y="43"/>
                  <a:pt x="74" y="43"/>
                </a:cubicBezTo>
                <a:cubicBezTo>
                  <a:pt x="74" y="42"/>
                  <a:pt x="73" y="41"/>
                  <a:pt x="72" y="41"/>
                </a:cubicBezTo>
                <a:cubicBezTo>
                  <a:pt x="68" y="41"/>
                  <a:pt x="64" y="41"/>
                  <a:pt x="60" y="41"/>
                </a:cubicBezTo>
                <a:cubicBezTo>
                  <a:pt x="60" y="41"/>
                  <a:pt x="59" y="42"/>
                  <a:pt x="59" y="43"/>
                </a:cubicBezTo>
                <a:cubicBezTo>
                  <a:pt x="59" y="43"/>
                  <a:pt x="59" y="43"/>
                  <a:pt x="59" y="43"/>
                </a:cubicBezTo>
                <a:cubicBezTo>
                  <a:pt x="59" y="44"/>
                  <a:pt x="60" y="44"/>
                  <a:pt x="60" y="44"/>
                </a:cubicBezTo>
                <a:close/>
                <a:moveTo>
                  <a:pt x="81" y="44"/>
                </a:moveTo>
                <a:cubicBezTo>
                  <a:pt x="85" y="44"/>
                  <a:pt x="89" y="44"/>
                  <a:pt x="93" y="44"/>
                </a:cubicBezTo>
                <a:cubicBezTo>
                  <a:pt x="94" y="44"/>
                  <a:pt x="95" y="44"/>
                  <a:pt x="95" y="43"/>
                </a:cubicBezTo>
                <a:cubicBezTo>
                  <a:pt x="95" y="43"/>
                  <a:pt x="95" y="43"/>
                  <a:pt x="95" y="43"/>
                </a:cubicBezTo>
                <a:cubicBezTo>
                  <a:pt x="95" y="42"/>
                  <a:pt x="94" y="41"/>
                  <a:pt x="93" y="41"/>
                </a:cubicBezTo>
                <a:cubicBezTo>
                  <a:pt x="89" y="41"/>
                  <a:pt x="85" y="41"/>
                  <a:pt x="81" y="41"/>
                </a:cubicBezTo>
                <a:cubicBezTo>
                  <a:pt x="81" y="41"/>
                  <a:pt x="80" y="42"/>
                  <a:pt x="80" y="43"/>
                </a:cubicBezTo>
                <a:cubicBezTo>
                  <a:pt x="80" y="43"/>
                  <a:pt x="80" y="43"/>
                  <a:pt x="80" y="43"/>
                </a:cubicBezTo>
                <a:cubicBezTo>
                  <a:pt x="80" y="44"/>
                  <a:pt x="81" y="44"/>
                  <a:pt x="81" y="44"/>
                </a:cubicBezTo>
                <a:close/>
                <a:moveTo>
                  <a:pt x="102" y="44"/>
                </a:moveTo>
                <a:cubicBezTo>
                  <a:pt x="106" y="44"/>
                  <a:pt x="110" y="44"/>
                  <a:pt x="114" y="44"/>
                </a:cubicBezTo>
                <a:cubicBezTo>
                  <a:pt x="115" y="44"/>
                  <a:pt x="116" y="44"/>
                  <a:pt x="116" y="43"/>
                </a:cubicBezTo>
                <a:cubicBezTo>
                  <a:pt x="116" y="43"/>
                  <a:pt x="116" y="43"/>
                  <a:pt x="116" y="43"/>
                </a:cubicBezTo>
                <a:cubicBezTo>
                  <a:pt x="116" y="42"/>
                  <a:pt x="115" y="41"/>
                  <a:pt x="114" y="41"/>
                </a:cubicBezTo>
                <a:cubicBezTo>
                  <a:pt x="110" y="41"/>
                  <a:pt x="106" y="41"/>
                  <a:pt x="102" y="41"/>
                </a:cubicBezTo>
                <a:cubicBezTo>
                  <a:pt x="102" y="41"/>
                  <a:pt x="101" y="42"/>
                  <a:pt x="101" y="43"/>
                </a:cubicBezTo>
                <a:cubicBezTo>
                  <a:pt x="101" y="43"/>
                  <a:pt x="101" y="43"/>
                  <a:pt x="101" y="43"/>
                </a:cubicBezTo>
                <a:cubicBezTo>
                  <a:pt x="101" y="44"/>
                  <a:pt x="102" y="44"/>
                  <a:pt x="102" y="44"/>
                </a:cubicBezTo>
                <a:close/>
                <a:moveTo>
                  <a:pt x="123" y="44"/>
                </a:moveTo>
                <a:cubicBezTo>
                  <a:pt x="127" y="44"/>
                  <a:pt x="131" y="44"/>
                  <a:pt x="135" y="44"/>
                </a:cubicBezTo>
                <a:cubicBezTo>
                  <a:pt x="136" y="44"/>
                  <a:pt x="137" y="44"/>
                  <a:pt x="137" y="43"/>
                </a:cubicBezTo>
                <a:cubicBezTo>
                  <a:pt x="137" y="43"/>
                  <a:pt x="137" y="43"/>
                  <a:pt x="137" y="43"/>
                </a:cubicBezTo>
                <a:cubicBezTo>
                  <a:pt x="137" y="42"/>
                  <a:pt x="136" y="41"/>
                  <a:pt x="135" y="41"/>
                </a:cubicBezTo>
                <a:cubicBezTo>
                  <a:pt x="131" y="41"/>
                  <a:pt x="127" y="41"/>
                  <a:pt x="123" y="41"/>
                </a:cubicBezTo>
                <a:cubicBezTo>
                  <a:pt x="123" y="41"/>
                  <a:pt x="122" y="42"/>
                  <a:pt x="122" y="43"/>
                </a:cubicBezTo>
                <a:cubicBezTo>
                  <a:pt x="122" y="43"/>
                  <a:pt x="122" y="43"/>
                  <a:pt x="122" y="43"/>
                </a:cubicBezTo>
                <a:cubicBezTo>
                  <a:pt x="122" y="44"/>
                  <a:pt x="123" y="44"/>
                  <a:pt x="123" y="44"/>
                </a:cubicBezTo>
                <a:close/>
                <a:moveTo>
                  <a:pt x="144" y="44"/>
                </a:moveTo>
                <a:cubicBezTo>
                  <a:pt x="148" y="44"/>
                  <a:pt x="152" y="44"/>
                  <a:pt x="156" y="44"/>
                </a:cubicBezTo>
                <a:cubicBezTo>
                  <a:pt x="157" y="44"/>
                  <a:pt x="158" y="44"/>
                  <a:pt x="158" y="43"/>
                </a:cubicBezTo>
                <a:cubicBezTo>
                  <a:pt x="158" y="43"/>
                  <a:pt x="158" y="43"/>
                  <a:pt x="158" y="43"/>
                </a:cubicBezTo>
                <a:cubicBezTo>
                  <a:pt x="158" y="42"/>
                  <a:pt x="157" y="41"/>
                  <a:pt x="156" y="41"/>
                </a:cubicBezTo>
                <a:cubicBezTo>
                  <a:pt x="152" y="41"/>
                  <a:pt x="148" y="41"/>
                  <a:pt x="144" y="41"/>
                </a:cubicBezTo>
                <a:cubicBezTo>
                  <a:pt x="144" y="41"/>
                  <a:pt x="143" y="42"/>
                  <a:pt x="143" y="43"/>
                </a:cubicBezTo>
                <a:cubicBezTo>
                  <a:pt x="143" y="43"/>
                  <a:pt x="143" y="43"/>
                  <a:pt x="143" y="43"/>
                </a:cubicBezTo>
                <a:cubicBezTo>
                  <a:pt x="143" y="44"/>
                  <a:pt x="144" y="44"/>
                  <a:pt x="144" y="44"/>
                </a:cubicBezTo>
                <a:close/>
                <a:moveTo>
                  <a:pt x="165" y="44"/>
                </a:moveTo>
                <a:cubicBezTo>
                  <a:pt x="169" y="44"/>
                  <a:pt x="173" y="44"/>
                  <a:pt x="177" y="44"/>
                </a:cubicBezTo>
                <a:cubicBezTo>
                  <a:pt x="178" y="44"/>
                  <a:pt x="179" y="44"/>
                  <a:pt x="179" y="43"/>
                </a:cubicBezTo>
                <a:cubicBezTo>
                  <a:pt x="179" y="43"/>
                  <a:pt x="179" y="43"/>
                  <a:pt x="179" y="43"/>
                </a:cubicBezTo>
                <a:cubicBezTo>
                  <a:pt x="179" y="42"/>
                  <a:pt x="178" y="41"/>
                  <a:pt x="177" y="41"/>
                </a:cubicBezTo>
                <a:cubicBezTo>
                  <a:pt x="173" y="41"/>
                  <a:pt x="169" y="41"/>
                  <a:pt x="165" y="41"/>
                </a:cubicBezTo>
                <a:cubicBezTo>
                  <a:pt x="165" y="41"/>
                  <a:pt x="164" y="42"/>
                  <a:pt x="164" y="43"/>
                </a:cubicBezTo>
                <a:cubicBezTo>
                  <a:pt x="164" y="43"/>
                  <a:pt x="164" y="43"/>
                  <a:pt x="164" y="43"/>
                </a:cubicBezTo>
                <a:cubicBezTo>
                  <a:pt x="164" y="44"/>
                  <a:pt x="165" y="44"/>
                  <a:pt x="165" y="44"/>
                </a:cubicBezTo>
                <a:close/>
              </a:path>
            </a:pathLst>
          </a:custGeom>
          <a:solidFill>
            <a:srgbClr val="F7BF9E"/>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 name="Freeform 29"/>
          <p:cNvSpPr>
            <a:spLocks noEditPoints="1"/>
          </p:cNvSpPr>
          <p:nvPr/>
        </p:nvSpPr>
        <p:spPr bwMode="auto">
          <a:xfrm>
            <a:off x="769938" y="868365"/>
            <a:ext cx="1870075" cy="431800"/>
          </a:xfrm>
          <a:custGeom>
            <a:avLst/>
            <a:gdLst>
              <a:gd name="T0" fmla="*/ 30 w 225"/>
              <a:gd name="T1" fmla="*/ 0 h 52"/>
              <a:gd name="T2" fmla="*/ 32 w 225"/>
              <a:gd name="T3" fmla="*/ 2 h 52"/>
              <a:gd name="T4" fmla="*/ 19 w 225"/>
              <a:gd name="T5" fmla="*/ 3 h 52"/>
              <a:gd name="T6" fmla="*/ 17 w 225"/>
              <a:gd name="T7" fmla="*/ 2 h 52"/>
              <a:gd name="T8" fmla="*/ 224 w 225"/>
              <a:gd name="T9" fmla="*/ 48 h 52"/>
              <a:gd name="T10" fmla="*/ 225 w 225"/>
              <a:gd name="T11" fmla="*/ 50 h 52"/>
              <a:gd name="T12" fmla="*/ 224 w 225"/>
              <a:gd name="T13" fmla="*/ 52 h 52"/>
              <a:gd name="T14" fmla="*/ 222 w 225"/>
              <a:gd name="T15" fmla="*/ 50 h 52"/>
              <a:gd name="T16" fmla="*/ 224 w 225"/>
              <a:gd name="T17" fmla="*/ 48 h 52"/>
              <a:gd name="T18" fmla="*/ 198 w 225"/>
              <a:gd name="T19" fmla="*/ 5 h 52"/>
              <a:gd name="T20" fmla="*/ 198 w 225"/>
              <a:gd name="T21" fmla="*/ 8 h 52"/>
              <a:gd name="T22" fmla="*/ 193 w 225"/>
              <a:gd name="T23" fmla="*/ 3 h 52"/>
              <a:gd name="T24" fmla="*/ 185 w 225"/>
              <a:gd name="T25" fmla="*/ 2 h 52"/>
              <a:gd name="T26" fmla="*/ 186 w 225"/>
              <a:gd name="T27" fmla="*/ 0 h 52"/>
              <a:gd name="T28" fmla="*/ 196 w 225"/>
              <a:gd name="T29" fmla="*/ 1 h 52"/>
              <a:gd name="T30" fmla="*/ 211 w 225"/>
              <a:gd name="T31" fmla="*/ 33 h 52"/>
              <a:gd name="T32" fmla="*/ 212 w 225"/>
              <a:gd name="T33" fmla="*/ 31 h 52"/>
              <a:gd name="T34" fmla="*/ 220 w 225"/>
              <a:gd name="T35" fmla="*/ 41 h 52"/>
              <a:gd name="T36" fmla="*/ 219 w 225"/>
              <a:gd name="T37" fmla="*/ 43 h 52"/>
              <a:gd name="T38" fmla="*/ 206 w 225"/>
              <a:gd name="T39" fmla="*/ 25 h 52"/>
              <a:gd name="T40" fmla="*/ 201 w 225"/>
              <a:gd name="T41" fmla="*/ 13 h 52"/>
              <a:gd name="T42" fmla="*/ 203 w 225"/>
              <a:gd name="T43" fmla="*/ 13 h 52"/>
              <a:gd name="T44" fmla="*/ 209 w 225"/>
              <a:gd name="T45" fmla="*/ 26 h 52"/>
              <a:gd name="T46" fmla="*/ 206 w 225"/>
              <a:gd name="T47" fmla="*/ 25 h 52"/>
              <a:gd name="T48" fmla="*/ 0 w 225"/>
              <a:gd name="T49" fmla="*/ 0 h 52"/>
              <a:gd name="T50" fmla="*/ 10 w 225"/>
              <a:gd name="T51" fmla="*/ 2 h 52"/>
              <a:gd name="T52" fmla="*/ 8 w 225"/>
              <a:gd name="T53" fmla="*/ 3 h 52"/>
              <a:gd name="T54" fmla="*/ 40 w 225"/>
              <a:gd name="T55" fmla="*/ 0 h 52"/>
              <a:gd name="T56" fmla="*/ 53 w 225"/>
              <a:gd name="T57" fmla="*/ 2 h 52"/>
              <a:gd name="T58" fmla="*/ 51 w 225"/>
              <a:gd name="T59" fmla="*/ 3 h 52"/>
              <a:gd name="T60" fmla="*/ 38 w 225"/>
              <a:gd name="T61" fmla="*/ 2 h 52"/>
              <a:gd name="T62" fmla="*/ 40 w 225"/>
              <a:gd name="T63" fmla="*/ 0 h 52"/>
              <a:gd name="T64" fmla="*/ 72 w 225"/>
              <a:gd name="T65" fmla="*/ 0 h 52"/>
              <a:gd name="T66" fmla="*/ 74 w 225"/>
              <a:gd name="T67" fmla="*/ 2 h 52"/>
              <a:gd name="T68" fmla="*/ 60 w 225"/>
              <a:gd name="T69" fmla="*/ 3 h 52"/>
              <a:gd name="T70" fmla="*/ 59 w 225"/>
              <a:gd name="T71" fmla="*/ 2 h 52"/>
              <a:gd name="T72" fmla="*/ 81 w 225"/>
              <a:gd name="T73" fmla="*/ 0 h 52"/>
              <a:gd name="T74" fmla="*/ 95 w 225"/>
              <a:gd name="T75" fmla="*/ 2 h 52"/>
              <a:gd name="T76" fmla="*/ 93 w 225"/>
              <a:gd name="T77" fmla="*/ 3 h 52"/>
              <a:gd name="T78" fmla="*/ 80 w 225"/>
              <a:gd name="T79" fmla="*/ 2 h 52"/>
              <a:gd name="T80" fmla="*/ 81 w 225"/>
              <a:gd name="T81" fmla="*/ 0 h 52"/>
              <a:gd name="T82" fmla="*/ 114 w 225"/>
              <a:gd name="T83" fmla="*/ 0 h 52"/>
              <a:gd name="T84" fmla="*/ 116 w 225"/>
              <a:gd name="T85" fmla="*/ 2 h 52"/>
              <a:gd name="T86" fmla="*/ 102 w 225"/>
              <a:gd name="T87" fmla="*/ 3 h 52"/>
              <a:gd name="T88" fmla="*/ 101 w 225"/>
              <a:gd name="T89" fmla="*/ 2 h 52"/>
              <a:gd name="T90" fmla="*/ 123 w 225"/>
              <a:gd name="T91" fmla="*/ 0 h 52"/>
              <a:gd name="T92" fmla="*/ 137 w 225"/>
              <a:gd name="T93" fmla="*/ 2 h 52"/>
              <a:gd name="T94" fmla="*/ 135 w 225"/>
              <a:gd name="T95" fmla="*/ 3 h 52"/>
              <a:gd name="T96" fmla="*/ 122 w 225"/>
              <a:gd name="T97" fmla="*/ 2 h 52"/>
              <a:gd name="T98" fmla="*/ 123 w 225"/>
              <a:gd name="T99" fmla="*/ 0 h 52"/>
              <a:gd name="T100" fmla="*/ 156 w 225"/>
              <a:gd name="T101" fmla="*/ 0 h 52"/>
              <a:gd name="T102" fmla="*/ 158 w 225"/>
              <a:gd name="T103" fmla="*/ 2 h 52"/>
              <a:gd name="T104" fmla="*/ 144 w 225"/>
              <a:gd name="T105" fmla="*/ 3 h 52"/>
              <a:gd name="T106" fmla="*/ 143 w 225"/>
              <a:gd name="T107" fmla="*/ 2 h 52"/>
              <a:gd name="T108" fmla="*/ 165 w 225"/>
              <a:gd name="T109" fmla="*/ 0 h 52"/>
              <a:gd name="T110" fmla="*/ 179 w 225"/>
              <a:gd name="T111" fmla="*/ 2 h 52"/>
              <a:gd name="T112" fmla="*/ 177 w 225"/>
              <a:gd name="T113" fmla="*/ 3 h 52"/>
              <a:gd name="T114" fmla="*/ 164 w 225"/>
              <a:gd name="T115" fmla="*/ 2 h 52"/>
              <a:gd name="T116" fmla="*/ 165 w 225"/>
              <a:gd name="T117"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5" h="52">
                <a:moveTo>
                  <a:pt x="19" y="0"/>
                </a:moveTo>
                <a:cubicBezTo>
                  <a:pt x="22" y="0"/>
                  <a:pt x="26" y="0"/>
                  <a:pt x="30" y="0"/>
                </a:cubicBezTo>
                <a:cubicBezTo>
                  <a:pt x="31" y="0"/>
                  <a:pt x="32" y="1"/>
                  <a:pt x="32" y="2"/>
                </a:cubicBezTo>
                <a:cubicBezTo>
                  <a:pt x="32" y="2"/>
                  <a:pt x="32" y="2"/>
                  <a:pt x="32" y="2"/>
                </a:cubicBezTo>
                <a:cubicBezTo>
                  <a:pt x="32" y="3"/>
                  <a:pt x="31" y="3"/>
                  <a:pt x="30" y="3"/>
                </a:cubicBezTo>
                <a:cubicBezTo>
                  <a:pt x="26" y="3"/>
                  <a:pt x="22" y="3"/>
                  <a:pt x="19" y="3"/>
                </a:cubicBezTo>
                <a:cubicBezTo>
                  <a:pt x="18" y="3"/>
                  <a:pt x="17" y="3"/>
                  <a:pt x="17" y="2"/>
                </a:cubicBezTo>
                <a:cubicBezTo>
                  <a:pt x="17" y="2"/>
                  <a:pt x="17" y="2"/>
                  <a:pt x="17" y="2"/>
                </a:cubicBezTo>
                <a:cubicBezTo>
                  <a:pt x="17" y="1"/>
                  <a:pt x="18" y="0"/>
                  <a:pt x="19" y="0"/>
                </a:cubicBezTo>
                <a:close/>
                <a:moveTo>
                  <a:pt x="224" y="48"/>
                </a:moveTo>
                <a:cubicBezTo>
                  <a:pt x="224" y="48"/>
                  <a:pt x="224" y="48"/>
                  <a:pt x="224" y="48"/>
                </a:cubicBezTo>
                <a:cubicBezTo>
                  <a:pt x="225" y="48"/>
                  <a:pt x="225" y="49"/>
                  <a:pt x="225" y="50"/>
                </a:cubicBezTo>
                <a:cubicBezTo>
                  <a:pt x="225" y="50"/>
                  <a:pt x="225" y="50"/>
                  <a:pt x="225" y="50"/>
                </a:cubicBezTo>
                <a:cubicBezTo>
                  <a:pt x="225" y="51"/>
                  <a:pt x="225" y="52"/>
                  <a:pt x="224" y="52"/>
                </a:cubicBezTo>
                <a:cubicBezTo>
                  <a:pt x="224" y="52"/>
                  <a:pt x="224" y="52"/>
                  <a:pt x="224" y="52"/>
                </a:cubicBezTo>
                <a:cubicBezTo>
                  <a:pt x="223" y="52"/>
                  <a:pt x="222" y="51"/>
                  <a:pt x="222" y="50"/>
                </a:cubicBezTo>
                <a:cubicBezTo>
                  <a:pt x="222" y="50"/>
                  <a:pt x="222" y="50"/>
                  <a:pt x="222" y="50"/>
                </a:cubicBezTo>
                <a:cubicBezTo>
                  <a:pt x="222" y="49"/>
                  <a:pt x="223" y="48"/>
                  <a:pt x="224" y="48"/>
                </a:cubicBezTo>
                <a:close/>
                <a:moveTo>
                  <a:pt x="196" y="1"/>
                </a:moveTo>
                <a:cubicBezTo>
                  <a:pt x="196" y="3"/>
                  <a:pt x="197" y="4"/>
                  <a:pt x="198" y="5"/>
                </a:cubicBezTo>
                <a:cubicBezTo>
                  <a:pt x="199" y="6"/>
                  <a:pt x="198" y="7"/>
                  <a:pt x="198" y="8"/>
                </a:cubicBezTo>
                <a:cubicBezTo>
                  <a:pt x="198" y="8"/>
                  <a:pt x="198" y="8"/>
                  <a:pt x="198" y="8"/>
                </a:cubicBezTo>
                <a:cubicBezTo>
                  <a:pt x="197" y="8"/>
                  <a:pt x="196" y="8"/>
                  <a:pt x="195" y="7"/>
                </a:cubicBezTo>
                <a:cubicBezTo>
                  <a:pt x="195" y="6"/>
                  <a:pt x="194" y="5"/>
                  <a:pt x="193" y="3"/>
                </a:cubicBezTo>
                <a:cubicBezTo>
                  <a:pt x="190" y="3"/>
                  <a:pt x="190" y="3"/>
                  <a:pt x="186" y="3"/>
                </a:cubicBezTo>
                <a:cubicBezTo>
                  <a:pt x="186" y="3"/>
                  <a:pt x="185" y="3"/>
                  <a:pt x="185" y="2"/>
                </a:cubicBezTo>
                <a:cubicBezTo>
                  <a:pt x="185" y="2"/>
                  <a:pt x="185" y="2"/>
                  <a:pt x="185" y="2"/>
                </a:cubicBezTo>
                <a:cubicBezTo>
                  <a:pt x="185" y="1"/>
                  <a:pt x="186" y="0"/>
                  <a:pt x="186" y="0"/>
                </a:cubicBezTo>
                <a:cubicBezTo>
                  <a:pt x="194" y="0"/>
                  <a:pt x="194" y="0"/>
                  <a:pt x="194" y="0"/>
                </a:cubicBezTo>
                <a:cubicBezTo>
                  <a:pt x="195" y="0"/>
                  <a:pt x="195" y="1"/>
                  <a:pt x="196" y="1"/>
                </a:cubicBezTo>
                <a:close/>
                <a:moveTo>
                  <a:pt x="217" y="43"/>
                </a:moveTo>
                <a:cubicBezTo>
                  <a:pt x="215" y="40"/>
                  <a:pt x="213" y="36"/>
                  <a:pt x="211" y="33"/>
                </a:cubicBezTo>
                <a:cubicBezTo>
                  <a:pt x="211" y="32"/>
                  <a:pt x="211" y="31"/>
                  <a:pt x="212" y="31"/>
                </a:cubicBezTo>
                <a:cubicBezTo>
                  <a:pt x="212" y="31"/>
                  <a:pt x="212" y="31"/>
                  <a:pt x="212" y="31"/>
                </a:cubicBezTo>
                <a:cubicBezTo>
                  <a:pt x="212" y="30"/>
                  <a:pt x="213" y="30"/>
                  <a:pt x="214" y="31"/>
                </a:cubicBezTo>
                <a:cubicBezTo>
                  <a:pt x="216" y="34"/>
                  <a:pt x="218" y="38"/>
                  <a:pt x="220" y="41"/>
                </a:cubicBezTo>
                <a:cubicBezTo>
                  <a:pt x="221" y="42"/>
                  <a:pt x="220" y="43"/>
                  <a:pt x="219" y="43"/>
                </a:cubicBezTo>
                <a:cubicBezTo>
                  <a:pt x="219" y="43"/>
                  <a:pt x="219" y="43"/>
                  <a:pt x="219" y="43"/>
                </a:cubicBezTo>
                <a:cubicBezTo>
                  <a:pt x="219" y="44"/>
                  <a:pt x="218" y="44"/>
                  <a:pt x="217" y="43"/>
                </a:cubicBezTo>
                <a:close/>
                <a:moveTo>
                  <a:pt x="206" y="25"/>
                </a:moveTo>
                <a:cubicBezTo>
                  <a:pt x="204" y="22"/>
                  <a:pt x="202" y="18"/>
                  <a:pt x="200" y="15"/>
                </a:cubicBezTo>
                <a:cubicBezTo>
                  <a:pt x="200" y="14"/>
                  <a:pt x="200" y="13"/>
                  <a:pt x="201" y="13"/>
                </a:cubicBezTo>
                <a:cubicBezTo>
                  <a:pt x="201" y="13"/>
                  <a:pt x="201" y="13"/>
                  <a:pt x="201" y="13"/>
                </a:cubicBezTo>
                <a:cubicBezTo>
                  <a:pt x="201" y="12"/>
                  <a:pt x="203" y="12"/>
                  <a:pt x="203" y="13"/>
                </a:cubicBezTo>
                <a:cubicBezTo>
                  <a:pt x="205" y="17"/>
                  <a:pt x="207" y="20"/>
                  <a:pt x="209" y="23"/>
                </a:cubicBezTo>
                <a:cubicBezTo>
                  <a:pt x="210" y="24"/>
                  <a:pt x="209" y="25"/>
                  <a:pt x="209" y="26"/>
                </a:cubicBezTo>
                <a:cubicBezTo>
                  <a:pt x="209" y="26"/>
                  <a:pt x="209" y="26"/>
                  <a:pt x="209" y="26"/>
                </a:cubicBezTo>
                <a:cubicBezTo>
                  <a:pt x="208" y="26"/>
                  <a:pt x="207" y="26"/>
                  <a:pt x="206" y="25"/>
                </a:cubicBezTo>
                <a:close/>
                <a:moveTo>
                  <a:pt x="0" y="3"/>
                </a:moveTo>
                <a:cubicBezTo>
                  <a:pt x="0" y="0"/>
                  <a:pt x="0" y="0"/>
                  <a:pt x="0" y="0"/>
                </a:cubicBezTo>
                <a:cubicBezTo>
                  <a:pt x="8" y="0"/>
                  <a:pt x="8" y="0"/>
                  <a:pt x="8" y="0"/>
                </a:cubicBezTo>
                <a:cubicBezTo>
                  <a:pt x="9" y="0"/>
                  <a:pt x="10" y="1"/>
                  <a:pt x="10" y="2"/>
                </a:cubicBezTo>
                <a:cubicBezTo>
                  <a:pt x="10" y="2"/>
                  <a:pt x="10" y="2"/>
                  <a:pt x="10" y="2"/>
                </a:cubicBezTo>
                <a:cubicBezTo>
                  <a:pt x="10" y="3"/>
                  <a:pt x="9" y="3"/>
                  <a:pt x="8" y="3"/>
                </a:cubicBezTo>
                <a:cubicBezTo>
                  <a:pt x="0" y="3"/>
                  <a:pt x="0" y="3"/>
                  <a:pt x="0" y="3"/>
                </a:cubicBezTo>
                <a:close/>
                <a:moveTo>
                  <a:pt x="40" y="0"/>
                </a:moveTo>
                <a:cubicBezTo>
                  <a:pt x="43" y="0"/>
                  <a:pt x="47" y="0"/>
                  <a:pt x="51" y="0"/>
                </a:cubicBezTo>
                <a:cubicBezTo>
                  <a:pt x="52" y="0"/>
                  <a:pt x="53" y="1"/>
                  <a:pt x="53" y="2"/>
                </a:cubicBezTo>
                <a:cubicBezTo>
                  <a:pt x="53" y="2"/>
                  <a:pt x="53" y="2"/>
                  <a:pt x="53" y="2"/>
                </a:cubicBezTo>
                <a:cubicBezTo>
                  <a:pt x="53" y="3"/>
                  <a:pt x="52" y="3"/>
                  <a:pt x="51" y="3"/>
                </a:cubicBezTo>
                <a:cubicBezTo>
                  <a:pt x="47" y="3"/>
                  <a:pt x="43" y="3"/>
                  <a:pt x="40" y="3"/>
                </a:cubicBezTo>
                <a:cubicBezTo>
                  <a:pt x="39" y="3"/>
                  <a:pt x="38" y="3"/>
                  <a:pt x="38" y="2"/>
                </a:cubicBezTo>
                <a:cubicBezTo>
                  <a:pt x="38" y="2"/>
                  <a:pt x="38" y="2"/>
                  <a:pt x="38" y="2"/>
                </a:cubicBezTo>
                <a:cubicBezTo>
                  <a:pt x="38" y="1"/>
                  <a:pt x="39" y="0"/>
                  <a:pt x="40" y="0"/>
                </a:cubicBezTo>
                <a:close/>
                <a:moveTo>
                  <a:pt x="60" y="0"/>
                </a:moveTo>
                <a:cubicBezTo>
                  <a:pt x="64" y="0"/>
                  <a:pt x="68" y="0"/>
                  <a:pt x="72" y="0"/>
                </a:cubicBezTo>
                <a:cubicBezTo>
                  <a:pt x="73" y="0"/>
                  <a:pt x="74" y="1"/>
                  <a:pt x="74" y="2"/>
                </a:cubicBezTo>
                <a:cubicBezTo>
                  <a:pt x="74" y="2"/>
                  <a:pt x="74" y="2"/>
                  <a:pt x="74" y="2"/>
                </a:cubicBezTo>
                <a:cubicBezTo>
                  <a:pt x="74" y="3"/>
                  <a:pt x="73" y="3"/>
                  <a:pt x="72" y="3"/>
                </a:cubicBezTo>
                <a:cubicBezTo>
                  <a:pt x="68" y="3"/>
                  <a:pt x="64" y="3"/>
                  <a:pt x="60" y="3"/>
                </a:cubicBezTo>
                <a:cubicBezTo>
                  <a:pt x="60" y="3"/>
                  <a:pt x="59" y="3"/>
                  <a:pt x="59" y="2"/>
                </a:cubicBezTo>
                <a:cubicBezTo>
                  <a:pt x="59" y="2"/>
                  <a:pt x="59" y="2"/>
                  <a:pt x="59" y="2"/>
                </a:cubicBezTo>
                <a:cubicBezTo>
                  <a:pt x="59" y="1"/>
                  <a:pt x="60" y="0"/>
                  <a:pt x="60" y="0"/>
                </a:cubicBezTo>
                <a:close/>
                <a:moveTo>
                  <a:pt x="81" y="0"/>
                </a:moveTo>
                <a:cubicBezTo>
                  <a:pt x="85" y="0"/>
                  <a:pt x="89" y="0"/>
                  <a:pt x="93" y="0"/>
                </a:cubicBezTo>
                <a:cubicBezTo>
                  <a:pt x="94" y="0"/>
                  <a:pt x="95" y="1"/>
                  <a:pt x="95" y="2"/>
                </a:cubicBezTo>
                <a:cubicBezTo>
                  <a:pt x="95" y="2"/>
                  <a:pt x="95" y="2"/>
                  <a:pt x="95" y="2"/>
                </a:cubicBezTo>
                <a:cubicBezTo>
                  <a:pt x="95" y="3"/>
                  <a:pt x="94" y="3"/>
                  <a:pt x="93" y="3"/>
                </a:cubicBezTo>
                <a:cubicBezTo>
                  <a:pt x="89" y="3"/>
                  <a:pt x="85" y="3"/>
                  <a:pt x="81" y="3"/>
                </a:cubicBezTo>
                <a:cubicBezTo>
                  <a:pt x="81" y="3"/>
                  <a:pt x="80" y="3"/>
                  <a:pt x="80" y="2"/>
                </a:cubicBezTo>
                <a:cubicBezTo>
                  <a:pt x="80" y="2"/>
                  <a:pt x="80" y="2"/>
                  <a:pt x="80" y="2"/>
                </a:cubicBezTo>
                <a:cubicBezTo>
                  <a:pt x="80" y="1"/>
                  <a:pt x="81" y="0"/>
                  <a:pt x="81" y="0"/>
                </a:cubicBezTo>
                <a:close/>
                <a:moveTo>
                  <a:pt x="102" y="0"/>
                </a:moveTo>
                <a:cubicBezTo>
                  <a:pt x="106" y="0"/>
                  <a:pt x="110" y="0"/>
                  <a:pt x="114" y="0"/>
                </a:cubicBezTo>
                <a:cubicBezTo>
                  <a:pt x="115" y="0"/>
                  <a:pt x="116" y="1"/>
                  <a:pt x="116" y="2"/>
                </a:cubicBezTo>
                <a:cubicBezTo>
                  <a:pt x="116" y="2"/>
                  <a:pt x="116" y="2"/>
                  <a:pt x="116" y="2"/>
                </a:cubicBezTo>
                <a:cubicBezTo>
                  <a:pt x="116" y="3"/>
                  <a:pt x="115" y="3"/>
                  <a:pt x="114" y="3"/>
                </a:cubicBezTo>
                <a:cubicBezTo>
                  <a:pt x="110" y="3"/>
                  <a:pt x="106" y="3"/>
                  <a:pt x="102" y="3"/>
                </a:cubicBezTo>
                <a:cubicBezTo>
                  <a:pt x="102" y="3"/>
                  <a:pt x="101" y="3"/>
                  <a:pt x="101" y="2"/>
                </a:cubicBezTo>
                <a:cubicBezTo>
                  <a:pt x="101" y="2"/>
                  <a:pt x="101" y="2"/>
                  <a:pt x="101" y="2"/>
                </a:cubicBezTo>
                <a:cubicBezTo>
                  <a:pt x="101" y="1"/>
                  <a:pt x="102" y="0"/>
                  <a:pt x="102" y="0"/>
                </a:cubicBezTo>
                <a:close/>
                <a:moveTo>
                  <a:pt x="123" y="0"/>
                </a:moveTo>
                <a:cubicBezTo>
                  <a:pt x="127" y="0"/>
                  <a:pt x="131" y="0"/>
                  <a:pt x="135" y="0"/>
                </a:cubicBezTo>
                <a:cubicBezTo>
                  <a:pt x="136" y="0"/>
                  <a:pt x="137" y="1"/>
                  <a:pt x="137" y="2"/>
                </a:cubicBezTo>
                <a:cubicBezTo>
                  <a:pt x="137" y="2"/>
                  <a:pt x="137" y="2"/>
                  <a:pt x="137" y="2"/>
                </a:cubicBezTo>
                <a:cubicBezTo>
                  <a:pt x="137" y="3"/>
                  <a:pt x="136" y="3"/>
                  <a:pt x="135" y="3"/>
                </a:cubicBezTo>
                <a:cubicBezTo>
                  <a:pt x="131" y="3"/>
                  <a:pt x="127" y="3"/>
                  <a:pt x="123" y="3"/>
                </a:cubicBezTo>
                <a:cubicBezTo>
                  <a:pt x="123" y="3"/>
                  <a:pt x="122" y="3"/>
                  <a:pt x="122" y="2"/>
                </a:cubicBezTo>
                <a:cubicBezTo>
                  <a:pt x="122" y="2"/>
                  <a:pt x="122" y="2"/>
                  <a:pt x="122" y="2"/>
                </a:cubicBezTo>
                <a:cubicBezTo>
                  <a:pt x="122" y="1"/>
                  <a:pt x="123" y="0"/>
                  <a:pt x="123" y="0"/>
                </a:cubicBezTo>
                <a:close/>
                <a:moveTo>
                  <a:pt x="144" y="0"/>
                </a:moveTo>
                <a:cubicBezTo>
                  <a:pt x="148" y="0"/>
                  <a:pt x="152" y="0"/>
                  <a:pt x="156" y="0"/>
                </a:cubicBezTo>
                <a:cubicBezTo>
                  <a:pt x="157" y="0"/>
                  <a:pt x="158" y="1"/>
                  <a:pt x="158" y="2"/>
                </a:cubicBezTo>
                <a:cubicBezTo>
                  <a:pt x="158" y="2"/>
                  <a:pt x="158" y="2"/>
                  <a:pt x="158" y="2"/>
                </a:cubicBezTo>
                <a:cubicBezTo>
                  <a:pt x="158" y="3"/>
                  <a:pt x="157" y="3"/>
                  <a:pt x="156" y="3"/>
                </a:cubicBezTo>
                <a:cubicBezTo>
                  <a:pt x="152" y="3"/>
                  <a:pt x="148" y="3"/>
                  <a:pt x="144" y="3"/>
                </a:cubicBezTo>
                <a:cubicBezTo>
                  <a:pt x="144" y="3"/>
                  <a:pt x="143" y="3"/>
                  <a:pt x="143" y="2"/>
                </a:cubicBezTo>
                <a:cubicBezTo>
                  <a:pt x="143" y="2"/>
                  <a:pt x="143" y="2"/>
                  <a:pt x="143" y="2"/>
                </a:cubicBezTo>
                <a:cubicBezTo>
                  <a:pt x="143" y="1"/>
                  <a:pt x="144" y="0"/>
                  <a:pt x="144" y="0"/>
                </a:cubicBezTo>
                <a:close/>
                <a:moveTo>
                  <a:pt x="165" y="0"/>
                </a:moveTo>
                <a:cubicBezTo>
                  <a:pt x="169" y="0"/>
                  <a:pt x="173" y="0"/>
                  <a:pt x="177" y="0"/>
                </a:cubicBezTo>
                <a:cubicBezTo>
                  <a:pt x="178" y="0"/>
                  <a:pt x="179" y="1"/>
                  <a:pt x="179" y="2"/>
                </a:cubicBezTo>
                <a:cubicBezTo>
                  <a:pt x="179" y="2"/>
                  <a:pt x="179" y="2"/>
                  <a:pt x="179" y="2"/>
                </a:cubicBezTo>
                <a:cubicBezTo>
                  <a:pt x="179" y="3"/>
                  <a:pt x="178" y="3"/>
                  <a:pt x="177" y="3"/>
                </a:cubicBezTo>
                <a:cubicBezTo>
                  <a:pt x="173" y="3"/>
                  <a:pt x="169" y="3"/>
                  <a:pt x="165" y="3"/>
                </a:cubicBezTo>
                <a:cubicBezTo>
                  <a:pt x="165" y="3"/>
                  <a:pt x="164" y="3"/>
                  <a:pt x="164" y="2"/>
                </a:cubicBezTo>
                <a:cubicBezTo>
                  <a:pt x="164" y="2"/>
                  <a:pt x="164" y="2"/>
                  <a:pt x="164" y="2"/>
                </a:cubicBezTo>
                <a:cubicBezTo>
                  <a:pt x="164" y="1"/>
                  <a:pt x="165" y="0"/>
                  <a:pt x="165" y="0"/>
                </a:cubicBezTo>
                <a:close/>
              </a:path>
            </a:pathLst>
          </a:custGeom>
          <a:solidFill>
            <a:srgbClr val="F7BF9E"/>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 name="Freeform 30"/>
          <p:cNvSpPr/>
          <p:nvPr/>
        </p:nvSpPr>
        <p:spPr bwMode="auto">
          <a:xfrm>
            <a:off x="1077913" y="2530478"/>
            <a:ext cx="1736725" cy="955675"/>
          </a:xfrm>
          <a:custGeom>
            <a:avLst/>
            <a:gdLst>
              <a:gd name="T0" fmla="*/ 0 w 1094"/>
              <a:gd name="T1" fmla="*/ 0 h 602"/>
              <a:gd name="T2" fmla="*/ 911 w 1094"/>
              <a:gd name="T3" fmla="*/ 0 h 602"/>
              <a:gd name="T4" fmla="*/ 1094 w 1094"/>
              <a:gd name="T5" fmla="*/ 304 h 602"/>
              <a:gd name="T6" fmla="*/ 911 w 1094"/>
              <a:gd name="T7" fmla="*/ 602 h 602"/>
              <a:gd name="T8" fmla="*/ 0 w 1094"/>
              <a:gd name="T9" fmla="*/ 602 h 602"/>
              <a:gd name="T10" fmla="*/ 0 w 1094"/>
              <a:gd name="T11" fmla="*/ 0 h 602"/>
              <a:gd name="T12" fmla="*/ 0 w 1094"/>
              <a:gd name="T13" fmla="*/ 0 h 602"/>
            </a:gdLst>
            <a:ahLst/>
            <a:cxnLst>
              <a:cxn ang="0">
                <a:pos x="T0" y="T1"/>
              </a:cxn>
              <a:cxn ang="0">
                <a:pos x="T2" y="T3"/>
              </a:cxn>
              <a:cxn ang="0">
                <a:pos x="T4" y="T5"/>
              </a:cxn>
              <a:cxn ang="0">
                <a:pos x="T6" y="T7"/>
              </a:cxn>
              <a:cxn ang="0">
                <a:pos x="T8" y="T9"/>
              </a:cxn>
              <a:cxn ang="0">
                <a:pos x="T10" y="T11"/>
              </a:cxn>
              <a:cxn ang="0">
                <a:pos x="T12" y="T13"/>
              </a:cxn>
            </a:cxnLst>
            <a:rect l="0" t="0" r="r" b="b"/>
            <a:pathLst>
              <a:path w="1094" h="602">
                <a:moveTo>
                  <a:pt x="0" y="0"/>
                </a:moveTo>
                <a:lnTo>
                  <a:pt x="911" y="0"/>
                </a:lnTo>
                <a:lnTo>
                  <a:pt x="1094" y="304"/>
                </a:lnTo>
                <a:lnTo>
                  <a:pt x="911" y="602"/>
                </a:lnTo>
                <a:lnTo>
                  <a:pt x="0" y="602"/>
                </a:lnTo>
                <a:lnTo>
                  <a:pt x="0" y="0"/>
                </a:lnTo>
                <a:lnTo>
                  <a:pt x="0" y="0"/>
                </a:lnTo>
                <a:close/>
              </a:path>
            </a:pathLst>
          </a:custGeom>
          <a:solidFill>
            <a:srgbClr val="C9CACA"/>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2" name="Freeform 31"/>
          <p:cNvSpPr/>
          <p:nvPr/>
        </p:nvSpPr>
        <p:spPr bwMode="auto">
          <a:xfrm>
            <a:off x="769938" y="2430465"/>
            <a:ext cx="1954212" cy="955675"/>
          </a:xfrm>
          <a:custGeom>
            <a:avLst/>
            <a:gdLst>
              <a:gd name="T0" fmla="*/ 0 w 1231"/>
              <a:gd name="T1" fmla="*/ 0 h 602"/>
              <a:gd name="T2" fmla="*/ 1047 w 1231"/>
              <a:gd name="T3" fmla="*/ 0 h 602"/>
              <a:gd name="T4" fmla="*/ 1231 w 1231"/>
              <a:gd name="T5" fmla="*/ 299 h 602"/>
              <a:gd name="T6" fmla="*/ 1047 w 1231"/>
              <a:gd name="T7" fmla="*/ 602 h 602"/>
              <a:gd name="T8" fmla="*/ 0 w 1231"/>
              <a:gd name="T9" fmla="*/ 602 h 602"/>
              <a:gd name="T10" fmla="*/ 0 w 1231"/>
              <a:gd name="T11" fmla="*/ 0 h 602"/>
              <a:gd name="T12" fmla="*/ 0 w 1231"/>
              <a:gd name="T13" fmla="*/ 0 h 602"/>
            </a:gdLst>
            <a:ahLst/>
            <a:cxnLst>
              <a:cxn ang="0">
                <a:pos x="T0" y="T1"/>
              </a:cxn>
              <a:cxn ang="0">
                <a:pos x="T2" y="T3"/>
              </a:cxn>
              <a:cxn ang="0">
                <a:pos x="T4" y="T5"/>
              </a:cxn>
              <a:cxn ang="0">
                <a:pos x="T6" y="T7"/>
              </a:cxn>
              <a:cxn ang="0">
                <a:pos x="T8" y="T9"/>
              </a:cxn>
              <a:cxn ang="0">
                <a:pos x="T10" y="T11"/>
              </a:cxn>
              <a:cxn ang="0">
                <a:pos x="T12" y="T13"/>
              </a:cxn>
            </a:cxnLst>
            <a:rect l="0" t="0" r="r" b="b"/>
            <a:pathLst>
              <a:path w="1231" h="602">
                <a:moveTo>
                  <a:pt x="0" y="0"/>
                </a:moveTo>
                <a:lnTo>
                  <a:pt x="1047" y="0"/>
                </a:lnTo>
                <a:lnTo>
                  <a:pt x="1231" y="299"/>
                </a:lnTo>
                <a:lnTo>
                  <a:pt x="1047" y="602"/>
                </a:lnTo>
                <a:lnTo>
                  <a:pt x="0" y="602"/>
                </a:lnTo>
                <a:lnTo>
                  <a:pt x="0" y="0"/>
                </a:lnTo>
                <a:lnTo>
                  <a:pt x="0" y="0"/>
                </a:lnTo>
                <a:close/>
              </a:path>
            </a:pathLst>
          </a:custGeom>
          <a:solidFill>
            <a:srgbClr val="4B5754"/>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3" name="Freeform 32"/>
          <p:cNvSpPr>
            <a:spLocks noEditPoints="1"/>
          </p:cNvSpPr>
          <p:nvPr/>
        </p:nvSpPr>
        <p:spPr bwMode="auto">
          <a:xfrm>
            <a:off x="769938" y="2962278"/>
            <a:ext cx="1836737" cy="366713"/>
          </a:xfrm>
          <a:custGeom>
            <a:avLst/>
            <a:gdLst>
              <a:gd name="T0" fmla="*/ 30 w 221"/>
              <a:gd name="T1" fmla="*/ 44 h 44"/>
              <a:gd name="T2" fmla="*/ 32 w 221"/>
              <a:gd name="T3" fmla="*/ 42 h 44"/>
              <a:gd name="T4" fmla="*/ 19 w 221"/>
              <a:gd name="T5" fmla="*/ 40 h 44"/>
              <a:gd name="T6" fmla="*/ 17 w 221"/>
              <a:gd name="T7" fmla="*/ 42 h 44"/>
              <a:gd name="T8" fmla="*/ 196 w 221"/>
              <a:gd name="T9" fmla="*/ 42 h 44"/>
              <a:gd name="T10" fmla="*/ 198 w 221"/>
              <a:gd name="T11" fmla="*/ 36 h 44"/>
              <a:gd name="T12" fmla="*/ 195 w 221"/>
              <a:gd name="T13" fmla="*/ 37 h 44"/>
              <a:gd name="T14" fmla="*/ 186 w 221"/>
              <a:gd name="T15" fmla="*/ 40 h 44"/>
              <a:gd name="T16" fmla="*/ 185 w 221"/>
              <a:gd name="T17" fmla="*/ 42 h 44"/>
              <a:gd name="T18" fmla="*/ 194 w 221"/>
              <a:gd name="T19" fmla="*/ 44 h 44"/>
              <a:gd name="T20" fmla="*/ 217 w 221"/>
              <a:gd name="T21" fmla="*/ 1 h 44"/>
              <a:gd name="T22" fmla="*/ 212 w 221"/>
              <a:gd name="T23" fmla="*/ 13 h 44"/>
              <a:gd name="T24" fmla="*/ 214 w 221"/>
              <a:gd name="T25" fmla="*/ 12 h 44"/>
              <a:gd name="T26" fmla="*/ 219 w 221"/>
              <a:gd name="T27" fmla="*/ 0 h 44"/>
              <a:gd name="T28" fmla="*/ 217 w 221"/>
              <a:gd name="T29" fmla="*/ 1 h 44"/>
              <a:gd name="T30" fmla="*/ 200 w 221"/>
              <a:gd name="T31" fmla="*/ 29 h 44"/>
              <a:gd name="T32" fmla="*/ 201 w 221"/>
              <a:gd name="T33" fmla="*/ 31 h 44"/>
              <a:gd name="T34" fmla="*/ 209 w 221"/>
              <a:gd name="T35" fmla="*/ 20 h 44"/>
              <a:gd name="T36" fmla="*/ 209 w 221"/>
              <a:gd name="T37" fmla="*/ 18 h 44"/>
              <a:gd name="T38" fmla="*/ 0 w 221"/>
              <a:gd name="T39" fmla="*/ 40 h 44"/>
              <a:gd name="T40" fmla="*/ 8 w 221"/>
              <a:gd name="T41" fmla="*/ 44 h 44"/>
              <a:gd name="T42" fmla="*/ 10 w 221"/>
              <a:gd name="T43" fmla="*/ 42 h 44"/>
              <a:gd name="T44" fmla="*/ 0 w 221"/>
              <a:gd name="T45" fmla="*/ 40 h 44"/>
              <a:gd name="T46" fmla="*/ 51 w 221"/>
              <a:gd name="T47" fmla="*/ 44 h 44"/>
              <a:gd name="T48" fmla="*/ 53 w 221"/>
              <a:gd name="T49" fmla="*/ 42 h 44"/>
              <a:gd name="T50" fmla="*/ 40 w 221"/>
              <a:gd name="T51" fmla="*/ 40 h 44"/>
              <a:gd name="T52" fmla="*/ 38 w 221"/>
              <a:gd name="T53" fmla="*/ 42 h 44"/>
              <a:gd name="T54" fmla="*/ 60 w 221"/>
              <a:gd name="T55" fmla="*/ 44 h 44"/>
              <a:gd name="T56" fmla="*/ 74 w 221"/>
              <a:gd name="T57" fmla="*/ 42 h 44"/>
              <a:gd name="T58" fmla="*/ 72 w 221"/>
              <a:gd name="T59" fmla="*/ 40 h 44"/>
              <a:gd name="T60" fmla="*/ 59 w 221"/>
              <a:gd name="T61" fmla="*/ 42 h 44"/>
              <a:gd name="T62" fmla="*/ 60 w 221"/>
              <a:gd name="T63" fmla="*/ 44 h 44"/>
              <a:gd name="T64" fmla="*/ 93 w 221"/>
              <a:gd name="T65" fmla="*/ 44 h 44"/>
              <a:gd name="T66" fmla="*/ 95 w 221"/>
              <a:gd name="T67" fmla="*/ 42 h 44"/>
              <a:gd name="T68" fmla="*/ 81 w 221"/>
              <a:gd name="T69" fmla="*/ 40 h 44"/>
              <a:gd name="T70" fmla="*/ 80 w 221"/>
              <a:gd name="T71" fmla="*/ 42 h 44"/>
              <a:gd name="T72" fmla="*/ 102 w 221"/>
              <a:gd name="T73" fmla="*/ 44 h 44"/>
              <a:gd name="T74" fmla="*/ 116 w 221"/>
              <a:gd name="T75" fmla="*/ 42 h 44"/>
              <a:gd name="T76" fmla="*/ 114 w 221"/>
              <a:gd name="T77" fmla="*/ 40 h 44"/>
              <a:gd name="T78" fmla="*/ 101 w 221"/>
              <a:gd name="T79" fmla="*/ 42 h 44"/>
              <a:gd name="T80" fmla="*/ 102 w 221"/>
              <a:gd name="T81" fmla="*/ 44 h 44"/>
              <a:gd name="T82" fmla="*/ 135 w 221"/>
              <a:gd name="T83" fmla="*/ 44 h 44"/>
              <a:gd name="T84" fmla="*/ 137 w 221"/>
              <a:gd name="T85" fmla="*/ 42 h 44"/>
              <a:gd name="T86" fmla="*/ 123 w 221"/>
              <a:gd name="T87" fmla="*/ 40 h 44"/>
              <a:gd name="T88" fmla="*/ 122 w 221"/>
              <a:gd name="T89" fmla="*/ 42 h 44"/>
              <a:gd name="T90" fmla="*/ 144 w 221"/>
              <a:gd name="T91" fmla="*/ 44 h 44"/>
              <a:gd name="T92" fmla="*/ 158 w 221"/>
              <a:gd name="T93" fmla="*/ 42 h 44"/>
              <a:gd name="T94" fmla="*/ 156 w 221"/>
              <a:gd name="T95" fmla="*/ 40 h 44"/>
              <a:gd name="T96" fmla="*/ 143 w 221"/>
              <a:gd name="T97" fmla="*/ 42 h 44"/>
              <a:gd name="T98" fmla="*/ 144 w 221"/>
              <a:gd name="T99" fmla="*/ 44 h 44"/>
              <a:gd name="T100" fmla="*/ 177 w 221"/>
              <a:gd name="T101" fmla="*/ 44 h 44"/>
              <a:gd name="T102" fmla="*/ 179 w 221"/>
              <a:gd name="T103" fmla="*/ 42 h 44"/>
              <a:gd name="T104" fmla="*/ 165 w 221"/>
              <a:gd name="T105" fmla="*/ 40 h 44"/>
              <a:gd name="T106" fmla="*/ 164 w 221"/>
              <a:gd name="T107" fmla="*/ 42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21" h="44">
                <a:moveTo>
                  <a:pt x="19" y="44"/>
                </a:moveTo>
                <a:cubicBezTo>
                  <a:pt x="22" y="44"/>
                  <a:pt x="26" y="44"/>
                  <a:pt x="30" y="44"/>
                </a:cubicBezTo>
                <a:cubicBezTo>
                  <a:pt x="31" y="44"/>
                  <a:pt x="32" y="43"/>
                  <a:pt x="32" y="42"/>
                </a:cubicBezTo>
                <a:cubicBezTo>
                  <a:pt x="32" y="42"/>
                  <a:pt x="32" y="42"/>
                  <a:pt x="32" y="42"/>
                </a:cubicBezTo>
                <a:cubicBezTo>
                  <a:pt x="32" y="41"/>
                  <a:pt x="31" y="40"/>
                  <a:pt x="30" y="40"/>
                </a:cubicBezTo>
                <a:cubicBezTo>
                  <a:pt x="26" y="40"/>
                  <a:pt x="22" y="40"/>
                  <a:pt x="19" y="40"/>
                </a:cubicBezTo>
                <a:cubicBezTo>
                  <a:pt x="18" y="40"/>
                  <a:pt x="17" y="41"/>
                  <a:pt x="17" y="42"/>
                </a:cubicBezTo>
                <a:cubicBezTo>
                  <a:pt x="17" y="42"/>
                  <a:pt x="17" y="42"/>
                  <a:pt x="17" y="42"/>
                </a:cubicBezTo>
                <a:cubicBezTo>
                  <a:pt x="17" y="43"/>
                  <a:pt x="18" y="44"/>
                  <a:pt x="19" y="44"/>
                </a:cubicBezTo>
                <a:close/>
                <a:moveTo>
                  <a:pt x="196" y="42"/>
                </a:moveTo>
                <a:cubicBezTo>
                  <a:pt x="196" y="41"/>
                  <a:pt x="197" y="40"/>
                  <a:pt x="198" y="38"/>
                </a:cubicBezTo>
                <a:cubicBezTo>
                  <a:pt x="199" y="38"/>
                  <a:pt x="198" y="36"/>
                  <a:pt x="198" y="36"/>
                </a:cubicBezTo>
                <a:cubicBezTo>
                  <a:pt x="198" y="36"/>
                  <a:pt x="198" y="36"/>
                  <a:pt x="198" y="36"/>
                </a:cubicBezTo>
                <a:cubicBezTo>
                  <a:pt x="197" y="36"/>
                  <a:pt x="196" y="36"/>
                  <a:pt x="195" y="37"/>
                </a:cubicBezTo>
                <a:cubicBezTo>
                  <a:pt x="195" y="38"/>
                  <a:pt x="194" y="39"/>
                  <a:pt x="193" y="40"/>
                </a:cubicBezTo>
                <a:cubicBezTo>
                  <a:pt x="190" y="40"/>
                  <a:pt x="190" y="40"/>
                  <a:pt x="186" y="40"/>
                </a:cubicBezTo>
                <a:cubicBezTo>
                  <a:pt x="186" y="40"/>
                  <a:pt x="185" y="41"/>
                  <a:pt x="185" y="42"/>
                </a:cubicBezTo>
                <a:cubicBezTo>
                  <a:pt x="185" y="42"/>
                  <a:pt x="185" y="42"/>
                  <a:pt x="185" y="42"/>
                </a:cubicBezTo>
                <a:cubicBezTo>
                  <a:pt x="185" y="43"/>
                  <a:pt x="186" y="44"/>
                  <a:pt x="186" y="44"/>
                </a:cubicBezTo>
                <a:cubicBezTo>
                  <a:pt x="194" y="44"/>
                  <a:pt x="194" y="44"/>
                  <a:pt x="194" y="44"/>
                </a:cubicBezTo>
                <a:cubicBezTo>
                  <a:pt x="195" y="44"/>
                  <a:pt x="195" y="43"/>
                  <a:pt x="196" y="42"/>
                </a:cubicBezTo>
                <a:close/>
                <a:moveTo>
                  <a:pt x="217" y="1"/>
                </a:moveTo>
                <a:cubicBezTo>
                  <a:pt x="215" y="4"/>
                  <a:pt x="213" y="7"/>
                  <a:pt x="211" y="11"/>
                </a:cubicBezTo>
                <a:cubicBezTo>
                  <a:pt x="211" y="12"/>
                  <a:pt x="211" y="13"/>
                  <a:pt x="212" y="13"/>
                </a:cubicBezTo>
                <a:cubicBezTo>
                  <a:pt x="212" y="13"/>
                  <a:pt x="212" y="13"/>
                  <a:pt x="212" y="13"/>
                </a:cubicBezTo>
                <a:cubicBezTo>
                  <a:pt x="212" y="14"/>
                  <a:pt x="213" y="13"/>
                  <a:pt x="214" y="12"/>
                </a:cubicBezTo>
                <a:cubicBezTo>
                  <a:pt x="216" y="9"/>
                  <a:pt x="218" y="6"/>
                  <a:pt x="220" y="2"/>
                </a:cubicBezTo>
                <a:cubicBezTo>
                  <a:pt x="221" y="2"/>
                  <a:pt x="220" y="1"/>
                  <a:pt x="219" y="0"/>
                </a:cubicBezTo>
                <a:cubicBezTo>
                  <a:pt x="219" y="0"/>
                  <a:pt x="219" y="0"/>
                  <a:pt x="219" y="0"/>
                </a:cubicBezTo>
                <a:cubicBezTo>
                  <a:pt x="219" y="0"/>
                  <a:pt x="218" y="0"/>
                  <a:pt x="217" y="1"/>
                </a:cubicBezTo>
                <a:close/>
                <a:moveTo>
                  <a:pt x="206" y="19"/>
                </a:moveTo>
                <a:cubicBezTo>
                  <a:pt x="204" y="22"/>
                  <a:pt x="202" y="25"/>
                  <a:pt x="200" y="29"/>
                </a:cubicBezTo>
                <a:cubicBezTo>
                  <a:pt x="200" y="29"/>
                  <a:pt x="200" y="30"/>
                  <a:pt x="201" y="31"/>
                </a:cubicBezTo>
                <a:cubicBezTo>
                  <a:pt x="201" y="31"/>
                  <a:pt x="201" y="31"/>
                  <a:pt x="201" y="31"/>
                </a:cubicBezTo>
                <a:cubicBezTo>
                  <a:pt x="201" y="31"/>
                  <a:pt x="203" y="31"/>
                  <a:pt x="203" y="30"/>
                </a:cubicBezTo>
                <a:cubicBezTo>
                  <a:pt x="205" y="27"/>
                  <a:pt x="207" y="24"/>
                  <a:pt x="209" y="20"/>
                </a:cubicBezTo>
                <a:cubicBezTo>
                  <a:pt x="210" y="20"/>
                  <a:pt x="209" y="19"/>
                  <a:pt x="209" y="18"/>
                </a:cubicBezTo>
                <a:cubicBezTo>
                  <a:pt x="209" y="18"/>
                  <a:pt x="209" y="18"/>
                  <a:pt x="209" y="18"/>
                </a:cubicBezTo>
                <a:cubicBezTo>
                  <a:pt x="208" y="18"/>
                  <a:pt x="207" y="18"/>
                  <a:pt x="206" y="19"/>
                </a:cubicBezTo>
                <a:close/>
                <a:moveTo>
                  <a:pt x="0" y="40"/>
                </a:moveTo>
                <a:cubicBezTo>
                  <a:pt x="0" y="44"/>
                  <a:pt x="0" y="44"/>
                  <a:pt x="0" y="44"/>
                </a:cubicBezTo>
                <a:cubicBezTo>
                  <a:pt x="8" y="44"/>
                  <a:pt x="8" y="44"/>
                  <a:pt x="8" y="44"/>
                </a:cubicBezTo>
                <a:cubicBezTo>
                  <a:pt x="9" y="44"/>
                  <a:pt x="10" y="43"/>
                  <a:pt x="10" y="42"/>
                </a:cubicBezTo>
                <a:cubicBezTo>
                  <a:pt x="10" y="42"/>
                  <a:pt x="10" y="42"/>
                  <a:pt x="10" y="42"/>
                </a:cubicBezTo>
                <a:cubicBezTo>
                  <a:pt x="10" y="41"/>
                  <a:pt x="9" y="40"/>
                  <a:pt x="8" y="40"/>
                </a:cubicBezTo>
                <a:cubicBezTo>
                  <a:pt x="0" y="40"/>
                  <a:pt x="0" y="40"/>
                  <a:pt x="0" y="40"/>
                </a:cubicBezTo>
                <a:close/>
                <a:moveTo>
                  <a:pt x="40" y="44"/>
                </a:moveTo>
                <a:cubicBezTo>
                  <a:pt x="43" y="44"/>
                  <a:pt x="47" y="44"/>
                  <a:pt x="51" y="44"/>
                </a:cubicBezTo>
                <a:cubicBezTo>
                  <a:pt x="52" y="44"/>
                  <a:pt x="53" y="43"/>
                  <a:pt x="53" y="42"/>
                </a:cubicBezTo>
                <a:cubicBezTo>
                  <a:pt x="53" y="42"/>
                  <a:pt x="53" y="42"/>
                  <a:pt x="53" y="42"/>
                </a:cubicBezTo>
                <a:cubicBezTo>
                  <a:pt x="53" y="41"/>
                  <a:pt x="52" y="40"/>
                  <a:pt x="51" y="40"/>
                </a:cubicBezTo>
                <a:cubicBezTo>
                  <a:pt x="47" y="40"/>
                  <a:pt x="43" y="40"/>
                  <a:pt x="40" y="40"/>
                </a:cubicBezTo>
                <a:cubicBezTo>
                  <a:pt x="39" y="40"/>
                  <a:pt x="38" y="41"/>
                  <a:pt x="38" y="42"/>
                </a:cubicBezTo>
                <a:cubicBezTo>
                  <a:pt x="38" y="42"/>
                  <a:pt x="38" y="42"/>
                  <a:pt x="38" y="42"/>
                </a:cubicBezTo>
                <a:cubicBezTo>
                  <a:pt x="38" y="43"/>
                  <a:pt x="39" y="44"/>
                  <a:pt x="40" y="44"/>
                </a:cubicBezTo>
                <a:close/>
                <a:moveTo>
                  <a:pt x="60" y="44"/>
                </a:moveTo>
                <a:cubicBezTo>
                  <a:pt x="64" y="44"/>
                  <a:pt x="68" y="44"/>
                  <a:pt x="72" y="44"/>
                </a:cubicBezTo>
                <a:cubicBezTo>
                  <a:pt x="73" y="44"/>
                  <a:pt x="74" y="43"/>
                  <a:pt x="74" y="42"/>
                </a:cubicBezTo>
                <a:cubicBezTo>
                  <a:pt x="74" y="42"/>
                  <a:pt x="74" y="42"/>
                  <a:pt x="74" y="42"/>
                </a:cubicBezTo>
                <a:cubicBezTo>
                  <a:pt x="74" y="41"/>
                  <a:pt x="73" y="40"/>
                  <a:pt x="72" y="40"/>
                </a:cubicBezTo>
                <a:cubicBezTo>
                  <a:pt x="68" y="40"/>
                  <a:pt x="64" y="40"/>
                  <a:pt x="60" y="40"/>
                </a:cubicBezTo>
                <a:cubicBezTo>
                  <a:pt x="60" y="40"/>
                  <a:pt x="59" y="41"/>
                  <a:pt x="59" y="42"/>
                </a:cubicBezTo>
                <a:cubicBezTo>
                  <a:pt x="59" y="42"/>
                  <a:pt x="59" y="42"/>
                  <a:pt x="59" y="42"/>
                </a:cubicBezTo>
                <a:cubicBezTo>
                  <a:pt x="59" y="43"/>
                  <a:pt x="60" y="44"/>
                  <a:pt x="60" y="44"/>
                </a:cubicBezTo>
                <a:close/>
                <a:moveTo>
                  <a:pt x="81" y="44"/>
                </a:moveTo>
                <a:cubicBezTo>
                  <a:pt x="85" y="44"/>
                  <a:pt x="89" y="44"/>
                  <a:pt x="93" y="44"/>
                </a:cubicBezTo>
                <a:cubicBezTo>
                  <a:pt x="94" y="44"/>
                  <a:pt x="95" y="43"/>
                  <a:pt x="95" y="42"/>
                </a:cubicBezTo>
                <a:cubicBezTo>
                  <a:pt x="95" y="42"/>
                  <a:pt x="95" y="42"/>
                  <a:pt x="95" y="42"/>
                </a:cubicBezTo>
                <a:cubicBezTo>
                  <a:pt x="95" y="41"/>
                  <a:pt x="94" y="40"/>
                  <a:pt x="93" y="40"/>
                </a:cubicBezTo>
                <a:cubicBezTo>
                  <a:pt x="89" y="40"/>
                  <a:pt x="85" y="40"/>
                  <a:pt x="81" y="40"/>
                </a:cubicBezTo>
                <a:cubicBezTo>
                  <a:pt x="81" y="40"/>
                  <a:pt x="80" y="41"/>
                  <a:pt x="80" y="42"/>
                </a:cubicBezTo>
                <a:cubicBezTo>
                  <a:pt x="80" y="42"/>
                  <a:pt x="80" y="42"/>
                  <a:pt x="80" y="42"/>
                </a:cubicBezTo>
                <a:cubicBezTo>
                  <a:pt x="80" y="43"/>
                  <a:pt x="81" y="44"/>
                  <a:pt x="81" y="44"/>
                </a:cubicBezTo>
                <a:close/>
                <a:moveTo>
                  <a:pt x="102" y="44"/>
                </a:moveTo>
                <a:cubicBezTo>
                  <a:pt x="106" y="44"/>
                  <a:pt x="110" y="44"/>
                  <a:pt x="114" y="44"/>
                </a:cubicBezTo>
                <a:cubicBezTo>
                  <a:pt x="115" y="44"/>
                  <a:pt x="116" y="43"/>
                  <a:pt x="116" y="42"/>
                </a:cubicBezTo>
                <a:cubicBezTo>
                  <a:pt x="116" y="42"/>
                  <a:pt x="116" y="42"/>
                  <a:pt x="116" y="42"/>
                </a:cubicBezTo>
                <a:cubicBezTo>
                  <a:pt x="116" y="41"/>
                  <a:pt x="115" y="40"/>
                  <a:pt x="114" y="40"/>
                </a:cubicBezTo>
                <a:cubicBezTo>
                  <a:pt x="110" y="40"/>
                  <a:pt x="106" y="40"/>
                  <a:pt x="102" y="40"/>
                </a:cubicBezTo>
                <a:cubicBezTo>
                  <a:pt x="102" y="40"/>
                  <a:pt x="101" y="41"/>
                  <a:pt x="101" y="42"/>
                </a:cubicBezTo>
                <a:cubicBezTo>
                  <a:pt x="101" y="42"/>
                  <a:pt x="101" y="42"/>
                  <a:pt x="101" y="42"/>
                </a:cubicBezTo>
                <a:cubicBezTo>
                  <a:pt x="101" y="43"/>
                  <a:pt x="102" y="44"/>
                  <a:pt x="102" y="44"/>
                </a:cubicBezTo>
                <a:close/>
                <a:moveTo>
                  <a:pt x="123" y="44"/>
                </a:moveTo>
                <a:cubicBezTo>
                  <a:pt x="127" y="44"/>
                  <a:pt x="131" y="44"/>
                  <a:pt x="135" y="44"/>
                </a:cubicBezTo>
                <a:cubicBezTo>
                  <a:pt x="136" y="44"/>
                  <a:pt x="137" y="43"/>
                  <a:pt x="137" y="42"/>
                </a:cubicBezTo>
                <a:cubicBezTo>
                  <a:pt x="137" y="42"/>
                  <a:pt x="137" y="42"/>
                  <a:pt x="137" y="42"/>
                </a:cubicBezTo>
                <a:cubicBezTo>
                  <a:pt x="137" y="41"/>
                  <a:pt x="136" y="40"/>
                  <a:pt x="135" y="40"/>
                </a:cubicBezTo>
                <a:cubicBezTo>
                  <a:pt x="131" y="40"/>
                  <a:pt x="127" y="40"/>
                  <a:pt x="123" y="40"/>
                </a:cubicBezTo>
                <a:cubicBezTo>
                  <a:pt x="123" y="40"/>
                  <a:pt x="122" y="41"/>
                  <a:pt x="122" y="42"/>
                </a:cubicBezTo>
                <a:cubicBezTo>
                  <a:pt x="122" y="42"/>
                  <a:pt x="122" y="42"/>
                  <a:pt x="122" y="42"/>
                </a:cubicBezTo>
                <a:cubicBezTo>
                  <a:pt x="122" y="43"/>
                  <a:pt x="123" y="44"/>
                  <a:pt x="123" y="44"/>
                </a:cubicBezTo>
                <a:close/>
                <a:moveTo>
                  <a:pt x="144" y="44"/>
                </a:moveTo>
                <a:cubicBezTo>
                  <a:pt x="148" y="44"/>
                  <a:pt x="152" y="44"/>
                  <a:pt x="156" y="44"/>
                </a:cubicBezTo>
                <a:cubicBezTo>
                  <a:pt x="157" y="44"/>
                  <a:pt x="158" y="43"/>
                  <a:pt x="158" y="42"/>
                </a:cubicBezTo>
                <a:cubicBezTo>
                  <a:pt x="158" y="42"/>
                  <a:pt x="158" y="42"/>
                  <a:pt x="158" y="42"/>
                </a:cubicBezTo>
                <a:cubicBezTo>
                  <a:pt x="158" y="41"/>
                  <a:pt x="157" y="40"/>
                  <a:pt x="156" y="40"/>
                </a:cubicBezTo>
                <a:cubicBezTo>
                  <a:pt x="152" y="40"/>
                  <a:pt x="148" y="40"/>
                  <a:pt x="144" y="40"/>
                </a:cubicBezTo>
                <a:cubicBezTo>
                  <a:pt x="144" y="40"/>
                  <a:pt x="143" y="41"/>
                  <a:pt x="143" y="42"/>
                </a:cubicBezTo>
                <a:cubicBezTo>
                  <a:pt x="143" y="42"/>
                  <a:pt x="143" y="42"/>
                  <a:pt x="143" y="42"/>
                </a:cubicBezTo>
                <a:cubicBezTo>
                  <a:pt x="143" y="43"/>
                  <a:pt x="144" y="44"/>
                  <a:pt x="144" y="44"/>
                </a:cubicBezTo>
                <a:close/>
                <a:moveTo>
                  <a:pt x="165" y="44"/>
                </a:moveTo>
                <a:cubicBezTo>
                  <a:pt x="169" y="44"/>
                  <a:pt x="173" y="44"/>
                  <a:pt x="177" y="44"/>
                </a:cubicBezTo>
                <a:cubicBezTo>
                  <a:pt x="178" y="44"/>
                  <a:pt x="179" y="43"/>
                  <a:pt x="179" y="42"/>
                </a:cubicBezTo>
                <a:cubicBezTo>
                  <a:pt x="179" y="42"/>
                  <a:pt x="179" y="42"/>
                  <a:pt x="179" y="42"/>
                </a:cubicBezTo>
                <a:cubicBezTo>
                  <a:pt x="179" y="41"/>
                  <a:pt x="178" y="40"/>
                  <a:pt x="177" y="40"/>
                </a:cubicBezTo>
                <a:cubicBezTo>
                  <a:pt x="173" y="40"/>
                  <a:pt x="169" y="40"/>
                  <a:pt x="165" y="40"/>
                </a:cubicBezTo>
                <a:cubicBezTo>
                  <a:pt x="165" y="40"/>
                  <a:pt x="164" y="41"/>
                  <a:pt x="164" y="42"/>
                </a:cubicBezTo>
                <a:cubicBezTo>
                  <a:pt x="164" y="42"/>
                  <a:pt x="164" y="42"/>
                  <a:pt x="164" y="42"/>
                </a:cubicBezTo>
                <a:cubicBezTo>
                  <a:pt x="164" y="43"/>
                  <a:pt x="165" y="44"/>
                  <a:pt x="165" y="44"/>
                </a:cubicBezTo>
                <a:close/>
              </a:path>
            </a:pathLst>
          </a:custGeom>
          <a:solidFill>
            <a:srgbClr val="757975"/>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4" name="Freeform 33"/>
          <p:cNvSpPr>
            <a:spLocks noEditPoints="1"/>
          </p:cNvSpPr>
          <p:nvPr/>
        </p:nvSpPr>
        <p:spPr bwMode="auto">
          <a:xfrm>
            <a:off x="769938" y="2489203"/>
            <a:ext cx="1870075" cy="431800"/>
          </a:xfrm>
          <a:custGeom>
            <a:avLst/>
            <a:gdLst>
              <a:gd name="T0" fmla="*/ 30 w 225"/>
              <a:gd name="T1" fmla="*/ 0 h 52"/>
              <a:gd name="T2" fmla="*/ 32 w 225"/>
              <a:gd name="T3" fmla="*/ 2 h 52"/>
              <a:gd name="T4" fmla="*/ 19 w 225"/>
              <a:gd name="T5" fmla="*/ 4 h 52"/>
              <a:gd name="T6" fmla="*/ 17 w 225"/>
              <a:gd name="T7" fmla="*/ 2 h 52"/>
              <a:gd name="T8" fmla="*/ 224 w 225"/>
              <a:gd name="T9" fmla="*/ 48 h 52"/>
              <a:gd name="T10" fmla="*/ 225 w 225"/>
              <a:gd name="T11" fmla="*/ 50 h 52"/>
              <a:gd name="T12" fmla="*/ 224 w 225"/>
              <a:gd name="T13" fmla="*/ 52 h 52"/>
              <a:gd name="T14" fmla="*/ 222 w 225"/>
              <a:gd name="T15" fmla="*/ 51 h 52"/>
              <a:gd name="T16" fmla="*/ 224 w 225"/>
              <a:gd name="T17" fmla="*/ 48 h 52"/>
              <a:gd name="T18" fmla="*/ 198 w 225"/>
              <a:gd name="T19" fmla="*/ 6 h 52"/>
              <a:gd name="T20" fmla="*/ 198 w 225"/>
              <a:gd name="T21" fmla="*/ 8 h 52"/>
              <a:gd name="T22" fmla="*/ 193 w 225"/>
              <a:gd name="T23" fmla="*/ 4 h 52"/>
              <a:gd name="T24" fmla="*/ 185 w 225"/>
              <a:gd name="T25" fmla="*/ 2 h 52"/>
              <a:gd name="T26" fmla="*/ 186 w 225"/>
              <a:gd name="T27" fmla="*/ 0 h 52"/>
              <a:gd name="T28" fmla="*/ 196 w 225"/>
              <a:gd name="T29" fmla="*/ 1 h 52"/>
              <a:gd name="T30" fmla="*/ 211 w 225"/>
              <a:gd name="T31" fmla="*/ 33 h 52"/>
              <a:gd name="T32" fmla="*/ 212 w 225"/>
              <a:gd name="T33" fmla="*/ 31 h 52"/>
              <a:gd name="T34" fmla="*/ 220 w 225"/>
              <a:gd name="T35" fmla="*/ 41 h 52"/>
              <a:gd name="T36" fmla="*/ 219 w 225"/>
              <a:gd name="T37" fmla="*/ 44 h 52"/>
              <a:gd name="T38" fmla="*/ 206 w 225"/>
              <a:gd name="T39" fmla="*/ 25 h 52"/>
              <a:gd name="T40" fmla="*/ 201 w 225"/>
              <a:gd name="T41" fmla="*/ 13 h 52"/>
              <a:gd name="T42" fmla="*/ 203 w 225"/>
              <a:gd name="T43" fmla="*/ 13 h 52"/>
              <a:gd name="T44" fmla="*/ 209 w 225"/>
              <a:gd name="T45" fmla="*/ 26 h 52"/>
              <a:gd name="T46" fmla="*/ 206 w 225"/>
              <a:gd name="T47" fmla="*/ 25 h 52"/>
              <a:gd name="T48" fmla="*/ 0 w 225"/>
              <a:gd name="T49" fmla="*/ 0 h 52"/>
              <a:gd name="T50" fmla="*/ 10 w 225"/>
              <a:gd name="T51" fmla="*/ 2 h 52"/>
              <a:gd name="T52" fmla="*/ 8 w 225"/>
              <a:gd name="T53" fmla="*/ 4 h 52"/>
              <a:gd name="T54" fmla="*/ 40 w 225"/>
              <a:gd name="T55" fmla="*/ 0 h 52"/>
              <a:gd name="T56" fmla="*/ 53 w 225"/>
              <a:gd name="T57" fmla="*/ 2 h 52"/>
              <a:gd name="T58" fmla="*/ 51 w 225"/>
              <a:gd name="T59" fmla="*/ 4 h 52"/>
              <a:gd name="T60" fmla="*/ 38 w 225"/>
              <a:gd name="T61" fmla="*/ 2 h 52"/>
              <a:gd name="T62" fmla="*/ 40 w 225"/>
              <a:gd name="T63" fmla="*/ 0 h 52"/>
              <a:gd name="T64" fmla="*/ 72 w 225"/>
              <a:gd name="T65" fmla="*/ 0 h 52"/>
              <a:gd name="T66" fmla="*/ 74 w 225"/>
              <a:gd name="T67" fmla="*/ 2 h 52"/>
              <a:gd name="T68" fmla="*/ 60 w 225"/>
              <a:gd name="T69" fmla="*/ 4 h 52"/>
              <a:gd name="T70" fmla="*/ 59 w 225"/>
              <a:gd name="T71" fmla="*/ 2 h 52"/>
              <a:gd name="T72" fmla="*/ 81 w 225"/>
              <a:gd name="T73" fmla="*/ 0 h 52"/>
              <a:gd name="T74" fmla="*/ 95 w 225"/>
              <a:gd name="T75" fmla="*/ 2 h 52"/>
              <a:gd name="T76" fmla="*/ 93 w 225"/>
              <a:gd name="T77" fmla="*/ 4 h 52"/>
              <a:gd name="T78" fmla="*/ 80 w 225"/>
              <a:gd name="T79" fmla="*/ 2 h 52"/>
              <a:gd name="T80" fmla="*/ 81 w 225"/>
              <a:gd name="T81" fmla="*/ 0 h 52"/>
              <a:gd name="T82" fmla="*/ 114 w 225"/>
              <a:gd name="T83" fmla="*/ 0 h 52"/>
              <a:gd name="T84" fmla="*/ 116 w 225"/>
              <a:gd name="T85" fmla="*/ 2 h 52"/>
              <a:gd name="T86" fmla="*/ 102 w 225"/>
              <a:gd name="T87" fmla="*/ 4 h 52"/>
              <a:gd name="T88" fmla="*/ 101 w 225"/>
              <a:gd name="T89" fmla="*/ 2 h 52"/>
              <a:gd name="T90" fmla="*/ 123 w 225"/>
              <a:gd name="T91" fmla="*/ 0 h 52"/>
              <a:gd name="T92" fmla="*/ 137 w 225"/>
              <a:gd name="T93" fmla="*/ 2 h 52"/>
              <a:gd name="T94" fmla="*/ 135 w 225"/>
              <a:gd name="T95" fmla="*/ 4 h 52"/>
              <a:gd name="T96" fmla="*/ 122 w 225"/>
              <a:gd name="T97" fmla="*/ 2 h 52"/>
              <a:gd name="T98" fmla="*/ 123 w 225"/>
              <a:gd name="T99" fmla="*/ 0 h 52"/>
              <a:gd name="T100" fmla="*/ 156 w 225"/>
              <a:gd name="T101" fmla="*/ 0 h 52"/>
              <a:gd name="T102" fmla="*/ 158 w 225"/>
              <a:gd name="T103" fmla="*/ 2 h 52"/>
              <a:gd name="T104" fmla="*/ 144 w 225"/>
              <a:gd name="T105" fmla="*/ 4 h 52"/>
              <a:gd name="T106" fmla="*/ 143 w 225"/>
              <a:gd name="T107" fmla="*/ 2 h 52"/>
              <a:gd name="T108" fmla="*/ 165 w 225"/>
              <a:gd name="T109" fmla="*/ 0 h 52"/>
              <a:gd name="T110" fmla="*/ 179 w 225"/>
              <a:gd name="T111" fmla="*/ 2 h 52"/>
              <a:gd name="T112" fmla="*/ 177 w 225"/>
              <a:gd name="T113" fmla="*/ 4 h 52"/>
              <a:gd name="T114" fmla="*/ 164 w 225"/>
              <a:gd name="T115" fmla="*/ 2 h 52"/>
              <a:gd name="T116" fmla="*/ 165 w 225"/>
              <a:gd name="T117"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5" h="52">
                <a:moveTo>
                  <a:pt x="19" y="0"/>
                </a:moveTo>
                <a:cubicBezTo>
                  <a:pt x="22" y="0"/>
                  <a:pt x="26" y="0"/>
                  <a:pt x="30" y="0"/>
                </a:cubicBezTo>
                <a:cubicBezTo>
                  <a:pt x="31" y="0"/>
                  <a:pt x="32" y="1"/>
                  <a:pt x="32" y="2"/>
                </a:cubicBezTo>
                <a:cubicBezTo>
                  <a:pt x="32" y="2"/>
                  <a:pt x="32" y="2"/>
                  <a:pt x="32" y="2"/>
                </a:cubicBezTo>
                <a:cubicBezTo>
                  <a:pt x="32" y="3"/>
                  <a:pt x="31" y="4"/>
                  <a:pt x="30" y="4"/>
                </a:cubicBezTo>
                <a:cubicBezTo>
                  <a:pt x="26" y="4"/>
                  <a:pt x="22" y="4"/>
                  <a:pt x="19" y="4"/>
                </a:cubicBezTo>
                <a:cubicBezTo>
                  <a:pt x="18" y="4"/>
                  <a:pt x="17" y="3"/>
                  <a:pt x="17" y="2"/>
                </a:cubicBezTo>
                <a:cubicBezTo>
                  <a:pt x="17" y="2"/>
                  <a:pt x="17" y="2"/>
                  <a:pt x="17" y="2"/>
                </a:cubicBezTo>
                <a:cubicBezTo>
                  <a:pt x="17" y="1"/>
                  <a:pt x="18" y="0"/>
                  <a:pt x="19" y="0"/>
                </a:cubicBezTo>
                <a:close/>
                <a:moveTo>
                  <a:pt x="224" y="48"/>
                </a:moveTo>
                <a:cubicBezTo>
                  <a:pt x="224" y="48"/>
                  <a:pt x="224" y="48"/>
                  <a:pt x="224" y="48"/>
                </a:cubicBezTo>
                <a:cubicBezTo>
                  <a:pt x="225" y="48"/>
                  <a:pt x="225" y="49"/>
                  <a:pt x="225" y="50"/>
                </a:cubicBezTo>
                <a:cubicBezTo>
                  <a:pt x="225" y="51"/>
                  <a:pt x="225" y="51"/>
                  <a:pt x="225" y="51"/>
                </a:cubicBezTo>
                <a:cubicBezTo>
                  <a:pt x="225" y="52"/>
                  <a:pt x="225" y="52"/>
                  <a:pt x="224" y="52"/>
                </a:cubicBezTo>
                <a:cubicBezTo>
                  <a:pt x="224" y="52"/>
                  <a:pt x="224" y="52"/>
                  <a:pt x="224" y="52"/>
                </a:cubicBezTo>
                <a:cubicBezTo>
                  <a:pt x="223" y="52"/>
                  <a:pt x="222" y="52"/>
                  <a:pt x="222" y="51"/>
                </a:cubicBezTo>
                <a:cubicBezTo>
                  <a:pt x="222" y="50"/>
                  <a:pt x="222" y="50"/>
                  <a:pt x="222" y="50"/>
                </a:cubicBezTo>
                <a:cubicBezTo>
                  <a:pt x="222" y="49"/>
                  <a:pt x="223" y="48"/>
                  <a:pt x="224" y="48"/>
                </a:cubicBezTo>
                <a:close/>
                <a:moveTo>
                  <a:pt x="196" y="1"/>
                </a:moveTo>
                <a:cubicBezTo>
                  <a:pt x="196" y="3"/>
                  <a:pt x="197" y="4"/>
                  <a:pt x="198" y="6"/>
                </a:cubicBezTo>
                <a:cubicBezTo>
                  <a:pt x="199" y="6"/>
                  <a:pt x="198" y="7"/>
                  <a:pt x="198" y="8"/>
                </a:cubicBezTo>
                <a:cubicBezTo>
                  <a:pt x="198" y="8"/>
                  <a:pt x="198" y="8"/>
                  <a:pt x="198" y="8"/>
                </a:cubicBezTo>
                <a:cubicBezTo>
                  <a:pt x="197" y="8"/>
                  <a:pt x="196" y="8"/>
                  <a:pt x="195" y="7"/>
                </a:cubicBezTo>
                <a:cubicBezTo>
                  <a:pt x="195" y="6"/>
                  <a:pt x="194" y="5"/>
                  <a:pt x="193" y="4"/>
                </a:cubicBezTo>
                <a:cubicBezTo>
                  <a:pt x="190" y="4"/>
                  <a:pt x="190" y="4"/>
                  <a:pt x="186" y="4"/>
                </a:cubicBezTo>
                <a:cubicBezTo>
                  <a:pt x="186" y="4"/>
                  <a:pt x="185" y="3"/>
                  <a:pt x="185" y="2"/>
                </a:cubicBezTo>
                <a:cubicBezTo>
                  <a:pt x="185" y="2"/>
                  <a:pt x="185" y="2"/>
                  <a:pt x="185" y="2"/>
                </a:cubicBezTo>
                <a:cubicBezTo>
                  <a:pt x="185" y="1"/>
                  <a:pt x="186" y="0"/>
                  <a:pt x="186" y="0"/>
                </a:cubicBezTo>
                <a:cubicBezTo>
                  <a:pt x="194" y="0"/>
                  <a:pt x="194" y="0"/>
                  <a:pt x="194" y="0"/>
                </a:cubicBezTo>
                <a:cubicBezTo>
                  <a:pt x="195" y="0"/>
                  <a:pt x="195" y="1"/>
                  <a:pt x="196" y="1"/>
                </a:cubicBezTo>
                <a:close/>
                <a:moveTo>
                  <a:pt x="217" y="43"/>
                </a:moveTo>
                <a:cubicBezTo>
                  <a:pt x="215" y="40"/>
                  <a:pt x="213" y="36"/>
                  <a:pt x="211" y="33"/>
                </a:cubicBezTo>
                <a:cubicBezTo>
                  <a:pt x="211" y="32"/>
                  <a:pt x="211" y="31"/>
                  <a:pt x="212" y="31"/>
                </a:cubicBezTo>
                <a:cubicBezTo>
                  <a:pt x="212" y="31"/>
                  <a:pt x="212" y="31"/>
                  <a:pt x="212" y="31"/>
                </a:cubicBezTo>
                <a:cubicBezTo>
                  <a:pt x="212" y="30"/>
                  <a:pt x="213" y="31"/>
                  <a:pt x="214" y="31"/>
                </a:cubicBezTo>
                <a:cubicBezTo>
                  <a:pt x="216" y="35"/>
                  <a:pt x="218" y="38"/>
                  <a:pt x="220" y="41"/>
                </a:cubicBezTo>
                <a:cubicBezTo>
                  <a:pt x="221" y="42"/>
                  <a:pt x="220" y="43"/>
                  <a:pt x="219" y="44"/>
                </a:cubicBezTo>
                <a:cubicBezTo>
                  <a:pt x="219" y="44"/>
                  <a:pt x="219" y="44"/>
                  <a:pt x="219" y="44"/>
                </a:cubicBezTo>
                <a:cubicBezTo>
                  <a:pt x="219" y="44"/>
                  <a:pt x="218" y="44"/>
                  <a:pt x="217" y="43"/>
                </a:cubicBezTo>
                <a:close/>
                <a:moveTo>
                  <a:pt x="206" y="25"/>
                </a:moveTo>
                <a:cubicBezTo>
                  <a:pt x="204" y="22"/>
                  <a:pt x="202" y="19"/>
                  <a:pt x="200" y="15"/>
                </a:cubicBezTo>
                <a:cubicBezTo>
                  <a:pt x="200" y="14"/>
                  <a:pt x="200" y="13"/>
                  <a:pt x="201" y="13"/>
                </a:cubicBezTo>
                <a:cubicBezTo>
                  <a:pt x="201" y="13"/>
                  <a:pt x="201" y="13"/>
                  <a:pt x="201" y="13"/>
                </a:cubicBezTo>
                <a:cubicBezTo>
                  <a:pt x="201" y="12"/>
                  <a:pt x="203" y="13"/>
                  <a:pt x="203" y="13"/>
                </a:cubicBezTo>
                <a:cubicBezTo>
                  <a:pt x="205" y="17"/>
                  <a:pt x="207" y="20"/>
                  <a:pt x="209" y="23"/>
                </a:cubicBezTo>
                <a:cubicBezTo>
                  <a:pt x="210" y="24"/>
                  <a:pt x="209" y="25"/>
                  <a:pt x="209" y="26"/>
                </a:cubicBezTo>
                <a:cubicBezTo>
                  <a:pt x="209" y="26"/>
                  <a:pt x="209" y="26"/>
                  <a:pt x="209" y="26"/>
                </a:cubicBezTo>
                <a:cubicBezTo>
                  <a:pt x="208" y="26"/>
                  <a:pt x="207" y="26"/>
                  <a:pt x="206" y="25"/>
                </a:cubicBezTo>
                <a:close/>
                <a:moveTo>
                  <a:pt x="0" y="4"/>
                </a:moveTo>
                <a:cubicBezTo>
                  <a:pt x="0" y="0"/>
                  <a:pt x="0" y="0"/>
                  <a:pt x="0" y="0"/>
                </a:cubicBezTo>
                <a:cubicBezTo>
                  <a:pt x="8" y="0"/>
                  <a:pt x="8" y="0"/>
                  <a:pt x="8" y="0"/>
                </a:cubicBezTo>
                <a:cubicBezTo>
                  <a:pt x="9" y="0"/>
                  <a:pt x="10" y="1"/>
                  <a:pt x="10" y="2"/>
                </a:cubicBezTo>
                <a:cubicBezTo>
                  <a:pt x="10" y="2"/>
                  <a:pt x="10" y="2"/>
                  <a:pt x="10" y="2"/>
                </a:cubicBezTo>
                <a:cubicBezTo>
                  <a:pt x="10" y="3"/>
                  <a:pt x="9" y="4"/>
                  <a:pt x="8" y="4"/>
                </a:cubicBezTo>
                <a:cubicBezTo>
                  <a:pt x="0" y="4"/>
                  <a:pt x="0" y="4"/>
                  <a:pt x="0" y="4"/>
                </a:cubicBezTo>
                <a:close/>
                <a:moveTo>
                  <a:pt x="40" y="0"/>
                </a:moveTo>
                <a:cubicBezTo>
                  <a:pt x="43" y="0"/>
                  <a:pt x="47" y="0"/>
                  <a:pt x="51" y="0"/>
                </a:cubicBezTo>
                <a:cubicBezTo>
                  <a:pt x="52" y="0"/>
                  <a:pt x="53" y="1"/>
                  <a:pt x="53" y="2"/>
                </a:cubicBezTo>
                <a:cubicBezTo>
                  <a:pt x="53" y="2"/>
                  <a:pt x="53" y="2"/>
                  <a:pt x="53" y="2"/>
                </a:cubicBezTo>
                <a:cubicBezTo>
                  <a:pt x="53" y="3"/>
                  <a:pt x="52" y="4"/>
                  <a:pt x="51" y="4"/>
                </a:cubicBezTo>
                <a:cubicBezTo>
                  <a:pt x="47" y="4"/>
                  <a:pt x="43" y="4"/>
                  <a:pt x="40" y="4"/>
                </a:cubicBezTo>
                <a:cubicBezTo>
                  <a:pt x="39" y="4"/>
                  <a:pt x="38" y="3"/>
                  <a:pt x="38" y="2"/>
                </a:cubicBezTo>
                <a:cubicBezTo>
                  <a:pt x="38" y="2"/>
                  <a:pt x="38" y="2"/>
                  <a:pt x="38" y="2"/>
                </a:cubicBezTo>
                <a:cubicBezTo>
                  <a:pt x="38" y="1"/>
                  <a:pt x="39" y="0"/>
                  <a:pt x="40" y="0"/>
                </a:cubicBezTo>
                <a:close/>
                <a:moveTo>
                  <a:pt x="60" y="0"/>
                </a:moveTo>
                <a:cubicBezTo>
                  <a:pt x="64" y="0"/>
                  <a:pt x="68" y="0"/>
                  <a:pt x="72" y="0"/>
                </a:cubicBezTo>
                <a:cubicBezTo>
                  <a:pt x="73" y="0"/>
                  <a:pt x="74" y="1"/>
                  <a:pt x="74" y="2"/>
                </a:cubicBezTo>
                <a:cubicBezTo>
                  <a:pt x="74" y="2"/>
                  <a:pt x="74" y="2"/>
                  <a:pt x="74" y="2"/>
                </a:cubicBezTo>
                <a:cubicBezTo>
                  <a:pt x="74" y="3"/>
                  <a:pt x="73" y="4"/>
                  <a:pt x="72" y="4"/>
                </a:cubicBezTo>
                <a:cubicBezTo>
                  <a:pt x="68" y="4"/>
                  <a:pt x="64" y="4"/>
                  <a:pt x="60" y="4"/>
                </a:cubicBezTo>
                <a:cubicBezTo>
                  <a:pt x="60" y="4"/>
                  <a:pt x="59" y="3"/>
                  <a:pt x="59" y="2"/>
                </a:cubicBezTo>
                <a:cubicBezTo>
                  <a:pt x="59" y="2"/>
                  <a:pt x="59" y="2"/>
                  <a:pt x="59" y="2"/>
                </a:cubicBezTo>
                <a:cubicBezTo>
                  <a:pt x="59" y="1"/>
                  <a:pt x="60" y="0"/>
                  <a:pt x="60" y="0"/>
                </a:cubicBezTo>
                <a:close/>
                <a:moveTo>
                  <a:pt x="81" y="0"/>
                </a:moveTo>
                <a:cubicBezTo>
                  <a:pt x="85" y="0"/>
                  <a:pt x="89" y="0"/>
                  <a:pt x="93" y="0"/>
                </a:cubicBezTo>
                <a:cubicBezTo>
                  <a:pt x="94" y="0"/>
                  <a:pt x="95" y="1"/>
                  <a:pt x="95" y="2"/>
                </a:cubicBezTo>
                <a:cubicBezTo>
                  <a:pt x="95" y="2"/>
                  <a:pt x="95" y="2"/>
                  <a:pt x="95" y="2"/>
                </a:cubicBezTo>
                <a:cubicBezTo>
                  <a:pt x="95" y="3"/>
                  <a:pt x="94" y="4"/>
                  <a:pt x="93" y="4"/>
                </a:cubicBezTo>
                <a:cubicBezTo>
                  <a:pt x="89" y="4"/>
                  <a:pt x="85" y="4"/>
                  <a:pt x="81" y="4"/>
                </a:cubicBezTo>
                <a:cubicBezTo>
                  <a:pt x="81" y="4"/>
                  <a:pt x="80" y="3"/>
                  <a:pt x="80" y="2"/>
                </a:cubicBezTo>
                <a:cubicBezTo>
                  <a:pt x="80" y="2"/>
                  <a:pt x="80" y="2"/>
                  <a:pt x="80" y="2"/>
                </a:cubicBezTo>
                <a:cubicBezTo>
                  <a:pt x="80" y="1"/>
                  <a:pt x="81" y="0"/>
                  <a:pt x="81" y="0"/>
                </a:cubicBezTo>
                <a:close/>
                <a:moveTo>
                  <a:pt x="102" y="0"/>
                </a:moveTo>
                <a:cubicBezTo>
                  <a:pt x="106" y="0"/>
                  <a:pt x="110" y="0"/>
                  <a:pt x="114" y="0"/>
                </a:cubicBezTo>
                <a:cubicBezTo>
                  <a:pt x="115" y="0"/>
                  <a:pt x="116" y="1"/>
                  <a:pt x="116" y="2"/>
                </a:cubicBezTo>
                <a:cubicBezTo>
                  <a:pt x="116" y="2"/>
                  <a:pt x="116" y="2"/>
                  <a:pt x="116" y="2"/>
                </a:cubicBezTo>
                <a:cubicBezTo>
                  <a:pt x="116" y="3"/>
                  <a:pt x="115" y="4"/>
                  <a:pt x="114" y="4"/>
                </a:cubicBezTo>
                <a:cubicBezTo>
                  <a:pt x="110" y="4"/>
                  <a:pt x="106" y="4"/>
                  <a:pt x="102" y="4"/>
                </a:cubicBezTo>
                <a:cubicBezTo>
                  <a:pt x="102" y="4"/>
                  <a:pt x="101" y="3"/>
                  <a:pt x="101" y="2"/>
                </a:cubicBezTo>
                <a:cubicBezTo>
                  <a:pt x="101" y="2"/>
                  <a:pt x="101" y="2"/>
                  <a:pt x="101" y="2"/>
                </a:cubicBezTo>
                <a:cubicBezTo>
                  <a:pt x="101" y="1"/>
                  <a:pt x="102" y="0"/>
                  <a:pt x="102" y="0"/>
                </a:cubicBezTo>
                <a:close/>
                <a:moveTo>
                  <a:pt x="123" y="0"/>
                </a:moveTo>
                <a:cubicBezTo>
                  <a:pt x="127" y="0"/>
                  <a:pt x="131" y="0"/>
                  <a:pt x="135" y="0"/>
                </a:cubicBezTo>
                <a:cubicBezTo>
                  <a:pt x="136" y="0"/>
                  <a:pt x="137" y="1"/>
                  <a:pt x="137" y="2"/>
                </a:cubicBezTo>
                <a:cubicBezTo>
                  <a:pt x="137" y="2"/>
                  <a:pt x="137" y="2"/>
                  <a:pt x="137" y="2"/>
                </a:cubicBezTo>
                <a:cubicBezTo>
                  <a:pt x="137" y="3"/>
                  <a:pt x="136" y="4"/>
                  <a:pt x="135" y="4"/>
                </a:cubicBezTo>
                <a:cubicBezTo>
                  <a:pt x="131" y="4"/>
                  <a:pt x="127" y="4"/>
                  <a:pt x="123" y="4"/>
                </a:cubicBezTo>
                <a:cubicBezTo>
                  <a:pt x="123" y="4"/>
                  <a:pt x="122" y="3"/>
                  <a:pt x="122" y="2"/>
                </a:cubicBezTo>
                <a:cubicBezTo>
                  <a:pt x="122" y="2"/>
                  <a:pt x="122" y="2"/>
                  <a:pt x="122" y="2"/>
                </a:cubicBezTo>
                <a:cubicBezTo>
                  <a:pt x="122" y="1"/>
                  <a:pt x="123" y="0"/>
                  <a:pt x="123" y="0"/>
                </a:cubicBezTo>
                <a:close/>
                <a:moveTo>
                  <a:pt x="144" y="0"/>
                </a:moveTo>
                <a:cubicBezTo>
                  <a:pt x="148" y="0"/>
                  <a:pt x="152" y="0"/>
                  <a:pt x="156" y="0"/>
                </a:cubicBezTo>
                <a:cubicBezTo>
                  <a:pt x="157" y="0"/>
                  <a:pt x="158" y="1"/>
                  <a:pt x="158" y="2"/>
                </a:cubicBezTo>
                <a:cubicBezTo>
                  <a:pt x="158" y="2"/>
                  <a:pt x="158" y="2"/>
                  <a:pt x="158" y="2"/>
                </a:cubicBezTo>
                <a:cubicBezTo>
                  <a:pt x="158" y="3"/>
                  <a:pt x="157" y="4"/>
                  <a:pt x="156" y="4"/>
                </a:cubicBezTo>
                <a:cubicBezTo>
                  <a:pt x="152" y="4"/>
                  <a:pt x="148" y="4"/>
                  <a:pt x="144" y="4"/>
                </a:cubicBezTo>
                <a:cubicBezTo>
                  <a:pt x="144" y="4"/>
                  <a:pt x="143" y="3"/>
                  <a:pt x="143" y="2"/>
                </a:cubicBezTo>
                <a:cubicBezTo>
                  <a:pt x="143" y="2"/>
                  <a:pt x="143" y="2"/>
                  <a:pt x="143" y="2"/>
                </a:cubicBezTo>
                <a:cubicBezTo>
                  <a:pt x="143" y="1"/>
                  <a:pt x="144" y="0"/>
                  <a:pt x="144" y="0"/>
                </a:cubicBezTo>
                <a:close/>
                <a:moveTo>
                  <a:pt x="165" y="0"/>
                </a:moveTo>
                <a:cubicBezTo>
                  <a:pt x="169" y="0"/>
                  <a:pt x="173" y="0"/>
                  <a:pt x="177" y="0"/>
                </a:cubicBezTo>
                <a:cubicBezTo>
                  <a:pt x="178" y="0"/>
                  <a:pt x="179" y="1"/>
                  <a:pt x="179" y="2"/>
                </a:cubicBezTo>
                <a:cubicBezTo>
                  <a:pt x="179" y="2"/>
                  <a:pt x="179" y="2"/>
                  <a:pt x="179" y="2"/>
                </a:cubicBezTo>
                <a:cubicBezTo>
                  <a:pt x="179" y="3"/>
                  <a:pt x="178" y="4"/>
                  <a:pt x="177" y="4"/>
                </a:cubicBezTo>
                <a:cubicBezTo>
                  <a:pt x="173" y="4"/>
                  <a:pt x="169" y="4"/>
                  <a:pt x="165" y="4"/>
                </a:cubicBezTo>
                <a:cubicBezTo>
                  <a:pt x="165" y="4"/>
                  <a:pt x="164" y="3"/>
                  <a:pt x="164" y="2"/>
                </a:cubicBezTo>
                <a:cubicBezTo>
                  <a:pt x="164" y="2"/>
                  <a:pt x="164" y="2"/>
                  <a:pt x="164" y="2"/>
                </a:cubicBezTo>
                <a:cubicBezTo>
                  <a:pt x="164" y="1"/>
                  <a:pt x="165" y="0"/>
                  <a:pt x="165" y="0"/>
                </a:cubicBezTo>
                <a:close/>
              </a:path>
            </a:pathLst>
          </a:custGeom>
          <a:solidFill>
            <a:srgbClr val="757975"/>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 name="Freeform 35"/>
          <p:cNvSpPr/>
          <p:nvPr/>
        </p:nvSpPr>
        <p:spPr bwMode="auto">
          <a:xfrm>
            <a:off x="1061243" y="4286378"/>
            <a:ext cx="1736725" cy="946150"/>
          </a:xfrm>
          <a:custGeom>
            <a:avLst/>
            <a:gdLst>
              <a:gd name="T0" fmla="*/ 0 w 1094"/>
              <a:gd name="T1" fmla="*/ 0 h 596"/>
              <a:gd name="T2" fmla="*/ 911 w 1094"/>
              <a:gd name="T3" fmla="*/ 0 h 596"/>
              <a:gd name="T4" fmla="*/ 1094 w 1094"/>
              <a:gd name="T5" fmla="*/ 298 h 596"/>
              <a:gd name="T6" fmla="*/ 911 w 1094"/>
              <a:gd name="T7" fmla="*/ 596 h 596"/>
              <a:gd name="T8" fmla="*/ 0 w 1094"/>
              <a:gd name="T9" fmla="*/ 596 h 596"/>
              <a:gd name="T10" fmla="*/ 0 w 1094"/>
              <a:gd name="T11" fmla="*/ 0 h 596"/>
              <a:gd name="T12" fmla="*/ 0 w 1094"/>
              <a:gd name="T13" fmla="*/ 0 h 596"/>
            </a:gdLst>
            <a:ahLst/>
            <a:cxnLst>
              <a:cxn ang="0">
                <a:pos x="T0" y="T1"/>
              </a:cxn>
              <a:cxn ang="0">
                <a:pos x="T2" y="T3"/>
              </a:cxn>
              <a:cxn ang="0">
                <a:pos x="T4" y="T5"/>
              </a:cxn>
              <a:cxn ang="0">
                <a:pos x="T6" y="T7"/>
              </a:cxn>
              <a:cxn ang="0">
                <a:pos x="T8" y="T9"/>
              </a:cxn>
              <a:cxn ang="0">
                <a:pos x="T10" y="T11"/>
              </a:cxn>
              <a:cxn ang="0">
                <a:pos x="T12" y="T13"/>
              </a:cxn>
            </a:cxnLst>
            <a:rect l="0" t="0" r="r" b="b"/>
            <a:pathLst>
              <a:path w="1094" h="596">
                <a:moveTo>
                  <a:pt x="0" y="0"/>
                </a:moveTo>
                <a:lnTo>
                  <a:pt x="911" y="0"/>
                </a:lnTo>
                <a:lnTo>
                  <a:pt x="1094" y="298"/>
                </a:lnTo>
                <a:lnTo>
                  <a:pt x="911" y="596"/>
                </a:lnTo>
                <a:lnTo>
                  <a:pt x="0" y="596"/>
                </a:lnTo>
                <a:lnTo>
                  <a:pt x="0" y="0"/>
                </a:lnTo>
                <a:lnTo>
                  <a:pt x="0" y="0"/>
                </a:lnTo>
                <a:close/>
              </a:path>
            </a:pathLst>
          </a:custGeom>
          <a:solidFill>
            <a:srgbClr val="C9CACA"/>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 name="Freeform 37"/>
          <p:cNvSpPr/>
          <p:nvPr/>
        </p:nvSpPr>
        <p:spPr bwMode="auto">
          <a:xfrm>
            <a:off x="753268" y="4178428"/>
            <a:ext cx="1954212" cy="955675"/>
          </a:xfrm>
          <a:custGeom>
            <a:avLst/>
            <a:gdLst>
              <a:gd name="T0" fmla="*/ 0 w 1231"/>
              <a:gd name="T1" fmla="*/ 0 h 602"/>
              <a:gd name="T2" fmla="*/ 1047 w 1231"/>
              <a:gd name="T3" fmla="*/ 0 h 602"/>
              <a:gd name="T4" fmla="*/ 1231 w 1231"/>
              <a:gd name="T5" fmla="*/ 303 h 602"/>
              <a:gd name="T6" fmla="*/ 1047 w 1231"/>
              <a:gd name="T7" fmla="*/ 602 h 602"/>
              <a:gd name="T8" fmla="*/ 0 w 1231"/>
              <a:gd name="T9" fmla="*/ 602 h 602"/>
              <a:gd name="T10" fmla="*/ 0 w 1231"/>
              <a:gd name="T11" fmla="*/ 0 h 602"/>
              <a:gd name="T12" fmla="*/ 0 w 1231"/>
              <a:gd name="T13" fmla="*/ 0 h 602"/>
            </a:gdLst>
            <a:ahLst/>
            <a:cxnLst>
              <a:cxn ang="0">
                <a:pos x="T0" y="T1"/>
              </a:cxn>
              <a:cxn ang="0">
                <a:pos x="T2" y="T3"/>
              </a:cxn>
              <a:cxn ang="0">
                <a:pos x="T4" y="T5"/>
              </a:cxn>
              <a:cxn ang="0">
                <a:pos x="T6" y="T7"/>
              </a:cxn>
              <a:cxn ang="0">
                <a:pos x="T8" y="T9"/>
              </a:cxn>
              <a:cxn ang="0">
                <a:pos x="T10" y="T11"/>
              </a:cxn>
              <a:cxn ang="0">
                <a:pos x="T12" y="T13"/>
              </a:cxn>
            </a:cxnLst>
            <a:rect l="0" t="0" r="r" b="b"/>
            <a:pathLst>
              <a:path w="1231" h="602">
                <a:moveTo>
                  <a:pt x="0" y="0"/>
                </a:moveTo>
                <a:lnTo>
                  <a:pt x="1047" y="0"/>
                </a:lnTo>
                <a:lnTo>
                  <a:pt x="1231" y="303"/>
                </a:lnTo>
                <a:lnTo>
                  <a:pt x="1047" y="602"/>
                </a:lnTo>
                <a:lnTo>
                  <a:pt x="0" y="602"/>
                </a:lnTo>
                <a:lnTo>
                  <a:pt x="0" y="0"/>
                </a:lnTo>
                <a:lnTo>
                  <a:pt x="0" y="0"/>
                </a:lnTo>
                <a:close/>
              </a:path>
            </a:pathLst>
          </a:custGeom>
          <a:solidFill>
            <a:srgbClr val="2AA1DC"/>
          </a:solidFill>
          <a:ln>
            <a:noFill/>
          </a:ln>
        </p:spPr>
        <p:txBody>
          <a:bodyPr vert="horz" wrap="square" lIns="91440" tIns="45720" rIns="91440" bIns="45720" numCol="1" anchor="t" anchorCtr="0" compatLnSpc="1"/>
          <a:lstStyle/>
          <a:p>
            <a:endParaRPr lang="zh-CN" altLang="en-US"/>
          </a:p>
        </p:txBody>
      </p:sp>
      <p:sp>
        <p:nvSpPr>
          <p:cNvPr id="40" name="Freeform 39"/>
          <p:cNvSpPr>
            <a:spLocks noEditPoints="1"/>
          </p:cNvSpPr>
          <p:nvPr/>
        </p:nvSpPr>
        <p:spPr bwMode="auto">
          <a:xfrm>
            <a:off x="753268" y="4710241"/>
            <a:ext cx="1836737" cy="365125"/>
          </a:xfrm>
          <a:custGeom>
            <a:avLst/>
            <a:gdLst>
              <a:gd name="T0" fmla="*/ 30 w 221"/>
              <a:gd name="T1" fmla="*/ 44 h 44"/>
              <a:gd name="T2" fmla="*/ 32 w 221"/>
              <a:gd name="T3" fmla="*/ 42 h 44"/>
              <a:gd name="T4" fmla="*/ 19 w 221"/>
              <a:gd name="T5" fmla="*/ 40 h 44"/>
              <a:gd name="T6" fmla="*/ 17 w 221"/>
              <a:gd name="T7" fmla="*/ 42 h 44"/>
              <a:gd name="T8" fmla="*/ 196 w 221"/>
              <a:gd name="T9" fmla="*/ 43 h 44"/>
              <a:gd name="T10" fmla="*/ 198 w 221"/>
              <a:gd name="T11" fmla="*/ 36 h 44"/>
              <a:gd name="T12" fmla="*/ 195 w 221"/>
              <a:gd name="T13" fmla="*/ 37 h 44"/>
              <a:gd name="T14" fmla="*/ 186 w 221"/>
              <a:gd name="T15" fmla="*/ 40 h 44"/>
              <a:gd name="T16" fmla="*/ 185 w 221"/>
              <a:gd name="T17" fmla="*/ 42 h 44"/>
              <a:gd name="T18" fmla="*/ 194 w 221"/>
              <a:gd name="T19" fmla="*/ 44 h 44"/>
              <a:gd name="T20" fmla="*/ 217 w 221"/>
              <a:gd name="T21" fmla="*/ 1 h 44"/>
              <a:gd name="T22" fmla="*/ 212 w 221"/>
              <a:gd name="T23" fmla="*/ 13 h 44"/>
              <a:gd name="T24" fmla="*/ 214 w 221"/>
              <a:gd name="T25" fmla="*/ 13 h 44"/>
              <a:gd name="T26" fmla="*/ 219 w 221"/>
              <a:gd name="T27" fmla="*/ 0 h 44"/>
              <a:gd name="T28" fmla="*/ 217 w 221"/>
              <a:gd name="T29" fmla="*/ 1 h 44"/>
              <a:gd name="T30" fmla="*/ 200 w 221"/>
              <a:gd name="T31" fmla="*/ 29 h 44"/>
              <a:gd name="T32" fmla="*/ 201 w 221"/>
              <a:gd name="T33" fmla="*/ 31 h 44"/>
              <a:gd name="T34" fmla="*/ 209 w 221"/>
              <a:gd name="T35" fmla="*/ 21 h 44"/>
              <a:gd name="T36" fmla="*/ 209 w 221"/>
              <a:gd name="T37" fmla="*/ 18 h 44"/>
              <a:gd name="T38" fmla="*/ 0 w 221"/>
              <a:gd name="T39" fmla="*/ 40 h 44"/>
              <a:gd name="T40" fmla="*/ 8 w 221"/>
              <a:gd name="T41" fmla="*/ 44 h 44"/>
              <a:gd name="T42" fmla="*/ 10 w 221"/>
              <a:gd name="T43" fmla="*/ 42 h 44"/>
              <a:gd name="T44" fmla="*/ 0 w 221"/>
              <a:gd name="T45" fmla="*/ 40 h 44"/>
              <a:gd name="T46" fmla="*/ 51 w 221"/>
              <a:gd name="T47" fmla="*/ 44 h 44"/>
              <a:gd name="T48" fmla="*/ 53 w 221"/>
              <a:gd name="T49" fmla="*/ 42 h 44"/>
              <a:gd name="T50" fmla="*/ 40 w 221"/>
              <a:gd name="T51" fmla="*/ 40 h 44"/>
              <a:gd name="T52" fmla="*/ 38 w 221"/>
              <a:gd name="T53" fmla="*/ 42 h 44"/>
              <a:gd name="T54" fmla="*/ 60 w 221"/>
              <a:gd name="T55" fmla="*/ 44 h 44"/>
              <a:gd name="T56" fmla="*/ 74 w 221"/>
              <a:gd name="T57" fmla="*/ 42 h 44"/>
              <a:gd name="T58" fmla="*/ 72 w 221"/>
              <a:gd name="T59" fmla="*/ 40 h 44"/>
              <a:gd name="T60" fmla="*/ 59 w 221"/>
              <a:gd name="T61" fmla="*/ 42 h 44"/>
              <a:gd name="T62" fmla="*/ 60 w 221"/>
              <a:gd name="T63" fmla="*/ 44 h 44"/>
              <a:gd name="T64" fmla="*/ 93 w 221"/>
              <a:gd name="T65" fmla="*/ 44 h 44"/>
              <a:gd name="T66" fmla="*/ 95 w 221"/>
              <a:gd name="T67" fmla="*/ 42 h 44"/>
              <a:gd name="T68" fmla="*/ 81 w 221"/>
              <a:gd name="T69" fmla="*/ 40 h 44"/>
              <a:gd name="T70" fmla="*/ 80 w 221"/>
              <a:gd name="T71" fmla="*/ 42 h 44"/>
              <a:gd name="T72" fmla="*/ 102 w 221"/>
              <a:gd name="T73" fmla="*/ 44 h 44"/>
              <a:gd name="T74" fmla="*/ 116 w 221"/>
              <a:gd name="T75" fmla="*/ 42 h 44"/>
              <a:gd name="T76" fmla="*/ 114 w 221"/>
              <a:gd name="T77" fmla="*/ 40 h 44"/>
              <a:gd name="T78" fmla="*/ 101 w 221"/>
              <a:gd name="T79" fmla="*/ 42 h 44"/>
              <a:gd name="T80" fmla="*/ 102 w 221"/>
              <a:gd name="T81" fmla="*/ 44 h 44"/>
              <a:gd name="T82" fmla="*/ 135 w 221"/>
              <a:gd name="T83" fmla="*/ 44 h 44"/>
              <a:gd name="T84" fmla="*/ 137 w 221"/>
              <a:gd name="T85" fmla="*/ 42 h 44"/>
              <a:gd name="T86" fmla="*/ 123 w 221"/>
              <a:gd name="T87" fmla="*/ 40 h 44"/>
              <a:gd name="T88" fmla="*/ 122 w 221"/>
              <a:gd name="T89" fmla="*/ 42 h 44"/>
              <a:gd name="T90" fmla="*/ 144 w 221"/>
              <a:gd name="T91" fmla="*/ 44 h 44"/>
              <a:gd name="T92" fmla="*/ 158 w 221"/>
              <a:gd name="T93" fmla="*/ 42 h 44"/>
              <a:gd name="T94" fmla="*/ 156 w 221"/>
              <a:gd name="T95" fmla="*/ 40 h 44"/>
              <a:gd name="T96" fmla="*/ 143 w 221"/>
              <a:gd name="T97" fmla="*/ 42 h 44"/>
              <a:gd name="T98" fmla="*/ 144 w 221"/>
              <a:gd name="T99" fmla="*/ 44 h 44"/>
              <a:gd name="T100" fmla="*/ 177 w 221"/>
              <a:gd name="T101" fmla="*/ 44 h 44"/>
              <a:gd name="T102" fmla="*/ 179 w 221"/>
              <a:gd name="T103" fmla="*/ 42 h 44"/>
              <a:gd name="T104" fmla="*/ 165 w 221"/>
              <a:gd name="T105" fmla="*/ 40 h 44"/>
              <a:gd name="T106" fmla="*/ 164 w 221"/>
              <a:gd name="T107" fmla="*/ 42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21" h="44">
                <a:moveTo>
                  <a:pt x="19" y="44"/>
                </a:moveTo>
                <a:cubicBezTo>
                  <a:pt x="22" y="44"/>
                  <a:pt x="26" y="44"/>
                  <a:pt x="30" y="44"/>
                </a:cubicBezTo>
                <a:cubicBezTo>
                  <a:pt x="31" y="44"/>
                  <a:pt x="32" y="43"/>
                  <a:pt x="32" y="42"/>
                </a:cubicBezTo>
                <a:cubicBezTo>
                  <a:pt x="32" y="42"/>
                  <a:pt x="32" y="42"/>
                  <a:pt x="32" y="42"/>
                </a:cubicBezTo>
                <a:cubicBezTo>
                  <a:pt x="32" y="41"/>
                  <a:pt x="31" y="40"/>
                  <a:pt x="30" y="40"/>
                </a:cubicBezTo>
                <a:cubicBezTo>
                  <a:pt x="26" y="40"/>
                  <a:pt x="22" y="40"/>
                  <a:pt x="19" y="40"/>
                </a:cubicBezTo>
                <a:cubicBezTo>
                  <a:pt x="18" y="40"/>
                  <a:pt x="17" y="41"/>
                  <a:pt x="17" y="42"/>
                </a:cubicBezTo>
                <a:cubicBezTo>
                  <a:pt x="17" y="42"/>
                  <a:pt x="17" y="42"/>
                  <a:pt x="17" y="42"/>
                </a:cubicBezTo>
                <a:cubicBezTo>
                  <a:pt x="17" y="43"/>
                  <a:pt x="18" y="44"/>
                  <a:pt x="19" y="44"/>
                </a:cubicBezTo>
                <a:close/>
                <a:moveTo>
                  <a:pt x="196" y="43"/>
                </a:moveTo>
                <a:cubicBezTo>
                  <a:pt x="196" y="41"/>
                  <a:pt x="197" y="40"/>
                  <a:pt x="198" y="39"/>
                </a:cubicBezTo>
                <a:cubicBezTo>
                  <a:pt x="199" y="38"/>
                  <a:pt x="198" y="37"/>
                  <a:pt x="198" y="36"/>
                </a:cubicBezTo>
                <a:cubicBezTo>
                  <a:pt x="198" y="36"/>
                  <a:pt x="198" y="36"/>
                  <a:pt x="198" y="36"/>
                </a:cubicBezTo>
                <a:cubicBezTo>
                  <a:pt x="197" y="36"/>
                  <a:pt x="196" y="36"/>
                  <a:pt x="195" y="37"/>
                </a:cubicBezTo>
                <a:cubicBezTo>
                  <a:pt x="195" y="38"/>
                  <a:pt x="194" y="39"/>
                  <a:pt x="193" y="40"/>
                </a:cubicBezTo>
                <a:cubicBezTo>
                  <a:pt x="190" y="40"/>
                  <a:pt x="190" y="40"/>
                  <a:pt x="186" y="40"/>
                </a:cubicBezTo>
                <a:cubicBezTo>
                  <a:pt x="186" y="40"/>
                  <a:pt x="185" y="41"/>
                  <a:pt x="185" y="42"/>
                </a:cubicBezTo>
                <a:cubicBezTo>
                  <a:pt x="185" y="42"/>
                  <a:pt x="185" y="42"/>
                  <a:pt x="185" y="42"/>
                </a:cubicBezTo>
                <a:cubicBezTo>
                  <a:pt x="185" y="43"/>
                  <a:pt x="186" y="44"/>
                  <a:pt x="186" y="44"/>
                </a:cubicBezTo>
                <a:cubicBezTo>
                  <a:pt x="194" y="44"/>
                  <a:pt x="194" y="44"/>
                  <a:pt x="194" y="44"/>
                </a:cubicBezTo>
                <a:cubicBezTo>
                  <a:pt x="195" y="44"/>
                  <a:pt x="195" y="43"/>
                  <a:pt x="196" y="43"/>
                </a:cubicBezTo>
                <a:close/>
                <a:moveTo>
                  <a:pt x="217" y="1"/>
                </a:moveTo>
                <a:cubicBezTo>
                  <a:pt x="215" y="4"/>
                  <a:pt x="213" y="8"/>
                  <a:pt x="211" y="11"/>
                </a:cubicBezTo>
                <a:cubicBezTo>
                  <a:pt x="211" y="12"/>
                  <a:pt x="211" y="13"/>
                  <a:pt x="212" y="13"/>
                </a:cubicBezTo>
                <a:cubicBezTo>
                  <a:pt x="212" y="13"/>
                  <a:pt x="212" y="13"/>
                  <a:pt x="212" y="13"/>
                </a:cubicBezTo>
                <a:cubicBezTo>
                  <a:pt x="212" y="14"/>
                  <a:pt x="213" y="14"/>
                  <a:pt x="214" y="13"/>
                </a:cubicBezTo>
                <a:cubicBezTo>
                  <a:pt x="216" y="9"/>
                  <a:pt x="218" y="6"/>
                  <a:pt x="220" y="3"/>
                </a:cubicBezTo>
                <a:cubicBezTo>
                  <a:pt x="221" y="2"/>
                  <a:pt x="220" y="1"/>
                  <a:pt x="219" y="0"/>
                </a:cubicBezTo>
                <a:cubicBezTo>
                  <a:pt x="219" y="0"/>
                  <a:pt x="219" y="0"/>
                  <a:pt x="219" y="0"/>
                </a:cubicBezTo>
                <a:cubicBezTo>
                  <a:pt x="219" y="0"/>
                  <a:pt x="218" y="0"/>
                  <a:pt x="217" y="1"/>
                </a:cubicBezTo>
                <a:close/>
                <a:moveTo>
                  <a:pt x="206" y="19"/>
                </a:moveTo>
                <a:cubicBezTo>
                  <a:pt x="204" y="22"/>
                  <a:pt x="202" y="26"/>
                  <a:pt x="200" y="29"/>
                </a:cubicBezTo>
                <a:cubicBezTo>
                  <a:pt x="200" y="30"/>
                  <a:pt x="200" y="31"/>
                  <a:pt x="201" y="31"/>
                </a:cubicBezTo>
                <a:cubicBezTo>
                  <a:pt x="201" y="31"/>
                  <a:pt x="201" y="31"/>
                  <a:pt x="201" y="31"/>
                </a:cubicBezTo>
                <a:cubicBezTo>
                  <a:pt x="201" y="32"/>
                  <a:pt x="203" y="31"/>
                  <a:pt x="203" y="31"/>
                </a:cubicBezTo>
                <a:cubicBezTo>
                  <a:pt x="205" y="27"/>
                  <a:pt x="207" y="24"/>
                  <a:pt x="209" y="21"/>
                </a:cubicBezTo>
                <a:cubicBezTo>
                  <a:pt x="210" y="20"/>
                  <a:pt x="209" y="19"/>
                  <a:pt x="209" y="18"/>
                </a:cubicBezTo>
                <a:cubicBezTo>
                  <a:pt x="209" y="18"/>
                  <a:pt x="209" y="18"/>
                  <a:pt x="209" y="18"/>
                </a:cubicBezTo>
                <a:cubicBezTo>
                  <a:pt x="208" y="18"/>
                  <a:pt x="207" y="18"/>
                  <a:pt x="206" y="19"/>
                </a:cubicBezTo>
                <a:close/>
                <a:moveTo>
                  <a:pt x="0" y="40"/>
                </a:moveTo>
                <a:cubicBezTo>
                  <a:pt x="0" y="44"/>
                  <a:pt x="0" y="44"/>
                  <a:pt x="0" y="44"/>
                </a:cubicBezTo>
                <a:cubicBezTo>
                  <a:pt x="8" y="44"/>
                  <a:pt x="8" y="44"/>
                  <a:pt x="8" y="44"/>
                </a:cubicBezTo>
                <a:cubicBezTo>
                  <a:pt x="9" y="44"/>
                  <a:pt x="10" y="43"/>
                  <a:pt x="10" y="42"/>
                </a:cubicBezTo>
                <a:cubicBezTo>
                  <a:pt x="10" y="42"/>
                  <a:pt x="10" y="42"/>
                  <a:pt x="10" y="42"/>
                </a:cubicBezTo>
                <a:cubicBezTo>
                  <a:pt x="10" y="41"/>
                  <a:pt x="9" y="40"/>
                  <a:pt x="8" y="40"/>
                </a:cubicBezTo>
                <a:cubicBezTo>
                  <a:pt x="0" y="40"/>
                  <a:pt x="0" y="40"/>
                  <a:pt x="0" y="40"/>
                </a:cubicBezTo>
                <a:close/>
                <a:moveTo>
                  <a:pt x="40" y="44"/>
                </a:moveTo>
                <a:cubicBezTo>
                  <a:pt x="43" y="44"/>
                  <a:pt x="47" y="44"/>
                  <a:pt x="51" y="44"/>
                </a:cubicBezTo>
                <a:cubicBezTo>
                  <a:pt x="52" y="44"/>
                  <a:pt x="53" y="43"/>
                  <a:pt x="53" y="42"/>
                </a:cubicBezTo>
                <a:cubicBezTo>
                  <a:pt x="53" y="42"/>
                  <a:pt x="53" y="42"/>
                  <a:pt x="53" y="42"/>
                </a:cubicBezTo>
                <a:cubicBezTo>
                  <a:pt x="53" y="41"/>
                  <a:pt x="52" y="40"/>
                  <a:pt x="51" y="40"/>
                </a:cubicBezTo>
                <a:cubicBezTo>
                  <a:pt x="47" y="40"/>
                  <a:pt x="43" y="40"/>
                  <a:pt x="40" y="40"/>
                </a:cubicBezTo>
                <a:cubicBezTo>
                  <a:pt x="39" y="40"/>
                  <a:pt x="38" y="41"/>
                  <a:pt x="38" y="42"/>
                </a:cubicBezTo>
                <a:cubicBezTo>
                  <a:pt x="38" y="42"/>
                  <a:pt x="38" y="42"/>
                  <a:pt x="38" y="42"/>
                </a:cubicBezTo>
                <a:cubicBezTo>
                  <a:pt x="38" y="43"/>
                  <a:pt x="39" y="44"/>
                  <a:pt x="40" y="44"/>
                </a:cubicBezTo>
                <a:close/>
                <a:moveTo>
                  <a:pt x="60" y="44"/>
                </a:moveTo>
                <a:cubicBezTo>
                  <a:pt x="64" y="44"/>
                  <a:pt x="68" y="44"/>
                  <a:pt x="72" y="44"/>
                </a:cubicBezTo>
                <a:cubicBezTo>
                  <a:pt x="73" y="44"/>
                  <a:pt x="74" y="43"/>
                  <a:pt x="74" y="42"/>
                </a:cubicBezTo>
                <a:cubicBezTo>
                  <a:pt x="74" y="42"/>
                  <a:pt x="74" y="42"/>
                  <a:pt x="74" y="42"/>
                </a:cubicBezTo>
                <a:cubicBezTo>
                  <a:pt x="74" y="41"/>
                  <a:pt x="73" y="40"/>
                  <a:pt x="72" y="40"/>
                </a:cubicBezTo>
                <a:cubicBezTo>
                  <a:pt x="68" y="40"/>
                  <a:pt x="64" y="40"/>
                  <a:pt x="60" y="40"/>
                </a:cubicBezTo>
                <a:cubicBezTo>
                  <a:pt x="60" y="40"/>
                  <a:pt x="59" y="41"/>
                  <a:pt x="59" y="42"/>
                </a:cubicBezTo>
                <a:cubicBezTo>
                  <a:pt x="59" y="42"/>
                  <a:pt x="59" y="42"/>
                  <a:pt x="59" y="42"/>
                </a:cubicBezTo>
                <a:cubicBezTo>
                  <a:pt x="59" y="43"/>
                  <a:pt x="60" y="44"/>
                  <a:pt x="60" y="44"/>
                </a:cubicBezTo>
                <a:close/>
                <a:moveTo>
                  <a:pt x="81" y="44"/>
                </a:moveTo>
                <a:cubicBezTo>
                  <a:pt x="85" y="44"/>
                  <a:pt x="89" y="44"/>
                  <a:pt x="93" y="44"/>
                </a:cubicBezTo>
                <a:cubicBezTo>
                  <a:pt x="94" y="44"/>
                  <a:pt x="95" y="43"/>
                  <a:pt x="95" y="42"/>
                </a:cubicBezTo>
                <a:cubicBezTo>
                  <a:pt x="95" y="42"/>
                  <a:pt x="95" y="42"/>
                  <a:pt x="95" y="42"/>
                </a:cubicBezTo>
                <a:cubicBezTo>
                  <a:pt x="95" y="41"/>
                  <a:pt x="94" y="40"/>
                  <a:pt x="93" y="40"/>
                </a:cubicBezTo>
                <a:cubicBezTo>
                  <a:pt x="89" y="40"/>
                  <a:pt x="85" y="40"/>
                  <a:pt x="81" y="40"/>
                </a:cubicBezTo>
                <a:cubicBezTo>
                  <a:pt x="81" y="40"/>
                  <a:pt x="80" y="41"/>
                  <a:pt x="80" y="42"/>
                </a:cubicBezTo>
                <a:cubicBezTo>
                  <a:pt x="80" y="42"/>
                  <a:pt x="80" y="42"/>
                  <a:pt x="80" y="42"/>
                </a:cubicBezTo>
                <a:cubicBezTo>
                  <a:pt x="80" y="43"/>
                  <a:pt x="81" y="44"/>
                  <a:pt x="81" y="44"/>
                </a:cubicBezTo>
                <a:close/>
                <a:moveTo>
                  <a:pt x="102" y="44"/>
                </a:moveTo>
                <a:cubicBezTo>
                  <a:pt x="106" y="44"/>
                  <a:pt x="110" y="44"/>
                  <a:pt x="114" y="44"/>
                </a:cubicBezTo>
                <a:cubicBezTo>
                  <a:pt x="115" y="44"/>
                  <a:pt x="116" y="43"/>
                  <a:pt x="116" y="42"/>
                </a:cubicBezTo>
                <a:cubicBezTo>
                  <a:pt x="116" y="42"/>
                  <a:pt x="116" y="42"/>
                  <a:pt x="116" y="42"/>
                </a:cubicBezTo>
                <a:cubicBezTo>
                  <a:pt x="116" y="41"/>
                  <a:pt x="115" y="40"/>
                  <a:pt x="114" y="40"/>
                </a:cubicBezTo>
                <a:cubicBezTo>
                  <a:pt x="110" y="40"/>
                  <a:pt x="106" y="40"/>
                  <a:pt x="102" y="40"/>
                </a:cubicBezTo>
                <a:cubicBezTo>
                  <a:pt x="102" y="40"/>
                  <a:pt x="101" y="41"/>
                  <a:pt x="101" y="42"/>
                </a:cubicBezTo>
                <a:cubicBezTo>
                  <a:pt x="101" y="42"/>
                  <a:pt x="101" y="42"/>
                  <a:pt x="101" y="42"/>
                </a:cubicBezTo>
                <a:cubicBezTo>
                  <a:pt x="101" y="43"/>
                  <a:pt x="102" y="44"/>
                  <a:pt x="102" y="44"/>
                </a:cubicBezTo>
                <a:close/>
                <a:moveTo>
                  <a:pt x="123" y="44"/>
                </a:moveTo>
                <a:cubicBezTo>
                  <a:pt x="127" y="44"/>
                  <a:pt x="131" y="44"/>
                  <a:pt x="135" y="44"/>
                </a:cubicBezTo>
                <a:cubicBezTo>
                  <a:pt x="136" y="44"/>
                  <a:pt x="137" y="43"/>
                  <a:pt x="137" y="42"/>
                </a:cubicBezTo>
                <a:cubicBezTo>
                  <a:pt x="137" y="42"/>
                  <a:pt x="137" y="42"/>
                  <a:pt x="137" y="42"/>
                </a:cubicBezTo>
                <a:cubicBezTo>
                  <a:pt x="137" y="41"/>
                  <a:pt x="136" y="40"/>
                  <a:pt x="135" y="40"/>
                </a:cubicBezTo>
                <a:cubicBezTo>
                  <a:pt x="131" y="40"/>
                  <a:pt x="127" y="40"/>
                  <a:pt x="123" y="40"/>
                </a:cubicBezTo>
                <a:cubicBezTo>
                  <a:pt x="123" y="40"/>
                  <a:pt x="122" y="41"/>
                  <a:pt x="122" y="42"/>
                </a:cubicBezTo>
                <a:cubicBezTo>
                  <a:pt x="122" y="42"/>
                  <a:pt x="122" y="42"/>
                  <a:pt x="122" y="42"/>
                </a:cubicBezTo>
                <a:cubicBezTo>
                  <a:pt x="122" y="43"/>
                  <a:pt x="123" y="44"/>
                  <a:pt x="123" y="44"/>
                </a:cubicBezTo>
                <a:close/>
                <a:moveTo>
                  <a:pt x="144" y="44"/>
                </a:moveTo>
                <a:cubicBezTo>
                  <a:pt x="148" y="44"/>
                  <a:pt x="152" y="44"/>
                  <a:pt x="156" y="44"/>
                </a:cubicBezTo>
                <a:cubicBezTo>
                  <a:pt x="157" y="44"/>
                  <a:pt x="158" y="43"/>
                  <a:pt x="158" y="42"/>
                </a:cubicBezTo>
                <a:cubicBezTo>
                  <a:pt x="158" y="42"/>
                  <a:pt x="158" y="42"/>
                  <a:pt x="158" y="42"/>
                </a:cubicBezTo>
                <a:cubicBezTo>
                  <a:pt x="158" y="41"/>
                  <a:pt x="157" y="40"/>
                  <a:pt x="156" y="40"/>
                </a:cubicBezTo>
                <a:cubicBezTo>
                  <a:pt x="152" y="40"/>
                  <a:pt x="148" y="40"/>
                  <a:pt x="144" y="40"/>
                </a:cubicBezTo>
                <a:cubicBezTo>
                  <a:pt x="144" y="40"/>
                  <a:pt x="143" y="41"/>
                  <a:pt x="143" y="42"/>
                </a:cubicBezTo>
                <a:cubicBezTo>
                  <a:pt x="143" y="42"/>
                  <a:pt x="143" y="42"/>
                  <a:pt x="143" y="42"/>
                </a:cubicBezTo>
                <a:cubicBezTo>
                  <a:pt x="143" y="43"/>
                  <a:pt x="144" y="44"/>
                  <a:pt x="144" y="44"/>
                </a:cubicBezTo>
                <a:close/>
                <a:moveTo>
                  <a:pt x="165" y="44"/>
                </a:moveTo>
                <a:cubicBezTo>
                  <a:pt x="169" y="44"/>
                  <a:pt x="173" y="44"/>
                  <a:pt x="177" y="44"/>
                </a:cubicBezTo>
                <a:cubicBezTo>
                  <a:pt x="178" y="44"/>
                  <a:pt x="179" y="43"/>
                  <a:pt x="179" y="42"/>
                </a:cubicBezTo>
                <a:cubicBezTo>
                  <a:pt x="179" y="42"/>
                  <a:pt x="179" y="42"/>
                  <a:pt x="179" y="42"/>
                </a:cubicBezTo>
                <a:cubicBezTo>
                  <a:pt x="179" y="41"/>
                  <a:pt x="178" y="40"/>
                  <a:pt x="177" y="40"/>
                </a:cubicBezTo>
                <a:cubicBezTo>
                  <a:pt x="173" y="40"/>
                  <a:pt x="169" y="40"/>
                  <a:pt x="165" y="40"/>
                </a:cubicBezTo>
                <a:cubicBezTo>
                  <a:pt x="165" y="40"/>
                  <a:pt x="164" y="41"/>
                  <a:pt x="164" y="42"/>
                </a:cubicBezTo>
                <a:cubicBezTo>
                  <a:pt x="164" y="42"/>
                  <a:pt x="164" y="42"/>
                  <a:pt x="164" y="42"/>
                </a:cubicBezTo>
                <a:cubicBezTo>
                  <a:pt x="164" y="43"/>
                  <a:pt x="165" y="44"/>
                  <a:pt x="165" y="44"/>
                </a:cubicBezTo>
                <a:close/>
              </a:path>
            </a:pathLst>
          </a:custGeom>
          <a:solidFill>
            <a:srgbClr val="82C3D0"/>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 name="Freeform 41"/>
          <p:cNvSpPr>
            <a:spLocks noEditPoints="1"/>
          </p:cNvSpPr>
          <p:nvPr/>
        </p:nvSpPr>
        <p:spPr bwMode="auto">
          <a:xfrm>
            <a:off x="753268" y="4243516"/>
            <a:ext cx="1870075" cy="433388"/>
          </a:xfrm>
          <a:custGeom>
            <a:avLst/>
            <a:gdLst>
              <a:gd name="T0" fmla="*/ 30 w 225"/>
              <a:gd name="T1" fmla="*/ 0 h 52"/>
              <a:gd name="T2" fmla="*/ 32 w 225"/>
              <a:gd name="T3" fmla="*/ 1 h 52"/>
              <a:gd name="T4" fmla="*/ 19 w 225"/>
              <a:gd name="T5" fmla="*/ 3 h 52"/>
              <a:gd name="T6" fmla="*/ 17 w 225"/>
              <a:gd name="T7" fmla="*/ 1 h 52"/>
              <a:gd name="T8" fmla="*/ 224 w 225"/>
              <a:gd name="T9" fmla="*/ 48 h 52"/>
              <a:gd name="T10" fmla="*/ 225 w 225"/>
              <a:gd name="T11" fmla="*/ 50 h 52"/>
              <a:gd name="T12" fmla="*/ 224 w 225"/>
              <a:gd name="T13" fmla="*/ 52 h 52"/>
              <a:gd name="T14" fmla="*/ 222 w 225"/>
              <a:gd name="T15" fmla="*/ 50 h 52"/>
              <a:gd name="T16" fmla="*/ 224 w 225"/>
              <a:gd name="T17" fmla="*/ 48 h 52"/>
              <a:gd name="T18" fmla="*/ 198 w 225"/>
              <a:gd name="T19" fmla="*/ 5 h 52"/>
              <a:gd name="T20" fmla="*/ 198 w 225"/>
              <a:gd name="T21" fmla="*/ 7 h 52"/>
              <a:gd name="T22" fmla="*/ 193 w 225"/>
              <a:gd name="T23" fmla="*/ 3 h 52"/>
              <a:gd name="T24" fmla="*/ 185 w 225"/>
              <a:gd name="T25" fmla="*/ 1 h 52"/>
              <a:gd name="T26" fmla="*/ 186 w 225"/>
              <a:gd name="T27" fmla="*/ 0 h 52"/>
              <a:gd name="T28" fmla="*/ 196 w 225"/>
              <a:gd name="T29" fmla="*/ 1 h 52"/>
              <a:gd name="T30" fmla="*/ 211 w 225"/>
              <a:gd name="T31" fmla="*/ 32 h 52"/>
              <a:gd name="T32" fmla="*/ 212 w 225"/>
              <a:gd name="T33" fmla="*/ 30 h 52"/>
              <a:gd name="T34" fmla="*/ 220 w 225"/>
              <a:gd name="T35" fmla="*/ 41 h 52"/>
              <a:gd name="T36" fmla="*/ 219 w 225"/>
              <a:gd name="T37" fmla="*/ 43 h 52"/>
              <a:gd name="T38" fmla="*/ 206 w 225"/>
              <a:gd name="T39" fmla="*/ 24 h 52"/>
              <a:gd name="T40" fmla="*/ 201 w 225"/>
              <a:gd name="T41" fmla="*/ 12 h 52"/>
              <a:gd name="T42" fmla="*/ 203 w 225"/>
              <a:gd name="T43" fmla="*/ 13 h 52"/>
              <a:gd name="T44" fmla="*/ 209 w 225"/>
              <a:gd name="T45" fmla="*/ 25 h 52"/>
              <a:gd name="T46" fmla="*/ 206 w 225"/>
              <a:gd name="T47" fmla="*/ 24 h 52"/>
              <a:gd name="T48" fmla="*/ 0 w 225"/>
              <a:gd name="T49" fmla="*/ 0 h 52"/>
              <a:gd name="T50" fmla="*/ 10 w 225"/>
              <a:gd name="T51" fmla="*/ 1 h 52"/>
              <a:gd name="T52" fmla="*/ 8 w 225"/>
              <a:gd name="T53" fmla="*/ 3 h 52"/>
              <a:gd name="T54" fmla="*/ 40 w 225"/>
              <a:gd name="T55" fmla="*/ 0 h 52"/>
              <a:gd name="T56" fmla="*/ 53 w 225"/>
              <a:gd name="T57" fmla="*/ 1 h 52"/>
              <a:gd name="T58" fmla="*/ 51 w 225"/>
              <a:gd name="T59" fmla="*/ 3 h 52"/>
              <a:gd name="T60" fmla="*/ 38 w 225"/>
              <a:gd name="T61" fmla="*/ 1 h 52"/>
              <a:gd name="T62" fmla="*/ 40 w 225"/>
              <a:gd name="T63" fmla="*/ 0 h 52"/>
              <a:gd name="T64" fmla="*/ 72 w 225"/>
              <a:gd name="T65" fmla="*/ 0 h 52"/>
              <a:gd name="T66" fmla="*/ 74 w 225"/>
              <a:gd name="T67" fmla="*/ 1 h 52"/>
              <a:gd name="T68" fmla="*/ 60 w 225"/>
              <a:gd name="T69" fmla="*/ 3 h 52"/>
              <a:gd name="T70" fmla="*/ 59 w 225"/>
              <a:gd name="T71" fmla="*/ 1 h 52"/>
              <a:gd name="T72" fmla="*/ 81 w 225"/>
              <a:gd name="T73" fmla="*/ 0 h 52"/>
              <a:gd name="T74" fmla="*/ 95 w 225"/>
              <a:gd name="T75" fmla="*/ 1 h 52"/>
              <a:gd name="T76" fmla="*/ 93 w 225"/>
              <a:gd name="T77" fmla="*/ 3 h 52"/>
              <a:gd name="T78" fmla="*/ 80 w 225"/>
              <a:gd name="T79" fmla="*/ 1 h 52"/>
              <a:gd name="T80" fmla="*/ 81 w 225"/>
              <a:gd name="T81" fmla="*/ 0 h 52"/>
              <a:gd name="T82" fmla="*/ 114 w 225"/>
              <a:gd name="T83" fmla="*/ 0 h 52"/>
              <a:gd name="T84" fmla="*/ 116 w 225"/>
              <a:gd name="T85" fmla="*/ 1 h 52"/>
              <a:gd name="T86" fmla="*/ 102 w 225"/>
              <a:gd name="T87" fmla="*/ 3 h 52"/>
              <a:gd name="T88" fmla="*/ 101 w 225"/>
              <a:gd name="T89" fmla="*/ 1 h 52"/>
              <a:gd name="T90" fmla="*/ 123 w 225"/>
              <a:gd name="T91" fmla="*/ 0 h 52"/>
              <a:gd name="T92" fmla="*/ 137 w 225"/>
              <a:gd name="T93" fmla="*/ 1 h 52"/>
              <a:gd name="T94" fmla="*/ 135 w 225"/>
              <a:gd name="T95" fmla="*/ 3 h 52"/>
              <a:gd name="T96" fmla="*/ 122 w 225"/>
              <a:gd name="T97" fmla="*/ 1 h 52"/>
              <a:gd name="T98" fmla="*/ 123 w 225"/>
              <a:gd name="T99" fmla="*/ 0 h 52"/>
              <a:gd name="T100" fmla="*/ 156 w 225"/>
              <a:gd name="T101" fmla="*/ 0 h 52"/>
              <a:gd name="T102" fmla="*/ 158 w 225"/>
              <a:gd name="T103" fmla="*/ 1 h 52"/>
              <a:gd name="T104" fmla="*/ 144 w 225"/>
              <a:gd name="T105" fmla="*/ 3 h 52"/>
              <a:gd name="T106" fmla="*/ 143 w 225"/>
              <a:gd name="T107" fmla="*/ 1 h 52"/>
              <a:gd name="T108" fmla="*/ 165 w 225"/>
              <a:gd name="T109" fmla="*/ 0 h 52"/>
              <a:gd name="T110" fmla="*/ 179 w 225"/>
              <a:gd name="T111" fmla="*/ 1 h 52"/>
              <a:gd name="T112" fmla="*/ 177 w 225"/>
              <a:gd name="T113" fmla="*/ 3 h 52"/>
              <a:gd name="T114" fmla="*/ 164 w 225"/>
              <a:gd name="T115" fmla="*/ 1 h 52"/>
              <a:gd name="T116" fmla="*/ 165 w 225"/>
              <a:gd name="T117"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5" h="52">
                <a:moveTo>
                  <a:pt x="19" y="0"/>
                </a:moveTo>
                <a:cubicBezTo>
                  <a:pt x="22" y="0"/>
                  <a:pt x="26" y="0"/>
                  <a:pt x="30" y="0"/>
                </a:cubicBezTo>
                <a:cubicBezTo>
                  <a:pt x="31" y="0"/>
                  <a:pt x="32" y="0"/>
                  <a:pt x="32" y="1"/>
                </a:cubicBezTo>
                <a:cubicBezTo>
                  <a:pt x="32" y="1"/>
                  <a:pt x="32" y="1"/>
                  <a:pt x="32" y="1"/>
                </a:cubicBezTo>
                <a:cubicBezTo>
                  <a:pt x="32" y="2"/>
                  <a:pt x="31" y="3"/>
                  <a:pt x="30" y="3"/>
                </a:cubicBezTo>
                <a:cubicBezTo>
                  <a:pt x="26" y="3"/>
                  <a:pt x="22" y="3"/>
                  <a:pt x="19" y="3"/>
                </a:cubicBezTo>
                <a:cubicBezTo>
                  <a:pt x="18" y="3"/>
                  <a:pt x="17" y="2"/>
                  <a:pt x="17" y="1"/>
                </a:cubicBezTo>
                <a:cubicBezTo>
                  <a:pt x="17" y="1"/>
                  <a:pt x="17" y="1"/>
                  <a:pt x="17" y="1"/>
                </a:cubicBezTo>
                <a:cubicBezTo>
                  <a:pt x="17" y="0"/>
                  <a:pt x="18" y="0"/>
                  <a:pt x="19" y="0"/>
                </a:cubicBezTo>
                <a:close/>
                <a:moveTo>
                  <a:pt x="224" y="48"/>
                </a:moveTo>
                <a:cubicBezTo>
                  <a:pt x="224" y="48"/>
                  <a:pt x="224" y="48"/>
                  <a:pt x="224" y="48"/>
                </a:cubicBezTo>
                <a:cubicBezTo>
                  <a:pt x="225" y="48"/>
                  <a:pt x="225" y="49"/>
                  <a:pt x="225" y="50"/>
                </a:cubicBezTo>
                <a:cubicBezTo>
                  <a:pt x="225" y="50"/>
                  <a:pt x="225" y="50"/>
                  <a:pt x="225" y="50"/>
                </a:cubicBezTo>
                <a:cubicBezTo>
                  <a:pt x="225" y="51"/>
                  <a:pt x="225" y="52"/>
                  <a:pt x="224" y="52"/>
                </a:cubicBezTo>
                <a:cubicBezTo>
                  <a:pt x="224" y="52"/>
                  <a:pt x="224" y="52"/>
                  <a:pt x="224" y="52"/>
                </a:cubicBezTo>
                <a:cubicBezTo>
                  <a:pt x="223" y="52"/>
                  <a:pt x="222" y="51"/>
                  <a:pt x="222" y="50"/>
                </a:cubicBezTo>
                <a:cubicBezTo>
                  <a:pt x="222" y="50"/>
                  <a:pt x="222" y="50"/>
                  <a:pt x="222" y="50"/>
                </a:cubicBezTo>
                <a:cubicBezTo>
                  <a:pt x="222" y="49"/>
                  <a:pt x="223" y="48"/>
                  <a:pt x="224" y="48"/>
                </a:cubicBezTo>
                <a:close/>
                <a:moveTo>
                  <a:pt x="196" y="1"/>
                </a:moveTo>
                <a:cubicBezTo>
                  <a:pt x="196" y="2"/>
                  <a:pt x="197" y="3"/>
                  <a:pt x="198" y="5"/>
                </a:cubicBezTo>
                <a:cubicBezTo>
                  <a:pt x="199" y="6"/>
                  <a:pt x="198" y="7"/>
                  <a:pt x="198" y="7"/>
                </a:cubicBezTo>
                <a:cubicBezTo>
                  <a:pt x="198" y="7"/>
                  <a:pt x="198" y="7"/>
                  <a:pt x="198" y="7"/>
                </a:cubicBezTo>
                <a:cubicBezTo>
                  <a:pt x="197" y="8"/>
                  <a:pt x="196" y="7"/>
                  <a:pt x="195" y="7"/>
                </a:cubicBezTo>
                <a:cubicBezTo>
                  <a:pt x="195" y="5"/>
                  <a:pt x="194" y="4"/>
                  <a:pt x="193" y="3"/>
                </a:cubicBezTo>
                <a:cubicBezTo>
                  <a:pt x="190" y="3"/>
                  <a:pt x="190" y="3"/>
                  <a:pt x="186" y="3"/>
                </a:cubicBezTo>
                <a:cubicBezTo>
                  <a:pt x="186" y="3"/>
                  <a:pt x="185" y="2"/>
                  <a:pt x="185" y="1"/>
                </a:cubicBezTo>
                <a:cubicBezTo>
                  <a:pt x="185" y="1"/>
                  <a:pt x="185" y="1"/>
                  <a:pt x="185" y="1"/>
                </a:cubicBezTo>
                <a:cubicBezTo>
                  <a:pt x="185" y="0"/>
                  <a:pt x="186" y="0"/>
                  <a:pt x="186" y="0"/>
                </a:cubicBezTo>
                <a:cubicBezTo>
                  <a:pt x="194" y="0"/>
                  <a:pt x="194" y="0"/>
                  <a:pt x="194" y="0"/>
                </a:cubicBezTo>
                <a:cubicBezTo>
                  <a:pt x="195" y="0"/>
                  <a:pt x="195" y="0"/>
                  <a:pt x="196" y="1"/>
                </a:cubicBezTo>
                <a:close/>
                <a:moveTo>
                  <a:pt x="217" y="42"/>
                </a:moveTo>
                <a:cubicBezTo>
                  <a:pt x="215" y="39"/>
                  <a:pt x="213" y="36"/>
                  <a:pt x="211" y="32"/>
                </a:cubicBezTo>
                <a:cubicBezTo>
                  <a:pt x="211" y="32"/>
                  <a:pt x="211" y="31"/>
                  <a:pt x="212" y="30"/>
                </a:cubicBezTo>
                <a:cubicBezTo>
                  <a:pt x="212" y="30"/>
                  <a:pt x="212" y="30"/>
                  <a:pt x="212" y="30"/>
                </a:cubicBezTo>
                <a:cubicBezTo>
                  <a:pt x="212" y="30"/>
                  <a:pt x="213" y="30"/>
                  <a:pt x="214" y="31"/>
                </a:cubicBezTo>
                <a:cubicBezTo>
                  <a:pt x="216" y="34"/>
                  <a:pt x="218" y="37"/>
                  <a:pt x="220" y="41"/>
                </a:cubicBezTo>
                <a:cubicBezTo>
                  <a:pt x="221" y="41"/>
                  <a:pt x="220" y="42"/>
                  <a:pt x="219" y="43"/>
                </a:cubicBezTo>
                <a:cubicBezTo>
                  <a:pt x="219" y="43"/>
                  <a:pt x="219" y="43"/>
                  <a:pt x="219" y="43"/>
                </a:cubicBezTo>
                <a:cubicBezTo>
                  <a:pt x="219" y="43"/>
                  <a:pt x="218" y="43"/>
                  <a:pt x="217" y="42"/>
                </a:cubicBezTo>
                <a:close/>
                <a:moveTo>
                  <a:pt x="206" y="24"/>
                </a:moveTo>
                <a:cubicBezTo>
                  <a:pt x="204" y="21"/>
                  <a:pt x="202" y="18"/>
                  <a:pt x="200" y="14"/>
                </a:cubicBezTo>
                <a:cubicBezTo>
                  <a:pt x="200" y="14"/>
                  <a:pt x="200" y="13"/>
                  <a:pt x="201" y="12"/>
                </a:cubicBezTo>
                <a:cubicBezTo>
                  <a:pt x="201" y="12"/>
                  <a:pt x="201" y="12"/>
                  <a:pt x="201" y="12"/>
                </a:cubicBezTo>
                <a:cubicBezTo>
                  <a:pt x="201" y="12"/>
                  <a:pt x="203" y="12"/>
                  <a:pt x="203" y="13"/>
                </a:cubicBezTo>
                <a:cubicBezTo>
                  <a:pt x="205" y="16"/>
                  <a:pt x="207" y="19"/>
                  <a:pt x="209" y="23"/>
                </a:cubicBezTo>
                <a:cubicBezTo>
                  <a:pt x="210" y="24"/>
                  <a:pt x="209" y="25"/>
                  <a:pt x="209" y="25"/>
                </a:cubicBezTo>
                <a:cubicBezTo>
                  <a:pt x="209" y="25"/>
                  <a:pt x="209" y="25"/>
                  <a:pt x="209" y="25"/>
                </a:cubicBezTo>
                <a:cubicBezTo>
                  <a:pt x="208" y="26"/>
                  <a:pt x="207" y="25"/>
                  <a:pt x="206" y="24"/>
                </a:cubicBezTo>
                <a:close/>
                <a:moveTo>
                  <a:pt x="0" y="3"/>
                </a:moveTo>
                <a:cubicBezTo>
                  <a:pt x="0" y="0"/>
                  <a:pt x="0" y="0"/>
                  <a:pt x="0" y="0"/>
                </a:cubicBezTo>
                <a:cubicBezTo>
                  <a:pt x="8" y="0"/>
                  <a:pt x="8" y="0"/>
                  <a:pt x="8" y="0"/>
                </a:cubicBezTo>
                <a:cubicBezTo>
                  <a:pt x="9" y="0"/>
                  <a:pt x="10" y="0"/>
                  <a:pt x="10" y="1"/>
                </a:cubicBezTo>
                <a:cubicBezTo>
                  <a:pt x="10" y="1"/>
                  <a:pt x="10" y="1"/>
                  <a:pt x="10" y="1"/>
                </a:cubicBezTo>
                <a:cubicBezTo>
                  <a:pt x="10" y="2"/>
                  <a:pt x="9" y="3"/>
                  <a:pt x="8" y="3"/>
                </a:cubicBezTo>
                <a:cubicBezTo>
                  <a:pt x="0" y="3"/>
                  <a:pt x="0" y="3"/>
                  <a:pt x="0" y="3"/>
                </a:cubicBezTo>
                <a:close/>
                <a:moveTo>
                  <a:pt x="40" y="0"/>
                </a:moveTo>
                <a:cubicBezTo>
                  <a:pt x="43" y="0"/>
                  <a:pt x="47" y="0"/>
                  <a:pt x="51" y="0"/>
                </a:cubicBezTo>
                <a:cubicBezTo>
                  <a:pt x="52" y="0"/>
                  <a:pt x="53" y="0"/>
                  <a:pt x="53" y="1"/>
                </a:cubicBezTo>
                <a:cubicBezTo>
                  <a:pt x="53" y="1"/>
                  <a:pt x="53" y="1"/>
                  <a:pt x="53" y="1"/>
                </a:cubicBezTo>
                <a:cubicBezTo>
                  <a:pt x="53" y="2"/>
                  <a:pt x="52" y="3"/>
                  <a:pt x="51" y="3"/>
                </a:cubicBezTo>
                <a:cubicBezTo>
                  <a:pt x="47" y="3"/>
                  <a:pt x="43" y="3"/>
                  <a:pt x="40" y="3"/>
                </a:cubicBezTo>
                <a:cubicBezTo>
                  <a:pt x="39" y="3"/>
                  <a:pt x="38" y="2"/>
                  <a:pt x="38" y="1"/>
                </a:cubicBezTo>
                <a:cubicBezTo>
                  <a:pt x="38" y="1"/>
                  <a:pt x="38" y="1"/>
                  <a:pt x="38" y="1"/>
                </a:cubicBezTo>
                <a:cubicBezTo>
                  <a:pt x="38" y="0"/>
                  <a:pt x="39" y="0"/>
                  <a:pt x="40" y="0"/>
                </a:cubicBezTo>
                <a:close/>
                <a:moveTo>
                  <a:pt x="60" y="0"/>
                </a:moveTo>
                <a:cubicBezTo>
                  <a:pt x="64" y="0"/>
                  <a:pt x="68" y="0"/>
                  <a:pt x="72" y="0"/>
                </a:cubicBezTo>
                <a:cubicBezTo>
                  <a:pt x="73" y="0"/>
                  <a:pt x="74" y="0"/>
                  <a:pt x="74" y="1"/>
                </a:cubicBezTo>
                <a:cubicBezTo>
                  <a:pt x="74" y="1"/>
                  <a:pt x="74" y="1"/>
                  <a:pt x="74" y="1"/>
                </a:cubicBezTo>
                <a:cubicBezTo>
                  <a:pt x="74" y="2"/>
                  <a:pt x="73" y="3"/>
                  <a:pt x="72" y="3"/>
                </a:cubicBezTo>
                <a:cubicBezTo>
                  <a:pt x="68" y="3"/>
                  <a:pt x="64" y="3"/>
                  <a:pt x="60" y="3"/>
                </a:cubicBezTo>
                <a:cubicBezTo>
                  <a:pt x="60" y="3"/>
                  <a:pt x="59" y="2"/>
                  <a:pt x="59" y="1"/>
                </a:cubicBezTo>
                <a:cubicBezTo>
                  <a:pt x="59" y="1"/>
                  <a:pt x="59" y="1"/>
                  <a:pt x="59" y="1"/>
                </a:cubicBezTo>
                <a:cubicBezTo>
                  <a:pt x="59" y="0"/>
                  <a:pt x="60" y="0"/>
                  <a:pt x="60" y="0"/>
                </a:cubicBezTo>
                <a:close/>
                <a:moveTo>
                  <a:pt x="81" y="0"/>
                </a:moveTo>
                <a:cubicBezTo>
                  <a:pt x="85" y="0"/>
                  <a:pt x="89" y="0"/>
                  <a:pt x="93" y="0"/>
                </a:cubicBezTo>
                <a:cubicBezTo>
                  <a:pt x="94" y="0"/>
                  <a:pt x="95" y="0"/>
                  <a:pt x="95" y="1"/>
                </a:cubicBezTo>
                <a:cubicBezTo>
                  <a:pt x="95" y="1"/>
                  <a:pt x="95" y="1"/>
                  <a:pt x="95" y="1"/>
                </a:cubicBezTo>
                <a:cubicBezTo>
                  <a:pt x="95" y="2"/>
                  <a:pt x="94" y="3"/>
                  <a:pt x="93" y="3"/>
                </a:cubicBezTo>
                <a:cubicBezTo>
                  <a:pt x="89" y="3"/>
                  <a:pt x="85" y="3"/>
                  <a:pt x="81" y="3"/>
                </a:cubicBezTo>
                <a:cubicBezTo>
                  <a:pt x="81" y="3"/>
                  <a:pt x="80" y="2"/>
                  <a:pt x="80" y="1"/>
                </a:cubicBezTo>
                <a:cubicBezTo>
                  <a:pt x="80" y="1"/>
                  <a:pt x="80" y="1"/>
                  <a:pt x="80" y="1"/>
                </a:cubicBezTo>
                <a:cubicBezTo>
                  <a:pt x="80" y="0"/>
                  <a:pt x="81" y="0"/>
                  <a:pt x="81" y="0"/>
                </a:cubicBezTo>
                <a:close/>
                <a:moveTo>
                  <a:pt x="102" y="0"/>
                </a:moveTo>
                <a:cubicBezTo>
                  <a:pt x="106" y="0"/>
                  <a:pt x="110" y="0"/>
                  <a:pt x="114" y="0"/>
                </a:cubicBezTo>
                <a:cubicBezTo>
                  <a:pt x="115" y="0"/>
                  <a:pt x="116" y="0"/>
                  <a:pt x="116" y="1"/>
                </a:cubicBezTo>
                <a:cubicBezTo>
                  <a:pt x="116" y="1"/>
                  <a:pt x="116" y="1"/>
                  <a:pt x="116" y="1"/>
                </a:cubicBezTo>
                <a:cubicBezTo>
                  <a:pt x="116" y="2"/>
                  <a:pt x="115" y="3"/>
                  <a:pt x="114" y="3"/>
                </a:cubicBezTo>
                <a:cubicBezTo>
                  <a:pt x="110" y="3"/>
                  <a:pt x="106" y="3"/>
                  <a:pt x="102" y="3"/>
                </a:cubicBezTo>
                <a:cubicBezTo>
                  <a:pt x="102" y="3"/>
                  <a:pt x="101" y="2"/>
                  <a:pt x="101" y="1"/>
                </a:cubicBezTo>
                <a:cubicBezTo>
                  <a:pt x="101" y="1"/>
                  <a:pt x="101" y="1"/>
                  <a:pt x="101" y="1"/>
                </a:cubicBezTo>
                <a:cubicBezTo>
                  <a:pt x="101" y="0"/>
                  <a:pt x="102" y="0"/>
                  <a:pt x="102" y="0"/>
                </a:cubicBezTo>
                <a:close/>
                <a:moveTo>
                  <a:pt x="123" y="0"/>
                </a:moveTo>
                <a:cubicBezTo>
                  <a:pt x="127" y="0"/>
                  <a:pt x="131" y="0"/>
                  <a:pt x="135" y="0"/>
                </a:cubicBezTo>
                <a:cubicBezTo>
                  <a:pt x="136" y="0"/>
                  <a:pt x="137" y="0"/>
                  <a:pt x="137" y="1"/>
                </a:cubicBezTo>
                <a:cubicBezTo>
                  <a:pt x="137" y="1"/>
                  <a:pt x="137" y="1"/>
                  <a:pt x="137" y="1"/>
                </a:cubicBezTo>
                <a:cubicBezTo>
                  <a:pt x="137" y="2"/>
                  <a:pt x="136" y="3"/>
                  <a:pt x="135" y="3"/>
                </a:cubicBezTo>
                <a:cubicBezTo>
                  <a:pt x="131" y="3"/>
                  <a:pt x="127" y="3"/>
                  <a:pt x="123" y="3"/>
                </a:cubicBezTo>
                <a:cubicBezTo>
                  <a:pt x="123" y="3"/>
                  <a:pt x="122" y="2"/>
                  <a:pt x="122" y="1"/>
                </a:cubicBezTo>
                <a:cubicBezTo>
                  <a:pt x="122" y="1"/>
                  <a:pt x="122" y="1"/>
                  <a:pt x="122" y="1"/>
                </a:cubicBezTo>
                <a:cubicBezTo>
                  <a:pt x="122" y="0"/>
                  <a:pt x="123" y="0"/>
                  <a:pt x="123" y="0"/>
                </a:cubicBezTo>
                <a:close/>
                <a:moveTo>
                  <a:pt x="144" y="0"/>
                </a:moveTo>
                <a:cubicBezTo>
                  <a:pt x="148" y="0"/>
                  <a:pt x="152" y="0"/>
                  <a:pt x="156" y="0"/>
                </a:cubicBezTo>
                <a:cubicBezTo>
                  <a:pt x="157" y="0"/>
                  <a:pt x="158" y="0"/>
                  <a:pt x="158" y="1"/>
                </a:cubicBezTo>
                <a:cubicBezTo>
                  <a:pt x="158" y="1"/>
                  <a:pt x="158" y="1"/>
                  <a:pt x="158" y="1"/>
                </a:cubicBezTo>
                <a:cubicBezTo>
                  <a:pt x="158" y="2"/>
                  <a:pt x="157" y="3"/>
                  <a:pt x="156" y="3"/>
                </a:cubicBezTo>
                <a:cubicBezTo>
                  <a:pt x="152" y="3"/>
                  <a:pt x="148" y="3"/>
                  <a:pt x="144" y="3"/>
                </a:cubicBezTo>
                <a:cubicBezTo>
                  <a:pt x="144" y="3"/>
                  <a:pt x="143" y="2"/>
                  <a:pt x="143" y="1"/>
                </a:cubicBezTo>
                <a:cubicBezTo>
                  <a:pt x="143" y="1"/>
                  <a:pt x="143" y="1"/>
                  <a:pt x="143" y="1"/>
                </a:cubicBezTo>
                <a:cubicBezTo>
                  <a:pt x="143" y="0"/>
                  <a:pt x="144" y="0"/>
                  <a:pt x="144" y="0"/>
                </a:cubicBezTo>
                <a:close/>
                <a:moveTo>
                  <a:pt x="165" y="0"/>
                </a:moveTo>
                <a:cubicBezTo>
                  <a:pt x="169" y="0"/>
                  <a:pt x="173" y="0"/>
                  <a:pt x="177" y="0"/>
                </a:cubicBezTo>
                <a:cubicBezTo>
                  <a:pt x="178" y="0"/>
                  <a:pt x="179" y="0"/>
                  <a:pt x="179" y="1"/>
                </a:cubicBezTo>
                <a:cubicBezTo>
                  <a:pt x="179" y="1"/>
                  <a:pt x="179" y="1"/>
                  <a:pt x="179" y="1"/>
                </a:cubicBezTo>
                <a:cubicBezTo>
                  <a:pt x="179" y="2"/>
                  <a:pt x="178" y="3"/>
                  <a:pt x="177" y="3"/>
                </a:cubicBezTo>
                <a:cubicBezTo>
                  <a:pt x="173" y="3"/>
                  <a:pt x="169" y="3"/>
                  <a:pt x="165" y="3"/>
                </a:cubicBezTo>
                <a:cubicBezTo>
                  <a:pt x="165" y="3"/>
                  <a:pt x="164" y="2"/>
                  <a:pt x="164" y="1"/>
                </a:cubicBezTo>
                <a:cubicBezTo>
                  <a:pt x="164" y="1"/>
                  <a:pt x="164" y="1"/>
                  <a:pt x="164" y="1"/>
                </a:cubicBezTo>
                <a:cubicBezTo>
                  <a:pt x="164" y="0"/>
                  <a:pt x="165" y="0"/>
                  <a:pt x="165" y="0"/>
                </a:cubicBezTo>
                <a:close/>
              </a:path>
            </a:pathLst>
          </a:custGeom>
          <a:solidFill>
            <a:srgbClr val="82C3D0"/>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 name="Freeform 10"/>
          <p:cNvSpPr>
            <a:spLocks noEditPoints="1"/>
          </p:cNvSpPr>
          <p:nvPr/>
        </p:nvSpPr>
        <p:spPr bwMode="auto">
          <a:xfrm>
            <a:off x="894924" y="2684693"/>
            <a:ext cx="710707" cy="449262"/>
          </a:xfrm>
          <a:custGeom>
            <a:avLst/>
            <a:gdLst>
              <a:gd name="T0" fmla="*/ 87 w 782"/>
              <a:gd name="T1" fmla="*/ 232 h 493"/>
              <a:gd name="T2" fmla="*/ 195 w 782"/>
              <a:gd name="T3" fmla="*/ 0 h 493"/>
              <a:gd name="T4" fmla="*/ 724 w 782"/>
              <a:gd name="T5" fmla="*/ 467 h 493"/>
              <a:gd name="T6" fmla="*/ 612 w 782"/>
              <a:gd name="T7" fmla="*/ 369 h 493"/>
              <a:gd name="T8" fmla="*/ 565 w 782"/>
              <a:gd name="T9" fmla="*/ 349 h 493"/>
              <a:gd name="T10" fmla="*/ 605 w 782"/>
              <a:gd name="T11" fmla="*/ 354 h 493"/>
              <a:gd name="T12" fmla="*/ 366 w 782"/>
              <a:gd name="T13" fmla="*/ 366 h 493"/>
              <a:gd name="T14" fmla="*/ 372 w 782"/>
              <a:gd name="T15" fmla="*/ 348 h 493"/>
              <a:gd name="T16" fmla="*/ 410 w 782"/>
              <a:gd name="T17" fmla="*/ 351 h 493"/>
              <a:gd name="T18" fmla="*/ 409 w 782"/>
              <a:gd name="T19" fmla="*/ 406 h 493"/>
              <a:gd name="T20" fmla="*/ 362 w 782"/>
              <a:gd name="T21" fmla="*/ 405 h 493"/>
              <a:gd name="T22" fmla="*/ 288 w 782"/>
              <a:gd name="T23" fmla="*/ 400 h 493"/>
              <a:gd name="T24" fmla="*/ 339 w 782"/>
              <a:gd name="T25" fmla="*/ 389 h 493"/>
              <a:gd name="T26" fmla="*/ 322 w 782"/>
              <a:gd name="T27" fmla="*/ 409 h 493"/>
              <a:gd name="T28" fmla="*/ 302 w 782"/>
              <a:gd name="T29" fmla="*/ 353 h 493"/>
              <a:gd name="T30" fmla="*/ 345 w 782"/>
              <a:gd name="T31" fmla="*/ 351 h 493"/>
              <a:gd name="T32" fmla="*/ 213 w 782"/>
              <a:gd name="T33" fmla="*/ 402 h 493"/>
              <a:gd name="T34" fmla="*/ 267 w 782"/>
              <a:gd name="T35" fmla="*/ 387 h 493"/>
              <a:gd name="T36" fmla="*/ 213 w 782"/>
              <a:gd name="T37" fmla="*/ 406 h 493"/>
              <a:gd name="T38" fmla="*/ 199 w 782"/>
              <a:gd name="T39" fmla="*/ 369 h 493"/>
              <a:gd name="T40" fmla="*/ 214 w 782"/>
              <a:gd name="T41" fmla="*/ 348 h 493"/>
              <a:gd name="T42" fmla="*/ 233 w 782"/>
              <a:gd name="T43" fmla="*/ 361 h 493"/>
              <a:gd name="T44" fmla="*/ 280 w 782"/>
              <a:gd name="T45" fmla="*/ 350 h 493"/>
              <a:gd name="T46" fmla="*/ 273 w 782"/>
              <a:gd name="T47" fmla="*/ 367 h 493"/>
              <a:gd name="T48" fmla="*/ 159 w 782"/>
              <a:gd name="T49" fmla="*/ 452 h 493"/>
              <a:gd name="T50" fmla="*/ 107 w 782"/>
              <a:gd name="T51" fmla="*/ 448 h 493"/>
              <a:gd name="T52" fmla="*/ 137 w 782"/>
              <a:gd name="T53" fmla="*/ 424 h 493"/>
              <a:gd name="T54" fmla="*/ 188 w 782"/>
              <a:gd name="T55" fmla="*/ 402 h 493"/>
              <a:gd name="T56" fmla="*/ 142 w 782"/>
              <a:gd name="T57" fmla="*/ 409 h 493"/>
              <a:gd name="T58" fmla="*/ 153 w 782"/>
              <a:gd name="T59" fmla="*/ 385 h 493"/>
              <a:gd name="T60" fmla="*/ 196 w 782"/>
              <a:gd name="T61" fmla="*/ 389 h 493"/>
              <a:gd name="T62" fmla="*/ 407 w 782"/>
              <a:gd name="T63" fmla="*/ 455 h 493"/>
              <a:gd name="T64" fmla="*/ 200 w 782"/>
              <a:gd name="T65" fmla="*/ 458 h 493"/>
              <a:gd name="T66" fmla="*/ 203 w 782"/>
              <a:gd name="T67" fmla="*/ 427 h 493"/>
              <a:gd name="T68" fmla="*/ 402 w 782"/>
              <a:gd name="T69" fmla="*/ 423 h 493"/>
              <a:gd name="T70" fmla="*/ 411 w 782"/>
              <a:gd name="T71" fmla="*/ 448 h 493"/>
              <a:gd name="T72" fmla="*/ 438 w 782"/>
              <a:gd name="T73" fmla="*/ 347 h 493"/>
              <a:gd name="T74" fmla="*/ 471 w 782"/>
              <a:gd name="T75" fmla="*/ 369 h 493"/>
              <a:gd name="T76" fmla="*/ 434 w 782"/>
              <a:gd name="T77" fmla="*/ 366 h 493"/>
              <a:gd name="T78" fmla="*/ 484 w 782"/>
              <a:gd name="T79" fmla="*/ 395 h 493"/>
              <a:gd name="T80" fmla="*/ 473 w 782"/>
              <a:gd name="T81" fmla="*/ 409 h 493"/>
              <a:gd name="T82" fmla="*/ 437 w 782"/>
              <a:gd name="T83" fmla="*/ 404 h 493"/>
              <a:gd name="T84" fmla="*/ 440 w 782"/>
              <a:gd name="T85" fmla="*/ 451 h 493"/>
              <a:gd name="T86" fmla="*/ 438 w 782"/>
              <a:gd name="T87" fmla="*/ 428 h 493"/>
              <a:gd name="T88" fmla="*/ 447 w 782"/>
              <a:gd name="T89" fmla="*/ 423 h 493"/>
              <a:gd name="T90" fmla="*/ 483 w 782"/>
              <a:gd name="T91" fmla="*/ 424 h 493"/>
              <a:gd name="T92" fmla="*/ 502 w 782"/>
              <a:gd name="T93" fmla="*/ 363 h 493"/>
              <a:gd name="T94" fmla="*/ 536 w 782"/>
              <a:gd name="T95" fmla="*/ 350 h 493"/>
              <a:gd name="T96" fmla="*/ 547 w 782"/>
              <a:gd name="T97" fmla="*/ 366 h 493"/>
              <a:gd name="T98" fmla="*/ 519 w 782"/>
              <a:gd name="T99" fmla="*/ 405 h 493"/>
              <a:gd name="T100" fmla="*/ 559 w 782"/>
              <a:gd name="T101" fmla="*/ 389 h 493"/>
              <a:gd name="T102" fmla="*/ 564 w 782"/>
              <a:gd name="T103" fmla="*/ 408 h 493"/>
              <a:gd name="T104" fmla="*/ 588 w 782"/>
              <a:gd name="T105" fmla="*/ 453 h 493"/>
              <a:gd name="T106" fmla="*/ 548 w 782"/>
              <a:gd name="T107" fmla="*/ 457 h 493"/>
              <a:gd name="T108" fmla="*/ 536 w 782"/>
              <a:gd name="T109" fmla="*/ 423 h 493"/>
              <a:gd name="T110" fmla="*/ 588 w 782"/>
              <a:gd name="T111" fmla="*/ 448 h 493"/>
              <a:gd name="T112" fmla="*/ 591 w 782"/>
              <a:gd name="T113" fmla="*/ 382 h 493"/>
              <a:gd name="T114" fmla="*/ 635 w 782"/>
              <a:gd name="T115" fmla="*/ 409 h 493"/>
              <a:gd name="T116" fmla="*/ 616 w 782"/>
              <a:gd name="T117" fmla="*/ 449 h 493"/>
              <a:gd name="T118" fmla="*/ 639 w 782"/>
              <a:gd name="T119" fmla="*/ 423 h 493"/>
              <a:gd name="T120" fmla="*/ 670 w 782"/>
              <a:gd name="T121" fmla="*/ 449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82" h="493">
                <a:moveTo>
                  <a:pt x="111" y="206"/>
                </a:moveTo>
                <a:cubicBezTo>
                  <a:pt x="91" y="187"/>
                  <a:pt x="91" y="152"/>
                  <a:pt x="111" y="134"/>
                </a:cubicBezTo>
                <a:cubicBezTo>
                  <a:pt x="97" y="136"/>
                  <a:pt x="84" y="151"/>
                  <a:pt x="84" y="170"/>
                </a:cubicBezTo>
                <a:cubicBezTo>
                  <a:pt x="84" y="188"/>
                  <a:pt x="97" y="203"/>
                  <a:pt x="111" y="206"/>
                </a:cubicBezTo>
                <a:close/>
                <a:moveTo>
                  <a:pt x="698" y="170"/>
                </a:moveTo>
                <a:cubicBezTo>
                  <a:pt x="698" y="151"/>
                  <a:pt x="685" y="136"/>
                  <a:pt x="671" y="134"/>
                </a:cubicBezTo>
                <a:cubicBezTo>
                  <a:pt x="691" y="152"/>
                  <a:pt x="691" y="187"/>
                  <a:pt x="671" y="206"/>
                </a:cubicBezTo>
                <a:cubicBezTo>
                  <a:pt x="685" y="203"/>
                  <a:pt x="698" y="188"/>
                  <a:pt x="698" y="170"/>
                </a:cubicBezTo>
                <a:close/>
                <a:moveTo>
                  <a:pt x="696" y="232"/>
                </a:moveTo>
                <a:cubicBezTo>
                  <a:pt x="716" y="224"/>
                  <a:pt x="737" y="200"/>
                  <a:pt x="737" y="170"/>
                </a:cubicBezTo>
                <a:cubicBezTo>
                  <a:pt x="737" y="139"/>
                  <a:pt x="716" y="115"/>
                  <a:pt x="696" y="108"/>
                </a:cubicBezTo>
                <a:cubicBezTo>
                  <a:pt x="712" y="124"/>
                  <a:pt x="723" y="147"/>
                  <a:pt x="723" y="170"/>
                </a:cubicBezTo>
                <a:cubicBezTo>
                  <a:pt x="723" y="193"/>
                  <a:pt x="712" y="215"/>
                  <a:pt x="696" y="232"/>
                </a:cubicBezTo>
                <a:close/>
                <a:moveTo>
                  <a:pt x="87" y="232"/>
                </a:moveTo>
                <a:cubicBezTo>
                  <a:pt x="70" y="215"/>
                  <a:pt x="59" y="193"/>
                  <a:pt x="59" y="170"/>
                </a:cubicBezTo>
                <a:cubicBezTo>
                  <a:pt x="59" y="147"/>
                  <a:pt x="70" y="124"/>
                  <a:pt x="87" y="108"/>
                </a:cubicBezTo>
                <a:cubicBezTo>
                  <a:pt x="66" y="115"/>
                  <a:pt x="45" y="139"/>
                  <a:pt x="46" y="170"/>
                </a:cubicBezTo>
                <a:cubicBezTo>
                  <a:pt x="45" y="200"/>
                  <a:pt x="66" y="224"/>
                  <a:pt x="87" y="232"/>
                </a:cubicBezTo>
                <a:close/>
                <a:moveTo>
                  <a:pt x="714" y="448"/>
                </a:moveTo>
                <a:cubicBezTo>
                  <a:pt x="706" y="438"/>
                  <a:pt x="697" y="428"/>
                  <a:pt x="689" y="419"/>
                </a:cubicBezTo>
                <a:cubicBezTo>
                  <a:pt x="671" y="397"/>
                  <a:pt x="653" y="376"/>
                  <a:pt x="635" y="355"/>
                </a:cubicBezTo>
                <a:cubicBezTo>
                  <a:pt x="634" y="354"/>
                  <a:pt x="633" y="353"/>
                  <a:pt x="632" y="352"/>
                </a:cubicBezTo>
                <a:cubicBezTo>
                  <a:pt x="629" y="347"/>
                  <a:pt x="623" y="345"/>
                  <a:pt x="617" y="343"/>
                </a:cubicBezTo>
                <a:cubicBezTo>
                  <a:pt x="612" y="341"/>
                  <a:pt x="606" y="339"/>
                  <a:pt x="599" y="339"/>
                </a:cubicBezTo>
                <a:cubicBezTo>
                  <a:pt x="621" y="333"/>
                  <a:pt x="637" y="314"/>
                  <a:pt x="637" y="291"/>
                </a:cubicBezTo>
                <a:cubicBezTo>
                  <a:pt x="637" y="50"/>
                  <a:pt x="637" y="50"/>
                  <a:pt x="637" y="50"/>
                </a:cubicBezTo>
                <a:cubicBezTo>
                  <a:pt x="637" y="22"/>
                  <a:pt x="614" y="0"/>
                  <a:pt x="587" y="0"/>
                </a:cubicBezTo>
                <a:cubicBezTo>
                  <a:pt x="195" y="0"/>
                  <a:pt x="195" y="0"/>
                  <a:pt x="195" y="0"/>
                </a:cubicBezTo>
                <a:cubicBezTo>
                  <a:pt x="168" y="0"/>
                  <a:pt x="145" y="22"/>
                  <a:pt x="145" y="50"/>
                </a:cubicBezTo>
                <a:cubicBezTo>
                  <a:pt x="145" y="291"/>
                  <a:pt x="145" y="291"/>
                  <a:pt x="145" y="291"/>
                </a:cubicBezTo>
                <a:cubicBezTo>
                  <a:pt x="145" y="314"/>
                  <a:pt x="161" y="334"/>
                  <a:pt x="183" y="339"/>
                </a:cubicBezTo>
                <a:cubicBezTo>
                  <a:pt x="171" y="340"/>
                  <a:pt x="157" y="344"/>
                  <a:pt x="149" y="354"/>
                </a:cubicBezTo>
                <a:cubicBezTo>
                  <a:pt x="143" y="361"/>
                  <a:pt x="136" y="369"/>
                  <a:pt x="130" y="377"/>
                </a:cubicBezTo>
                <a:cubicBezTo>
                  <a:pt x="111" y="399"/>
                  <a:pt x="91" y="422"/>
                  <a:pt x="72" y="446"/>
                </a:cubicBezTo>
                <a:cubicBezTo>
                  <a:pt x="67" y="451"/>
                  <a:pt x="58" y="459"/>
                  <a:pt x="58" y="467"/>
                </a:cubicBezTo>
                <a:cubicBezTo>
                  <a:pt x="58" y="489"/>
                  <a:pt x="58" y="478"/>
                  <a:pt x="58" y="478"/>
                </a:cubicBezTo>
                <a:cubicBezTo>
                  <a:pt x="58" y="481"/>
                  <a:pt x="59" y="483"/>
                  <a:pt x="60" y="485"/>
                </a:cubicBezTo>
                <a:cubicBezTo>
                  <a:pt x="65" y="492"/>
                  <a:pt x="75" y="493"/>
                  <a:pt x="83" y="493"/>
                </a:cubicBezTo>
                <a:cubicBezTo>
                  <a:pt x="94" y="493"/>
                  <a:pt x="667" y="493"/>
                  <a:pt x="684" y="493"/>
                </a:cubicBezTo>
                <a:cubicBezTo>
                  <a:pt x="693" y="493"/>
                  <a:pt x="702" y="492"/>
                  <a:pt x="711" y="490"/>
                </a:cubicBezTo>
                <a:cubicBezTo>
                  <a:pt x="716" y="489"/>
                  <a:pt x="723" y="486"/>
                  <a:pt x="724" y="479"/>
                </a:cubicBezTo>
                <a:cubicBezTo>
                  <a:pt x="724" y="456"/>
                  <a:pt x="724" y="467"/>
                  <a:pt x="724" y="467"/>
                </a:cubicBezTo>
                <a:cubicBezTo>
                  <a:pt x="725" y="462"/>
                  <a:pt x="722" y="457"/>
                  <a:pt x="718" y="453"/>
                </a:cubicBezTo>
                <a:cubicBezTo>
                  <a:pt x="717" y="451"/>
                  <a:pt x="715" y="449"/>
                  <a:pt x="714" y="448"/>
                </a:cubicBezTo>
                <a:close/>
                <a:moveTo>
                  <a:pt x="164" y="299"/>
                </a:moveTo>
                <a:cubicBezTo>
                  <a:pt x="164" y="64"/>
                  <a:pt x="164" y="53"/>
                  <a:pt x="164" y="53"/>
                </a:cubicBezTo>
                <a:cubicBezTo>
                  <a:pt x="164" y="39"/>
                  <a:pt x="175" y="16"/>
                  <a:pt x="189" y="16"/>
                </a:cubicBezTo>
                <a:cubicBezTo>
                  <a:pt x="570" y="16"/>
                  <a:pt x="593" y="16"/>
                  <a:pt x="593" y="16"/>
                </a:cubicBezTo>
                <a:cubicBezTo>
                  <a:pt x="607" y="16"/>
                  <a:pt x="618" y="39"/>
                  <a:pt x="618" y="53"/>
                </a:cubicBezTo>
                <a:cubicBezTo>
                  <a:pt x="618" y="268"/>
                  <a:pt x="618" y="299"/>
                  <a:pt x="618" y="299"/>
                </a:cubicBezTo>
                <a:cubicBezTo>
                  <a:pt x="618" y="313"/>
                  <a:pt x="607" y="325"/>
                  <a:pt x="593" y="325"/>
                </a:cubicBezTo>
                <a:cubicBezTo>
                  <a:pt x="212" y="325"/>
                  <a:pt x="189" y="325"/>
                  <a:pt x="189" y="325"/>
                </a:cubicBezTo>
                <a:cubicBezTo>
                  <a:pt x="175" y="325"/>
                  <a:pt x="164" y="302"/>
                  <a:pt x="164" y="287"/>
                </a:cubicBezTo>
                <a:lnTo>
                  <a:pt x="164" y="299"/>
                </a:lnTo>
                <a:close/>
                <a:moveTo>
                  <a:pt x="613" y="367"/>
                </a:moveTo>
                <a:cubicBezTo>
                  <a:pt x="613" y="367"/>
                  <a:pt x="613" y="368"/>
                  <a:pt x="612" y="369"/>
                </a:cubicBezTo>
                <a:cubicBezTo>
                  <a:pt x="612" y="369"/>
                  <a:pt x="612" y="369"/>
                  <a:pt x="612" y="369"/>
                </a:cubicBezTo>
                <a:cubicBezTo>
                  <a:pt x="612" y="369"/>
                  <a:pt x="612" y="369"/>
                  <a:pt x="612" y="369"/>
                </a:cubicBezTo>
                <a:cubicBezTo>
                  <a:pt x="612" y="369"/>
                  <a:pt x="612" y="369"/>
                  <a:pt x="612" y="369"/>
                </a:cubicBezTo>
                <a:cubicBezTo>
                  <a:pt x="612" y="369"/>
                  <a:pt x="612" y="369"/>
                  <a:pt x="611" y="369"/>
                </a:cubicBezTo>
                <a:cubicBezTo>
                  <a:pt x="611" y="369"/>
                  <a:pt x="611" y="369"/>
                  <a:pt x="611" y="369"/>
                </a:cubicBezTo>
                <a:cubicBezTo>
                  <a:pt x="611" y="369"/>
                  <a:pt x="611" y="369"/>
                  <a:pt x="610" y="369"/>
                </a:cubicBezTo>
                <a:cubicBezTo>
                  <a:pt x="608" y="371"/>
                  <a:pt x="604" y="371"/>
                  <a:pt x="600" y="371"/>
                </a:cubicBezTo>
                <a:cubicBezTo>
                  <a:pt x="584" y="371"/>
                  <a:pt x="584" y="371"/>
                  <a:pt x="584" y="371"/>
                </a:cubicBezTo>
                <a:cubicBezTo>
                  <a:pt x="580" y="371"/>
                  <a:pt x="577" y="370"/>
                  <a:pt x="574" y="369"/>
                </a:cubicBezTo>
                <a:cubicBezTo>
                  <a:pt x="573" y="368"/>
                  <a:pt x="572" y="367"/>
                  <a:pt x="571" y="367"/>
                </a:cubicBezTo>
                <a:cubicBezTo>
                  <a:pt x="570" y="366"/>
                  <a:pt x="569" y="365"/>
                  <a:pt x="569" y="365"/>
                </a:cubicBezTo>
                <a:cubicBezTo>
                  <a:pt x="568" y="363"/>
                  <a:pt x="568" y="363"/>
                  <a:pt x="568" y="363"/>
                </a:cubicBezTo>
                <a:cubicBezTo>
                  <a:pt x="566" y="360"/>
                  <a:pt x="564" y="357"/>
                  <a:pt x="563" y="354"/>
                </a:cubicBezTo>
                <a:cubicBezTo>
                  <a:pt x="561" y="351"/>
                  <a:pt x="563" y="350"/>
                  <a:pt x="565" y="349"/>
                </a:cubicBezTo>
                <a:cubicBezTo>
                  <a:pt x="565" y="349"/>
                  <a:pt x="566" y="349"/>
                  <a:pt x="566" y="349"/>
                </a:cubicBezTo>
                <a:cubicBezTo>
                  <a:pt x="567" y="348"/>
                  <a:pt x="569" y="348"/>
                  <a:pt x="570" y="348"/>
                </a:cubicBezTo>
                <a:cubicBezTo>
                  <a:pt x="573" y="348"/>
                  <a:pt x="573" y="348"/>
                  <a:pt x="573" y="348"/>
                </a:cubicBezTo>
                <a:cubicBezTo>
                  <a:pt x="573" y="348"/>
                  <a:pt x="573" y="348"/>
                  <a:pt x="573" y="348"/>
                </a:cubicBezTo>
                <a:cubicBezTo>
                  <a:pt x="577" y="348"/>
                  <a:pt x="581" y="348"/>
                  <a:pt x="586" y="348"/>
                </a:cubicBezTo>
                <a:cubicBezTo>
                  <a:pt x="586" y="348"/>
                  <a:pt x="586" y="348"/>
                  <a:pt x="586" y="348"/>
                </a:cubicBezTo>
                <a:cubicBezTo>
                  <a:pt x="590" y="348"/>
                  <a:pt x="590" y="348"/>
                  <a:pt x="590" y="348"/>
                </a:cubicBezTo>
                <a:cubicBezTo>
                  <a:pt x="592" y="348"/>
                  <a:pt x="594" y="348"/>
                  <a:pt x="595" y="348"/>
                </a:cubicBezTo>
                <a:cubicBezTo>
                  <a:pt x="596" y="349"/>
                  <a:pt x="597" y="349"/>
                  <a:pt x="598" y="349"/>
                </a:cubicBezTo>
                <a:cubicBezTo>
                  <a:pt x="598" y="349"/>
                  <a:pt x="598" y="349"/>
                  <a:pt x="598" y="349"/>
                </a:cubicBezTo>
                <a:cubicBezTo>
                  <a:pt x="598" y="350"/>
                  <a:pt x="598" y="350"/>
                  <a:pt x="599" y="350"/>
                </a:cubicBezTo>
                <a:cubicBezTo>
                  <a:pt x="599" y="350"/>
                  <a:pt x="599" y="350"/>
                  <a:pt x="599" y="350"/>
                </a:cubicBezTo>
                <a:cubicBezTo>
                  <a:pt x="600" y="350"/>
                  <a:pt x="602" y="351"/>
                  <a:pt x="603" y="351"/>
                </a:cubicBezTo>
                <a:cubicBezTo>
                  <a:pt x="604" y="352"/>
                  <a:pt x="604" y="353"/>
                  <a:pt x="605" y="354"/>
                </a:cubicBezTo>
                <a:cubicBezTo>
                  <a:pt x="608" y="359"/>
                  <a:pt x="608" y="359"/>
                  <a:pt x="608" y="359"/>
                </a:cubicBezTo>
                <a:cubicBezTo>
                  <a:pt x="609" y="360"/>
                  <a:pt x="611" y="362"/>
                  <a:pt x="612" y="364"/>
                </a:cubicBezTo>
                <a:cubicBezTo>
                  <a:pt x="612" y="364"/>
                  <a:pt x="612" y="364"/>
                  <a:pt x="612" y="364"/>
                </a:cubicBezTo>
                <a:cubicBezTo>
                  <a:pt x="613" y="365"/>
                  <a:pt x="613" y="366"/>
                  <a:pt x="613" y="367"/>
                </a:cubicBezTo>
                <a:close/>
                <a:moveTo>
                  <a:pt x="410" y="363"/>
                </a:moveTo>
                <a:cubicBezTo>
                  <a:pt x="410" y="364"/>
                  <a:pt x="410" y="364"/>
                  <a:pt x="410" y="365"/>
                </a:cubicBezTo>
                <a:cubicBezTo>
                  <a:pt x="406" y="371"/>
                  <a:pt x="392" y="369"/>
                  <a:pt x="386" y="369"/>
                </a:cubicBezTo>
                <a:cubicBezTo>
                  <a:pt x="383" y="369"/>
                  <a:pt x="380" y="369"/>
                  <a:pt x="377" y="369"/>
                </a:cubicBezTo>
                <a:cubicBezTo>
                  <a:pt x="374" y="369"/>
                  <a:pt x="370" y="369"/>
                  <a:pt x="367" y="367"/>
                </a:cubicBezTo>
                <a:cubicBezTo>
                  <a:pt x="367" y="367"/>
                  <a:pt x="367" y="367"/>
                  <a:pt x="367" y="367"/>
                </a:cubicBezTo>
                <a:cubicBezTo>
                  <a:pt x="367" y="366"/>
                  <a:pt x="367" y="366"/>
                  <a:pt x="367" y="366"/>
                </a:cubicBezTo>
                <a:cubicBezTo>
                  <a:pt x="366" y="366"/>
                  <a:pt x="366" y="366"/>
                  <a:pt x="366" y="366"/>
                </a:cubicBezTo>
                <a:cubicBezTo>
                  <a:pt x="366" y="366"/>
                  <a:pt x="366" y="366"/>
                  <a:pt x="366" y="366"/>
                </a:cubicBezTo>
                <a:cubicBezTo>
                  <a:pt x="366" y="366"/>
                  <a:pt x="366" y="366"/>
                  <a:pt x="366" y="366"/>
                </a:cubicBezTo>
                <a:cubicBezTo>
                  <a:pt x="366" y="365"/>
                  <a:pt x="366" y="365"/>
                  <a:pt x="366" y="365"/>
                </a:cubicBezTo>
                <a:cubicBezTo>
                  <a:pt x="366" y="364"/>
                  <a:pt x="366" y="364"/>
                  <a:pt x="366" y="363"/>
                </a:cubicBezTo>
                <a:cubicBezTo>
                  <a:pt x="366" y="363"/>
                  <a:pt x="366" y="363"/>
                  <a:pt x="366" y="363"/>
                </a:cubicBezTo>
                <a:cubicBezTo>
                  <a:pt x="366" y="362"/>
                  <a:pt x="366" y="361"/>
                  <a:pt x="366" y="361"/>
                </a:cubicBezTo>
                <a:cubicBezTo>
                  <a:pt x="366" y="360"/>
                  <a:pt x="366" y="360"/>
                  <a:pt x="366" y="360"/>
                </a:cubicBezTo>
                <a:cubicBezTo>
                  <a:pt x="366" y="358"/>
                  <a:pt x="366" y="355"/>
                  <a:pt x="367" y="353"/>
                </a:cubicBezTo>
                <a:cubicBezTo>
                  <a:pt x="367" y="352"/>
                  <a:pt x="367" y="352"/>
                  <a:pt x="367" y="352"/>
                </a:cubicBezTo>
                <a:cubicBezTo>
                  <a:pt x="367" y="352"/>
                  <a:pt x="367" y="351"/>
                  <a:pt x="368" y="350"/>
                </a:cubicBezTo>
                <a:cubicBezTo>
                  <a:pt x="369" y="350"/>
                  <a:pt x="369" y="349"/>
                  <a:pt x="370" y="349"/>
                </a:cubicBezTo>
                <a:cubicBezTo>
                  <a:pt x="370" y="349"/>
                  <a:pt x="370" y="349"/>
                  <a:pt x="370" y="349"/>
                </a:cubicBezTo>
                <a:cubicBezTo>
                  <a:pt x="370" y="349"/>
                  <a:pt x="370" y="348"/>
                  <a:pt x="370" y="348"/>
                </a:cubicBezTo>
                <a:cubicBezTo>
                  <a:pt x="370" y="348"/>
                  <a:pt x="371" y="348"/>
                  <a:pt x="371" y="348"/>
                </a:cubicBezTo>
                <a:cubicBezTo>
                  <a:pt x="371" y="348"/>
                  <a:pt x="371" y="348"/>
                  <a:pt x="371" y="348"/>
                </a:cubicBezTo>
                <a:cubicBezTo>
                  <a:pt x="371" y="348"/>
                  <a:pt x="372" y="348"/>
                  <a:pt x="372" y="348"/>
                </a:cubicBezTo>
                <a:cubicBezTo>
                  <a:pt x="372" y="348"/>
                  <a:pt x="372" y="348"/>
                  <a:pt x="373" y="348"/>
                </a:cubicBezTo>
                <a:cubicBezTo>
                  <a:pt x="373" y="347"/>
                  <a:pt x="373" y="347"/>
                  <a:pt x="374" y="347"/>
                </a:cubicBezTo>
                <a:cubicBezTo>
                  <a:pt x="374" y="347"/>
                  <a:pt x="374" y="347"/>
                  <a:pt x="374" y="347"/>
                </a:cubicBezTo>
                <a:cubicBezTo>
                  <a:pt x="374" y="347"/>
                  <a:pt x="374" y="347"/>
                  <a:pt x="374" y="347"/>
                </a:cubicBezTo>
                <a:cubicBezTo>
                  <a:pt x="375" y="347"/>
                  <a:pt x="375" y="347"/>
                  <a:pt x="375" y="347"/>
                </a:cubicBezTo>
                <a:cubicBezTo>
                  <a:pt x="376" y="347"/>
                  <a:pt x="377" y="347"/>
                  <a:pt x="378" y="347"/>
                </a:cubicBezTo>
                <a:cubicBezTo>
                  <a:pt x="379" y="347"/>
                  <a:pt x="379" y="347"/>
                  <a:pt x="379" y="347"/>
                </a:cubicBezTo>
                <a:cubicBezTo>
                  <a:pt x="380" y="347"/>
                  <a:pt x="382" y="347"/>
                  <a:pt x="383" y="347"/>
                </a:cubicBezTo>
                <a:cubicBezTo>
                  <a:pt x="399" y="347"/>
                  <a:pt x="399" y="347"/>
                  <a:pt x="399" y="347"/>
                </a:cubicBezTo>
                <a:cubicBezTo>
                  <a:pt x="399" y="347"/>
                  <a:pt x="399" y="347"/>
                  <a:pt x="400" y="347"/>
                </a:cubicBezTo>
                <a:cubicBezTo>
                  <a:pt x="400" y="347"/>
                  <a:pt x="400" y="347"/>
                  <a:pt x="400" y="347"/>
                </a:cubicBezTo>
                <a:cubicBezTo>
                  <a:pt x="401" y="347"/>
                  <a:pt x="401" y="347"/>
                  <a:pt x="402" y="347"/>
                </a:cubicBezTo>
                <a:cubicBezTo>
                  <a:pt x="405" y="347"/>
                  <a:pt x="408" y="348"/>
                  <a:pt x="409" y="351"/>
                </a:cubicBezTo>
                <a:cubicBezTo>
                  <a:pt x="410" y="351"/>
                  <a:pt x="410" y="351"/>
                  <a:pt x="410" y="351"/>
                </a:cubicBezTo>
                <a:cubicBezTo>
                  <a:pt x="410" y="351"/>
                  <a:pt x="410" y="351"/>
                  <a:pt x="410" y="351"/>
                </a:cubicBezTo>
                <a:cubicBezTo>
                  <a:pt x="411" y="355"/>
                  <a:pt x="410" y="359"/>
                  <a:pt x="410" y="362"/>
                </a:cubicBezTo>
                <a:cubicBezTo>
                  <a:pt x="410" y="363"/>
                  <a:pt x="410" y="363"/>
                  <a:pt x="410" y="363"/>
                </a:cubicBezTo>
                <a:cubicBezTo>
                  <a:pt x="410" y="363"/>
                  <a:pt x="410" y="363"/>
                  <a:pt x="410" y="363"/>
                </a:cubicBezTo>
                <a:close/>
                <a:moveTo>
                  <a:pt x="387" y="381"/>
                </a:moveTo>
                <a:cubicBezTo>
                  <a:pt x="393" y="381"/>
                  <a:pt x="407" y="380"/>
                  <a:pt x="410" y="386"/>
                </a:cubicBezTo>
                <a:cubicBezTo>
                  <a:pt x="410" y="387"/>
                  <a:pt x="411" y="387"/>
                  <a:pt x="411" y="388"/>
                </a:cubicBezTo>
                <a:cubicBezTo>
                  <a:pt x="411" y="395"/>
                  <a:pt x="411" y="395"/>
                  <a:pt x="411" y="395"/>
                </a:cubicBezTo>
                <a:cubicBezTo>
                  <a:pt x="411" y="397"/>
                  <a:pt x="411" y="399"/>
                  <a:pt x="411" y="401"/>
                </a:cubicBezTo>
                <a:cubicBezTo>
                  <a:pt x="411" y="401"/>
                  <a:pt x="411" y="401"/>
                  <a:pt x="411" y="401"/>
                </a:cubicBezTo>
                <a:cubicBezTo>
                  <a:pt x="411" y="402"/>
                  <a:pt x="411" y="402"/>
                  <a:pt x="411" y="402"/>
                </a:cubicBezTo>
                <a:cubicBezTo>
                  <a:pt x="411" y="402"/>
                  <a:pt x="410" y="404"/>
                  <a:pt x="410" y="404"/>
                </a:cubicBezTo>
                <a:cubicBezTo>
                  <a:pt x="409" y="405"/>
                  <a:pt x="409" y="405"/>
                  <a:pt x="409" y="405"/>
                </a:cubicBezTo>
                <a:cubicBezTo>
                  <a:pt x="409" y="405"/>
                  <a:pt x="409" y="405"/>
                  <a:pt x="409" y="406"/>
                </a:cubicBezTo>
                <a:cubicBezTo>
                  <a:pt x="409" y="406"/>
                  <a:pt x="409" y="406"/>
                  <a:pt x="409" y="406"/>
                </a:cubicBezTo>
                <a:cubicBezTo>
                  <a:pt x="407" y="407"/>
                  <a:pt x="405" y="408"/>
                  <a:pt x="403" y="409"/>
                </a:cubicBezTo>
                <a:cubicBezTo>
                  <a:pt x="403" y="409"/>
                  <a:pt x="403" y="409"/>
                  <a:pt x="403" y="409"/>
                </a:cubicBezTo>
                <a:cubicBezTo>
                  <a:pt x="403" y="409"/>
                  <a:pt x="403" y="409"/>
                  <a:pt x="403" y="409"/>
                </a:cubicBezTo>
                <a:cubicBezTo>
                  <a:pt x="402" y="409"/>
                  <a:pt x="401" y="409"/>
                  <a:pt x="401" y="409"/>
                </a:cubicBezTo>
                <a:cubicBezTo>
                  <a:pt x="400" y="409"/>
                  <a:pt x="400" y="409"/>
                  <a:pt x="400" y="409"/>
                </a:cubicBezTo>
                <a:cubicBezTo>
                  <a:pt x="399" y="409"/>
                  <a:pt x="398" y="409"/>
                  <a:pt x="398" y="409"/>
                </a:cubicBezTo>
                <a:cubicBezTo>
                  <a:pt x="398" y="409"/>
                  <a:pt x="398" y="409"/>
                  <a:pt x="398" y="409"/>
                </a:cubicBezTo>
                <a:cubicBezTo>
                  <a:pt x="373" y="409"/>
                  <a:pt x="373" y="409"/>
                  <a:pt x="373" y="409"/>
                </a:cubicBezTo>
                <a:cubicBezTo>
                  <a:pt x="371" y="409"/>
                  <a:pt x="367" y="409"/>
                  <a:pt x="364" y="407"/>
                </a:cubicBezTo>
                <a:cubicBezTo>
                  <a:pt x="364" y="407"/>
                  <a:pt x="364" y="407"/>
                  <a:pt x="364" y="407"/>
                </a:cubicBezTo>
                <a:cubicBezTo>
                  <a:pt x="364" y="407"/>
                  <a:pt x="364" y="407"/>
                  <a:pt x="364" y="407"/>
                </a:cubicBezTo>
                <a:cubicBezTo>
                  <a:pt x="364" y="407"/>
                  <a:pt x="364" y="406"/>
                  <a:pt x="363" y="406"/>
                </a:cubicBezTo>
                <a:cubicBezTo>
                  <a:pt x="363" y="406"/>
                  <a:pt x="362" y="405"/>
                  <a:pt x="362" y="405"/>
                </a:cubicBezTo>
                <a:cubicBezTo>
                  <a:pt x="362" y="405"/>
                  <a:pt x="362" y="405"/>
                  <a:pt x="362" y="404"/>
                </a:cubicBezTo>
                <a:cubicBezTo>
                  <a:pt x="362" y="404"/>
                  <a:pt x="361" y="403"/>
                  <a:pt x="361" y="402"/>
                </a:cubicBezTo>
                <a:cubicBezTo>
                  <a:pt x="362" y="400"/>
                  <a:pt x="362" y="400"/>
                  <a:pt x="362" y="400"/>
                </a:cubicBezTo>
                <a:cubicBezTo>
                  <a:pt x="362" y="400"/>
                  <a:pt x="362" y="400"/>
                  <a:pt x="362" y="400"/>
                </a:cubicBezTo>
                <a:cubicBezTo>
                  <a:pt x="362" y="396"/>
                  <a:pt x="362" y="392"/>
                  <a:pt x="363" y="388"/>
                </a:cubicBezTo>
                <a:cubicBezTo>
                  <a:pt x="363" y="388"/>
                  <a:pt x="363" y="388"/>
                  <a:pt x="363" y="388"/>
                </a:cubicBezTo>
                <a:cubicBezTo>
                  <a:pt x="363" y="388"/>
                  <a:pt x="363" y="388"/>
                  <a:pt x="363" y="388"/>
                </a:cubicBezTo>
                <a:cubicBezTo>
                  <a:pt x="364" y="379"/>
                  <a:pt x="381" y="381"/>
                  <a:pt x="387" y="381"/>
                </a:cubicBezTo>
                <a:close/>
                <a:moveTo>
                  <a:pt x="289" y="407"/>
                </a:moveTo>
                <a:cubicBezTo>
                  <a:pt x="289" y="407"/>
                  <a:pt x="289" y="407"/>
                  <a:pt x="288" y="406"/>
                </a:cubicBezTo>
                <a:cubicBezTo>
                  <a:pt x="288" y="406"/>
                  <a:pt x="288" y="405"/>
                  <a:pt x="287" y="405"/>
                </a:cubicBezTo>
                <a:cubicBezTo>
                  <a:pt x="287" y="405"/>
                  <a:pt x="287" y="405"/>
                  <a:pt x="287" y="405"/>
                </a:cubicBezTo>
                <a:cubicBezTo>
                  <a:pt x="287" y="404"/>
                  <a:pt x="287" y="403"/>
                  <a:pt x="287" y="402"/>
                </a:cubicBezTo>
                <a:cubicBezTo>
                  <a:pt x="288" y="400"/>
                  <a:pt x="288" y="400"/>
                  <a:pt x="288" y="400"/>
                </a:cubicBezTo>
                <a:cubicBezTo>
                  <a:pt x="288" y="400"/>
                  <a:pt x="288" y="400"/>
                  <a:pt x="288" y="400"/>
                </a:cubicBezTo>
                <a:cubicBezTo>
                  <a:pt x="288" y="400"/>
                  <a:pt x="288" y="399"/>
                  <a:pt x="288" y="399"/>
                </a:cubicBezTo>
                <a:cubicBezTo>
                  <a:pt x="291" y="388"/>
                  <a:pt x="291" y="388"/>
                  <a:pt x="291" y="388"/>
                </a:cubicBezTo>
                <a:cubicBezTo>
                  <a:pt x="291" y="388"/>
                  <a:pt x="291" y="388"/>
                  <a:pt x="292" y="388"/>
                </a:cubicBezTo>
                <a:cubicBezTo>
                  <a:pt x="295" y="380"/>
                  <a:pt x="310" y="381"/>
                  <a:pt x="317" y="381"/>
                </a:cubicBezTo>
                <a:cubicBezTo>
                  <a:pt x="320" y="381"/>
                  <a:pt x="325" y="381"/>
                  <a:pt x="330" y="381"/>
                </a:cubicBezTo>
                <a:cubicBezTo>
                  <a:pt x="331" y="382"/>
                  <a:pt x="332" y="382"/>
                  <a:pt x="333" y="382"/>
                </a:cubicBezTo>
                <a:cubicBezTo>
                  <a:pt x="333" y="382"/>
                  <a:pt x="333" y="382"/>
                  <a:pt x="333" y="382"/>
                </a:cubicBezTo>
                <a:cubicBezTo>
                  <a:pt x="335" y="383"/>
                  <a:pt x="337" y="384"/>
                  <a:pt x="338" y="385"/>
                </a:cubicBezTo>
                <a:cubicBezTo>
                  <a:pt x="338" y="385"/>
                  <a:pt x="338" y="385"/>
                  <a:pt x="338" y="385"/>
                </a:cubicBezTo>
                <a:cubicBezTo>
                  <a:pt x="338" y="386"/>
                  <a:pt x="338" y="386"/>
                  <a:pt x="338" y="386"/>
                </a:cubicBezTo>
                <a:cubicBezTo>
                  <a:pt x="338" y="386"/>
                  <a:pt x="338" y="386"/>
                  <a:pt x="338" y="386"/>
                </a:cubicBezTo>
                <a:cubicBezTo>
                  <a:pt x="339" y="387"/>
                  <a:pt x="339" y="388"/>
                  <a:pt x="339" y="388"/>
                </a:cubicBezTo>
                <a:cubicBezTo>
                  <a:pt x="339" y="389"/>
                  <a:pt x="339" y="389"/>
                  <a:pt x="339" y="389"/>
                </a:cubicBezTo>
                <a:cubicBezTo>
                  <a:pt x="339" y="389"/>
                  <a:pt x="339" y="389"/>
                  <a:pt x="339" y="389"/>
                </a:cubicBezTo>
                <a:cubicBezTo>
                  <a:pt x="338" y="391"/>
                  <a:pt x="338" y="393"/>
                  <a:pt x="338" y="395"/>
                </a:cubicBezTo>
                <a:cubicBezTo>
                  <a:pt x="336" y="402"/>
                  <a:pt x="336" y="402"/>
                  <a:pt x="336" y="402"/>
                </a:cubicBezTo>
                <a:cubicBezTo>
                  <a:pt x="336" y="403"/>
                  <a:pt x="336" y="404"/>
                  <a:pt x="335" y="404"/>
                </a:cubicBezTo>
                <a:cubicBezTo>
                  <a:pt x="335" y="405"/>
                  <a:pt x="335" y="405"/>
                  <a:pt x="335" y="405"/>
                </a:cubicBezTo>
                <a:cubicBezTo>
                  <a:pt x="335" y="405"/>
                  <a:pt x="334" y="405"/>
                  <a:pt x="334" y="405"/>
                </a:cubicBezTo>
                <a:cubicBezTo>
                  <a:pt x="334" y="405"/>
                  <a:pt x="334" y="406"/>
                  <a:pt x="334" y="406"/>
                </a:cubicBezTo>
                <a:cubicBezTo>
                  <a:pt x="332" y="407"/>
                  <a:pt x="329" y="408"/>
                  <a:pt x="327" y="409"/>
                </a:cubicBezTo>
                <a:cubicBezTo>
                  <a:pt x="327" y="409"/>
                  <a:pt x="327" y="409"/>
                  <a:pt x="327" y="409"/>
                </a:cubicBezTo>
                <a:cubicBezTo>
                  <a:pt x="327" y="409"/>
                  <a:pt x="327" y="409"/>
                  <a:pt x="327" y="409"/>
                </a:cubicBezTo>
                <a:cubicBezTo>
                  <a:pt x="327" y="409"/>
                  <a:pt x="326" y="409"/>
                  <a:pt x="325" y="409"/>
                </a:cubicBezTo>
                <a:cubicBezTo>
                  <a:pt x="325" y="409"/>
                  <a:pt x="325" y="409"/>
                  <a:pt x="324" y="409"/>
                </a:cubicBezTo>
                <a:cubicBezTo>
                  <a:pt x="324" y="409"/>
                  <a:pt x="323" y="409"/>
                  <a:pt x="322" y="409"/>
                </a:cubicBezTo>
                <a:cubicBezTo>
                  <a:pt x="322" y="409"/>
                  <a:pt x="322" y="409"/>
                  <a:pt x="322" y="409"/>
                </a:cubicBezTo>
                <a:cubicBezTo>
                  <a:pt x="298" y="409"/>
                  <a:pt x="298" y="409"/>
                  <a:pt x="298" y="409"/>
                </a:cubicBezTo>
                <a:cubicBezTo>
                  <a:pt x="295" y="409"/>
                  <a:pt x="292" y="409"/>
                  <a:pt x="289" y="407"/>
                </a:cubicBezTo>
                <a:cubicBezTo>
                  <a:pt x="289" y="407"/>
                  <a:pt x="289" y="407"/>
                  <a:pt x="289" y="407"/>
                </a:cubicBezTo>
                <a:close/>
                <a:moveTo>
                  <a:pt x="320" y="369"/>
                </a:moveTo>
                <a:cubicBezTo>
                  <a:pt x="316" y="369"/>
                  <a:pt x="312" y="369"/>
                  <a:pt x="309" y="369"/>
                </a:cubicBezTo>
                <a:cubicBezTo>
                  <a:pt x="306" y="369"/>
                  <a:pt x="301" y="369"/>
                  <a:pt x="299" y="366"/>
                </a:cubicBezTo>
                <a:cubicBezTo>
                  <a:pt x="299" y="365"/>
                  <a:pt x="299" y="365"/>
                  <a:pt x="299" y="365"/>
                </a:cubicBezTo>
                <a:cubicBezTo>
                  <a:pt x="299" y="365"/>
                  <a:pt x="299" y="364"/>
                  <a:pt x="299" y="364"/>
                </a:cubicBezTo>
                <a:cubicBezTo>
                  <a:pt x="299" y="364"/>
                  <a:pt x="299" y="364"/>
                  <a:pt x="299" y="363"/>
                </a:cubicBezTo>
                <a:cubicBezTo>
                  <a:pt x="299" y="363"/>
                  <a:pt x="299" y="363"/>
                  <a:pt x="299" y="363"/>
                </a:cubicBezTo>
                <a:cubicBezTo>
                  <a:pt x="299" y="363"/>
                  <a:pt x="299" y="363"/>
                  <a:pt x="299" y="363"/>
                </a:cubicBezTo>
                <a:cubicBezTo>
                  <a:pt x="299" y="362"/>
                  <a:pt x="299" y="361"/>
                  <a:pt x="300" y="361"/>
                </a:cubicBezTo>
                <a:cubicBezTo>
                  <a:pt x="300" y="358"/>
                  <a:pt x="301" y="355"/>
                  <a:pt x="302" y="353"/>
                </a:cubicBezTo>
                <a:cubicBezTo>
                  <a:pt x="302" y="353"/>
                  <a:pt x="302" y="353"/>
                  <a:pt x="302" y="353"/>
                </a:cubicBezTo>
                <a:cubicBezTo>
                  <a:pt x="302" y="352"/>
                  <a:pt x="303" y="351"/>
                  <a:pt x="303" y="350"/>
                </a:cubicBezTo>
                <a:cubicBezTo>
                  <a:pt x="304" y="350"/>
                  <a:pt x="304" y="350"/>
                  <a:pt x="305" y="349"/>
                </a:cubicBezTo>
                <a:cubicBezTo>
                  <a:pt x="306" y="348"/>
                  <a:pt x="308" y="348"/>
                  <a:pt x="310" y="347"/>
                </a:cubicBezTo>
                <a:cubicBezTo>
                  <a:pt x="310" y="347"/>
                  <a:pt x="310" y="347"/>
                  <a:pt x="310" y="347"/>
                </a:cubicBezTo>
                <a:cubicBezTo>
                  <a:pt x="312" y="347"/>
                  <a:pt x="313" y="347"/>
                  <a:pt x="315" y="347"/>
                </a:cubicBezTo>
                <a:cubicBezTo>
                  <a:pt x="317" y="347"/>
                  <a:pt x="317" y="347"/>
                  <a:pt x="317" y="347"/>
                </a:cubicBezTo>
                <a:cubicBezTo>
                  <a:pt x="317" y="347"/>
                  <a:pt x="318" y="347"/>
                  <a:pt x="319" y="347"/>
                </a:cubicBezTo>
                <a:cubicBezTo>
                  <a:pt x="323" y="347"/>
                  <a:pt x="328" y="347"/>
                  <a:pt x="332" y="347"/>
                </a:cubicBezTo>
                <a:cubicBezTo>
                  <a:pt x="333" y="347"/>
                  <a:pt x="334" y="347"/>
                  <a:pt x="334" y="347"/>
                </a:cubicBezTo>
                <a:cubicBezTo>
                  <a:pt x="335" y="347"/>
                  <a:pt x="335" y="347"/>
                  <a:pt x="335" y="347"/>
                </a:cubicBezTo>
                <a:cubicBezTo>
                  <a:pt x="335" y="347"/>
                  <a:pt x="335" y="347"/>
                  <a:pt x="336" y="347"/>
                </a:cubicBezTo>
                <a:cubicBezTo>
                  <a:pt x="336" y="347"/>
                  <a:pt x="337" y="347"/>
                  <a:pt x="337" y="347"/>
                </a:cubicBezTo>
                <a:cubicBezTo>
                  <a:pt x="337" y="347"/>
                  <a:pt x="337" y="347"/>
                  <a:pt x="337" y="347"/>
                </a:cubicBezTo>
                <a:cubicBezTo>
                  <a:pt x="341" y="347"/>
                  <a:pt x="345" y="348"/>
                  <a:pt x="345" y="351"/>
                </a:cubicBezTo>
                <a:cubicBezTo>
                  <a:pt x="345" y="351"/>
                  <a:pt x="345" y="351"/>
                  <a:pt x="345" y="351"/>
                </a:cubicBezTo>
                <a:cubicBezTo>
                  <a:pt x="345" y="351"/>
                  <a:pt x="345" y="351"/>
                  <a:pt x="345" y="352"/>
                </a:cubicBezTo>
                <a:cubicBezTo>
                  <a:pt x="345" y="355"/>
                  <a:pt x="344" y="359"/>
                  <a:pt x="343" y="362"/>
                </a:cubicBezTo>
                <a:cubicBezTo>
                  <a:pt x="343" y="362"/>
                  <a:pt x="343" y="362"/>
                  <a:pt x="343" y="362"/>
                </a:cubicBezTo>
                <a:cubicBezTo>
                  <a:pt x="343" y="363"/>
                  <a:pt x="343" y="363"/>
                  <a:pt x="343" y="363"/>
                </a:cubicBezTo>
                <a:cubicBezTo>
                  <a:pt x="343" y="364"/>
                  <a:pt x="343" y="364"/>
                  <a:pt x="342" y="365"/>
                </a:cubicBezTo>
                <a:cubicBezTo>
                  <a:pt x="342" y="365"/>
                  <a:pt x="342" y="365"/>
                  <a:pt x="342" y="366"/>
                </a:cubicBezTo>
                <a:cubicBezTo>
                  <a:pt x="342" y="366"/>
                  <a:pt x="342" y="366"/>
                  <a:pt x="342" y="366"/>
                </a:cubicBezTo>
                <a:cubicBezTo>
                  <a:pt x="342" y="366"/>
                  <a:pt x="342" y="366"/>
                  <a:pt x="342" y="366"/>
                </a:cubicBezTo>
                <a:cubicBezTo>
                  <a:pt x="337" y="371"/>
                  <a:pt x="325" y="369"/>
                  <a:pt x="320" y="369"/>
                </a:cubicBezTo>
                <a:close/>
                <a:moveTo>
                  <a:pt x="212" y="404"/>
                </a:moveTo>
                <a:cubicBezTo>
                  <a:pt x="212" y="404"/>
                  <a:pt x="212" y="403"/>
                  <a:pt x="212" y="403"/>
                </a:cubicBezTo>
                <a:cubicBezTo>
                  <a:pt x="213" y="403"/>
                  <a:pt x="213" y="402"/>
                  <a:pt x="213" y="402"/>
                </a:cubicBezTo>
                <a:cubicBezTo>
                  <a:pt x="213" y="402"/>
                  <a:pt x="213" y="402"/>
                  <a:pt x="213" y="402"/>
                </a:cubicBezTo>
                <a:cubicBezTo>
                  <a:pt x="213" y="402"/>
                  <a:pt x="213" y="402"/>
                  <a:pt x="213" y="402"/>
                </a:cubicBezTo>
                <a:cubicBezTo>
                  <a:pt x="213" y="401"/>
                  <a:pt x="214" y="401"/>
                  <a:pt x="214" y="400"/>
                </a:cubicBezTo>
                <a:cubicBezTo>
                  <a:pt x="216" y="396"/>
                  <a:pt x="217" y="393"/>
                  <a:pt x="219" y="389"/>
                </a:cubicBezTo>
                <a:cubicBezTo>
                  <a:pt x="219" y="389"/>
                  <a:pt x="219" y="389"/>
                  <a:pt x="219" y="389"/>
                </a:cubicBezTo>
                <a:cubicBezTo>
                  <a:pt x="219" y="389"/>
                  <a:pt x="219" y="389"/>
                  <a:pt x="219" y="389"/>
                </a:cubicBezTo>
                <a:cubicBezTo>
                  <a:pt x="220" y="388"/>
                  <a:pt x="220" y="388"/>
                  <a:pt x="220" y="388"/>
                </a:cubicBezTo>
                <a:cubicBezTo>
                  <a:pt x="220" y="388"/>
                  <a:pt x="220" y="388"/>
                  <a:pt x="220" y="387"/>
                </a:cubicBezTo>
                <a:cubicBezTo>
                  <a:pt x="220" y="387"/>
                  <a:pt x="220" y="387"/>
                  <a:pt x="221" y="387"/>
                </a:cubicBezTo>
                <a:cubicBezTo>
                  <a:pt x="226" y="380"/>
                  <a:pt x="238" y="382"/>
                  <a:pt x="245" y="382"/>
                </a:cubicBezTo>
                <a:cubicBezTo>
                  <a:pt x="245" y="382"/>
                  <a:pt x="245" y="382"/>
                  <a:pt x="245" y="382"/>
                </a:cubicBezTo>
                <a:cubicBezTo>
                  <a:pt x="247" y="382"/>
                  <a:pt x="253" y="381"/>
                  <a:pt x="258" y="382"/>
                </a:cubicBezTo>
                <a:cubicBezTo>
                  <a:pt x="259" y="382"/>
                  <a:pt x="261" y="382"/>
                  <a:pt x="262" y="382"/>
                </a:cubicBezTo>
                <a:cubicBezTo>
                  <a:pt x="263" y="382"/>
                  <a:pt x="264" y="383"/>
                  <a:pt x="264" y="383"/>
                </a:cubicBezTo>
                <a:cubicBezTo>
                  <a:pt x="266" y="384"/>
                  <a:pt x="267" y="385"/>
                  <a:pt x="267" y="387"/>
                </a:cubicBezTo>
                <a:cubicBezTo>
                  <a:pt x="267" y="387"/>
                  <a:pt x="267" y="387"/>
                  <a:pt x="267" y="387"/>
                </a:cubicBezTo>
                <a:cubicBezTo>
                  <a:pt x="267" y="387"/>
                  <a:pt x="267" y="387"/>
                  <a:pt x="267" y="388"/>
                </a:cubicBezTo>
                <a:cubicBezTo>
                  <a:pt x="267" y="388"/>
                  <a:pt x="267" y="388"/>
                  <a:pt x="267" y="388"/>
                </a:cubicBezTo>
                <a:cubicBezTo>
                  <a:pt x="262" y="402"/>
                  <a:pt x="262" y="402"/>
                  <a:pt x="262" y="402"/>
                </a:cubicBezTo>
                <a:cubicBezTo>
                  <a:pt x="262" y="403"/>
                  <a:pt x="261" y="404"/>
                  <a:pt x="260" y="405"/>
                </a:cubicBezTo>
                <a:cubicBezTo>
                  <a:pt x="259" y="406"/>
                  <a:pt x="258" y="407"/>
                  <a:pt x="256" y="407"/>
                </a:cubicBezTo>
                <a:cubicBezTo>
                  <a:pt x="256" y="407"/>
                  <a:pt x="256" y="407"/>
                  <a:pt x="256" y="407"/>
                </a:cubicBezTo>
                <a:cubicBezTo>
                  <a:pt x="254" y="408"/>
                  <a:pt x="252" y="409"/>
                  <a:pt x="250" y="409"/>
                </a:cubicBezTo>
                <a:cubicBezTo>
                  <a:pt x="249" y="409"/>
                  <a:pt x="249" y="409"/>
                  <a:pt x="249" y="409"/>
                </a:cubicBezTo>
                <a:cubicBezTo>
                  <a:pt x="249" y="409"/>
                  <a:pt x="249" y="409"/>
                  <a:pt x="248" y="409"/>
                </a:cubicBezTo>
                <a:cubicBezTo>
                  <a:pt x="244" y="410"/>
                  <a:pt x="240" y="409"/>
                  <a:pt x="235" y="409"/>
                </a:cubicBezTo>
                <a:cubicBezTo>
                  <a:pt x="231" y="409"/>
                  <a:pt x="227" y="410"/>
                  <a:pt x="222" y="410"/>
                </a:cubicBezTo>
                <a:cubicBezTo>
                  <a:pt x="219" y="410"/>
                  <a:pt x="215" y="409"/>
                  <a:pt x="213" y="406"/>
                </a:cubicBezTo>
                <a:cubicBezTo>
                  <a:pt x="213" y="406"/>
                  <a:pt x="213" y="406"/>
                  <a:pt x="213" y="406"/>
                </a:cubicBezTo>
                <a:cubicBezTo>
                  <a:pt x="213" y="406"/>
                  <a:pt x="213" y="406"/>
                  <a:pt x="213" y="406"/>
                </a:cubicBezTo>
                <a:cubicBezTo>
                  <a:pt x="213" y="405"/>
                  <a:pt x="213" y="405"/>
                  <a:pt x="212" y="405"/>
                </a:cubicBezTo>
                <a:cubicBezTo>
                  <a:pt x="212" y="405"/>
                  <a:pt x="212" y="405"/>
                  <a:pt x="212" y="405"/>
                </a:cubicBezTo>
                <a:cubicBezTo>
                  <a:pt x="212" y="405"/>
                  <a:pt x="212" y="405"/>
                  <a:pt x="212" y="405"/>
                </a:cubicBezTo>
                <a:cubicBezTo>
                  <a:pt x="212" y="404"/>
                  <a:pt x="212" y="404"/>
                  <a:pt x="212" y="404"/>
                </a:cubicBezTo>
                <a:close/>
                <a:moveTo>
                  <a:pt x="212" y="359"/>
                </a:moveTo>
                <a:cubicBezTo>
                  <a:pt x="212" y="359"/>
                  <a:pt x="212" y="359"/>
                  <a:pt x="212" y="359"/>
                </a:cubicBezTo>
                <a:cubicBezTo>
                  <a:pt x="209" y="364"/>
                  <a:pt x="209" y="364"/>
                  <a:pt x="209" y="364"/>
                </a:cubicBezTo>
                <a:cubicBezTo>
                  <a:pt x="209" y="364"/>
                  <a:pt x="208" y="365"/>
                  <a:pt x="207" y="366"/>
                </a:cubicBezTo>
                <a:cubicBezTo>
                  <a:pt x="206" y="367"/>
                  <a:pt x="205" y="367"/>
                  <a:pt x="203" y="368"/>
                </a:cubicBezTo>
                <a:cubicBezTo>
                  <a:pt x="203" y="368"/>
                  <a:pt x="203" y="368"/>
                  <a:pt x="202" y="368"/>
                </a:cubicBezTo>
                <a:cubicBezTo>
                  <a:pt x="202" y="369"/>
                  <a:pt x="202" y="369"/>
                  <a:pt x="202" y="369"/>
                </a:cubicBezTo>
                <a:cubicBezTo>
                  <a:pt x="202" y="369"/>
                  <a:pt x="202" y="369"/>
                  <a:pt x="202" y="369"/>
                </a:cubicBezTo>
                <a:cubicBezTo>
                  <a:pt x="201" y="369"/>
                  <a:pt x="200" y="369"/>
                  <a:pt x="199" y="369"/>
                </a:cubicBezTo>
                <a:cubicBezTo>
                  <a:pt x="197" y="370"/>
                  <a:pt x="196" y="370"/>
                  <a:pt x="194" y="370"/>
                </a:cubicBezTo>
                <a:cubicBezTo>
                  <a:pt x="189" y="370"/>
                  <a:pt x="189" y="370"/>
                  <a:pt x="189" y="370"/>
                </a:cubicBezTo>
                <a:cubicBezTo>
                  <a:pt x="189" y="370"/>
                  <a:pt x="189" y="370"/>
                  <a:pt x="189" y="370"/>
                </a:cubicBezTo>
                <a:cubicBezTo>
                  <a:pt x="184" y="370"/>
                  <a:pt x="178" y="370"/>
                  <a:pt x="172" y="370"/>
                </a:cubicBezTo>
                <a:cubicBezTo>
                  <a:pt x="170" y="370"/>
                  <a:pt x="165" y="369"/>
                  <a:pt x="164" y="366"/>
                </a:cubicBezTo>
                <a:cubicBezTo>
                  <a:pt x="164" y="366"/>
                  <a:pt x="164" y="365"/>
                  <a:pt x="164" y="365"/>
                </a:cubicBezTo>
                <a:cubicBezTo>
                  <a:pt x="165" y="364"/>
                  <a:pt x="166" y="362"/>
                  <a:pt x="166" y="362"/>
                </a:cubicBezTo>
                <a:cubicBezTo>
                  <a:pt x="168" y="358"/>
                  <a:pt x="170" y="355"/>
                  <a:pt x="173" y="352"/>
                </a:cubicBezTo>
                <a:cubicBezTo>
                  <a:pt x="173" y="352"/>
                  <a:pt x="173" y="352"/>
                  <a:pt x="173" y="352"/>
                </a:cubicBezTo>
                <a:cubicBezTo>
                  <a:pt x="173" y="352"/>
                  <a:pt x="173" y="352"/>
                  <a:pt x="173" y="352"/>
                </a:cubicBezTo>
                <a:cubicBezTo>
                  <a:pt x="180" y="345"/>
                  <a:pt x="193" y="347"/>
                  <a:pt x="201" y="347"/>
                </a:cubicBezTo>
                <a:cubicBezTo>
                  <a:pt x="205" y="347"/>
                  <a:pt x="210" y="346"/>
                  <a:pt x="213" y="348"/>
                </a:cubicBezTo>
                <a:cubicBezTo>
                  <a:pt x="213" y="348"/>
                  <a:pt x="213" y="348"/>
                  <a:pt x="213" y="348"/>
                </a:cubicBezTo>
                <a:cubicBezTo>
                  <a:pt x="214" y="348"/>
                  <a:pt x="214" y="348"/>
                  <a:pt x="214" y="348"/>
                </a:cubicBezTo>
                <a:cubicBezTo>
                  <a:pt x="214" y="348"/>
                  <a:pt x="214" y="349"/>
                  <a:pt x="214" y="349"/>
                </a:cubicBezTo>
                <a:cubicBezTo>
                  <a:pt x="215" y="349"/>
                  <a:pt x="216" y="350"/>
                  <a:pt x="216" y="350"/>
                </a:cubicBezTo>
                <a:cubicBezTo>
                  <a:pt x="216" y="351"/>
                  <a:pt x="216" y="352"/>
                  <a:pt x="215" y="353"/>
                </a:cubicBezTo>
                <a:cubicBezTo>
                  <a:pt x="215" y="353"/>
                  <a:pt x="215" y="353"/>
                  <a:pt x="215" y="353"/>
                </a:cubicBezTo>
                <a:cubicBezTo>
                  <a:pt x="214" y="355"/>
                  <a:pt x="213" y="357"/>
                  <a:pt x="212" y="359"/>
                </a:cubicBezTo>
                <a:close/>
                <a:moveTo>
                  <a:pt x="266" y="369"/>
                </a:moveTo>
                <a:cubicBezTo>
                  <a:pt x="266" y="369"/>
                  <a:pt x="265" y="369"/>
                  <a:pt x="264" y="369"/>
                </a:cubicBezTo>
                <a:cubicBezTo>
                  <a:pt x="264" y="369"/>
                  <a:pt x="264" y="370"/>
                  <a:pt x="264" y="370"/>
                </a:cubicBezTo>
                <a:cubicBezTo>
                  <a:pt x="261" y="370"/>
                  <a:pt x="258" y="370"/>
                  <a:pt x="254" y="370"/>
                </a:cubicBezTo>
                <a:cubicBezTo>
                  <a:pt x="240" y="370"/>
                  <a:pt x="240" y="370"/>
                  <a:pt x="240" y="370"/>
                </a:cubicBezTo>
                <a:cubicBezTo>
                  <a:pt x="238" y="370"/>
                  <a:pt x="233" y="369"/>
                  <a:pt x="231" y="366"/>
                </a:cubicBezTo>
                <a:cubicBezTo>
                  <a:pt x="231" y="366"/>
                  <a:pt x="231" y="365"/>
                  <a:pt x="231" y="365"/>
                </a:cubicBezTo>
                <a:cubicBezTo>
                  <a:pt x="231" y="365"/>
                  <a:pt x="231" y="365"/>
                  <a:pt x="231" y="364"/>
                </a:cubicBezTo>
                <a:cubicBezTo>
                  <a:pt x="232" y="363"/>
                  <a:pt x="233" y="362"/>
                  <a:pt x="233" y="361"/>
                </a:cubicBezTo>
                <a:cubicBezTo>
                  <a:pt x="234" y="358"/>
                  <a:pt x="235" y="354"/>
                  <a:pt x="238" y="352"/>
                </a:cubicBezTo>
                <a:cubicBezTo>
                  <a:pt x="238" y="351"/>
                  <a:pt x="238" y="351"/>
                  <a:pt x="238" y="351"/>
                </a:cubicBezTo>
                <a:cubicBezTo>
                  <a:pt x="238" y="351"/>
                  <a:pt x="238" y="351"/>
                  <a:pt x="238" y="351"/>
                </a:cubicBezTo>
                <a:cubicBezTo>
                  <a:pt x="239" y="351"/>
                  <a:pt x="239" y="351"/>
                  <a:pt x="239" y="351"/>
                </a:cubicBezTo>
                <a:cubicBezTo>
                  <a:pt x="239" y="350"/>
                  <a:pt x="239" y="350"/>
                  <a:pt x="239" y="350"/>
                </a:cubicBezTo>
                <a:cubicBezTo>
                  <a:pt x="239" y="350"/>
                  <a:pt x="239" y="350"/>
                  <a:pt x="239" y="350"/>
                </a:cubicBezTo>
                <a:cubicBezTo>
                  <a:pt x="241" y="349"/>
                  <a:pt x="244" y="348"/>
                  <a:pt x="246" y="348"/>
                </a:cubicBezTo>
                <a:cubicBezTo>
                  <a:pt x="246" y="348"/>
                  <a:pt x="246" y="347"/>
                  <a:pt x="247" y="347"/>
                </a:cubicBezTo>
                <a:cubicBezTo>
                  <a:pt x="248" y="347"/>
                  <a:pt x="249" y="347"/>
                  <a:pt x="251" y="347"/>
                </a:cubicBezTo>
                <a:cubicBezTo>
                  <a:pt x="259" y="347"/>
                  <a:pt x="259" y="347"/>
                  <a:pt x="259" y="347"/>
                </a:cubicBezTo>
                <a:cubicBezTo>
                  <a:pt x="262" y="347"/>
                  <a:pt x="265" y="347"/>
                  <a:pt x="267" y="347"/>
                </a:cubicBezTo>
                <a:cubicBezTo>
                  <a:pt x="271" y="347"/>
                  <a:pt x="276" y="346"/>
                  <a:pt x="279" y="349"/>
                </a:cubicBezTo>
                <a:cubicBezTo>
                  <a:pt x="279" y="349"/>
                  <a:pt x="280" y="349"/>
                  <a:pt x="280" y="350"/>
                </a:cubicBezTo>
                <a:cubicBezTo>
                  <a:pt x="280" y="350"/>
                  <a:pt x="280" y="350"/>
                  <a:pt x="280" y="350"/>
                </a:cubicBezTo>
                <a:cubicBezTo>
                  <a:pt x="280" y="350"/>
                  <a:pt x="280" y="350"/>
                  <a:pt x="280" y="350"/>
                </a:cubicBezTo>
                <a:cubicBezTo>
                  <a:pt x="280" y="350"/>
                  <a:pt x="280" y="350"/>
                  <a:pt x="280" y="350"/>
                </a:cubicBezTo>
                <a:cubicBezTo>
                  <a:pt x="280" y="351"/>
                  <a:pt x="280" y="351"/>
                  <a:pt x="280" y="352"/>
                </a:cubicBezTo>
                <a:cubicBezTo>
                  <a:pt x="280" y="355"/>
                  <a:pt x="278" y="359"/>
                  <a:pt x="277" y="361"/>
                </a:cubicBezTo>
                <a:cubicBezTo>
                  <a:pt x="277" y="361"/>
                  <a:pt x="277" y="361"/>
                  <a:pt x="277" y="361"/>
                </a:cubicBezTo>
                <a:cubicBezTo>
                  <a:pt x="277" y="362"/>
                  <a:pt x="277" y="362"/>
                  <a:pt x="276" y="363"/>
                </a:cubicBezTo>
                <a:cubicBezTo>
                  <a:pt x="276" y="363"/>
                  <a:pt x="276" y="363"/>
                  <a:pt x="276" y="363"/>
                </a:cubicBezTo>
                <a:cubicBezTo>
                  <a:pt x="276" y="364"/>
                  <a:pt x="276" y="364"/>
                  <a:pt x="276" y="364"/>
                </a:cubicBezTo>
                <a:cubicBezTo>
                  <a:pt x="276" y="364"/>
                  <a:pt x="276" y="364"/>
                  <a:pt x="276" y="364"/>
                </a:cubicBezTo>
                <a:cubicBezTo>
                  <a:pt x="276" y="364"/>
                  <a:pt x="275" y="365"/>
                  <a:pt x="275" y="365"/>
                </a:cubicBezTo>
                <a:cubicBezTo>
                  <a:pt x="275" y="365"/>
                  <a:pt x="275" y="365"/>
                  <a:pt x="275" y="365"/>
                </a:cubicBezTo>
                <a:cubicBezTo>
                  <a:pt x="275" y="365"/>
                  <a:pt x="275" y="365"/>
                  <a:pt x="275" y="365"/>
                </a:cubicBezTo>
                <a:cubicBezTo>
                  <a:pt x="275" y="366"/>
                  <a:pt x="275" y="366"/>
                  <a:pt x="275" y="366"/>
                </a:cubicBezTo>
                <a:cubicBezTo>
                  <a:pt x="274" y="366"/>
                  <a:pt x="274" y="367"/>
                  <a:pt x="273" y="367"/>
                </a:cubicBezTo>
                <a:cubicBezTo>
                  <a:pt x="273" y="367"/>
                  <a:pt x="272" y="367"/>
                  <a:pt x="272" y="368"/>
                </a:cubicBezTo>
                <a:cubicBezTo>
                  <a:pt x="271" y="368"/>
                  <a:pt x="271" y="368"/>
                  <a:pt x="271" y="368"/>
                </a:cubicBezTo>
                <a:cubicBezTo>
                  <a:pt x="271" y="368"/>
                  <a:pt x="271" y="368"/>
                  <a:pt x="271" y="368"/>
                </a:cubicBezTo>
                <a:cubicBezTo>
                  <a:pt x="269" y="369"/>
                  <a:pt x="268" y="369"/>
                  <a:pt x="266" y="369"/>
                </a:cubicBezTo>
                <a:close/>
                <a:moveTo>
                  <a:pt x="172" y="430"/>
                </a:moveTo>
                <a:cubicBezTo>
                  <a:pt x="172" y="430"/>
                  <a:pt x="172" y="430"/>
                  <a:pt x="172" y="430"/>
                </a:cubicBezTo>
                <a:cubicBezTo>
                  <a:pt x="172" y="433"/>
                  <a:pt x="169" y="437"/>
                  <a:pt x="167" y="439"/>
                </a:cubicBezTo>
                <a:cubicBezTo>
                  <a:pt x="167" y="439"/>
                  <a:pt x="167" y="439"/>
                  <a:pt x="167" y="439"/>
                </a:cubicBezTo>
                <a:cubicBezTo>
                  <a:pt x="165" y="443"/>
                  <a:pt x="164" y="447"/>
                  <a:pt x="161" y="450"/>
                </a:cubicBezTo>
                <a:cubicBezTo>
                  <a:pt x="161" y="450"/>
                  <a:pt x="161" y="450"/>
                  <a:pt x="161" y="451"/>
                </a:cubicBezTo>
                <a:cubicBezTo>
                  <a:pt x="160" y="451"/>
                  <a:pt x="160" y="451"/>
                  <a:pt x="160" y="451"/>
                </a:cubicBezTo>
                <a:cubicBezTo>
                  <a:pt x="160" y="451"/>
                  <a:pt x="160" y="451"/>
                  <a:pt x="160" y="452"/>
                </a:cubicBezTo>
                <a:cubicBezTo>
                  <a:pt x="159" y="452"/>
                  <a:pt x="159" y="452"/>
                  <a:pt x="159" y="452"/>
                </a:cubicBezTo>
                <a:cubicBezTo>
                  <a:pt x="159" y="452"/>
                  <a:pt x="159" y="452"/>
                  <a:pt x="159" y="452"/>
                </a:cubicBezTo>
                <a:cubicBezTo>
                  <a:pt x="156" y="455"/>
                  <a:pt x="153" y="456"/>
                  <a:pt x="150" y="457"/>
                </a:cubicBezTo>
                <a:cubicBezTo>
                  <a:pt x="149" y="457"/>
                  <a:pt x="149" y="457"/>
                  <a:pt x="149" y="458"/>
                </a:cubicBezTo>
                <a:cubicBezTo>
                  <a:pt x="146" y="458"/>
                  <a:pt x="144" y="458"/>
                  <a:pt x="142" y="458"/>
                </a:cubicBezTo>
                <a:cubicBezTo>
                  <a:pt x="141" y="458"/>
                  <a:pt x="141" y="458"/>
                  <a:pt x="141" y="458"/>
                </a:cubicBezTo>
                <a:cubicBezTo>
                  <a:pt x="141" y="458"/>
                  <a:pt x="141" y="458"/>
                  <a:pt x="141" y="458"/>
                </a:cubicBezTo>
                <a:cubicBezTo>
                  <a:pt x="132" y="458"/>
                  <a:pt x="124" y="458"/>
                  <a:pt x="115" y="458"/>
                </a:cubicBezTo>
                <a:cubicBezTo>
                  <a:pt x="114" y="458"/>
                  <a:pt x="114" y="458"/>
                  <a:pt x="113" y="458"/>
                </a:cubicBezTo>
                <a:cubicBezTo>
                  <a:pt x="112" y="458"/>
                  <a:pt x="111" y="458"/>
                  <a:pt x="110" y="458"/>
                </a:cubicBezTo>
                <a:cubicBezTo>
                  <a:pt x="109" y="457"/>
                  <a:pt x="107" y="456"/>
                  <a:pt x="107" y="456"/>
                </a:cubicBezTo>
                <a:cubicBezTo>
                  <a:pt x="106" y="455"/>
                  <a:pt x="106" y="453"/>
                  <a:pt x="106" y="452"/>
                </a:cubicBezTo>
                <a:cubicBezTo>
                  <a:pt x="106" y="451"/>
                  <a:pt x="106" y="451"/>
                  <a:pt x="107" y="450"/>
                </a:cubicBezTo>
                <a:cubicBezTo>
                  <a:pt x="107" y="449"/>
                  <a:pt x="107" y="449"/>
                  <a:pt x="107" y="449"/>
                </a:cubicBezTo>
                <a:cubicBezTo>
                  <a:pt x="107" y="449"/>
                  <a:pt x="107" y="449"/>
                  <a:pt x="107" y="449"/>
                </a:cubicBezTo>
                <a:cubicBezTo>
                  <a:pt x="107" y="448"/>
                  <a:pt x="107" y="448"/>
                  <a:pt x="107" y="448"/>
                </a:cubicBezTo>
                <a:cubicBezTo>
                  <a:pt x="107" y="448"/>
                  <a:pt x="107" y="448"/>
                  <a:pt x="107" y="448"/>
                </a:cubicBezTo>
                <a:cubicBezTo>
                  <a:pt x="109" y="445"/>
                  <a:pt x="112" y="442"/>
                  <a:pt x="114" y="439"/>
                </a:cubicBezTo>
                <a:cubicBezTo>
                  <a:pt x="116" y="436"/>
                  <a:pt x="117" y="433"/>
                  <a:pt x="119" y="431"/>
                </a:cubicBezTo>
                <a:cubicBezTo>
                  <a:pt x="120" y="431"/>
                  <a:pt x="120" y="430"/>
                  <a:pt x="120" y="430"/>
                </a:cubicBezTo>
                <a:cubicBezTo>
                  <a:pt x="120" y="430"/>
                  <a:pt x="120" y="430"/>
                  <a:pt x="120" y="430"/>
                </a:cubicBezTo>
                <a:cubicBezTo>
                  <a:pt x="121" y="430"/>
                  <a:pt x="121" y="429"/>
                  <a:pt x="122" y="429"/>
                </a:cubicBezTo>
                <a:cubicBezTo>
                  <a:pt x="122" y="429"/>
                  <a:pt x="122" y="429"/>
                  <a:pt x="122" y="429"/>
                </a:cubicBezTo>
                <a:cubicBezTo>
                  <a:pt x="122" y="429"/>
                  <a:pt x="122" y="429"/>
                  <a:pt x="122" y="429"/>
                </a:cubicBezTo>
                <a:cubicBezTo>
                  <a:pt x="125" y="426"/>
                  <a:pt x="128" y="425"/>
                  <a:pt x="132" y="424"/>
                </a:cubicBezTo>
                <a:cubicBezTo>
                  <a:pt x="132" y="424"/>
                  <a:pt x="132" y="424"/>
                  <a:pt x="132" y="424"/>
                </a:cubicBezTo>
                <a:cubicBezTo>
                  <a:pt x="132" y="424"/>
                  <a:pt x="132" y="424"/>
                  <a:pt x="132" y="424"/>
                </a:cubicBezTo>
                <a:cubicBezTo>
                  <a:pt x="133" y="424"/>
                  <a:pt x="133" y="424"/>
                  <a:pt x="134" y="424"/>
                </a:cubicBezTo>
                <a:cubicBezTo>
                  <a:pt x="135" y="424"/>
                  <a:pt x="135" y="424"/>
                  <a:pt x="135" y="424"/>
                </a:cubicBezTo>
                <a:cubicBezTo>
                  <a:pt x="136" y="424"/>
                  <a:pt x="136" y="424"/>
                  <a:pt x="137" y="424"/>
                </a:cubicBezTo>
                <a:cubicBezTo>
                  <a:pt x="137" y="423"/>
                  <a:pt x="137" y="423"/>
                  <a:pt x="138" y="423"/>
                </a:cubicBezTo>
                <a:cubicBezTo>
                  <a:pt x="138" y="423"/>
                  <a:pt x="138" y="423"/>
                  <a:pt x="138" y="423"/>
                </a:cubicBezTo>
                <a:cubicBezTo>
                  <a:pt x="138" y="423"/>
                  <a:pt x="138" y="423"/>
                  <a:pt x="138" y="423"/>
                </a:cubicBezTo>
                <a:cubicBezTo>
                  <a:pt x="146" y="423"/>
                  <a:pt x="153" y="423"/>
                  <a:pt x="161" y="423"/>
                </a:cubicBezTo>
                <a:cubicBezTo>
                  <a:pt x="161" y="423"/>
                  <a:pt x="161" y="423"/>
                  <a:pt x="161" y="423"/>
                </a:cubicBezTo>
                <a:cubicBezTo>
                  <a:pt x="163" y="423"/>
                  <a:pt x="163" y="423"/>
                  <a:pt x="163" y="423"/>
                </a:cubicBezTo>
                <a:cubicBezTo>
                  <a:pt x="165" y="423"/>
                  <a:pt x="166" y="424"/>
                  <a:pt x="167" y="424"/>
                </a:cubicBezTo>
                <a:cubicBezTo>
                  <a:pt x="168" y="424"/>
                  <a:pt x="168" y="424"/>
                  <a:pt x="169" y="425"/>
                </a:cubicBezTo>
                <a:cubicBezTo>
                  <a:pt x="169" y="425"/>
                  <a:pt x="169" y="425"/>
                  <a:pt x="169" y="425"/>
                </a:cubicBezTo>
                <a:cubicBezTo>
                  <a:pt x="169" y="425"/>
                  <a:pt x="169" y="425"/>
                  <a:pt x="170" y="425"/>
                </a:cubicBezTo>
                <a:cubicBezTo>
                  <a:pt x="172" y="426"/>
                  <a:pt x="173" y="428"/>
                  <a:pt x="172" y="430"/>
                </a:cubicBezTo>
                <a:close/>
                <a:moveTo>
                  <a:pt x="188" y="402"/>
                </a:moveTo>
                <a:cubicBezTo>
                  <a:pt x="188" y="402"/>
                  <a:pt x="188" y="402"/>
                  <a:pt x="188" y="402"/>
                </a:cubicBezTo>
                <a:cubicBezTo>
                  <a:pt x="188" y="402"/>
                  <a:pt x="188" y="402"/>
                  <a:pt x="188" y="402"/>
                </a:cubicBezTo>
                <a:cubicBezTo>
                  <a:pt x="188" y="403"/>
                  <a:pt x="187" y="403"/>
                  <a:pt x="187" y="404"/>
                </a:cubicBezTo>
                <a:cubicBezTo>
                  <a:pt x="187" y="404"/>
                  <a:pt x="187" y="404"/>
                  <a:pt x="187" y="404"/>
                </a:cubicBezTo>
                <a:cubicBezTo>
                  <a:pt x="185" y="406"/>
                  <a:pt x="182" y="407"/>
                  <a:pt x="179" y="408"/>
                </a:cubicBezTo>
                <a:cubicBezTo>
                  <a:pt x="179" y="408"/>
                  <a:pt x="179" y="408"/>
                  <a:pt x="179" y="408"/>
                </a:cubicBezTo>
                <a:cubicBezTo>
                  <a:pt x="179" y="409"/>
                  <a:pt x="178" y="409"/>
                  <a:pt x="178" y="409"/>
                </a:cubicBezTo>
                <a:cubicBezTo>
                  <a:pt x="177" y="409"/>
                  <a:pt x="177" y="409"/>
                  <a:pt x="177" y="409"/>
                </a:cubicBezTo>
                <a:cubicBezTo>
                  <a:pt x="177" y="409"/>
                  <a:pt x="177" y="409"/>
                  <a:pt x="176" y="409"/>
                </a:cubicBezTo>
                <a:cubicBezTo>
                  <a:pt x="174" y="409"/>
                  <a:pt x="172" y="410"/>
                  <a:pt x="171" y="410"/>
                </a:cubicBezTo>
                <a:cubicBezTo>
                  <a:pt x="170" y="410"/>
                  <a:pt x="170" y="410"/>
                  <a:pt x="170" y="410"/>
                </a:cubicBezTo>
                <a:cubicBezTo>
                  <a:pt x="167" y="410"/>
                  <a:pt x="164" y="410"/>
                  <a:pt x="161" y="410"/>
                </a:cubicBezTo>
                <a:cubicBezTo>
                  <a:pt x="156" y="410"/>
                  <a:pt x="151" y="410"/>
                  <a:pt x="146" y="410"/>
                </a:cubicBezTo>
                <a:cubicBezTo>
                  <a:pt x="146" y="410"/>
                  <a:pt x="145" y="410"/>
                  <a:pt x="144" y="410"/>
                </a:cubicBezTo>
                <a:cubicBezTo>
                  <a:pt x="144" y="410"/>
                  <a:pt x="144" y="410"/>
                  <a:pt x="144" y="410"/>
                </a:cubicBezTo>
                <a:cubicBezTo>
                  <a:pt x="143" y="409"/>
                  <a:pt x="143" y="409"/>
                  <a:pt x="142" y="409"/>
                </a:cubicBezTo>
                <a:cubicBezTo>
                  <a:pt x="142" y="409"/>
                  <a:pt x="142" y="409"/>
                  <a:pt x="142" y="409"/>
                </a:cubicBezTo>
                <a:cubicBezTo>
                  <a:pt x="142" y="409"/>
                  <a:pt x="142" y="409"/>
                  <a:pt x="142" y="409"/>
                </a:cubicBezTo>
                <a:cubicBezTo>
                  <a:pt x="140" y="409"/>
                  <a:pt x="138" y="407"/>
                  <a:pt x="138" y="405"/>
                </a:cubicBezTo>
                <a:cubicBezTo>
                  <a:pt x="138" y="405"/>
                  <a:pt x="138" y="404"/>
                  <a:pt x="138" y="404"/>
                </a:cubicBezTo>
                <a:cubicBezTo>
                  <a:pt x="138" y="404"/>
                  <a:pt x="138" y="404"/>
                  <a:pt x="138" y="403"/>
                </a:cubicBezTo>
                <a:cubicBezTo>
                  <a:pt x="138" y="403"/>
                  <a:pt x="138" y="403"/>
                  <a:pt x="139" y="402"/>
                </a:cubicBezTo>
                <a:cubicBezTo>
                  <a:pt x="139" y="402"/>
                  <a:pt x="139" y="402"/>
                  <a:pt x="139" y="402"/>
                </a:cubicBezTo>
                <a:cubicBezTo>
                  <a:pt x="139" y="402"/>
                  <a:pt x="139" y="402"/>
                  <a:pt x="139" y="402"/>
                </a:cubicBezTo>
                <a:cubicBezTo>
                  <a:pt x="139" y="402"/>
                  <a:pt x="139" y="401"/>
                  <a:pt x="140" y="401"/>
                </a:cubicBezTo>
                <a:cubicBezTo>
                  <a:pt x="142" y="397"/>
                  <a:pt x="144" y="394"/>
                  <a:pt x="147" y="390"/>
                </a:cubicBezTo>
                <a:cubicBezTo>
                  <a:pt x="147" y="390"/>
                  <a:pt x="147" y="390"/>
                  <a:pt x="147" y="390"/>
                </a:cubicBezTo>
                <a:cubicBezTo>
                  <a:pt x="148" y="389"/>
                  <a:pt x="148" y="389"/>
                  <a:pt x="148" y="389"/>
                </a:cubicBezTo>
                <a:cubicBezTo>
                  <a:pt x="149" y="388"/>
                  <a:pt x="149" y="387"/>
                  <a:pt x="151" y="386"/>
                </a:cubicBezTo>
                <a:cubicBezTo>
                  <a:pt x="151" y="385"/>
                  <a:pt x="152" y="385"/>
                  <a:pt x="153" y="385"/>
                </a:cubicBezTo>
                <a:cubicBezTo>
                  <a:pt x="153" y="384"/>
                  <a:pt x="154" y="384"/>
                  <a:pt x="154" y="384"/>
                </a:cubicBezTo>
                <a:cubicBezTo>
                  <a:pt x="154" y="384"/>
                  <a:pt x="154" y="384"/>
                  <a:pt x="155" y="384"/>
                </a:cubicBezTo>
                <a:cubicBezTo>
                  <a:pt x="155" y="384"/>
                  <a:pt x="155" y="384"/>
                  <a:pt x="155" y="384"/>
                </a:cubicBezTo>
                <a:cubicBezTo>
                  <a:pt x="155" y="384"/>
                  <a:pt x="155" y="384"/>
                  <a:pt x="156" y="383"/>
                </a:cubicBezTo>
                <a:cubicBezTo>
                  <a:pt x="157" y="383"/>
                  <a:pt x="158" y="383"/>
                  <a:pt x="160" y="382"/>
                </a:cubicBezTo>
                <a:cubicBezTo>
                  <a:pt x="161" y="382"/>
                  <a:pt x="163" y="382"/>
                  <a:pt x="165" y="382"/>
                </a:cubicBezTo>
                <a:cubicBezTo>
                  <a:pt x="169" y="382"/>
                  <a:pt x="169" y="382"/>
                  <a:pt x="169" y="382"/>
                </a:cubicBezTo>
                <a:cubicBezTo>
                  <a:pt x="170" y="382"/>
                  <a:pt x="171" y="382"/>
                  <a:pt x="172" y="382"/>
                </a:cubicBezTo>
                <a:cubicBezTo>
                  <a:pt x="177" y="382"/>
                  <a:pt x="181" y="382"/>
                  <a:pt x="185" y="382"/>
                </a:cubicBezTo>
                <a:cubicBezTo>
                  <a:pt x="185" y="382"/>
                  <a:pt x="185" y="382"/>
                  <a:pt x="185" y="382"/>
                </a:cubicBezTo>
                <a:cubicBezTo>
                  <a:pt x="187" y="382"/>
                  <a:pt x="187" y="382"/>
                  <a:pt x="187" y="382"/>
                </a:cubicBezTo>
                <a:cubicBezTo>
                  <a:pt x="189" y="382"/>
                  <a:pt x="190" y="382"/>
                  <a:pt x="191" y="382"/>
                </a:cubicBezTo>
                <a:cubicBezTo>
                  <a:pt x="193" y="383"/>
                  <a:pt x="193" y="383"/>
                  <a:pt x="194" y="383"/>
                </a:cubicBezTo>
                <a:cubicBezTo>
                  <a:pt x="196" y="384"/>
                  <a:pt x="197" y="386"/>
                  <a:pt x="196" y="389"/>
                </a:cubicBezTo>
                <a:cubicBezTo>
                  <a:pt x="194" y="392"/>
                  <a:pt x="192" y="395"/>
                  <a:pt x="190" y="398"/>
                </a:cubicBezTo>
                <a:cubicBezTo>
                  <a:pt x="188" y="402"/>
                  <a:pt x="188" y="402"/>
                  <a:pt x="188" y="402"/>
                </a:cubicBezTo>
                <a:cubicBezTo>
                  <a:pt x="188" y="402"/>
                  <a:pt x="188" y="402"/>
                  <a:pt x="188" y="402"/>
                </a:cubicBezTo>
                <a:close/>
                <a:moveTo>
                  <a:pt x="411" y="448"/>
                </a:moveTo>
                <a:cubicBezTo>
                  <a:pt x="411" y="449"/>
                  <a:pt x="411" y="449"/>
                  <a:pt x="411" y="450"/>
                </a:cubicBezTo>
                <a:cubicBezTo>
                  <a:pt x="411" y="450"/>
                  <a:pt x="411" y="450"/>
                  <a:pt x="411" y="450"/>
                </a:cubicBezTo>
                <a:cubicBezTo>
                  <a:pt x="411" y="451"/>
                  <a:pt x="411" y="451"/>
                  <a:pt x="410" y="451"/>
                </a:cubicBezTo>
                <a:cubicBezTo>
                  <a:pt x="410" y="451"/>
                  <a:pt x="410" y="451"/>
                  <a:pt x="410" y="452"/>
                </a:cubicBezTo>
                <a:cubicBezTo>
                  <a:pt x="410" y="452"/>
                  <a:pt x="410" y="452"/>
                  <a:pt x="410" y="452"/>
                </a:cubicBezTo>
                <a:cubicBezTo>
                  <a:pt x="410" y="452"/>
                  <a:pt x="409" y="453"/>
                  <a:pt x="409" y="453"/>
                </a:cubicBezTo>
                <a:cubicBezTo>
                  <a:pt x="409" y="453"/>
                  <a:pt x="409" y="453"/>
                  <a:pt x="409" y="453"/>
                </a:cubicBezTo>
                <a:cubicBezTo>
                  <a:pt x="408" y="454"/>
                  <a:pt x="408" y="454"/>
                  <a:pt x="407" y="455"/>
                </a:cubicBezTo>
                <a:cubicBezTo>
                  <a:pt x="407" y="455"/>
                  <a:pt x="407" y="455"/>
                  <a:pt x="407" y="455"/>
                </a:cubicBezTo>
                <a:cubicBezTo>
                  <a:pt x="407" y="455"/>
                  <a:pt x="407" y="455"/>
                  <a:pt x="407" y="455"/>
                </a:cubicBezTo>
                <a:cubicBezTo>
                  <a:pt x="406" y="455"/>
                  <a:pt x="406" y="456"/>
                  <a:pt x="405" y="456"/>
                </a:cubicBezTo>
                <a:cubicBezTo>
                  <a:pt x="405" y="456"/>
                  <a:pt x="405" y="456"/>
                  <a:pt x="405" y="456"/>
                </a:cubicBezTo>
                <a:cubicBezTo>
                  <a:pt x="404" y="456"/>
                  <a:pt x="404" y="456"/>
                  <a:pt x="404" y="456"/>
                </a:cubicBezTo>
                <a:cubicBezTo>
                  <a:pt x="403" y="456"/>
                  <a:pt x="403" y="457"/>
                  <a:pt x="403" y="457"/>
                </a:cubicBezTo>
                <a:cubicBezTo>
                  <a:pt x="403" y="457"/>
                  <a:pt x="403" y="457"/>
                  <a:pt x="402" y="457"/>
                </a:cubicBezTo>
                <a:cubicBezTo>
                  <a:pt x="402" y="457"/>
                  <a:pt x="402" y="457"/>
                  <a:pt x="402" y="457"/>
                </a:cubicBezTo>
                <a:cubicBezTo>
                  <a:pt x="402" y="457"/>
                  <a:pt x="401" y="457"/>
                  <a:pt x="400" y="457"/>
                </a:cubicBezTo>
                <a:cubicBezTo>
                  <a:pt x="400" y="457"/>
                  <a:pt x="399" y="457"/>
                  <a:pt x="399" y="457"/>
                </a:cubicBezTo>
                <a:cubicBezTo>
                  <a:pt x="398" y="458"/>
                  <a:pt x="398" y="458"/>
                  <a:pt x="397" y="458"/>
                </a:cubicBezTo>
                <a:cubicBezTo>
                  <a:pt x="397" y="458"/>
                  <a:pt x="397" y="458"/>
                  <a:pt x="397" y="458"/>
                </a:cubicBezTo>
                <a:cubicBezTo>
                  <a:pt x="396" y="458"/>
                  <a:pt x="396" y="458"/>
                  <a:pt x="396" y="458"/>
                </a:cubicBezTo>
                <a:cubicBezTo>
                  <a:pt x="396" y="458"/>
                  <a:pt x="396" y="458"/>
                  <a:pt x="396" y="458"/>
                </a:cubicBezTo>
                <a:cubicBezTo>
                  <a:pt x="393" y="458"/>
                  <a:pt x="390" y="458"/>
                  <a:pt x="387" y="458"/>
                </a:cubicBezTo>
                <a:cubicBezTo>
                  <a:pt x="373" y="458"/>
                  <a:pt x="212" y="458"/>
                  <a:pt x="200" y="458"/>
                </a:cubicBezTo>
                <a:cubicBezTo>
                  <a:pt x="199" y="458"/>
                  <a:pt x="198" y="458"/>
                  <a:pt x="198" y="458"/>
                </a:cubicBezTo>
                <a:cubicBezTo>
                  <a:pt x="197" y="458"/>
                  <a:pt x="196" y="458"/>
                  <a:pt x="195" y="457"/>
                </a:cubicBezTo>
                <a:cubicBezTo>
                  <a:pt x="193" y="457"/>
                  <a:pt x="192" y="456"/>
                  <a:pt x="191" y="455"/>
                </a:cubicBezTo>
                <a:cubicBezTo>
                  <a:pt x="190" y="454"/>
                  <a:pt x="190" y="453"/>
                  <a:pt x="189" y="452"/>
                </a:cubicBezTo>
                <a:cubicBezTo>
                  <a:pt x="189" y="451"/>
                  <a:pt x="189" y="450"/>
                  <a:pt x="190" y="449"/>
                </a:cubicBezTo>
                <a:cubicBezTo>
                  <a:pt x="191" y="448"/>
                  <a:pt x="191" y="448"/>
                  <a:pt x="191" y="448"/>
                </a:cubicBezTo>
                <a:cubicBezTo>
                  <a:pt x="191" y="448"/>
                  <a:pt x="191" y="448"/>
                  <a:pt x="191" y="448"/>
                </a:cubicBezTo>
                <a:cubicBezTo>
                  <a:pt x="192" y="444"/>
                  <a:pt x="194" y="440"/>
                  <a:pt x="196" y="437"/>
                </a:cubicBezTo>
                <a:cubicBezTo>
                  <a:pt x="196" y="436"/>
                  <a:pt x="197" y="435"/>
                  <a:pt x="197" y="435"/>
                </a:cubicBezTo>
                <a:cubicBezTo>
                  <a:pt x="198" y="432"/>
                  <a:pt x="198" y="432"/>
                  <a:pt x="198" y="432"/>
                </a:cubicBezTo>
                <a:cubicBezTo>
                  <a:pt x="199" y="431"/>
                  <a:pt x="200" y="430"/>
                  <a:pt x="201" y="428"/>
                </a:cubicBezTo>
                <a:cubicBezTo>
                  <a:pt x="201" y="428"/>
                  <a:pt x="202" y="428"/>
                  <a:pt x="202" y="428"/>
                </a:cubicBezTo>
                <a:cubicBezTo>
                  <a:pt x="202" y="428"/>
                  <a:pt x="202" y="428"/>
                  <a:pt x="203" y="428"/>
                </a:cubicBezTo>
                <a:cubicBezTo>
                  <a:pt x="203" y="427"/>
                  <a:pt x="203" y="427"/>
                  <a:pt x="203" y="427"/>
                </a:cubicBezTo>
                <a:cubicBezTo>
                  <a:pt x="203" y="427"/>
                  <a:pt x="203" y="427"/>
                  <a:pt x="203" y="427"/>
                </a:cubicBezTo>
                <a:cubicBezTo>
                  <a:pt x="204" y="427"/>
                  <a:pt x="204" y="427"/>
                  <a:pt x="204" y="427"/>
                </a:cubicBezTo>
                <a:cubicBezTo>
                  <a:pt x="204" y="426"/>
                  <a:pt x="205" y="426"/>
                  <a:pt x="205" y="426"/>
                </a:cubicBezTo>
                <a:cubicBezTo>
                  <a:pt x="205" y="426"/>
                  <a:pt x="206" y="426"/>
                  <a:pt x="206" y="425"/>
                </a:cubicBezTo>
                <a:cubicBezTo>
                  <a:pt x="206" y="425"/>
                  <a:pt x="207" y="425"/>
                  <a:pt x="207" y="425"/>
                </a:cubicBezTo>
                <a:cubicBezTo>
                  <a:pt x="208" y="425"/>
                  <a:pt x="208" y="425"/>
                  <a:pt x="209" y="424"/>
                </a:cubicBezTo>
                <a:cubicBezTo>
                  <a:pt x="209" y="424"/>
                  <a:pt x="210" y="424"/>
                  <a:pt x="210" y="424"/>
                </a:cubicBezTo>
                <a:cubicBezTo>
                  <a:pt x="210" y="424"/>
                  <a:pt x="210" y="424"/>
                  <a:pt x="210" y="424"/>
                </a:cubicBezTo>
                <a:cubicBezTo>
                  <a:pt x="212" y="423"/>
                  <a:pt x="214" y="423"/>
                  <a:pt x="216" y="423"/>
                </a:cubicBezTo>
                <a:cubicBezTo>
                  <a:pt x="216" y="423"/>
                  <a:pt x="385" y="423"/>
                  <a:pt x="392" y="423"/>
                </a:cubicBezTo>
                <a:cubicBezTo>
                  <a:pt x="393" y="423"/>
                  <a:pt x="395" y="423"/>
                  <a:pt x="397" y="423"/>
                </a:cubicBezTo>
                <a:cubicBezTo>
                  <a:pt x="398" y="423"/>
                  <a:pt x="399" y="423"/>
                  <a:pt x="400" y="423"/>
                </a:cubicBezTo>
                <a:cubicBezTo>
                  <a:pt x="400" y="423"/>
                  <a:pt x="400" y="423"/>
                  <a:pt x="400" y="423"/>
                </a:cubicBezTo>
                <a:cubicBezTo>
                  <a:pt x="401" y="423"/>
                  <a:pt x="402" y="423"/>
                  <a:pt x="402" y="423"/>
                </a:cubicBezTo>
                <a:cubicBezTo>
                  <a:pt x="403" y="423"/>
                  <a:pt x="403" y="423"/>
                  <a:pt x="403" y="423"/>
                </a:cubicBezTo>
                <a:cubicBezTo>
                  <a:pt x="403" y="423"/>
                  <a:pt x="403" y="423"/>
                  <a:pt x="403" y="423"/>
                </a:cubicBezTo>
                <a:cubicBezTo>
                  <a:pt x="404" y="424"/>
                  <a:pt x="404" y="424"/>
                  <a:pt x="405" y="424"/>
                </a:cubicBezTo>
                <a:cubicBezTo>
                  <a:pt x="405" y="424"/>
                  <a:pt x="405" y="424"/>
                  <a:pt x="405" y="424"/>
                </a:cubicBezTo>
                <a:cubicBezTo>
                  <a:pt x="406" y="425"/>
                  <a:pt x="406" y="425"/>
                  <a:pt x="407" y="425"/>
                </a:cubicBezTo>
                <a:cubicBezTo>
                  <a:pt x="407" y="425"/>
                  <a:pt x="407" y="425"/>
                  <a:pt x="407" y="425"/>
                </a:cubicBezTo>
                <a:cubicBezTo>
                  <a:pt x="407" y="425"/>
                  <a:pt x="407" y="425"/>
                  <a:pt x="407" y="425"/>
                </a:cubicBezTo>
                <a:cubicBezTo>
                  <a:pt x="408" y="426"/>
                  <a:pt x="408" y="426"/>
                  <a:pt x="408" y="426"/>
                </a:cubicBezTo>
                <a:cubicBezTo>
                  <a:pt x="409" y="427"/>
                  <a:pt x="409" y="427"/>
                  <a:pt x="410" y="428"/>
                </a:cubicBezTo>
                <a:cubicBezTo>
                  <a:pt x="411" y="429"/>
                  <a:pt x="411" y="430"/>
                  <a:pt x="411" y="431"/>
                </a:cubicBezTo>
                <a:cubicBezTo>
                  <a:pt x="411" y="432"/>
                  <a:pt x="411" y="432"/>
                  <a:pt x="411" y="432"/>
                </a:cubicBezTo>
                <a:cubicBezTo>
                  <a:pt x="411" y="432"/>
                  <a:pt x="411" y="432"/>
                  <a:pt x="411" y="432"/>
                </a:cubicBezTo>
                <a:cubicBezTo>
                  <a:pt x="411" y="436"/>
                  <a:pt x="411" y="441"/>
                  <a:pt x="411" y="445"/>
                </a:cubicBezTo>
                <a:cubicBezTo>
                  <a:pt x="411" y="446"/>
                  <a:pt x="411" y="447"/>
                  <a:pt x="411" y="448"/>
                </a:cubicBezTo>
                <a:close/>
                <a:moveTo>
                  <a:pt x="434" y="366"/>
                </a:moveTo>
                <a:cubicBezTo>
                  <a:pt x="434" y="366"/>
                  <a:pt x="434" y="366"/>
                  <a:pt x="434" y="366"/>
                </a:cubicBezTo>
                <a:cubicBezTo>
                  <a:pt x="434" y="366"/>
                  <a:pt x="434" y="366"/>
                  <a:pt x="434" y="365"/>
                </a:cubicBezTo>
                <a:cubicBezTo>
                  <a:pt x="433" y="365"/>
                  <a:pt x="433" y="364"/>
                  <a:pt x="432" y="363"/>
                </a:cubicBezTo>
                <a:cubicBezTo>
                  <a:pt x="432" y="362"/>
                  <a:pt x="432" y="362"/>
                  <a:pt x="432" y="362"/>
                </a:cubicBezTo>
                <a:cubicBezTo>
                  <a:pt x="432" y="362"/>
                  <a:pt x="432" y="361"/>
                  <a:pt x="432" y="360"/>
                </a:cubicBezTo>
                <a:cubicBezTo>
                  <a:pt x="432" y="360"/>
                  <a:pt x="432" y="360"/>
                  <a:pt x="432" y="360"/>
                </a:cubicBezTo>
                <a:cubicBezTo>
                  <a:pt x="432" y="358"/>
                  <a:pt x="432" y="355"/>
                  <a:pt x="432" y="353"/>
                </a:cubicBezTo>
                <a:cubicBezTo>
                  <a:pt x="432" y="352"/>
                  <a:pt x="432" y="352"/>
                  <a:pt x="432" y="352"/>
                </a:cubicBezTo>
                <a:cubicBezTo>
                  <a:pt x="432" y="351"/>
                  <a:pt x="432" y="350"/>
                  <a:pt x="432" y="350"/>
                </a:cubicBezTo>
                <a:cubicBezTo>
                  <a:pt x="433" y="349"/>
                  <a:pt x="434" y="349"/>
                  <a:pt x="435" y="348"/>
                </a:cubicBezTo>
                <a:cubicBezTo>
                  <a:pt x="436" y="348"/>
                  <a:pt x="437" y="347"/>
                  <a:pt x="438" y="347"/>
                </a:cubicBezTo>
                <a:cubicBezTo>
                  <a:pt x="438" y="347"/>
                  <a:pt x="438" y="347"/>
                  <a:pt x="438" y="347"/>
                </a:cubicBezTo>
                <a:cubicBezTo>
                  <a:pt x="438" y="347"/>
                  <a:pt x="438" y="347"/>
                  <a:pt x="438" y="347"/>
                </a:cubicBezTo>
                <a:cubicBezTo>
                  <a:pt x="439" y="347"/>
                  <a:pt x="439" y="347"/>
                  <a:pt x="440" y="347"/>
                </a:cubicBezTo>
                <a:cubicBezTo>
                  <a:pt x="440" y="347"/>
                  <a:pt x="440" y="347"/>
                  <a:pt x="441" y="347"/>
                </a:cubicBezTo>
                <a:cubicBezTo>
                  <a:pt x="443" y="346"/>
                  <a:pt x="445" y="346"/>
                  <a:pt x="447" y="346"/>
                </a:cubicBezTo>
                <a:cubicBezTo>
                  <a:pt x="463" y="346"/>
                  <a:pt x="463" y="346"/>
                  <a:pt x="463" y="346"/>
                </a:cubicBezTo>
                <a:cubicBezTo>
                  <a:pt x="464" y="346"/>
                  <a:pt x="465" y="346"/>
                  <a:pt x="465" y="347"/>
                </a:cubicBezTo>
                <a:cubicBezTo>
                  <a:pt x="469" y="347"/>
                  <a:pt x="474" y="348"/>
                  <a:pt x="475" y="352"/>
                </a:cubicBezTo>
                <a:cubicBezTo>
                  <a:pt x="476" y="355"/>
                  <a:pt x="476" y="359"/>
                  <a:pt x="477" y="362"/>
                </a:cubicBezTo>
                <a:cubicBezTo>
                  <a:pt x="477" y="363"/>
                  <a:pt x="477" y="363"/>
                  <a:pt x="477" y="363"/>
                </a:cubicBezTo>
                <a:cubicBezTo>
                  <a:pt x="477" y="364"/>
                  <a:pt x="477" y="364"/>
                  <a:pt x="477" y="365"/>
                </a:cubicBezTo>
                <a:cubicBezTo>
                  <a:pt x="477" y="365"/>
                  <a:pt x="477" y="365"/>
                  <a:pt x="477" y="365"/>
                </a:cubicBezTo>
                <a:cubicBezTo>
                  <a:pt x="477" y="365"/>
                  <a:pt x="477" y="365"/>
                  <a:pt x="477" y="365"/>
                </a:cubicBezTo>
                <a:cubicBezTo>
                  <a:pt x="477" y="365"/>
                  <a:pt x="477" y="365"/>
                  <a:pt x="477" y="365"/>
                </a:cubicBezTo>
                <a:cubicBezTo>
                  <a:pt x="476" y="367"/>
                  <a:pt x="474" y="368"/>
                  <a:pt x="472" y="369"/>
                </a:cubicBezTo>
                <a:cubicBezTo>
                  <a:pt x="471" y="369"/>
                  <a:pt x="471" y="369"/>
                  <a:pt x="471" y="369"/>
                </a:cubicBezTo>
                <a:cubicBezTo>
                  <a:pt x="471" y="369"/>
                  <a:pt x="471" y="369"/>
                  <a:pt x="470" y="369"/>
                </a:cubicBezTo>
                <a:cubicBezTo>
                  <a:pt x="470" y="369"/>
                  <a:pt x="470" y="369"/>
                  <a:pt x="470" y="369"/>
                </a:cubicBezTo>
                <a:cubicBezTo>
                  <a:pt x="469" y="369"/>
                  <a:pt x="469" y="369"/>
                  <a:pt x="469" y="369"/>
                </a:cubicBezTo>
                <a:cubicBezTo>
                  <a:pt x="463" y="370"/>
                  <a:pt x="457" y="369"/>
                  <a:pt x="455" y="369"/>
                </a:cubicBezTo>
                <a:cubicBezTo>
                  <a:pt x="445" y="369"/>
                  <a:pt x="445" y="369"/>
                  <a:pt x="445" y="369"/>
                </a:cubicBezTo>
                <a:cubicBezTo>
                  <a:pt x="444" y="369"/>
                  <a:pt x="443" y="369"/>
                  <a:pt x="442" y="369"/>
                </a:cubicBezTo>
                <a:cubicBezTo>
                  <a:pt x="442" y="369"/>
                  <a:pt x="441" y="369"/>
                  <a:pt x="441" y="369"/>
                </a:cubicBezTo>
                <a:cubicBezTo>
                  <a:pt x="440" y="369"/>
                  <a:pt x="440" y="369"/>
                  <a:pt x="440" y="369"/>
                </a:cubicBezTo>
                <a:cubicBezTo>
                  <a:pt x="440" y="369"/>
                  <a:pt x="440" y="369"/>
                  <a:pt x="440" y="369"/>
                </a:cubicBezTo>
                <a:cubicBezTo>
                  <a:pt x="439" y="369"/>
                  <a:pt x="439" y="369"/>
                  <a:pt x="438" y="368"/>
                </a:cubicBezTo>
                <a:cubicBezTo>
                  <a:pt x="438" y="368"/>
                  <a:pt x="438" y="368"/>
                  <a:pt x="438" y="368"/>
                </a:cubicBezTo>
                <a:cubicBezTo>
                  <a:pt x="437" y="368"/>
                  <a:pt x="437" y="368"/>
                  <a:pt x="436" y="367"/>
                </a:cubicBezTo>
                <a:cubicBezTo>
                  <a:pt x="436" y="367"/>
                  <a:pt x="435" y="367"/>
                  <a:pt x="434" y="366"/>
                </a:cubicBezTo>
                <a:cubicBezTo>
                  <a:pt x="434" y="366"/>
                  <a:pt x="434" y="366"/>
                  <a:pt x="434" y="366"/>
                </a:cubicBezTo>
                <a:close/>
                <a:moveTo>
                  <a:pt x="437" y="404"/>
                </a:moveTo>
                <a:cubicBezTo>
                  <a:pt x="436" y="403"/>
                  <a:pt x="436" y="402"/>
                  <a:pt x="435" y="402"/>
                </a:cubicBezTo>
                <a:cubicBezTo>
                  <a:pt x="435" y="400"/>
                  <a:pt x="435" y="400"/>
                  <a:pt x="435" y="400"/>
                </a:cubicBezTo>
                <a:cubicBezTo>
                  <a:pt x="435" y="400"/>
                  <a:pt x="435" y="400"/>
                  <a:pt x="435" y="400"/>
                </a:cubicBezTo>
                <a:cubicBezTo>
                  <a:pt x="435" y="396"/>
                  <a:pt x="435" y="392"/>
                  <a:pt x="434" y="388"/>
                </a:cubicBezTo>
                <a:cubicBezTo>
                  <a:pt x="434" y="388"/>
                  <a:pt x="434" y="388"/>
                  <a:pt x="434" y="388"/>
                </a:cubicBezTo>
                <a:cubicBezTo>
                  <a:pt x="434" y="388"/>
                  <a:pt x="434" y="388"/>
                  <a:pt x="434" y="388"/>
                </a:cubicBezTo>
                <a:cubicBezTo>
                  <a:pt x="434" y="388"/>
                  <a:pt x="434" y="388"/>
                  <a:pt x="434" y="387"/>
                </a:cubicBezTo>
                <a:cubicBezTo>
                  <a:pt x="435" y="379"/>
                  <a:pt x="453" y="381"/>
                  <a:pt x="458" y="381"/>
                </a:cubicBezTo>
                <a:cubicBezTo>
                  <a:pt x="465" y="381"/>
                  <a:pt x="477" y="380"/>
                  <a:pt x="481" y="386"/>
                </a:cubicBezTo>
                <a:cubicBezTo>
                  <a:pt x="481" y="387"/>
                  <a:pt x="482" y="387"/>
                  <a:pt x="482" y="388"/>
                </a:cubicBezTo>
                <a:cubicBezTo>
                  <a:pt x="482" y="389"/>
                  <a:pt x="482" y="389"/>
                  <a:pt x="482" y="389"/>
                </a:cubicBezTo>
                <a:cubicBezTo>
                  <a:pt x="482" y="389"/>
                  <a:pt x="482" y="389"/>
                  <a:pt x="482" y="389"/>
                </a:cubicBezTo>
                <a:cubicBezTo>
                  <a:pt x="483" y="391"/>
                  <a:pt x="483" y="392"/>
                  <a:pt x="484" y="395"/>
                </a:cubicBezTo>
                <a:cubicBezTo>
                  <a:pt x="485" y="401"/>
                  <a:pt x="485" y="401"/>
                  <a:pt x="485" y="401"/>
                </a:cubicBezTo>
                <a:cubicBezTo>
                  <a:pt x="485" y="402"/>
                  <a:pt x="485" y="403"/>
                  <a:pt x="484" y="404"/>
                </a:cubicBezTo>
                <a:cubicBezTo>
                  <a:pt x="484" y="405"/>
                  <a:pt x="484" y="405"/>
                  <a:pt x="483" y="406"/>
                </a:cubicBezTo>
                <a:cubicBezTo>
                  <a:pt x="483" y="406"/>
                  <a:pt x="483" y="406"/>
                  <a:pt x="482" y="407"/>
                </a:cubicBezTo>
                <a:cubicBezTo>
                  <a:pt x="482" y="407"/>
                  <a:pt x="482" y="407"/>
                  <a:pt x="482" y="407"/>
                </a:cubicBezTo>
                <a:cubicBezTo>
                  <a:pt x="482" y="407"/>
                  <a:pt x="482" y="407"/>
                  <a:pt x="482" y="407"/>
                </a:cubicBezTo>
                <a:cubicBezTo>
                  <a:pt x="481" y="407"/>
                  <a:pt x="481" y="407"/>
                  <a:pt x="481" y="407"/>
                </a:cubicBezTo>
                <a:cubicBezTo>
                  <a:pt x="480" y="408"/>
                  <a:pt x="480" y="408"/>
                  <a:pt x="480" y="408"/>
                </a:cubicBezTo>
                <a:cubicBezTo>
                  <a:pt x="479" y="408"/>
                  <a:pt x="479" y="408"/>
                  <a:pt x="479" y="408"/>
                </a:cubicBezTo>
                <a:cubicBezTo>
                  <a:pt x="479" y="408"/>
                  <a:pt x="479" y="408"/>
                  <a:pt x="478" y="408"/>
                </a:cubicBezTo>
                <a:cubicBezTo>
                  <a:pt x="478" y="408"/>
                  <a:pt x="478" y="409"/>
                  <a:pt x="477" y="409"/>
                </a:cubicBezTo>
                <a:cubicBezTo>
                  <a:pt x="477" y="409"/>
                  <a:pt x="477" y="409"/>
                  <a:pt x="477" y="409"/>
                </a:cubicBezTo>
                <a:cubicBezTo>
                  <a:pt x="477" y="409"/>
                  <a:pt x="476" y="409"/>
                  <a:pt x="475" y="409"/>
                </a:cubicBezTo>
                <a:cubicBezTo>
                  <a:pt x="474" y="409"/>
                  <a:pt x="474" y="409"/>
                  <a:pt x="473" y="409"/>
                </a:cubicBezTo>
                <a:cubicBezTo>
                  <a:pt x="473" y="409"/>
                  <a:pt x="473" y="409"/>
                  <a:pt x="473" y="409"/>
                </a:cubicBezTo>
                <a:cubicBezTo>
                  <a:pt x="473" y="409"/>
                  <a:pt x="473" y="409"/>
                  <a:pt x="473" y="409"/>
                </a:cubicBezTo>
                <a:cubicBezTo>
                  <a:pt x="473" y="409"/>
                  <a:pt x="473" y="409"/>
                  <a:pt x="473" y="409"/>
                </a:cubicBezTo>
                <a:cubicBezTo>
                  <a:pt x="465" y="409"/>
                  <a:pt x="457" y="409"/>
                  <a:pt x="449" y="409"/>
                </a:cubicBezTo>
                <a:cubicBezTo>
                  <a:pt x="448" y="409"/>
                  <a:pt x="447" y="409"/>
                  <a:pt x="447" y="409"/>
                </a:cubicBezTo>
                <a:cubicBezTo>
                  <a:pt x="446" y="409"/>
                  <a:pt x="446" y="409"/>
                  <a:pt x="446" y="409"/>
                </a:cubicBezTo>
                <a:cubicBezTo>
                  <a:pt x="445" y="409"/>
                  <a:pt x="445" y="409"/>
                  <a:pt x="444" y="409"/>
                </a:cubicBezTo>
                <a:cubicBezTo>
                  <a:pt x="444" y="409"/>
                  <a:pt x="444" y="409"/>
                  <a:pt x="444" y="409"/>
                </a:cubicBezTo>
                <a:cubicBezTo>
                  <a:pt x="444" y="408"/>
                  <a:pt x="444" y="408"/>
                  <a:pt x="444" y="408"/>
                </a:cubicBezTo>
                <a:cubicBezTo>
                  <a:pt x="443" y="408"/>
                  <a:pt x="442" y="408"/>
                  <a:pt x="442" y="408"/>
                </a:cubicBezTo>
                <a:cubicBezTo>
                  <a:pt x="441" y="408"/>
                  <a:pt x="441" y="407"/>
                  <a:pt x="441" y="407"/>
                </a:cubicBezTo>
                <a:cubicBezTo>
                  <a:pt x="441" y="407"/>
                  <a:pt x="440" y="407"/>
                  <a:pt x="440" y="407"/>
                </a:cubicBezTo>
                <a:cubicBezTo>
                  <a:pt x="440" y="407"/>
                  <a:pt x="440" y="407"/>
                  <a:pt x="440" y="407"/>
                </a:cubicBezTo>
                <a:cubicBezTo>
                  <a:pt x="439" y="406"/>
                  <a:pt x="437" y="405"/>
                  <a:pt x="437" y="404"/>
                </a:cubicBezTo>
                <a:close/>
                <a:moveTo>
                  <a:pt x="494" y="451"/>
                </a:moveTo>
                <a:cubicBezTo>
                  <a:pt x="493" y="453"/>
                  <a:pt x="492" y="453"/>
                  <a:pt x="491" y="454"/>
                </a:cubicBezTo>
                <a:cubicBezTo>
                  <a:pt x="490" y="455"/>
                  <a:pt x="489" y="456"/>
                  <a:pt x="487" y="456"/>
                </a:cubicBezTo>
                <a:cubicBezTo>
                  <a:pt x="485" y="457"/>
                  <a:pt x="484" y="457"/>
                  <a:pt x="481" y="457"/>
                </a:cubicBezTo>
                <a:cubicBezTo>
                  <a:pt x="476" y="457"/>
                  <a:pt x="476" y="457"/>
                  <a:pt x="476" y="457"/>
                </a:cubicBezTo>
                <a:cubicBezTo>
                  <a:pt x="476" y="457"/>
                  <a:pt x="476" y="457"/>
                  <a:pt x="476" y="457"/>
                </a:cubicBezTo>
                <a:cubicBezTo>
                  <a:pt x="469" y="457"/>
                  <a:pt x="462" y="457"/>
                  <a:pt x="454" y="457"/>
                </a:cubicBezTo>
                <a:cubicBezTo>
                  <a:pt x="453" y="457"/>
                  <a:pt x="453" y="457"/>
                  <a:pt x="452" y="457"/>
                </a:cubicBezTo>
                <a:cubicBezTo>
                  <a:pt x="451" y="457"/>
                  <a:pt x="451" y="457"/>
                  <a:pt x="451" y="457"/>
                </a:cubicBezTo>
                <a:cubicBezTo>
                  <a:pt x="450" y="457"/>
                  <a:pt x="450" y="457"/>
                  <a:pt x="449" y="457"/>
                </a:cubicBezTo>
                <a:cubicBezTo>
                  <a:pt x="449" y="457"/>
                  <a:pt x="449" y="457"/>
                  <a:pt x="448" y="457"/>
                </a:cubicBezTo>
                <a:cubicBezTo>
                  <a:pt x="448" y="457"/>
                  <a:pt x="448" y="457"/>
                  <a:pt x="448" y="457"/>
                </a:cubicBezTo>
                <a:cubicBezTo>
                  <a:pt x="445" y="456"/>
                  <a:pt x="442" y="454"/>
                  <a:pt x="440" y="451"/>
                </a:cubicBezTo>
                <a:cubicBezTo>
                  <a:pt x="440" y="451"/>
                  <a:pt x="440" y="451"/>
                  <a:pt x="440" y="451"/>
                </a:cubicBezTo>
                <a:cubicBezTo>
                  <a:pt x="440" y="451"/>
                  <a:pt x="440" y="451"/>
                  <a:pt x="440" y="451"/>
                </a:cubicBezTo>
                <a:cubicBezTo>
                  <a:pt x="440" y="451"/>
                  <a:pt x="440" y="451"/>
                  <a:pt x="440" y="450"/>
                </a:cubicBezTo>
                <a:cubicBezTo>
                  <a:pt x="439" y="450"/>
                  <a:pt x="439" y="449"/>
                  <a:pt x="439" y="449"/>
                </a:cubicBezTo>
                <a:cubicBezTo>
                  <a:pt x="439" y="449"/>
                  <a:pt x="439" y="449"/>
                  <a:pt x="439" y="448"/>
                </a:cubicBezTo>
                <a:cubicBezTo>
                  <a:pt x="439" y="448"/>
                  <a:pt x="439" y="448"/>
                  <a:pt x="439" y="448"/>
                </a:cubicBezTo>
                <a:cubicBezTo>
                  <a:pt x="439" y="447"/>
                  <a:pt x="439" y="447"/>
                  <a:pt x="439" y="447"/>
                </a:cubicBezTo>
                <a:cubicBezTo>
                  <a:pt x="439" y="447"/>
                  <a:pt x="439" y="447"/>
                  <a:pt x="439" y="447"/>
                </a:cubicBezTo>
                <a:cubicBezTo>
                  <a:pt x="439" y="444"/>
                  <a:pt x="438" y="439"/>
                  <a:pt x="438" y="435"/>
                </a:cubicBezTo>
                <a:cubicBezTo>
                  <a:pt x="438" y="435"/>
                  <a:pt x="438" y="434"/>
                  <a:pt x="438" y="433"/>
                </a:cubicBezTo>
                <a:cubicBezTo>
                  <a:pt x="438" y="431"/>
                  <a:pt x="438" y="431"/>
                  <a:pt x="438" y="431"/>
                </a:cubicBezTo>
                <a:cubicBezTo>
                  <a:pt x="438" y="431"/>
                  <a:pt x="438" y="431"/>
                  <a:pt x="438" y="431"/>
                </a:cubicBezTo>
                <a:cubicBezTo>
                  <a:pt x="438" y="430"/>
                  <a:pt x="438" y="430"/>
                  <a:pt x="438" y="430"/>
                </a:cubicBezTo>
                <a:cubicBezTo>
                  <a:pt x="438" y="430"/>
                  <a:pt x="438" y="429"/>
                  <a:pt x="438" y="429"/>
                </a:cubicBezTo>
                <a:cubicBezTo>
                  <a:pt x="438" y="429"/>
                  <a:pt x="438" y="429"/>
                  <a:pt x="438" y="428"/>
                </a:cubicBezTo>
                <a:cubicBezTo>
                  <a:pt x="439" y="428"/>
                  <a:pt x="439" y="428"/>
                  <a:pt x="439" y="428"/>
                </a:cubicBezTo>
                <a:cubicBezTo>
                  <a:pt x="439" y="428"/>
                  <a:pt x="439" y="428"/>
                  <a:pt x="439" y="428"/>
                </a:cubicBezTo>
                <a:cubicBezTo>
                  <a:pt x="439" y="427"/>
                  <a:pt x="439" y="427"/>
                  <a:pt x="439" y="427"/>
                </a:cubicBezTo>
                <a:cubicBezTo>
                  <a:pt x="440" y="426"/>
                  <a:pt x="440" y="426"/>
                  <a:pt x="440" y="426"/>
                </a:cubicBezTo>
                <a:cubicBezTo>
                  <a:pt x="440" y="426"/>
                  <a:pt x="441" y="426"/>
                  <a:pt x="441" y="425"/>
                </a:cubicBezTo>
                <a:cubicBezTo>
                  <a:pt x="441" y="425"/>
                  <a:pt x="441" y="425"/>
                  <a:pt x="441" y="425"/>
                </a:cubicBezTo>
                <a:cubicBezTo>
                  <a:pt x="441" y="425"/>
                  <a:pt x="441" y="425"/>
                  <a:pt x="441" y="425"/>
                </a:cubicBezTo>
                <a:cubicBezTo>
                  <a:pt x="442" y="425"/>
                  <a:pt x="442" y="425"/>
                  <a:pt x="443" y="424"/>
                </a:cubicBezTo>
                <a:cubicBezTo>
                  <a:pt x="443" y="424"/>
                  <a:pt x="443" y="424"/>
                  <a:pt x="443" y="424"/>
                </a:cubicBezTo>
                <a:cubicBezTo>
                  <a:pt x="444" y="424"/>
                  <a:pt x="444" y="424"/>
                  <a:pt x="444" y="424"/>
                </a:cubicBezTo>
                <a:cubicBezTo>
                  <a:pt x="444" y="424"/>
                  <a:pt x="444" y="424"/>
                  <a:pt x="444" y="424"/>
                </a:cubicBezTo>
                <a:cubicBezTo>
                  <a:pt x="444" y="424"/>
                  <a:pt x="445" y="423"/>
                  <a:pt x="445" y="423"/>
                </a:cubicBezTo>
                <a:cubicBezTo>
                  <a:pt x="446" y="423"/>
                  <a:pt x="446" y="423"/>
                  <a:pt x="446" y="423"/>
                </a:cubicBezTo>
                <a:cubicBezTo>
                  <a:pt x="446" y="423"/>
                  <a:pt x="447" y="423"/>
                  <a:pt x="447" y="423"/>
                </a:cubicBezTo>
                <a:cubicBezTo>
                  <a:pt x="448" y="423"/>
                  <a:pt x="448" y="423"/>
                  <a:pt x="449" y="423"/>
                </a:cubicBezTo>
                <a:cubicBezTo>
                  <a:pt x="450" y="423"/>
                  <a:pt x="450" y="423"/>
                  <a:pt x="450" y="423"/>
                </a:cubicBezTo>
                <a:cubicBezTo>
                  <a:pt x="450" y="423"/>
                  <a:pt x="450" y="423"/>
                  <a:pt x="451" y="423"/>
                </a:cubicBezTo>
                <a:cubicBezTo>
                  <a:pt x="452" y="423"/>
                  <a:pt x="452" y="423"/>
                  <a:pt x="452" y="423"/>
                </a:cubicBezTo>
                <a:cubicBezTo>
                  <a:pt x="453" y="423"/>
                  <a:pt x="454" y="423"/>
                  <a:pt x="455" y="423"/>
                </a:cubicBezTo>
                <a:cubicBezTo>
                  <a:pt x="457" y="423"/>
                  <a:pt x="458" y="423"/>
                  <a:pt x="459" y="423"/>
                </a:cubicBezTo>
                <a:cubicBezTo>
                  <a:pt x="469" y="423"/>
                  <a:pt x="469" y="423"/>
                  <a:pt x="469" y="423"/>
                </a:cubicBezTo>
                <a:cubicBezTo>
                  <a:pt x="472" y="423"/>
                  <a:pt x="475" y="423"/>
                  <a:pt x="478" y="423"/>
                </a:cubicBezTo>
                <a:cubicBezTo>
                  <a:pt x="478" y="423"/>
                  <a:pt x="479" y="423"/>
                  <a:pt x="479" y="423"/>
                </a:cubicBezTo>
                <a:cubicBezTo>
                  <a:pt x="479" y="423"/>
                  <a:pt x="480" y="423"/>
                  <a:pt x="480" y="423"/>
                </a:cubicBezTo>
                <a:cubicBezTo>
                  <a:pt x="480" y="423"/>
                  <a:pt x="480" y="423"/>
                  <a:pt x="481" y="423"/>
                </a:cubicBezTo>
                <a:cubicBezTo>
                  <a:pt x="481" y="423"/>
                  <a:pt x="481" y="423"/>
                  <a:pt x="481" y="423"/>
                </a:cubicBezTo>
                <a:cubicBezTo>
                  <a:pt x="481" y="423"/>
                  <a:pt x="481" y="423"/>
                  <a:pt x="481" y="423"/>
                </a:cubicBezTo>
                <a:cubicBezTo>
                  <a:pt x="482" y="423"/>
                  <a:pt x="482" y="424"/>
                  <a:pt x="483" y="424"/>
                </a:cubicBezTo>
                <a:cubicBezTo>
                  <a:pt x="483" y="424"/>
                  <a:pt x="484" y="424"/>
                  <a:pt x="484" y="424"/>
                </a:cubicBezTo>
                <a:cubicBezTo>
                  <a:pt x="484" y="424"/>
                  <a:pt x="484" y="424"/>
                  <a:pt x="484" y="425"/>
                </a:cubicBezTo>
                <a:cubicBezTo>
                  <a:pt x="485" y="425"/>
                  <a:pt x="485" y="425"/>
                  <a:pt x="486" y="425"/>
                </a:cubicBezTo>
                <a:cubicBezTo>
                  <a:pt x="487" y="426"/>
                  <a:pt x="488" y="427"/>
                  <a:pt x="489" y="428"/>
                </a:cubicBezTo>
                <a:cubicBezTo>
                  <a:pt x="490" y="429"/>
                  <a:pt x="491" y="430"/>
                  <a:pt x="491" y="431"/>
                </a:cubicBezTo>
                <a:cubicBezTo>
                  <a:pt x="492" y="438"/>
                  <a:pt x="492" y="438"/>
                  <a:pt x="492" y="438"/>
                </a:cubicBezTo>
                <a:cubicBezTo>
                  <a:pt x="493" y="441"/>
                  <a:pt x="493" y="443"/>
                  <a:pt x="494" y="446"/>
                </a:cubicBezTo>
                <a:cubicBezTo>
                  <a:pt x="494" y="446"/>
                  <a:pt x="494" y="446"/>
                  <a:pt x="494" y="446"/>
                </a:cubicBezTo>
                <a:cubicBezTo>
                  <a:pt x="494" y="448"/>
                  <a:pt x="494" y="448"/>
                  <a:pt x="494" y="448"/>
                </a:cubicBezTo>
                <a:cubicBezTo>
                  <a:pt x="494" y="449"/>
                  <a:pt x="494" y="450"/>
                  <a:pt x="494" y="451"/>
                </a:cubicBezTo>
                <a:close/>
                <a:moveTo>
                  <a:pt x="508" y="369"/>
                </a:moveTo>
                <a:cubicBezTo>
                  <a:pt x="507" y="368"/>
                  <a:pt x="505" y="368"/>
                  <a:pt x="505" y="367"/>
                </a:cubicBezTo>
                <a:cubicBezTo>
                  <a:pt x="504" y="366"/>
                  <a:pt x="503" y="365"/>
                  <a:pt x="503" y="365"/>
                </a:cubicBezTo>
                <a:cubicBezTo>
                  <a:pt x="502" y="363"/>
                  <a:pt x="502" y="363"/>
                  <a:pt x="502" y="363"/>
                </a:cubicBezTo>
                <a:cubicBezTo>
                  <a:pt x="502" y="361"/>
                  <a:pt x="501" y="359"/>
                  <a:pt x="500" y="357"/>
                </a:cubicBezTo>
                <a:cubicBezTo>
                  <a:pt x="500" y="356"/>
                  <a:pt x="499" y="355"/>
                  <a:pt x="499" y="353"/>
                </a:cubicBezTo>
                <a:cubicBezTo>
                  <a:pt x="499" y="353"/>
                  <a:pt x="499" y="353"/>
                  <a:pt x="499" y="353"/>
                </a:cubicBezTo>
                <a:cubicBezTo>
                  <a:pt x="499" y="353"/>
                  <a:pt x="499" y="353"/>
                  <a:pt x="499" y="353"/>
                </a:cubicBezTo>
                <a:cubicBezTo>
                  <a:pt x="499" y="352"/>
                  <a:pt x="499" y="352"/>
                  <a:pt x="499" y="352"/>
                </a:cubicBezTo>
                <a:cubicBezTo>
                  <a:pt x="499" y="352"/>
                  <a:pt x="499" y="352"/>
                  <a:pt x="499" y="352"/>
                </a:cubicBezTo>
                <a:cubicBezTo>
                  <a:pt x="499" y="352"/>
                  <a:pt x="499" y="352"/>
                  <a:pt x="499" y="352"/>
                </a:cubicBezTo>
                <a:cubicBezTo>
                  <a:pt x="501" y="348"/>
                  <a:pt x="508" y="348"/>
                  <a:pt x="511" y="348"/>
                </a:cubicBezTo>
                <a:cubicBezTo>
                  <a:pt x="528" y="348"/>
                  <a:pt x="528" y="348"/>
                  <a:pt x="528" y="348"/>
                </a:cubicBezTo>
                <a:cubicBezTo>
                  <a:pt x="529" y="348"/>
                  <a:pt x="531" y="348"/>
                  <a:pt x="532" y="349"/>
                </a:cubicBezTo>
                <a:cubicBezTo>
                  <a:pt x="532" y="349"/>
                  <a:pt x="533" y="349"/>
                  <a:pt x="533" y="349"/>
                </a:cubicBezTo>
                <a:cubicBezTo>
                  <a:pt x="533" y="349"/>
                  <a:pt x="534" y="349"/>
                  <a:pt x="534" y="349"/>
                </a:cubicBezTo>
                <a:cubicBezTo>
                  <a:pt x="534" y="349"/>
                  <a:pt x="534" y="349"/>
                  <a:pt x="534" y="349"/>
                </a:cubicBezTo>
                <a:cubicBezTo>
                  <a:pt x="535" y="349"/>
                  <a:pt x="536" y="350"/>
                  <a:pt x="536" y="350"/>
                </a:cubicBezTo>
                <a:cubicBezTo>
                  <a:pt x="536" y="350"/>
                  <a:pt x="536" y="350"/>
                  <a:pt x="536" y="350"/>
                </a:cubicBezTo>
                <a:cubicBezTo>
                  <a:pt x="536" y="350"/>
                  <a:pt x="536" y="350"/>
                  <a:pt x="536" y="350"/>
                </a:cubicBezTo>
                <a:cubicBezTo>
                  <a:pt x="537" y="350"/>
                  <a:pt x="537" y="350"/>
                  <a:pt x="538" y="350"/>
                </a:cubicBezTo>
                <a:cubicBezTo>
                  <a:pt x="538" y="351"/>
                  <a:pt x="538" y="351"/>
                  <a:pt x="538" y="351"/>
                </a:cubicBezTo>
                <a:cubicBezTo>
                  <a:pt x="538" y="351"/>
                  <a:pt x="538" y="351"/>
                  <a:pt x="539" y="351"/>
                </a:cubicBezTo>
                <a:cubicBezTo>
                  <a:pt x="539" y="351"/>
                  <a:pt x="539" y="351"/>
                  <a:pt x="539" y="351"/>
                </a:cubicBezTo>
                <a:cubicBezTo>
                  <a:pt x="539" y="352"/>
                  <a:pt x="539" y="352"/>
                  <a:pt x="539" y="352"/>
                </a:cubicBezTo>
                <a:cubicBezTo>
                  <a:pt x="540" y="352"/>
                  <a:pt x="541" y="353"/>
                  <a:pt x="541" y="354"/>
                </a:cubicBezTo>
                <a:cubicBezTo>
                  <a:pt x="541" y="354"/>
                  <a:pt x="541" y="354"/>
                  <a:pt x="541" y="354"/>
                </a:cubicBezTo>
                <a:cubicBezTo>
                  <a:pt x="543" y="356"/>
                  <a:pt x="544" y="359"/>
                  <a:pt x="545" y="361"/>
                </a:cubicBezTo>
                <a:cubicBezTo>
                  <a:pt x="545" y="361"/>
                  <a:pt x="545" y="361"/>
                  <a:pt x="545" y="361"/>
                </a:cubicBezTo>
                <a:cubicBezTo>
                  <a:pt x="546" y="363"/>
                  <a:pt x="547" y="364"/>
                  <a:pt x="547" y="365"/>
                </a:cubicBezTo>
                <a:cubicBezTo>
                  <a:pt x="547" y="366"/>
                  <a:pt x="547" y="366"/>
                  <a:pt x="547" y="366"/>
                </a:cubicBezTo>
                <a:cubicBezTo>
                  <a:pt x="547" y="366"/>
                  <a:pt x="547" y="366"/>
                  <a:pt x="547" y="366"/>
                </a:cubicBezTo>
                <a:cubicBezTo>
                  <a:pt x="547" y="368"/>
                  <a:pt x="545" y="369"/>
                  <a:pt x="543" y="370"/>
                </a:cubicBezTo>
                <a:cubicBezTo>
                  <a:pt x="542" y="370"/>
                  <a:pt x="542" y="370"/>
                  <a:pt x="542" y="370"/>
                </a:cubicBezTo>
                <a:cubicBezTo>
                  <a:pt x="542" y="370"/>
                  <a:pt x="542" y="370"/>
                  <a:pt x="542" y="370"/>
                </a:cubicBezTo>
                <a:cubicBezTo>
                  <a:pt x="542" y="370"/>
                  <a:pt x="541" y="370"/>
                  <a:pt x="541" y="371"/>
                </a:cubicBezTo>
                <a:cubicBezTo>
                  <a:pt x="540" y="371"/>
                  <a:pt x="540" y="371"/>
                  <a:pt x="540" y="371"/>
                </a:cubicBezTo>
                <a:cubicBezTo>
                  <a:pt x="540" y="371"/>
                  <a:pt x="539" y="371"/>
                  <a:pt x="539" y="371"/>
                </a:cubicBezTo>
                <a:cubicBezTo>
                  <a:pt x="539" y="371"/>
                  <a:pt x="538" y="371"/>
                  <a:pt x="538" y="371"/>
                </a:cubicBezTo>
                <a:cubicBezTo>
                  <a:pt x="538" y="371"/>
                  <a:pt x="538" y="371"/>
                  <a:pt x="538" y="371"/>
                </a:cubicBezTo>
                <a:cubicBezTo>
                  <a:pt x="538" y="371"/>
                  <a:pt x="538" y="371"/>
                  <a:pt x="538" y="371"/>
                </a:cubicBezTo>
                <a:cubicBezTo>
                  <a:pt x="535" y="371"/>
                  <a:pt x="532" y="371"/>
                  <a:pt x="530" y="371"/>
                </a:cubicBezTo>
                <a:cubicBezTo>
                  <a:pt x="526" y="371"/>
                  <a:pt x="521" y="371"/>
                  <a:pt x="517" y="371"/>
                </a:cubicBezTo>
                <a:cubicBezTo>
                  <a:pt x="514" y="371"/>
                  <a:pt x="511" y="370"/>
                  <a:pt x="508" y="369"/>
                </a:cubicBezTo>
                <a:cubicBezTo>
                  <a:pt x="508" y="369"/>
                  <a:pt x="508" y="369"/>
                  <a:pt x="508" y="369"/>
                </a:cubicBezTo>
                <a:close/>
                <a:moveTo>
                  <a:pt x="519" y="405"/>
                </a:moveTo>
                <a:cubicBezTo>
                  <a:pt x="518" y="404"/>
                  <a:pt x="517" y="403"/>
                  <a:pt x="517" y="402"/>
                </a:cubicBezTo>
                <a:cubicBezTo>
                  <a:pt x="515" y="396"/>
                  <a:pt x="515" y="396"/>
                  <a:pt x="515" y="396"/>
                </a:cubicBezTo>
                <a:cubicBezTo>
                  <a:pt x="514" y="394"/>
                  <a:pt x="513" y="392"/>
                  <a:pt x="512" y="390"/>
                </a:cubicBezTo>
                <a:cubicBezTo>
                  <a:pt x="512" y="390"/>
                  <a:pt x="512" y="390"/>
                  <a:pt x="512" y="390"/>
                </a:cubicBezTo>
                <a:cubicBezTo>
                  <a:pt x="512" y="389"/>
                  <a:pt x="512" y="389"/>
                  <a:pt x="512" y="389"/>
                </a:cubicBezTo>
                <a:cubicBezTo>
                  <a:pt x="512" y="388"/>
                  <a:pt x="512" y="387"/>
                  <a:pt x="512" y="386"/>
                </a:cubicBezTo>
                <a:cubicBezTo>
                  <a:pt x="512" y="386"/>
                  <a:pt x="513" y="385"/>
                  <a:pt x="513" y="385"/>
                </a:cubicBezTo>
                <a:cubicBezTo>
                  <a:pt x="513" y="385"/>
                  <a:pt x="513" y="385"/>
                  <a:pt x="514" y="385"/>
                </a:cubicBezTo>
                <a:cubicBezTo>
                  <a:pt x="514" y="384"/>
                  <a:pt x="514" y="384"/>
                  <a:pt x="514" y="384"/>
                </a:cubicBezTo>
                <a:cubicBezTo>
                  <a:pt x="515" y="384"/>
                  <a:pt x="516" y="383"/>
                  <a:pt x="517" y="383"/>
                </a:cubicBezTo>
                <a:cubicBezTo>
                  <a:pt x="518" y="383"/>
                  <a:pt x="519" y="383"/>
                  <a:pt x="520" y="382"/>
                </a:cubicBezTo>
                <a:cubicBezTo>
                  <a:pt x="525" y="382"/>
                  <a:pt x="530" y="382"/>
                  <a:pt x="532" y="382"/>
                </a:cubicBezTo>
                <a:cubicBezTo>
                  <a:pt x="540" y="382"/>
                  <a:pt x="554" y="381"/>
                  <a:pt x="559" y="389"/>
                </a:cubicBezTo>
                <a:cubicBezTo>
                  <a:pt x="559" y="389"/>
                  <a:pt x="559" y="389"/>
                  <a:pt x="559" y="389"/>
                </a:cubicBezTo>
                <a:cubicBezTo>
                  <a:pt x="559" y="389"/>
                  <a:pt x="559" y="389"/>
                  <a:pt x="559" y="389"/>
                </a:cubicBezTo>
                <a:cubicBezTo>
                  <a:pt x="559" y="389"/>
                  <a:pt x="559" y="389"/>
                  <a:pt x="559" y="389"/>
                </a:cubicBezTo>
                <a:cubicBezTo>
                  <a:pt x="561" y="393"/>
                  <a:pt x="562" y="396"/>
                  <a:pt x="564" y="400"/>
                </a:cubicBezTo>
                <a:cubicBezTo>
                  <a:pt x="565" y="401"/>
                  <a:pt x="565" y="402"/>
                  <a:pt x="566" y="403"/>
                </a:cubicBezTo>
                <a:cubicBezTo>
                  <a:pt x="566" y="403"/>
                  <a:pt x="566" y="403"/>
                  <a:pt x="566" y="403"/>
                </a:cubicBezTo>
                <a:cubicBezTo>
                  <a:pt x="566" y="404"/>
                  <a:pt x="566" y="404"/>
                  <a:pt x="566" y="404"/>
                </a:cubicBezTo>
                <a:cubicBezTo>
                  <a:pt x="566" y="404"/>
                  <a:pt x="566" y="405"/>
                  <a:pt x="566" y="405"/>
                </a:cubicBezTo>
                <a:cubicBezTo>
                  <a:pt x="566" y="405"/>
                  <a:pt x="566" y="405"/>
                  <a:pt x="566" y="405"/>
                </a:cubicBezTo>
                <a:cubicBezTo>
                  <a:pt x="566" y="405"/>
                  <a:pt x="566" y="405"/>
                  <a:pt x="566" y="405"/>
                </a:cubicBezTo>
                <a:cubicBezTo>
                  <a:pt x="566" y="406"/>
                  <a:pt x="565" y="406"/>
                  <a:pt x="565" y="406"/>
                </a:cubicBezTo>
                <a:cubicBezTo>
                  <a:pt x="565" y="406"/>
                  <a:pt x="565" y="406"/>
                  <a:pt x="565" y="406"/>
                </a:cubicBezTo>
                <a:cubicBezTo>
                  <a:pt x="565" y="407"/>
                  <a:pt x="565" y="407"/>
                  <a:pt x="564" y="407"/>
                </a:cubicBezTo>
                <a:cubicBezTo>
                  <a:pt x="564" y="407"/>
                  <a:pt x="564" y="407"/>
                  <a:pt x="564" y="407"/>
                </a:cubicBezTo>
                <a:cubicBezTo>
                  <a:pt x="564" y="408"/>
                  <a:pt x="564" y="408"/>
                  <a:pt x="564" y="408"/>
                </a:cubicBezTo>
                <a:cubicBezTo>
                  <a:pt x="564" y="408"/>
                  <a:pt x="563" y="408"/>
                  <a:pt x="563" y="408"/>
                </a:cubicBezTo>
                <a:cubicBezTo>
                  <a:pt x="563" y="408"/>
                  <a:pt x="562" y="409"/>
                  <a:pt x="561" y="409"/>
                </a:cubicBezTo>
                <a:cubicBezTo>
                  <a:pt x="561" y="409"/>
                  <a:pt x="561" y="409"/>
                  <a:pt x="560" y="409"/>
                </a:cubicBezTo>
                <a:cubicBezTo>
                  <a:pt x="560" y="409"/>
                  <a:pt x="559" y="409"/>
                  <a:pt x="559" y="410"/>
                </a:cubicBezTo>
                <a:cubicBezTo>
                  <a:pt x="559" y="410"/>
                  <a:pt x="559" y="410"/>
                  <a:pt x="559" y="410"/>
                </a:cubicBezTo>
                <a:cubicBezTo>
                  <a:pt x="558" y="410"/>
                  <a:pt x="558" y="410"/>
                  <a:pt x="558" y="410"/>
                </a:cubicBezTo>
                <a:cubicBezTo>
                  <a:pt x="550" y="410"/>
                  <a:pt x="541" y="410"/>
                  <a:pt x="532" y="410"/>
                </a:cubicBezTo>
                <a:cubicBezTo>
                  <a:pt x="532" y="410"/>
                  <a:pt x="531" y="410"/>
                  <a:pt x="530" y="410"/>
                </a:cubicBezTo>
                <a:cubicBezTo>
                  <a:pt x="530" y="410"/>
                  <a:pt x="530" y="410"/>
                  <a:pt x="530" y="410"/>
                </a:cubicBezTo>
                <a:cubicBezTo>
                  <a:pt x="527" y="409"/>
                  <a:pt x="524" y="408"/>
                  <a:pt x="521" y="406"/>
                </a:cubicBezTo>
                <a:cubicBezTo>
                  <a:pt x="520" y="406"/>
                  <a:pt x="520" y="406"/>
                  <a:pt x="519" y="405"/>
                </a:cubicBezTo>
                <a:close/>
                <a:moveTo>
                  <a:pt x="589" y="451"/>
                </a:moveTo>
                <a:cubicBezTo>
                  <a:pt x="589" y="452"/>
                  <a:pt x="588" y="452"/>
                  <a:pt x="588" y="452"/>
                </a:cubicBezTo>
                <a:cubicBezTo>
                  <a:pt x="588" y="452"/>
                  <a:pt x="588" y="452"/>
                  <a:pt x="588" y="453"/>
                </a:cubicBezTo>
                <a:cubicBezTo>
                  <a:pt x="588" y="453"/>
                  <a:pt x="588" y="453"/>
                  <a:pt x="588" y="453"/>
                </a:cubicBezTo>
                <a:cubicBezTo>
                  <a:pt x="588" y="453"/>
                  <a:pt x="588" y="453"/>
                  <a:pt x="588" y="454"/>
                </a:cubicBezTo>
                <a:cubicBezTo>
                  <a:pt x="588" y="454"/>
                  <a:pt x="588" y="454"/>
                  <a:pt x="587" y="454"/>
                </a:cubicBezTo>
                <a:cubicBezTo>
                  <a:pt x="587" y="454"/>
                  <a:pt x="587" y="454"/>
                  <a:pt x="587" y="454"/>
                </a:cubicBezTo>
                <a:cubicBezTo>
                  <a:pt x="587" y="454"/>
                  <a:pt x="587" y="454"/>
                  <a:pt x="587" y="455"/>
                </a:cubicBezTo>
                <a:cubicBezTo>
                  <a:pt x="585" y="456"/>
                  <a:pt x="583" y="457"/>
                  <a:pt x="581" y="457"/>
                </a:cubicBezTo>
                <a:cubicBezTo>
                  <a:pt x="581" y="457"/>
                  <a:pt x="581" y="457"/>
                  <a:pt x="581" y="457"/>
                </a:cubicBezTo>
                <a:cubicBezTo>
                  <a:pt x="580" y="457"/>
                  <a:pt x="579" y="457"/>
                  <a:pt x="578" y="457"/>
                </a:cubicBezTo>
                <a:cubicBezTo>
                  <a:pt x="578" y="457"/>
                  <a:pt x="578" y="457"/>
                  <a:pt x="578" y="457"/>
                </a:cubicBezTo>
                <a:cubicBezTo>
                  <a:pt x="577" y="457"/>
                  <a:pt x="577" y="457"/>
                  <a:pt x="577" y="457"/>
                </a:cubicBezTo>
                <a:cubicBezTo>
                  <a:pt x="577" y="457"/>
                  <a:pt x="576" y="457"/>
                  <a:pt x="575" y="457"/>
                </a:cubicBezTo>
                <a:cubicBezTo>
                  <a:pt x="552" y="457"/>
                  <a:pt x="552" y="457"/>
                  <a:pt x="552" y="457"/>
                </a:cubicBezTo>
                <a:cubicBezTo>
                  <a:pt x="551" y="457"/>
                  <a:pt x="550" y="457"/>
                  <a:pt x="549" y="457"/>
                </a:cubicBezTo>
                <a:cubicBezTo>
                  <a:pt x="549" y="457"/>
                  <a:pt x="549" y="457"/>
                  <a:pt x="548" y="457"/>
                </a:cubicBezTo>
                <a:cubicBezTo>
                  <a:pt x="543" y="456"/>
                  <a:pt x="538" y="454"/>
                  <a:pt x="535" y="450"/>
                </a:cubicBezTo>
                <a:cubicBezTo>
                  <a:pt x="534" y="449"/>
                  <a:pt x="534" y="449"/>
                  <a:pt x="534" y="448"/>
                </a:cubicBezTo>
                <a:cubicBezTo>
                  <a:pt x="534" y="448"/>
                  <a:pt x="534" y="448"/>
                  <a:pt x="534" y="448"/>
                </a:cubicBezTo>
                <a:cubicBezTo>
                  <a:pt x="534" y="448"/>
                  <a:pt x="534" y="448"/>
                  <a:pt x="534" y="448"/>
                </a:cubicBezTo>
                <a:cubicBezTo>
                  <a:pt x="533" y="444"/>
                  <a:pt x="531" y="441"/>
                  <a:pt x="530" y="438"/>
                </a:cubicBezTo>
                <a:cubicBezTo>
                  <a:pt x="530" y="436"/>
                  <a:pt x="528" y="434"/>
                  <a:pt x="528" y="432"/>
                </a:cubicBezTo>
                <a:cubicBezTo>
                  <a:pt x="528" y="432"/>
                  <a:pt x="528" y="432"/>
                  <a:pt x="528" y="432"/>
                </a:cubicBezTo>
                <a:cubicBezTo>
                  <a:pt x="528" y="431"/>
                  <a:pt x="528" y="431"/>
                  <a:pt x="528" y="431"/>
                </a:cubicBezTo>
                <a:cubicBezTo>
                  <a:pt x="528" y="431"/>
                  <a:pt x="528" y="431"/>
                  <a:pt x="528" y="431"/>
                </a:cubicBezTo>
                <a:cubicBezTo>
                  <a:pt x="528" y="430"/>
                  <a:pt x="528" y="429"/>
                  <a:pt x="528" y="428"/>
                </a:cubicBezTo>
                <a:cubicBezTo>
                  <a:pt x="528" y="428"/>
                  <a:pt x="528" y="427"/>
                  <a:pt x="528" y="427"/>
                </a:cubicBezTo>
                <a:cubicBezTo>
                  <a:pt x="528" y="427"/>
                  <a:pt x="528" y="427"/>
                  <a:pt x="528" y="427"/>
                </a:cubicBezTo>
                <a:cubicBezTo>
                  <a:pt x="530" y="425"/>
                  <a:pt x="532" y="424"/>
                  <a:pt x="535" y="423"/>
                </a:cubicBezTo>
                <a:cubicBezTo>
                  <a:pt x="535" y="423"/>
                  <a:pt x="535" y="423"/>
                  <a:pt x="536" y="423"/>
                </a:cubicBezTo>
                <a:cubicBezTo>
                  <a:pt x="536" y="423"/>
                  <a:pt x="537" y="423"/>
                  <a:pt x="538" y="423"/>
                </a:cubicBezTo>
                <a:cubicBezTo>
                  <a:pt x="538" y="423"/>
                  <a:pt x="538" y="423"/>
                  <a:pt x="538" y="423"/>
                </a:cubicBezTo>
                <a:cubicBezTo>
                  <a:pt x="540" y="423"/>
                  <a:pt x="540" y="423"/>
                  <a:pt x="540" y="423"/>
                </a:cubicBezTo>
                <a:cubicBezTo>
                  <a:pt x="540" y="423"/>
                  <a:pt x="540" y="423"/>
                  <a:pt x="541" y="423"/>
                </a:cubicBezTo>
                <a:cubicBezTo>
                  <a:pt x="548" y="423"/>
                  <a:pt x="555" y="423"/>
                  <a:pt x="563" y="423"/>
                </a:cubicBezTo>
                <a:cubicBezTo>
                  <a:pt x="563" y="423"/>
                  <a:pt x="563" y="423"/>
                  <a:pt x="563" y="423"/>
                </a:cubicBezTo>
                <a:cubicBezTo>
                  <a:pt x="563" y="423"/>
                  <a:pt x="563" y="423"/>
                  <a:pt x="563" y="423"/>
                </a:cubicBezTo>
                <a:cubicBezTo>
                  <a:pt x="563" y="423"/>
                  <a:pt x="564" y="423"/>
                  <a:pt x="565" y="423"/>
                </a:cubicBezTo>
                <a:cubicBezTo>
                  <a:pt x="565" y="423"/>
                  <a:pt x="565" y="423"/>
                  <a:pt x="565" y="423"/>
                </a:cubicBezTo>
                <a:cubicBezTo>
                  <a:pt x="570" y="424"/>
                  <a:pt x="576" y="426"/>
                  <a:pt x="579" y="430"/>
                </a:cubicBezTo>
                <a:cubicBezTo>
                  <a:pt x="579" y="430"/>
                  <a:pt x="579" y="431"/>
                  <a:pt x="580" y="431"/>
                </a:cubicBezTo>
                <a:cubicBezTo>
                  <a:pt x="581" y="433"/>
                  <a:pt x="581" y="433"/>
                  <a:pt x="581" y="433"/>
                </a:cubicBezTo>
                <a:cubicBezTo>
                  <a:pt x="582" y="436"/>
                  <a:pt x="584" y="439"/>
                  <a:pt x="585" y="442"/>
                </a:cubicBezTo>
                <a:cubicBezTo>
                  <a:pt x="586" y="443"/>
                  <a:pt x="588" y="446"/>
                  <a:pt x="588" y="448"/>
                </a:cubicBezTo>
                <a:cubicBezTo>
                  <a:pt x="589" y="449"/>
                  <a:pt x="589" y="450"/>
                  <a:pt x="589" y="451"/>
                </a:cubicBezTo>
                <a:close/>
                <a:moveTo>
                  <a:pt x="594" y="406"/>
                </a:moveTo>
                <a:cubicBezTo>
                  <a:pt x="593" y="406"/>
                  <a:pt x="593" y="405"/>
                  <a:pt x="592" y="405"/>
                </a:cubicBezTo>
                <a:cubicBezTo>
                  <a:pt x="591" y="404"/>
                  <a:pt x="590" y="403"/>
                  <a:pt x="590" y="402"/>
                </a:cubicBezTo>
                <a:cubicBezTo>
                  <a:pt x="589" y="401"/>
                  <a:pt x="589" y="401"/>
                  <a:pt x="589" y="401"/>
                </a:cubicBezTo>
                <a:cubicBezTo>
                  <a:pt x="589" y="401"/>
                  <a:pt x="589" y="401"/>
                  <a:pt x="589" y="401"/>
                </a:cubicBezTo>
                <a:cubicBezTo>
                  <a:pt x="587" y="398"/>
                  <a:pt x="585" y="394"/>
                  <a:pt x="583" y="390"/>
                </a:cubicBezTo>
                <a:cubicBezTo>
                  <a:pt x="583" y="390"/>
                  <a:pt x="583" y="390"/>
                  <a:pt x="583" y="390"/>
                </a:cubicBezTo>
                <a:cubicBezTo>
                  <a:pt x="582" y="389"/>
                  <a:pt x="582" y="389"/>
                  <a:pt x="582" y="389"/>
                </a:cubicBezTo>
                <a:cubicBezTo>
                  <a:pt x="582" y="388"/>
                  <a:pt x="582" y="387"/>
                  <a:pt x="582" y="386"/>
                </a:cubicBezTo>
                <a:cubicBezTo>
                  <a:pt x="582" y="385"/>
                  <a:pt x="582" y="385"/>
                  <a:pt x="583" y="384"/>
                </a:cubicBezTo>
                <a:cubicBezTo>
                  <a:pt x="584" y="383"/>
                  <a:pt x="585" y="383"/>
                  <a:pt x="586" y="383"/>
                </a:cubicBezTo>
                <a:cubicBezTo>
                  <a:pt x="588" y="382"/>
                  <a:pt x="589" y="382"/>
                  <a:pt x="591" y="382"/>
                </a:cubicBezTo>
                <a:cubicBezTo>
                  <a:pt x="591" y="382"/>
                  <a:pt x="591" y="382"/>
                  <a:pt x="591" y="382"/>
                </a:cubicBezTo>
                <a:cubicBezTo>
                  <a:pt x="594" y="382"/>
                  <a:pt x="598" y="382"/>
                  <a:pt x="600" y="382"/>
                </a:cubicBezTo>
                <a:cubicBezTo>
                  <a:pt x="609" y="382"/>
                  <a:pt x="623" y="380"/>
                  <a:pt x="629" y="389"/>
                </a:cubicBezTo>
                <a:cubicBezTo>
                  <a:pt x="631" y="392"/>
                  <a:pt x="633" y="394"/>
                  <a:pt x="635" y="397"/>
                </a:cubicBezTo>
                <a:cubicBezTo>
                  <a:pt x="636" y="399"/>
                  <a:pt x="637" y="401"/>
                  <a:pt x="638" y="402"/>
                </a:cubicBezTo>
                <a:cubicBezTo>
                  <a:pt x="639" y="403"/>
                  <a:pt x="639" y="404"/>
                  <a:pt x="639" y="405"/>
                </a:cubicBezTo>
                <a:cubicBezTo>
                  <a:pt x="639" y="405"/>
                  <a:pt x="639" y="406"/>
                  <a:pt x="639" y="406"/>
                </a:cubicBezTo>
                <a:cubicBezTo>
                  <a:pt x="639" y="407"/>
                  <a:pt x="638" y="407"/>
                  <a:pt x="638" y="407"/>
                </a:cubicBezTo>
                <a:cubicBezTo>
                  <a:pt x="638" y="407"/>
                  <a:pt x="638" y="407"/>
                  <a:pt x="638" y="407"/>
                </a:cubicBezTo>
                <a:cubicBezTo>
                  <a:pt x="638" y="407"/>
                  <a:pt x="638" y="407"/>
                  <a:pt x="638" y="407"/>
                </a:cubicBezTo>
                <a:cubicBezTo>
                  <a:pt x="638" y="408"/>
                  <a:pt x="638" y="408"/>
                  <a:pt x="637" y="408"/>
                </a:cubicBezTo>
                <a:cubicBezTo>
                  <a:pt x="637" y="408"/>
                  <a:pt x="637" y="408"/>
                  <a:pt x="637" y="408"/>
                </a:cubicBezTo>
                <a:cubicBezTo>
                  <a:pt x="637" y="408"/>
                  <a:pt x="637" y="408"/>
                  <a:pt x="636" y="408"/>
                </a:cubicBezTo>
                <a:cubicBezTo>
                  <a:pt x="636" y="408"/>
                  <a:pt x="635" y="409"/>
                  <a:pt x="635" y="409"/>
                </a:cubicBezTo>
                <a:cubicBezTo>
                  <a:pt x="635" y="409"/>
                  <a:pt x="635" y="409"/>
                  <a:pt x="635" y="409"/>
                </a:cubicBezTo>
                <a:cubicBezTo>
                  <a:pt x="635" y="409"/>
                  <a:pt x="635" y="409"/>
                  <a:pt x="635" y="409"/>
                </a:cubicBezTo>
                <a:cubicBezTo>
                  <a:pt x="631" y="410"/>
                  <a:pt x="625" y="410"/>
                  <a:pt x="621" y="410"/>
                </a:cubicBezTo>
                <a:cubicBezTo>
                  <a:pt x="616" y="410"/>
                  <a:pt x="611" y="410"/>
                  <a:pt x="607" y="410"/>
                </a:cubicBezTo>
                <a:cubicBezTo>
                  <a:pt x="602" y="410"/>
                  <a:pt x="598" y="408"/>
                  <a:pt x="594" y="406"/>
                </a:cubicBezTo>
                <a:close/>
                <a:moveTo>
                  <a:pt x="670" y="454"/>
                </a:moveTo>
                <a:cubicBezTo>
                  <a:pt x="670" y="454"/>
                  <a:pt x="670" y="454"/>
                  <a:pt x="670" y="454"/>
                </a:cubicBezTo>
                <a:cubicBezTo>
                  <a:pt x="669" y="455"/>
                  <a:pt x="668" y="456"/>
                  <a:pt x="666" y="456"/>
                </a:cubicBezTo>
                <a:cubicBezTo>
                  <a:pt x="665" y="457"/>
                  <a:pt x="664" y="457"/>
                  <a:pt x="662" y="457"/>
                </a:cubicBezTo>
                <a:cubicBezTo>
                  <a:pt x="660" y="457"/>
                  <a:pt x="660" y="457"/>
                  <a:pt x="660" y="457"/>
                </a:cubicBezTo>
                <a:cubicBezTo>
                  <a:pt x="660" y="457"/>
                  <a:pt x="660" y="457"/>
                  <a:pt x="660" y="457"/>
                </a:cubicBezTo>
                <a:cubicBezTo>
                  <a:pt x="651" y="457"/>
                  <a:pt x="643" y="457"/>
                  <a:pt x="635" y="457"/>
                </a:cubicBezTo>
                <a:cubicBezTo>
                  <a:pt x="634" y="457"/>
                  <a:pt x="633" y="457"/>
                  <a:pt x="632" y="457"/>
                </a:cubicBezTo>
                <a:cubicBezTo>
                  <a:pt x="632" y="457"/>
                  <a:pt x="632" y="457"/>
                  <a:pt x="632" y="457"/>
                </a:cubicBezTo>
                <a:cubicBezTo>
                  <a:pt x="626" y="456"/>
                  <a:pt x="620" y="454"/>
                  <a:pt x="616" y="449"/>
                </a:cubicBezTo>
                <a:cubicBezTo>
                  <a:pt x="616" y="449"/>
                  <a:pt x="616" y="448"/>
                  <a:pt x="615" y="448"/>
                </a:cubicBezTo>
                <a:cubicBezTo>
                  <a:pt x="615" y="448"/>
                  <a:pt x="615" y="448"/>
                  <a:pt x="615" y="448"/>
                </a:cubicBezTo>
                <a:cubicBezTo>
                  <a:pt x="615" y="448"/>
                  <a:pt x="615" y="448"/>
                  <a:pt x="615" y="448"/>
                </a:cubicBezTo>
                <a:cubicBezTo>
                  <a:pt x="614" y="445"/>
                  <a:pt x="612" y="441"/>
                  <a:pt x="610" y="438"/>
                </a:cubicBezTo>
                <a:cubicBezTo>
                  <a:pt x="609" y="436"/>
                  <a:pt x="606" y="433"/>
                  <a:pt x="606" y="430"/>
                </a:cubicBezTo>
                <a:cubicBezTo>
                  <a:pt x="606" y="430"/>
                  <a:pt x="606" y="430"/>
                  <a:pt x="606" y="430"/>
                </a:cubicBezTo>
                <a:cubicBezTo>
                  <a:pt x="605" y="429"/>
                  <a:pt x="605" y="429"/>
                  <a:pt x="605" y="429"/>
                </a:cubicBezTo>
                <a:cubicBezTo>
                  <a:pt x="605" y="426"/>
                  <a:pt x="607" y="425"/>
                  <a:pt x="610" y="424"/>
                </a:cubicBezTo>
                <a:cubicBezTo>
                  <a:pt x="610" y="424"/>
                  <a:pt x="610" y="424"/>
                  <a:pt x="610" y="424"/>
                </a:cubicBezTo>
                <a:cubicBezTo>
                  <a:pt x="610" y="424"/>
                  <a:pt x="610" y="424"/>
                  <a:pt x="610" y="424"/>
                </a:cubicBezTo>
                <a:cubicBezTo>
                  <a:pt x="610" y="424"/>
                  <a:pt x="610" y="424"/>
                  <a:pt x="611" y="423"/>
                </a:cubicBezTo>
                <a:cubicBezTo>
                  <a:pt x="612" y="423"/>
                  <a:pt x="613" y="423"/>
                  <a:pt x="615" y="423"/>
                </a:cubicBezTo>
                <a:cubicBezTo>
                  <a:pt x="631" y="423"/>
                  <a:pt x="631" y="423"/>
                  <a:pt x="631" y="423"/>
                </a:cubicBezTo>
                <a:cubicBezTo>
                  <a:pt x="634" y="423"/>
                  <a:pt x="637" y="423"/>
                  <a:pt x="639" y="423"/>
                </a:cubicBezTo>
                <a:cubicBezTo>
                  <a:pt x="639" y="423"/>
                  <a:pt x="639" y="423"/>
                  <a:pt x="639" y="423"/>
                </a:cubicBezTo>
                <a:cubicBezTo>
                  <a:pt x="639" y="423"/>
                  <a:pt x="639" y="423"/>
                  <a:pt x="640" y="423"/>
                </a:cubicBezTo>
                <a:cubicBezTo>
                  <a:pt x="640" y="423"/>
                  <a:pt x="641" y="423"/>
                  <a:pt x="642" y="423"/>
                </a:cubicBezTo>
                <a:cubicBezTo>
                  <a:pt x="642" y="423"/>
                  <a:pt x="642" y="423"/>
                  <a:pt x="642" y="423"/>
                </a:cubicBezTo>
                <a:cubicBezTo>
                  <a:pt x="647" y="424"/>
                  <a:pt x="653" y="426"/>
                  <a:pt x="656" y="429"/>
                </a:cubicBezTo>
                <a:cubicBezTo>
                  <a:pt x="657" y="429"/>
                  <a:pt x="657" y="430"/>
                  <a:pt x="657" y="430"/>
                </a:cubicBezTo>
                <a:cubicBezTo>
                  <a:pt x="657" y="430"/>
                  <a:pt x="657" y="430"/>
                  <a:pt x="657" y="431"/>
                </a:cubicBezTo>
                <a:cubicBezTo>
                  <a:pt x="658" y="431"/>
                  <a:pt x="658" y="431"/>
                  <a:pt x="658" y="431"/>
                </a:cubicBezTo>
                <a:cubicBezTo>
                  <a:pt x="658" y="431"/>
                  <a:pt x="658" y="431"/>
                  <a:pt x="658" y="431"/>
                </a:cubicBezTo>
                <a:cubicBezTo>
                  <a:pt x="659" y="432"/>
                  <a:pt x="659" y="432"/>
                  <a:pt x="659" y="432"/>
                </a:cubicBezTo>
                <a:cubicBezTo>
                  <a:pt x="660" y="434"/>
                  <a:pt x="662" y="436"/>
                  <a:pt x="663" y="439"/>
                </a:cubicBezTo>
                <a:cubicBezTo>
                  <a:pt x="663" y="439"/>
                  <a:pt x="663" y="439"/>
                  <a:pt x="663" y="439"/>
                </a:cubicBezTo>
                <a:cubicBezTo>
                  <a:pt x="665" y="442"/>
                  <a:pt x="668" y="445"/>
                  <a:pt x="670" y="449"/>
                </a:cubicBezTo>
                <a:cubicBezTo>
                  <a:pt x="670" y="449"/>
                  <a:pt x="670" y="449"/>
                  <a:pt x="670" y="449"/>
                </a:cubicBezTo>
                <a:cubicBezTo>
                  <a:pt x="670" y="449"/>
                  <a:pt x="670" y="449"/>
                  <a:pt x="670" y="449"/>
                </a:cubicBezTo>
                <a:cubicBezTo>
                  <a:pt x="671" y="451"/>
                  <a:pt x="671" y="453"/>
                  <a:pt x="670" y="454"/>
                </a:cubicBezTo>
                <a:close/>
                <a:moveTo>
                  <a:pt x="729" y="79"/>
                </a:moveTo>
                <a:cubicBezTo>
                  <a:pt x="753" y="103"/>
                  <a:pt x="766" y="136"/>
                  <a:pt x="766" y="170"/>
                </a:cubicBezTo>
                <a:cubicBezTo>
                  <a:pt x="766" y="204"/>
                  <a:pt x="753" y="237"/>
                  <a:pt x="729" y="261"/>
                </a:cubicBezTo>
                <a:cubicBezTo>
                  <a:pt x="757" y="248"/>
                  <a:pt x="782" y="212"/>
                  <a:pt x="782" y="170"/>
                </a:cubicBezTo>
                <a:cubicBezTo>
                  <a:pt x="782" y="127"/>
                  <a:pt x="757" y="92"/>
                  <a:pt x="729" y="79"/>
                </a:cubicBezTo>
                <a:close/>
                <a:moveTo>
                  <a:pt x="53" y="79"/>
                </a:moveTo>
                <a:cubicBezTo>
                  <a:pt x="26" y="92"/>
                  <a:pt x="0" y="127"/>
                  <a:pt x="0" y="170"/>
                </a:cubicBezTo>
                <a:cubicBezTo>
                  <a:pt x="0" y="212"/>
                  <a:pt x="26" y="248"/>
                  <a:pt x="53" y="261"/>
                </a:cubicBezTo>
                <a:cubicBezTo>
                  <a:pt x="30" y="237"/>
                  <a:pt x="16" y="204"/>
                  <a:pt x="16" y="170"/>
                </a:cubicBezTo>
                <a:cubicBezTo>
                  <a:pt x="16" y="136"/>
                  <a:pt x="30" y="103"/>
                  <a:pt x="53" y="79"/>
                </a:cubicBezTo>
                <a:close/>
              </a:path>
            </a:pathLst>
          </a:custGeom>
          <a:solidFill>
            <a:srgbClr val="FFFFFF"/>
          </a:solidFill>
          <a:ln w="9525">
            <a:noFill/>
            <a:round/>
          </a:ln>
        </p:spPr>
        <p:txBody>
          <a:bodyPr vert="horz" wrap="square" lIns="91427" tIns="45713" rIns="91427" bIns="45713" numCol="1" anchor="t" anchorCtr="0" compatLnSpc="1"/>
          <a:lstStyle/>
          <a:p>
            <a:pPr defTabSz="932180"/>
            <a:endParaRPr lang="en-GB">
              <a:solidFill>
                <a:srgbClr val="FFFFFF"/>
              </a:solidFill>
            </a:endParaRPr>
          </a:p>
        </p:txBody>
      </p:sp>
      <p:grpSp>
        <p:nvGrpSpPr>
          <p:cNvPr id="45" name="组合 44"/>
          <p:cNvGrpSpPr/>
          <p:nvPr/>
        </p:nvGrpSpPr>
        <p:grpSpPr>
          <a:xfrm>
            <a:off x="949503" y="4383218"/>
            <a:ext cx="370834" cy="500500"/>
            <a:chOff x="3260005" y="1560934"/>
            <a:chExt cx="370834" cy="500500"/>
          </a:xfrm>
        </p:grpSpPr>
        <p:sp>
          <p:nvSpPr>
            <p:cNvPr id="46" name="Freeform 41"/>
            <p:cNvSpPr/>
            <p:nvPr/>
          </p:nvSpPr>
          <p:spPr bwMode="auto">
            <a:xfrm>
              <a:off x="3320003" y="1560934"/>
              <a:ext cx="310836" cy="403323"/>
            </a:xfrm>
            <a:custGeom>
              <a:avLst/>
              <a:gdLst>
                <a:gd name="T0" fmla="*/ 533 w 594"/>
                <a:gd name="T1" fmla="*/ 0 h 771"/>
                <a:gd name="T2" fmla="*/ 63 w 594"/>
                <a:gd name="T3" fmla="*/ 0 h 771"/>
                <a:gd name="T4" fmla="*/ 0 w 594"/>
                <a:gd name="T5" fmla="*/ 61 h 771"/>
                <a:gd name="T6" fmla="*/ 0 w 594"/>
                <a:gd name="T7" fmla="*/ 554 h 771"/>
                <a:gd name="T8" fmla="*/ 10 w 594"/>
                <a:gd name="T9" fmla="*/ 536 h 771"/>
                <a:gd name="T10" fmla="*/ 57 w 594"/>
                <a:gd name="T11" fmla="*/ 445 h 771"/>
                <a:gd name="T12" fmla="*/ 57 w 594"/>
                <a:gd name="T13" fmla="*/ 61 h 771"/>
                <a:gd name="T14" fmla="*/ 63 w 594"/>
                <a:gd name="T15" fmla="*/ 56 h 771"/>
                <a:gd name="T16" fmla="*/ 533 w 594"/>
                <a:gd name="T17" fmla="*/ 56 h 771"/>
                <a:gd name="T18" fmla="*/ 537 w 594"/>
                <a:gd name="T19" fmla="*/ 61 h 771"/>
                <a:gd name="T20" fmla="*/ 537 w 594"/>
                <a:gd name="T21" fmla="*/ 708 h 771"/>
                <a:gd name="T22" fmla="*/ 533 w 594"/>
                <a:gd name="T23" fmla="*/ 714 h 771"/>
                <a:gd name="T24" fmla="*/ 255 w 594"/>
                <a:gd name="T25" fmla="*/ 714 h 771"/>
                <a:gd name="T26" fmla="*/ 258 w 594"/>
                <a:gd name="T27" fmla="*/ 771 h 771"/>
                <a:gd name="T28" fmla="*/ 533 w 594"/>
                <a:gd name="T29" fmla="*/ 771 h 771"/>
                <a:gd name="T30" fmla="*/ 594 w 594"/>
                <a:gd name="T31" fmla="*/ 708 h 771"/>
                <a:gd name="T32" fmla="*/ 594 w 594"/>
                <a:gd name="T33" fmla="*/ 61 h 771"/>
                <a:gd name="T34" fmla="*/ 533 w 594"/>
                <a:gd name="T35" fmla="*/ 0 h 7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94" h="771">
                  <a:moveTo>
                    <a:pt x="533" y="0"/>
                  </a:moveTo>
                  <a:cubicBezTo>
                    <a:pt x="63" y="0"/>
                    <a:pt x="63" y="0"/>
                    <a:pt x="63" y="0"/>
                  </a:cubicBezTo>
                  <a:cubicBezTo>
                    <a:pt x="28" y="0"/>
                    <a:pt x="0" y="28"/>
                    <a:pt x="0" y="61"/>
                  </a:cubicBezTo>
                  <a:cubicBezTo>
                    <a:pt x="0" y="554"/>
                    <a:pt x="0" y="554"/>
                    <a:pt x="0" y="554"/>
                  </a:cubicBezTo>
                  <a:cubicBezTo>
                    <a:pt x="10" y="536"/>
                    <a:pt x="10" y="536"/>
                    <a:pt x="10" y="536"/>
                  </a:cubicBezTo>
                  <a:cubicBezTo>
                    <a:pt x="57" y="445"/>
                    <a:pt x="57" y="445"/>
                    <a:pt x="57" y="445"/>
                  </a:cubicBezTo>
                  <a:cubicBezTo>
                    <a:pt x="57" y="61"/>
                    <a:pt x="57" y="61"/>
                    <a:pt x="57" y="61"/>
                  </a:cubicBezTo>
                  <a:cubicBezTo>
                    <a:pt x="57" y="58"/>
                    <a:pt x="59" y="56"/>
                    <a:pt x="63" y="56"/>
                  </a:cubicBezTo>
                  <a:cubicBezTo>
                    <a:pt x="533" y="56"/>
                    <a:pt x="533" y="56"/>
                    <a:pt x="533" y="56"/>
                  </a:cubicBezTo>
                  <a:cubicBezTo>
                    <a:pt x="535" y="56"/>
                    <a:pt x="537" y="58"/>
                    <a:pt x="537" y="61"/>
                  </a:cubicBezTo>
                  <a:cubicBezTo>
                    <a:pt x="537" y="708"/>
                    <a:pt x="537" y="708"/>
                    <a:pt x="537" y="708"/>
                  </a:cubicBezTo>
                  <a:cubicBezTo>
                    <a:pt x="537" y="712"/>
                    <a:pt x="535" y="714"/>
                    <a:pt x="533" y="714"/>
                  </a:cubicBezTo>
                  <a:cubicBezTo>
                    <a:pt x="255" y="714"/>
                    <a:pt x="255" y="714"/>
                    <a:pt x="255" y="714"/>
                  </a:cubicBezTo>
                  <a:cubicBezTo>
                    <a:pt x="266" y="734"/>
                    <a:pt x="266" y="755"/>
                    <a:pt x="258" y="771"/>
                  </a:cubicBezTo>
                  <a:cubicBezTo>
                    <a:pt x="533" y="771"/>
                    <a:pt x="533" y="771"/>
                    <a:pt x="533" y="771"/>
                  </a:cubicBezTo>
                  <a:cubicBezTo>
                    <a:pt x="568" y="771"/>
                    <a:pt x="594" y="742"/>
                    <a:pt x="594" y="708"/>
                  </a:cubicBezTo>
                  <a:cubicBezTo>
                    <a:pt x="594" y="61"/>
                    <a:pt x="594" y="61"/>
                    <a:pt x="594" y="61"/>
                  </a:cubicBezTo>
                  <a:cubicBezTo>
                    <a:pt x="594" y="28"/>
                    <a:pt x="568" y="0"/>
                    <a:pt x="533" y="0"/>
                  </a:cubicBezTo>
                  <a:close/>
                </a:path>
              </a:pathLst>
            </a:custGeom>
            <a:solidFill>
              <a:srgbClr val="FFFFFF"/>
            </a:solidFill>
            <a:ln>
              <a:noFill/>
            </a:ln>
          </p:spPr>
          <p:txBody>
            <a:bodyPr vert="horz" wrap="square" lIns="91427" tIns="45713" rIns="91427" bIns="45713" numCol="1" anchor="t" anchorCtr="0" compatLnSpc="1"/>
            <a:lstStyle/>
            <a:p>
              <a:pPr>
                <a:defRPr/>
              </a:pPr>
              <a:endParaRPr lang="en-US" kern="0" dirty="0">
                <a:solidFill>
                  <a:srgbClr val="FFFFFF"/>
                </a:solidFill>
              </a:endParaRPr>
            </a:p>
          </p:txBody>
        </p:sp>
        <p:sp>
          <p:nvSpPr>
            <p:cNvPr id="47" name="Freeform 42"/>
            <p:cNvSpPr/>
            <p:nvPr/>
          </p:nvSpPr>
          <p:spPr bwMode="auto">
            <a:xfrm>
              <a:off x="3260005" y="1772335"/>
              <a:ext cx="178886" cy="289099"/>
            </a:xfrm>
            <a:custGeom>
              <a:avLst/>
              <a:gdLst>
                <a:gd name="T0" fmla="*/ 306 w 342"/>
                <a:gd name="T1" fmla="*/ 296 h 553"/>
                <a:gd name="T2" fmla="*/ 196 w 342"/>
                <a:gd name="T3" fmla="*/ 225 h 553"/>
                <a:gd name="T4" fmla="*/ 277 w 342"/>
                <a:gd name="T5" fmla="*/ 56 h 553"/>
                <a:gd name="T6" fmla="*/ 263 w 342"/>
                <a:gd name="T7" fmla="*/ 10 h 553"/>
                <a:gd name="T8" fmla="*/ 223 w 342"/>
                <a:gd name="T9" fmla="*/ 29 h 553"/>
                <a:gd name="T10" fmla="*/ 102 w 342"/>
                <a:gd name="T11" fmla="*/ 261 h 553"/>
                <a:gd name="T12" fmla="*/ 85 w 342"/>
                <a:gd name="T13" fmla="*/ 186 h 553"/>
                <a:gd name="T14" fmla="*/ 20 w 342"/>
                <a:gd name="T15" fmla="*/ 135 h 553"/>
                <a:gd name="T16" fmla="*/ 20 w 342"/>
                <a:gd name="T17" fmla="*/ 196 h 553"/>
                <a:gd name="T18" fmla="*/ 50 w 342"/>
                <a:gd name="T19" fmla="*/ 434 h 553"/>
                <a:gd name="T20" fmla="*/ 56 w 342"/>
                <a:gd name="T21" fmla="*/ 471 h 553"/>
                <a:gd name="T22" fmla="*/ 64 w 342"/>
                <a:gd name="T23" fmla="*/ 488 h 553"/>
                <a:gd name="T24" fmla="*/ 106 w 342"/>
                <a:gd name="T25" fmla="*/ 528 h 553"/>
                <a:gd name="T26" fmla="*/ 244 w 342"/>
                <a:gd name="T27" fmla="*/ 490 h 553"/>
                <a:gd name="T28" fmla="*/ 246 w 342"/>
                <a:gd name="T29" fmla="*/ 486 h 553"/>
                <a:gd name="T30" fmla="*/ 335 w 342"/>
                <a:gd name="T31" fmla="*/ 357 h 553"/>
                <a:gd name="T32" fmla="*/ 306 w 342"/>
                <a:gd name="T33" fmla="*/ 296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42" h="553">
                  <a:moveTo>
                    <a:pt x="306" y="296"/>
                  </a:moveTo>
                  <a:cubicBezTo>
                    <a:pt x="196" y="225"/>
                    <a:pt x="196" y="225"/>
                    <a:pt x="196" y="225"/>
                  </a:cubicBezTo>
                  <a:cubicBezTo>
                    <a:pt x="225" y="169"/>
                    <a:pt x="248" y="111"/>
                    <a:pt x="277" y="56"/>
                  </a:cubicBezTo>
                  <a:cubicBezTo>
                    <a:pt x="287" y="40"/>
                    <a:pt x="279" y="17"/>
                    <a:pt x="263" y="10"/>
                  </a:cubicBezTo>
                  <a:cubicBezTo>
                    <a:pt x="246" y="0"/>
                    <a:pt x="233" y="12"/>
                    <a:pt x="223" y="29"/>
                  </a:cubicBezTo>
                  <a:cubicBezTo>
                    <a:pt x="187" y="102"/>
                    <a:pt x="141" y="188"/>
                    <a:pt x="102" y="261"/>
                  </a:cubicBezTo>
                  <a:cubicBezTo>
                    <a:pt x="100" y="244"/>
                    <a:pt x="85" y="186"/>
                    <a:pt x="85" y="186"/>
                  </a:cubicBezTo>
                  <a:cubicBezTo>
                    <a:pt x="81" y="165"/>
                    <a:pt x="45" y="133"/>
                    <a:pt x="20" y="135"/>
                  </a:cubicBezTo>
                  <a:cubicBezTo>
                    <a:pt x="0" y="135"/>
                    <a:pt x="16" y="173"/>
                    <a:pt x="20" y="196"/>
                  </a:cubicBezTo>
                  <a:cubicBezTo>
                    <a:pt x="33" y="277"/>
                    <a:pt x="37" y="354"/>
                    <a:pt x="50" y="434"/>
                  </a:cubicBezTo>
                  <a:cubicBezTo>
                    <a:pt x="50" y="448"/>
                    <a:pt x="52" y="459"/>
                    <a:pt x="56" y="471"/>
                  </a:cubicBezTo>
                  <a:cubicBezTo>
                    <a:pt x="58" y="477"/>
                    <a:pt x="62" y="484"/>
                    <a:pt x="64" y="488"/>
                  </a:cubicBezTo>
                  <a:cubicBezTo>
                    <a:pt x="75" y="503"/>
                    <a:pt x="89" y="519"/>
                    <a:pt x="106" y="528"/>
                  </a:cubicBezTo>
                  <a:cubicBezTo>
                    <a:pt x="156" y="553"/>
                    <a:pt x="216" y="536"/>
                    <a:pt x="244" y="490"/>
                  </a:cubicBezTo>
                  <a:cubicBezTo>
                    <a:pt x="244" y="490"/>
                    <a:pt x="246" y="488"/>
                    <a:pt x="246" y="486"/>
                  </a:cubicBezTo>
                  <a:cubicBezTo>
                    <a:pt x="335" y="357"/>
                    <a:pt x="335" y="357"/>
                    <a:pt x="335" y="357"/>
                  </a:cubicBezTo>
                  <a:cubicBezTo>
                    <a:pt x="342" y="340"/>
                    <a:pt x="323" y="306"/>
                    <a:pt x="306" y="296"/>
                  </a:cubicBezTo>
                  <a:close/>
                </a:path>
              </a:pathLst>
            </a:custGeom>
            <a:solidFill>
              <a:srgbClr val="FFFFFF"/>
            </a:solidFill>
            <a:ln>
              <a:noFill/>
            </a:ln>
          </p:spPr>
          <p:txBody>
            <a:bodyPr vert="horz" wrap="square" lIns="91427" tIns="45713" rIns="91427" bIns="45713" numCol="1" anchor="t" anchorCtr="0" compatLnSpc="1"/>
            <a:lstStyle/>
            <a:p>
              <a:pPr>
                <a:defRPr/>
              </a:pPr>
              <a:endParaRPr lang="en-US" kern="0" dirty="0">
                <a:solidFill>
                  <a:srgbClr val="FFFFFF"/>
                </a:solidFill>
              </a:endParaRPr>
            </a:p>
          </p:txBody>
        </p:sp>
      </p:grpSp>
      <p:pic>
        <p:nvPicPr>
          <p:cNvPr id="48" name="Picture 91"/>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901240" y="1016005"/>
            <a:ext cx="557899" cy="557899"/>
          </a:xfrm>
          <a:prstGeom prst="rect">
            <a:avLst/>
          </a:prstGeom>
        </p:spPr>
      </p:pic>
      <p:sp>
        <p:nvSpPr>
          <p:cNvPr id="49" name="文本框 164"/>
          <p:cNvSpPr txBox="1"/>
          <p:nvPr/>
        </p:nvSpPr>
        <p:spPr>
          <a:xfrm>
            <a:off x="1599535" y="1058806"/>
            <a:ext cx="393056" cy="461665"/>
          </a:xfrm>
          <a:prstGeom prst="rect">
            <a:avLst/>
          </a:prstGeom>
          <a:noFill/>
        </p:spPr>
        <p:txBody>
          <a:bodyPr wrap="none" rtlCol="0">
            <a:spAutoFit/>
          </a:bodyPr>
          <a:lstStyle/>
          <a:p>
            <a:r>
              <a:rPr lang="en-US" altLang="zh-CN" sz="2400" dirty="0" smtClean="0">
                <a:solidFill>
                  <a:schemeClr val="bg1"/>
                </a:solidFill>
                <a:latin typeface="Impact" panose="020B0806030902050204" pitchFamily="34" charset="0"/>
              </a:rPr>
              <a:t> 4</a:t>
            </a:r>
            <a:endParaRPr lang="zh-CN" altLang="en-US" sz="2400" dirty="0">
              <a:solidFill>
                <a:schemeClr val="bg1"/>
              </a:solidFill>
              <a:latin typeface="Impact" panose="020B0806030902050204" pitchFamily="34" charset="0"/>
            </a:endParaRPr>
          </a:p>
        </p:txBody>
      </p:sp>
      <p:sp>
        <p:nvSpPr>
          <p:cNvPr id="50" name="文本框 165"/>
          <p:cNvSpPr txBox="1"/>
          <p:nvPr/>
        </p:nvSpPr>
        <p:spPr>
          <a:xfrm>
            <a:off x="1599535" y="2683303"/>
            <a:ext cx="458780" cy="461665"/>
          </a:xfrm>
          <a:prstGeom prst="rect">
            <a:avLst/>
          </a:prstGeom>
          <a:noFill/>
        </p:spPr>
        <p:txBody>
          <a:bodyPr wrap="none" rtlCol="0">
            <a:spAutoFit/>
          </a:bodyPr>
          <a:lstStyle/>
          <a:p>
            <a:r>
              <a:rPr lang="en-US" altLang="zh-CN" sz="2400" dirty="0" smtClean="0">
                <a:solidFill>
                  <a:schemeClr val="bg1"/>
                </a:solidFill>
                <a:latin typeface="Impact" panose="020B0806030902050204" pitchFamily="34" charset="0"/>
              </a:rPr>
              <a:t>  5</a:t>
            </a:r>
            <a:endParaRPr lang="zh-CN" altLang="en-US" sz="2400" dirty="0">
              <a:solidFill>
                <a:schemeClr val="bg1"/>
              </a:solidFill>
              <a:latin typeface="Impact" panose="020B0806030902050204" pitchFamily="34" charset="0"/>
            </a:endParaRPr>
          </a:p>
        </p:txBody>
      </p:sp>
      <p:sp>
        <p:nvSpPr>
          <p:cNvPr id="52" name="文本框 167"/>
          <p:cNvSpPr txBox="1"/>
          <p:nvPr/>
        </p:nvSpPr>
        <p:spPr>
          <a:xfrm>
            <a:off x="1582865" y="4429061"/>
            <a:ext cx="460382" cy="461665"/>
          </a:xfrm>
          <a:prstGeom prst="rect">
            <a:avLst/>
          </a:prstGeom>
          <a:noFill/>
        </p:spPr>
        <p:txBody>
          <a:bodyPr wrap="none" rtlCol="0">
            <a:spAutoFit/>
          </a:bodyPr>
          <a:lstStyle/>
          <a:p>
            <a:r>
              <a:rPr lang="en-US" altLang="zh-CN" sz="2400" dirty="0" smtClean="0">
                <a:solidFill>
                  <a:schemeClr val="bg1"/>
                </a:solidFill>
                <a:latin typeface="Impact" panose="020B0806030902050204" pitchFamily="34" charset="0"/>
              </a:rPr>
              <a:t>  6</a:t>
            </a:r>
            <a:endParaRPr lang="zh-CN" altLang="en-US" sz="2400" dirty="0">
              <a:solidFill>
                <a:schemeClr val="bg1"/>
              </a:solidFill>
              <a:latin typeface="Impact" panose="020B0806030902050204" pitchFamily="34" charset="0"/>
            </a:endParaRPr>
          </a:p>
        </p:txBody>
      </p:sp>
      <p:sp>
        <p:nvSpPr>
          <p:cNvPr id="5" name="矩形 4"/>
          <p:cNvSpPr/>
          <p:nvPr/>
        </p:nvSpPr>
        <p:spPr>
          <a:xfrm>
            <a:off x="2946400" y="570293"/>
            <a:ext cx="8955314" cy="1569660"/>
          </a:xfrm>
          <a:prstGeom prst="rect">
            <a:avLst/>
          </a:prstGeom>
        </p:spPr>
        <p:txBody>
          <a:bodyPr wrap="square">
            <a:spAutoFit/>
          </a:bodyPr>
          <a:lstStyle/>
          <a:p>
            <a:r>
              <a:rPr lang="zh-CN" altLang="en-US" sz="3200" b="1" dirty="0">
                <a:solidFill>
                  <a:srgbClr val="FF0000"/>
                </a:solidFill>
              </a:rPr>
              <a:t>样品一般不需要预处理</a:t>
            </a:r>
            <a:r>
              <a:rPr lang="zh-CN" altLang="en-US" sz="3200" b="1" dirty="0"/>
              <a:t>，不需要使用化学试剂或高温、高压、大电流等测试条件，分析后不会产生化学、生物或电磁污染。</a:t>
            </a:r>
          </a:p>
        </p:txBody>
      </p:sp>
      <p:sp>
        <p:nvSpPr>
          <p:cNvPr id="6" name="矩形 5"/>
          <p:cNvSpPr/>
          <p:nvPr/>
        </p:nvSpPr>
        <p:spPr>
          <a:xfrm>
            <a:off x="2946400" y="2643177"/>
            <a:ext cx="2244525" cy="584775"/>
          </a:xfrm>
          <a:prstGeom prst="rect">
            <a:avLst/>
          </a:prstGeom>
        </p:spPr>
        <p:txBody>
          <a:bodyPr wrap="none">
            <a:spAutoFit/>
          </a:bodyPr>
          <a:lstStyle/>
          <a:p>
            <a:r>
              <a:rPr lang="zh-CN" altLang="en-US" sz="3200" b="1" dirty="0">
                <a:solidFill>
                  <a:srgbClr val="FF0000"/>
                </a:solidFill>
              </a:rPr>
              <a:t>分析成本低</a:t>
            </a:r>
            <a:endParaRPr lang="zh-CN" altLang="en-US" sz="3200" b="1" dirty="0"/>
          </a:p>
        </p:txBody>
      </p:sp>
      <p:sp>
        <p:nvSpPr>
          <p:cNvPr id="7" name="矩形 6"/>
          <p:cNvSpPr/>
          <p:nvPr/>
        </p:nvSpPr>
        <p:spPr>
          <a:xfrm>
            <a:off x="2946400" y="4451224"/>
            <a:ext cx="2646878" cy="584775"/>
          </a:xfrm>
          <a:prstGeom prst="rect">
            <a:avLst/>
          </a:prstGeom>
        </p:spPr>
        <p:txBody>
          <a:bodyPr wrap="none">
            <a:spAutoFit/>
          </a:bodyPr>
          <a:lstStyle/>
          <a:p>
            <a:r>
              <a:rPr lang="zh-CN" altLang="en-US" sz="3200" b="1" dirty="0">
                <a:solidFill>
                  <a:srgbClr val="FF0000"/>
                </a:solidFill>
              </a:rPr>
              <a:t>测试重视性好</a:t>
            </a:r>
            <a:endParaRPr lang="zh-CN" altLang="en-US" sz="3200" b="1"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0" y="6334579"/>
            <a:ext cx="12193588" cy="530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Freeform 5"/>
          <p:cNvSpPr/>
          <p:nvPr/>
        </p:nvSpPr>
        <p:spPr bwMode="auto">
          <a:xfrm>
            <a:off x="338137" y="4624431"/>
            <a:ext cx="1081087" cy="955675"/>
          </a:xfrm>
          <a:custGeom>
            <a:avLst/>
            <a:gdLst>
              <a:gd name="T0" fmla="*/ 0 w 681"/>
              <a:gd name="T1" fmla="*/ 0 h 602"/>
              <a:gd name="T2" fmla="*/ 681 w 681"/>
              <a:gd name="T3" fmla="*/ 0 h 602"/>
              <a:gd name="T4" fmla="*/ 681 w 681"/>
              <a:gd name="T5" fmla="*/ 602 h 602"/>
              <a:gd name="T6" fmla="*/ 0 w 681"/>
              <a:gd name="T7" fmla="*/ 602 h 602"/>
              <a:gd name="T8" fmla="*/ 183 w 681"/>
              <a:gd name="T9" fmla="*/ 304 h 602"/>
              <a:gd name="T10" fmla="*/ 0 w 681"/>
              <a:gd name="T11" fmla="*/ 0 h 602"/>
              <a:gd name="T12" fmla="*/ 0 w 681"/>
              <a:gd name="T13" fmla="*/ 0 h 602"/>
            </a:gdLst>
            <a:ahLst/>
            <a:cxnLst>
              <a:cxn ang="0">
                <a:pos x="T0" y="T1"/>
              </a:cxn>
              <a:cxn ang="0">
                <a:pos x="T2" y="T3"/>
              </a:cxn>
              <a:cxn ang="0">
                <a:pos x="T4" y="T5"/>
              </a:cxn>
              <a:cxn ang="0">
                <a:pos x="T6" y="T7"/>
              </a:cxn>
              <a:cxn ang="0">
                <a:pos x="T8" y="T9"/>
              </a:cxn>
              <a:cxn ang="0">
                <a:pos x="T10" y="T11"/>
              </a:cxn>
              <a:cxn ang="0">
                <a:pos x="T12" y="T13"/>
              </a:cxn>
            </a:cxnLst>
            <a:rect l="0" t="0" r="r" b="b"/>
            <a:pathLst>
              <a:path w="681" h="602">
                <a:moveTo>
                  <a:pt x="0" y="0"/>
                </a:moveTo>
                <a:lnTo>
                  <a:pt x="681" y="0"/>
                </a:lnTo>
                <a:lnTo>
                  <a:pt x="681" y="602"/>
                </a:lnTo>
                <a:lnTo>
                  <a:pt x="0" y="602"/>
                </a:lnTo>
                <a:lnTo>
                  <a:pt x="183" y="304"/>
                </a:lnTo>
                <a:lnTo>
                  <a:pt x="0" y="0"/>
                </a:lnTo>
                <a:lnTo>
                  <a:pt x="0" y="0"/>
                </a:lnTo>
                <a:close/>
              </a:path>
            </a:pathLst>
          </a:custGeom>
          <a:solidFill>
            <a:srgbClr val="4BAEE2"/>
          </a:solidFill>
          <a:ln>
            <a:noFill/>
          </a:ln>
        </p:spPr>
        <p:txBody>
          <a:bodyPr vert="horz" wrap="square" lIns="91440" tIns="45720" rIns="91440" bIns="45720" numCol="1" anchor="t" anchorCtr="0" compatLnSpc="1"/>
          <a:lstStyle/>
          <a:p>
            <a:endParaRPr lang="zh-CN" altLang="en-US"/>
          </a:p>
        </p:txBody>
      </p:sp>
      <p:sp>
        <p:nvSpPr>
          <p:cNvPr id="5" name="Freeform 6"/>
          <p:cNvSpPr>
            <a:spLocks noEditPoints="1"/>
          </p:cNvSpPr>
          <p:nvPr/>
        </p:nvSpPr>
        <p:spPr bwMode="auto">
          <a:xfrm>
            <a:off x="454024" y="4691106"/>
            <a:ext cx="998537" cy="25400"/>
          </a:xfrm>
          <a:custGeom>
            <a:avLst/>
            <a:gdLst>
              <a:gd name="T0" fmla="*/ 1 w 120"/>
              <a:gd name="T1" fmla="*/ 0 h 3"/>
              <a:gd name="T2" fmla="*/ 13 w 120"/>
              <a:gd name="T3" fmla="*/ 0 h 3"/>
              <a:gd name="T4" fmla="*/ 15 w 120"/>
              <a:gd name="T5" fmla="*/ 1 h 3"/>
              <a:gd name="T6" fmla="*/ 15 w 120"/>
              <a:gd name="T7" fmla="*/ 1 h 3"/>
              <a:gd name="T8" fmla="*/ 13 w 120"/>
              <a:gd name="T9" fmla="*/ 3 h 3"/>
              <a:gd name="T10" fmla="*/ 1 w 120"/>
              <a:gd name="T11" fmla="*/ 3 h 3"/>
              <a:gd name="T12" fmla="*/ 0 w 120"/>
              <a:gd name="T13" fmla="*/ 1 h 3"/>
              <a:gd name="T14" fmla="*/ 0 w 120"/>
              <a:gd name="T15" fmla="*/ 1 h 3"/>
              <a:gd name="T16" fmla="*/ 1 w 120"/>
              <a:gd name="T17" fmla="*/ 0 h 3"/>
              <a:gd name="T18" fmla="*/ 22 w 120"/>
              <a:gd name="T19" fmla="*/ 0 h 3"/>
              <a:gd name="T20" fmla="*/ 34 w 120"/>
              <a:gd name="T21" fmla="*/ 0 h 3"/>
              <a:gd name="T22" fmla="*/ 36 w 120"/>
              <a:gd name="T23" fmla="*/ 1 h 3"/>
              <a:gd name="T24" fmla="*/ 36 w 120"/>
              <a:gd name="T25" fmla="*/ 1 h 3"/>
              <a:gd name="T26" fmla="*/ 34 w 120"/>
              <a:gd name="T27" fmla="*/ 3 h 3"/>
              <a:gd name="T28" fmla="*/ 22 w 120"/>
              <a:gd name="T29" fmla="*/ 3 h 3"/>
              <a:gd name="T30" fmla="*/ 21 w 120"/>
              <a:gd name="T31" fmla="*/ 1 h 3"/>
              <a:gd name="T32" fmla="*/ 21 w 120"/>
              <a:gd name="T33" fmla="*/ 1 h 3"/>
              <a:gd name="T34" fmla="*/ 22 w 120"/>
              <a:gd name="T35" fmla="*/ 0 h 3"/>
              <a:gd name="T36" fmla="*/ 43 w 120"/>
              <a:gd name="T37" fmla="*/ 0 h 3"/>
              <a:gd name="T38" fmla="*/ 55 w 120"/>
              <a:gd name="T39" fmla="*/ 0 h 3"/>
              <a:gd name="T40" fmla="*/ 57 w 120"/>
              <a:gd name="T41" fmla="*/ 1 h 3"/>
              <a:gd name="T42" fmla="*/ 57 w 120"/>
              <a:gd name="T43" fmla="*/ 1 h 3"/>
              <a:gd name="T44" fmla="*/ 55 w 120"/>
              <a:gd name="T45" fmla="*/ 3 h 3"/>
              <a:gd name="T46" fmla="*/ 43 w 120"/>
              <a:gd name="T47" fmla="*/ 3 h 3"/>
              <a:gd name="T48" fmla="*/ 42 w 120"/>
              <a:gd name="T49" fmla="*/ 1 h 3"/>
              <a:gd name="T50" fmla="*/ 42 w 120"/>
              <a:gd name="T51" fmla="*/ 1 h 3"/>
              <a:gd name="T52" fmla="*/ 43 w 120"/>
              <a:gd name="T53" fmla="*/ 0 h 3"/>
              <a:gd name="T54" fmla="*/ 64 w 120"/>
              <a:gd name="T55" fmla="*/ 0 h 3"/>
              <a:gd name="T56" fmla="*/ 76 w 120"/>
              <a:gd name="T57" fmla="*/ 0 h 3"/>
              <a:gd name="T58" fmla="*/ 78 w 120"/>
              <a:gd name="T59" fmla="*/ 1 h 3"/>
              <a:gd name="T60" fmla="*/ 78 w 120"/>
              <a:gd name="T61" fmla="*/ 1 h 3"/>
              <a:gd name="T62" fmla="*/ 76 w 120"/>
              <a:gd name="T63" fmla="*/ 3 h 3"/>
              <a:gd name="T64" fmla="*/ 64 w 120"/>
              <a:gd name="T65" fmla="*/ 3 h 3"/>
              <a:gd name="T66" fmla="*/ 63 w 120"/>
              <a:gd name="T67" fmla="*/ 1 h 3"/>
              <a:gd name="T68" fmla="*/ 63 w 120"/>
              <a:gd name="T69" fmla="*/ 1 h 3"/>
              <a:gd name="T70" fmla="*/ 64 w 120"/>
              <a:gd name="T71" fmla="*/ 0 h 3"/>
              <a:gd name="T72" fmla="*/ 85 w 120"/>
              <a:gd name="T73" fmla="*/ 0 h 3"/>
              <a:gd name="T74" fmla="*/ 97 w 120"/>
              <a:gd name="T75" fmla="*/ 0 h 3"/>
              <a:gd name="T76" fmla="*/ 99 w 120"/>
              <a:gd name="T77" fmla="*/ 1 h 3"/>
              <a:gd name="T78" fmla="*/ 99 w 120"/>
              <a:gd name="T79" fmla="*/ 1 h 3"/>
              <a:gd name="T80" fmla="*/ 97 w 120"/>
              <a:gd name="T81" fmla="*/ 3 h 3"/>
              <a:gd name="T82" fmla="*/ 85 w 120"/>
              <a:gd name="T83" fmla="*/ 3 h 3"/>
              <a:gd name="T84" fmla="*/ 84 w 120"/>
              <a:gd name="T85" fmla="*/ 1 h 3"/>
              <a:gd name="T86" fmla="*/ 84 w 120"/>
              <a:gd name="T87" fmla="*/ 1 h 3"/>
              <a:gd name="T88" fmla="*/ 85 w 120"/>
              <a:gd name="T89" fmla="*/ 0 h 3"/>
              <a:gd name="T90" fmla="*/ 106 w 120"/>
              <a:gd name="T91" fmla="*/ 0 h 3"/>
              <a:gd name="T92" fmla="*/ 118 w 120"/>
              <a:gd name="T93" fmla="*/ 0 h 3"/>
              <a:gd name="T94" fmla="*/ 120 w 120"/>
              <a:gd name="T95" fmla="*/ 1 h 3"/>
              <a:gd name="T96" fmla="*/ 120 w 120"/>
              <a:gd name="T97" fmla="*/ 1 h 3"/>
              <a:gd name="T98" fmla="*/ 118 w 120"/>
              <a:gd name="T99" fmla="*/ 3 h 3"/>
              <a:gd name="T100" fmla="*/ 106 w 120"/>
              <a:gd name="T101" fmla="*/ 3 h 3"/>
              <a:gd name="T102" fmla="*/ 105 w 120"/>
              <a:gd name="T103" fmla="*/ 1 h 3"/>
              <a:gd name="T104" fmla="*/ 105 w 120"/>
              <a:gd name="T105" fmla="*/ 1 h 3"/>
              <a:gd name="T106" fmla="*/ 106 w 120"/>
              <a:gd name="T107" fmla="*/ 0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0" h="3">
                <a:moveTo>
                  <a:pt x="1" y="0"/>
                </a:moveTo>
                <a:cubicBezTo>
                  <a:pt x="5" y="0"/>
                  <a:pt x="9" y="0"/>
                  <a:pt x="13" y="0"/>
                </a:cubicBezTo>
                <a:cubicBezTo>
                  <a:pt x="14" y="0"/>
                  <a:pt x="15" y="0"/>
                  <a:pt x="15" y="1"/>
                </a:cubicBezTo>
                <a:cubicBezTo>
                  <a:pt x="15" y="1"/>
                  <a:pt x="15" y="1"/>
                  <a:pt x="15" y="1"/>
                </a:cubicBezTo>
                <a:cubicBezTo>
                  <a:pt x="15" y="2"/>
                  <a:pt x="14" y="3"/>
                  <a:pt x="13" y="3"/>
                </a:cubicBezTo>
                <a:cubicBezTo>
                  <a:pt x="9" y="3"/>
                  <a:pt x="5" y="3"/>
                  <a:pt x="1" y="3"/>
                </a:cubicBezTo>
                <a:cubicBezTo>
                  <a:pt x="0" y="3"/>
                  <a:pt x="0" y="2"/>
                  <a:pt x="0" y="1"/>
                </a:cubicBezTo>
                <a:cubicBezTo>
                  <a:pt x="0" y="1"/>
                  <a:pt x="0" y="1"/>
                  <a:pt x="0" y="1"/>
                </a:cubicBezTo>
                <a:cubicBezTo>
                  <a:pt x="0" y="0"/>
                  <a:pt x="0" y="0"/>
                  <a:pt x="1" y="0"/>
                </a:cubicBezTo>
                <a:close/>
                <a:moveTo>
                  <a:pt x="22" y="0"/>
                </a:moveTo>
                <a:cubicBezTo>
                  <a:pt x="26" y="0"/>
                  <a:pt x="30" y="0"/>
                  <a:pt x="34" y="0"/>
                </a:cubicBezTo>
                <a:cubicBezTo>
                  <a:pt x="35" y="0"/>
                  <a:pt x="36" y="0"/>
                  <a:pt x="36" y="1"/>
                </a:cubicBezTo>
                <a:cubicBezTo>
                  <a:pt x="36" y="1"/>
                  <a:pt x="36" y="1"/>
                  <a:pt x="36" y="1"/>
                </a:cubicBezTo>
                <a:cubicBezTo>
                  <a:pt x="36" y="2"/>
                  <a:pt x="35" y="3"/>
                  <a:pt x="34" y="3"/>
                </a:cubicBezTo>
                <a:cubicBezTo>
                  <a:pt x="30" y="3"/>
                  <a:pt x="26" y="3"/>
                  <a:pt x="22" y="3"/>
                </a:cubicBezTo>
                <a:cubicBezTo>
                  <a:pt x="21" y="3"/>
                  <a:pt x="21" y="2"/>
                  <a:pt x="21" y="1"/>
                </a:cubicBezTo>
                <a:cubicBezTo>
                  <a:pt x="21" y="1"/>
                  <a:pt x="21" y="1"/>
                  <a:pt x="21" y="1"/>
                </a:cubicBezTo>
                <a:cubicBezTo>
                  <a:pt x="21" y="0"/>
                  <a:pt x="21" y="0"/>
                  <a:pt x="22" y="0"/>
                </a:cubicBezTo>
                <a:close/>
                <a:moveTo>
                  <a:pt x="43" y="0"/>
                </a:moveTo>
                <a:cubicBezTo>
                  <a:pt x="47" y="0"/>
                  <a:pt x="51" y="0"/>
                  <a:pt x="55" y="0"/>
                </a:cubicBezTo>
                <a:cubicBezTo>
                  <a:pt x="56" y="0"/>
                  <a:pt x="57" y="0"/>
                  <a:pt x="57" y="1"/>
                </a:cubicBezTo>
                <a:cubicBezTo>
                  <a:pt x="57" y="1"/>
                  <a:pt x="57" y="1"/>
                  <a:pt x="57" y="1"/>
                </a:cubicBezTo>
                <a:cubicBezTo>
                  <a:pt x="57" y="2"/>
                  <a:pt x="56" y="3"/>
                  <a:pt x="55" y="3"/>
                </a:cubicBezTo>
                <a:cubicBezTo>
                  <a:pt x="51" y="3"/>
                  <a:pt x="47" y="3"/>
                  <a:pt x="43" y="3"/>
                </a:cubicBezTo>
                <a:cubicBezTo>
                  <a:pt x="42" y="3"/>
                  <a:pt x="42" y="2"/>
                  <a:pt x="42" y="1"/>
                </a:cubicBezTo>
                <a:cubicBezTo>
                  <a:pt x="42" y="1"/>
                  <a:pt x="42" y="1"/>
                  <a:pt x="42" y="1"/>
                </a:cubicBezTo>
                <a:cubicBezTo>
                  <a:pt x="42" y="0"/>
                  <a:pt x="42" y="0"/>
                  <a:pt x="43" y="0"/>
                </a:cubicBezTo>
                <a:close/>
                <a:moveTo>
                  <a:pt x="64" y="0"/>
                </a:moveTo>
                <a:cubicBezTo>
                  <a:pt x="68" y="0"/>
                  <a:pt x="72" y="0"/>
                  <a:pt x="76" y="0"/>
                </a:cubicBezTo>
                <a:cubicBezTo>
                  <a:pt x="77" y="0"/>
                  <a:pt x="78" y="0"/>
                  <a:pt x="78" y="1"/>
                </a:cubicBezTo>
                <a:cubicBezTo>
                  <a:pt x="78" y="1"/>
                  <a:pt x="78" y="1"/>
                  <a:pt x="78" y="1"/>
                </a:cubicBezTo>
                <a:cubicBezTo>
                  <a:pt x="78" y="2"/>
                  <a:pt x="77" y="3"/>
                  <a:pt x="76" y="3"/>
                </a:cubicBezTo>
                <a:cubicBezTo>
                  <a:pt x="72" y="3"/>
                  <a:pt x="68" y="3"/>
                  <a:pt x="64" y="3"/>
                </a:cubicBezTo>
                <a:cubicBezTo>
                  <a:pt x="63" y="3"/>
                  <a:pt x="63" y="2"/>
                  <a:pt x="63" y="1"/>
                </a:cubicBezTo>
                <a:cubicBezTo>
                  <a:pt x="63" y="1"/>
                  <a:pt x="63" y="1"/>
                  <a:pt x="63" y="1"/>
                </a:cubicBezTo>
                <a:cubicBezTo>
                  <a:pt x="63" y="0"/>
                  <a:pt x="63" y="0"/>
                  <a:pt x="64" y="0"/>
                </a:cubicBezTo>
                <a:close/>
                <a:moveTo>
                  <a:pt x="85" y="0"/>
                </a:moveTo>
                <a:cubicBezTo>
                  <a:pt x="89" y="0"/>
                  <a:pt x="93" y="0"/>
                  <a:pt x="97" y="0"/>
                </a:cubicBezTo>
                <a:cubicBezTo>
                  <a:pt x="98" y="0"/>
                  <a:pt x="99" y="0"/>
                  <a:pt x="99" y="1"/>
                </a:cubicBezTo>
                <a:cubicBezTo>
                  <a:pt x="99" y="1"/>
                  <a:pt x="99" y="1"/>
                  <a:pt x="99" y="1"/>
                </a:cubicBezTo>
                <a:cubicBezTo>
                  <a:pt x="99" y="2"/>
                  <a:pt x="98" y="3"/>
                  <a:pt x="97" y="3"/>
                </a:cubicBezTo>
                <a:cubicBezTo>
                  <a:pt x="93" y="3"/>
                  <a:pt x="89" y="3"/>
                  <a:pt x="85" y="3"/>
                </a:cubicBezTo>
                <a:cubicBezTo>
                  <a:pt x="84" y="3"/>
                  <a:pt x="84" y="2"/>
                  <a:pt x="84" y="1"/>
                </a:cubicBezTo>
                <a:cubicBezTo>
                  <a:pt x="84" y="1"/>
                  <a:pt x="84" y="1"/>
                  <a:pt x="84" y="1"/>
                </a:cubicBezTo>
                <a:cubicBezTo>
                  <a:pt x="84" y="0"/>
                  <a:pt x="84" y="0"/>
                  <a:pt x="85" y="0"/>
                </a:cubicBezTo>
                <a:close/>
                <a:moveTo>
                  <a:pt x="106" y="0"/>
                </a:moveTo>
                <a:cubicBezTo>
                  <a:pt x="110" y="0"/>
                  <a:pt x="114" y="0"/>
                  <a:pt x="118" y="0"/>
                </a:cubicBezTo>
                <a:cubicBezTo>
                  <a:pt x="119" y="0"/>
                  <a:pt x="120" y="0"/>
                  <a:pt x="120" y="1"/>
                </a:cubicBezTo>
                <a:cubicBezTo>
                  <a:pt x="120" y="1"/>
                  <a:pt x="120" y="1"/>
                  <a:pt x="120" y="1"/>
                </a:cubicBezTo>
                <a:cubicBezTo>
                  <a:pt x="120" y="2"/>
                  <a:pt x="119" y="3"/>
                  <a:pt x="118" y="3"/>
                </a:cubicBezTo>
                <a:cubicBezTo>
                  <a:pt x="114" y="3"/>
                  <a:pt x="110" y="3"/>
                  <a:pt x="106" y="3"/>
                </a:cubicBezTo>
                <a:cubicBezTo>
                  <a:pt x="105" y="3"/>
                  <a:pt x="105" y="2"/>
                  <a:pt x="105" y="1"/>
                </a:cubicBezTo>
                <a:cubicBezTo>
                  <a:pt x="105" y="1"/>
                  <a:pt x="105" y="1"/>
                  <a:pt x="105" y="1"/>
                </a:cubicBezTo>
                <a:cubicBezTo>
                  <a:pt x="105" y="0"/>
                  <a:pt x="105" y="0"/>
                  <a:pt x="106" y="0"/>
                </a:cubicBezTo>
                <a:close/>
              </a:path>
            </a:pathLst>
          </a:custGeom>
          <a:solidFill>
            <a:srgbClr val="BCE1DF"/>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 name="Freeform 7"/>
          <p:cNvSpPr>
            <a:spLocks noEditPoints="1"/>
          </p:cNvSpPr>
          <p:nvPr/>
        </p:nvSpPr>
        <p:spPr bwMode="auto">
          <a:xfrm>
            <a:off x="454024" y="5497556"/>
            <a:ext cx="998537" cy="25400"/>
          </a:xfrm>
          <a:custGeom>
            <a:avLst/>
            <a:gdLst>
              <a:gd name="T0" fmla="*/ 1 w 120"/>
              <a:gd name="T1" fmla="*/ 0 h 3"/>
              <a:gd name="T2" fmla="*/ 13 w 120"/>
              <a:gd name="T3" fmla="*/ 0 h 3"/>
              <a:gd name="T4" fmla="*/ 15 w 120"/>
              <a:gd name="T5" fmla="*/ 1 h 3"/>
              <a:gd name="T6" fmla="*/ 15 w 120"/>
              <a:gd name="T7" fmla="*/ 1 h 3"/>
              <a:gd name="T8" fmla="*/ 13 w 120"/>
              <a:gd name="T9" fmla="*/ 3 h 3"/>
              <a:gd name="T10" fmla="*/ 1 w 120"/>
              <a:gd name="T11" fmla="*/ 3 h 3"/>
              <a:gd name="T12" fmla="*/ 0 w 120"/>
              <a:gd name="T13" fmla="*/ 1 h 3"/>
              <a:gd name="T14" fmla="*/ 0 w 120"/>
              <a:gd name="T15" fmla="*/ 1 h 3"/>
              <a:gd name="T16" fmla="*/ 1 w 120"/>
              <a:gd name="T17" fmla="*/ 0 h 3"/>
              <a:gd name="T18" fmla="*/ 22 w 120"/>
              <a:gd name="T19" fmla="*/ 0 h 3"/>
              <a:gd name="T20" fmla="*/ 34 w 120"/>
              <a:gd name="T21" fmla="*/ 0 h 3"/>
              <a:gd name="T22" fmla="*/ 36 w 120"/>
              <a:gd name="T23" fmla="*/ 1 h 3"/>
              <a:gd name="T24" fmla="*/ 36 w 120"/>
              <a:gd name="T25" fmla="*/ 1 h 3"/>
              <a:gd name="T26" fmla="*/ 34 w 120"/>
              <a:gd name="T27" fmla="*/ 3 h 3"/>
              <a:gd name="T28" fmla="*/ 22 w 120"/>
              <a:gd name="T29" fmla="*/ 3 h 3"/>
              <a:gd name="T30" fmla="*/ 21 w 120"/>
              <a:gd name="T31" fmla="*/ 1 h 3"/>
              <a:gd name="T32" fmla="*/ 21 w 120"/>
              <a:gd name="T33" fmla="*/ 1 h 3"/>
              <a:gd name="T34" fmla="*/ 22 w 120"/>
              <a:gd name="T35" fmla="*/ 0 h 3"/>
              <a:gd name="T36" fmla="*/ 43 w 120"/>
              <a:gd name="T37" fmla="*/ 0 h 3"/>
              <a:gd name="T38" fmla="*/ 55 w 120"/>
              <a:gd name="T39" fmla="*/ 0 h 3"/>
              <a:gd name="T40" fmla="*/ 57 w 120"/>
              <a:gd name="T41" fmla="*/ 1 h 3"/>
              <a:gd name="T42" fmla="*/ 57 w 120"/>
              <a:gd name="T43" fmla="*/ 1 h 3"/>
              <a:gd name="T44" fmla="*/ 55 w 120"/>
              <a:gd name="T45" fmla="*/ 3 h 3"/>
              <a:gd name="T46" fmla="*/ 43 w 120"/>
              <a:gd name="T47" fmla="*/ 3 h 3"/>
              <a:gd name="T48" fmla="*/ 42 w 120"/>
              <a:gd name="T49" fmla="*/ 1 h 3"/>
              <a:gd name="T50" fmla="*/ 42 w 120"/>
              <a:gd name="T51" fmla="*/ 1 h 3"/>
              <a:gd name="T52" fmla="*/ 43 w 120"/>
              <a:gd name="T53" fmla="*/ 0 h 3"/>
              <a:gd name="T54" fmla="*/ 64 w 120"/>
              <a:gd name="T55" fmla="*/ 0 h 3"/>
              <a:gd name="T56" fmla="*/ 76 w 120"/>
              <a:gd name="T57" fmla="*/ 0 h 3"/>
              <a:gd name="T58" fmla="*/ 78 w 120"/>
              <a:gd name="T59" fmla="*/ 1 h 3"/>
              <a:gd name="T60" fmla="*/ 78 w 120"/>
              <a:gd name="T61" fmla="*/ 1 h 3"/>
              <a:gd name="T62" fmla="*/ 76 w 120"/>
              <a:gd name="T63" fmla="*/ 3 h 3"/>
              <a:gd name="T64" fmla="*/ 64 w 120"/>
              <a:gd name="T65" fmla="*/ 3 h 3"/>
              <a:gd name="T66" fmla="*/ 63 w 120"/>
              <a:gd name="T67" fmla="*/ 1 h 3"/>
              <a:gd name="T68" fmla="*/ 63 w 120"/>
              <a:gd name="T69" fmla="*/ 1 h 3"/>
              <a:gd name="T70" fmla="*/ 64 w 120"/>
              <a:gd name="T71" fmla="*/ 0 h 3"/>
              <a:gd name="T72" fmla="*/ 85 w 120"/>
              <a:gd name="T73" fmla="*/ 0 h 3"/>
              <a:gd name="T74" fmla="*/ 97 w 120"/>
              <a:gd name="T75" fmla="*/ 0 h 3"/>
              <a:gd name="T76" fmla="*/ 99 w 120"/>
              <a:gd name="T77" fmla="*/ 1 h 3"/>
              <a:gd name="T78" fmla="*/ 99 w 120"/>
              <a:gd name="T79" fmla="*/ 1 h 3"/>
              <a:gd name="T80" fmla="*/ 97 w 120"/>
              <a:gd name="T81" fmla="*/ 3 h 3"/>
              <a:gd name="T82" fmla="*/ 85 w 120"/>
              <a:gd name="T83" fmla="*/ 3 h 3"/>
              <a:gd name="T84" fmla="*/ 84 w 120"/>
              <a:gd name="T85" fmla="*/ 1 h 3"/>
              <a:gd name="T86" fmla="*/ 84 w 120"/>
              <a:gd name="T87" fmla="*/ 1 h 3"/>
              <a:gd name="T88" fmla="*/ 85 w 120"/>
              <a:gd name="T89" fmla="*/ 0 h 3"/>
              <a:gd name="T90" fmla="*/ 106 w 120"/>
              <a:gd name="T91" fmla="*/ 0 h 3"/>
              <a:gd name="T92" fmla="*/ 118 w 120"/>
              <a:gd name="T93" fmla="*/ 0 h 3"/>
              <a:gd name="T94" fmla="*/ 120 w 120"/>
              <a:gd name="T95" fmla="*/ 1 h 3"/>
              <a:gd name="T96" fmla="*/ 120 w 120"/>
              <a:gd name="T97" fmla="*/ 1 h 3"/>
              <a:gd name="T98" fmla="*/ 118 w 120"/>
              <a:gd name="T99" fmla="*/ 3 h 3"/>
              <a:gd name="T100" fmla="*/ 106 w 120"/>
              <a:gd name="T101" fmla="*/ 3 h 3"/>
              <a:gd name="T102" fmla="*/ 105 w 120"/>
              <a:gd name="T103" fmla="*/ 1 h 3"/>
              <a:gd name="T104" fmla="*/ 105 w 120"/>
              <a:gd name="T105" fmla="*/ 1 h 3"/>
              <a:gd name="T106" fmla="*/ 106 w 120"/>
              <a:gd name="T107" fmla="*/ 0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0" h="3">
                <a:moveTo>
                  <a:pt x="1" y="0"/>
                </a:moveTo>
                <a:cubicBezTo>
                  <a:pt x="5" y="0"/>
                  <a:pt x="9" y="0"/>
                  <a:pt x="13" y="0"/>
                </a:cubicBezTo>
                <a:cubicBezTo>
                  <a:pt x="14" y="0"/>
                  <a:pt x="15" y="0"/>
                  <a:pt x="15" y="1"/>
                </a:cubicBezTo>
                <a:cubicBezTo>
                  <a:pt x="15" y="1"/>
                  <a:pt x="15" y="1"/>
                  <a:pt x="15" y="1"/>
                </a:cubicBezTo>
                <a:cubicBezTo>
                  <a:pt x="15" y="2"/>
                  <a:pt x="14" y="3"/>
                  <a:pt x="13" y="3"/>
                </a:cubicBezTo>
                <a:cubicBezTo>
                  <a:pt x="9" y="3"/>
                  <a:pt x="5" y="3"/>
                  <a:pt x="1" y="3"/>
                </a:cubicBezTo>
                <a:cubicBezTo>
                  <a:pt x="0" y="3"/>
                  <a:pt x="0" y="2"/>
                  <a:pt x="0" y="1"/>
                </a:cubicBezTo>
                <a:cubicBezTo>
                  <a:pt x="0" y="1"/>
                  <a:pt x="0" y="1"/>
                  <a:pt x="0" y="1"/>
                </a:cubicBezTo>
                <a:cubicBezTo>
                  <a:pt x="0" y="0"/>
                  <a:pt x="0" y="0"/>
                  <a:pt x="1" y="0"/>
                </a:cubicBezTo>
                <a:close/>
                <a:moveTo>
                  <a:pt x="22" y="0"/>
                </a:moveTo>
                <a:cubicBezTo>
                  <a:pt x="26" y="0"/>
                  <a:pt x="30" y="0"/>
                  <a:pt x="34" y="0"/>
                </a:cubicBezTo>
                <a:cubicBezTo>
                  <a:pt x="35" y="0"/>
                  <a:pt x="36" y="0"/>
                  <a:pt x="36" y="1"/>
                </a:cubicBezTo>
                <a:cubicBezTo>
                  <a:pt x="36" y="1"/>
                  <a:pt x="36" y="1"/>
                  <a:pt x="36" y="1"/>
                </a:cubicBezTo>
                <a:cubicBezTo>
                  <a:pt x="36" y="2"/>
                  <a:pt x="35" y="3"/>
                  <a:pt x="34" y="3"/>
                </a:cubicBezTo>
                <a:cubicBezTo>
                  <a:pt x="30" y="3"/>
                  <a:pt x="26" y="3"/>
                  <a:pt x="22" y="3"/>
                </a:cubicBezTo>
                <a:cubicBezTo>
                  <a:pt x="21" y="3"/>
                  <a:pt x="21" y="2"/>
                  <a:pt x="21" y="1"/>
                </a:cubicBezTo>
                <a:cubicBezTo>
                  <a:pt x="21" y="1"/>
                  <a:pt x="21" y="1"/>
                  <a:pt x="21" y="1"/>
                </a:cubicBezTo>
                <a:cubicBezTo>
                  <a:pt x="21" y="0"/>
                  <a:pt x="21" y="0"/>
                  <a:pt x="22" y="0"/>
                </a:cubicBezTo>
                <a:close/>
                <a:moveTo>
                  <a:pt x="43" y="0"/>
                </a:moveTo>
                <a:cubicBezTo>
                  <a:pt x="47" y="0"/>
                  <a:pt x="51" y="0"/>
                  <a:pt x="55" y="0"/>
                </a:cubicBezTo>
                <a:cubicBezTo>
                  <a:pt x="56" y="0"/>
                  <a:pt x="57" y="0"/>
                  <a:pt x="57" y="1"/>
                </a:cubicBezTo>
                <a:cubicBezTo>
                  <a:pt x="57" y="1"/>
                  <a:pt x="57" y="1"/>
                  <a:pt x="57" y="1"/>
                </a:cubicBezTo>
                <a:cubicBezTo>
                  <a:pt x="57" y="2"/>
                  <a:pt x="56" y="3"/>
                  <a:pt x="55" y="3"/>
                </a:cubicBezTo>
                <a:cubicBezTo>
                  <a:pt x="51" y="3"/>
                  <a:pt x="47" y="3"/>
                  <a:pt x="43" y="3"/>
                </a:cubicBezTo>
                <a:cubicBezTo>
                  <a:pt x="42" y="3"/>
                  <a:pt x="42" y="2"/>
                  <a:pt x="42" y="1"/>
                </a:cubicBezTo>
                <a:cubicBezTo>
                  <a:pt x="42" y="1"/>
                  <a:pt x="42" y="1"/>
                  <a:pt x="42" y="1"/>
                </a:cubicBezTo>
                <a:cubicBezTo>
                  <a:pt x="42" y="0"/>
                  <a:pt x="42" y="0"/>
                  <a:pt x="43" y="0"/>
                </a:cubicBezTo>
                <a:close/>
                <a:moveTo>
                  <a:pt x="64" y="0"/>
                </a:moveTo>
                <a:cubicBezTo>
                  <a:pt x="68" y="0"/>
                  <a:pt x="72" y="0"/>
                  <a:pt x="76" y="0"/>
                </a:cubicBezTo>
                <a:cubicBezTo>
                  <a:pt x="77" y="0"/>
                  <a:pt x="78" y="0"/>
                  <a:pt x="78" y="1"/>
                </a:cubicBezTo>
                <a:cubicBezTo>
                  <a:pt x="78" y="1"/>
                  <a:pt x="78" y="1"/>
                  <a:pt x="78" y="1"/>
                </a:cubicBezTo>
                <a:cubicBezTo>
                  <a:pt x="78" y="2"/>
                  <a:pt x="77" y="3"/>
                  <a:pt x="76" y="3"/>
                </a:cubicBezTo>
                <a:cubicBezTo>
                  <a:pt x="72" y="3"/>
                  <a:pt x="68" y="3"/>
                  <a:pt x="64" y="3"/>
                </a:cubicBezTo>
                <a:cubicBezTo>
                  <a:pt x="63" y="3"/>
                  <a:pt x="63" y="2"/>
                  <a:pt x="63" y="1"/>
                </a:cubicBezTo>
                <a:cubicBezTo>
                  <a:pt x="63" y="1"/>
                  <a:pt x="63" y="1"/>
                  <a:pt x="63" y="1"/>
                </a:cubicBezTo>
                <a:cubicBezTo>
                  <a:pt x="63" y="0"/>
                  <a:pt x="63" y="0"/>
                  <a:pt x="64" y="0"/>
                </a:cubicBezTo>
                <a:close/>
                <a:moveTo>
                  <a:pt x="85" y="0"/>
                </a:moveTo>
                <a:cubicBezTo>
                  <a:pt x="89" y="0"/>
                  <a:pt x="93" y="0"/>
                  <a:pt x="97" y="0"/>
                </a:cubicBezTo>
                <a:cubicBezTo>
                  <a:pt x="98" y="0"/>
                  <a:pt x="99" y="0"/>
                  <a:pt x="99" y="1"/>
                </a:cubicBezTo>
                <a:cubicBezTo>
                  <a:pt x="99" y="1"/>
                  <a:pt x="99" y="1"/>
                  <a:pt x="99" y="1"/>
                </a:cubicBezTo>
                <a:cubicBezTo>
                  <a:pt x="99" y="2"/>
                  <a:pt x="98" y="3"/>
                  <a:pt x="97" y="3"/>
                </a:cubicBezTo>
                <a:cubicBezTo>
                  <a:pt x="93" y="3"/>
                  <a:pt x="89" y="3"/>
                  <a:pt x="85" y="3"/>
                </a:cubicBezTo>
                <a:cubicBezTo>
                  <a:pt x="84" y="3"/>
                  <a:pt x="84" y="2"/>
                  <a:pt x="84" y="1"/>
                </a:cubicBezTo>
                <a:cubicBezTo>
                  <a:pt x="84" y="1"/>
                  <a:pt x="84" y="1"/>
                  <a:pt x="84" y="1"/>
                </a:cubicBezTo>
                <a:cubicBezTo>
                  <a:pt x="84" y="0"/>
                  <a:pt x="84" y="0"/>
                  <a:pt x="85" y="0"/>
                </a:cubicBezTo>
                <a:close/>
                <a:moveTo>
                  <a:pt x="106" y="0"/>
                </a:moveTo>
                <a:cubicBezTo>
                  <a:pt x="110" y="0"/>
                  <a:pt x="114" y="0"/>
                  <a:pt x="118" y="0"/>
                </a:cubicBezTo>
                <a:cubicBezTo>
                  <a:pt x="119" y="0"/>
                  <a:pt x="120" y="0"/>
                  <a:pt x="120" y="1"/>
                </a:cubicBezTo>
                <a:cubicBezTo>
                  <a:pt x="120" y="1"/>
                  <a:pt x="120" y="1"/>
                  <a:pt x="120" y="1"/>
                </a:cubicBezTo>
                <a:cubicBezTo>
                  <a:pt x="120" y="2"/>
                  <a:pt x="119" y="3"/>
                  <a:pt x="118" y="3"/>
                </a:cubicBezTo>
                <a:cubicBezTo>
                  <a:pt x="114" y="3"/>
                  <a:pt x="110" y="3"/>
                  <a:pt x="106" y="3"/>
                </a:cubicBezTo>
                <a:cubicBezTo>
                  <a:pt x="105" y="3"/>
                  <a:pt x="105" y="2"/>
                  <a:pt x="105" y="1"/>
                </a:cubicBezTo>
                <a:cubicBezTo>
                  <a:pt x="105" y="1"/>
                  <a:pt x="105" y="1"/>
                  <a:pt x="105" y="1"/>
                </a:cubicBezTo>
                <a:cubicBezTo>
                  <a:pt x="105" y="0"/>
                  <a:pt x="105" y="0"/>
                  <a:pt x="106" y="0"/>
                </a:cubicBezTo>
                <a:close/>
              </a:path>
            </a:pathLst>
          </a:custGeom>
          <a:solidFill>
            <a:srgbClr val="BCE1DF"/>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 name="Freeform 9"/>
          <p:cNvSpPr>
            <a:spLocks noEditPoints="1"/>
          </p:cNvSpPr>
          <p:nvPr/>
        </p:nvSpPr>
        <p:spPr bwMode="auto">
          <a:xfrm>
            <a:off x="769937" y="5081631"/>
            <a:ext cx="498475" cy="515938"/>
          </a:xfrm>
          <a:custGeom>
            <a:avLst/>
            <a:gdLst>
              <a:gd name="T0" fmla="*/ 60 w 60"/>
              <a:gd name="T1" fmla="*/ 57 h 62"/>
              <a:gd name="T2" fmla="*/ 60 w 60"/>
              <a:gd name="T3" fmla="*/ 62 h 62"/>
              <a:gd name="T4" fmla="*/ 53 w 60"/>
              <a:gd name="T5" fmla="*/ 56 h 62"/>
              <a:gd name="T6" fmla="*/ 53 w 60"/>
              <a:gd name="T7" fmla="*/ 53 h 62"/>
              <a:gd name="T8" fmla="*/ 53 w 60"/>
              <a:gd name="T9" fmla="*/ 53 h 62"/>
              <a:gd name="T10" fmla="*/ 56 w 60"/>
              <a:gd name="T11" fmla="*/ 53 h 62"/>
              <a:gd name="T12" fmla="*/ 60 w 60"/>
              <a:gd name="T13" fmla="*/ 57 h 62"/>
              <a:gd name="T14" fmla="*/ 0 w 60"/>
              <a:gd name="T15" fmla="*/ 4 h 62"/>
              <a:gd name="T16" fmla="*/ 0 w 60"/>
              <a:gd name="T17" fmla="*/ 0 h 62"/>
              <a:gd name="T18" fmla="*/ 3 w 60"/>
              <a:gd name="T19" fmla="*/ 3 h 62"/>
              <a:gd name="T20" fmla="*/ 4 w 60"/>
              <a:gd name="T21" fmla="*/ 6 h 62"/>
              <a:gd name="T22" fmla="*/ 4 w 60"/>
              <a:gd name="T23" fmla="*/ 6 h 62"/>
              <a:gd name="T24" fmla="*/ 1 w 60"/>
              <a:gd name="T25" fmla="*/ 6 h 62"/>
              <a:gd name="T26" fmla="*/ 0 w 60"/>
              <a:gd name="T27" fmla="*/ 4 h 62"/>
              <a:gd name="T28" fmla="*/ 10 w 60"/>
              <a:gd name="T29" fmla="*/ 10 h 62"/>
              <a:gd name="T30" fmla="*/ 19 w 60"/>
              <a:gd name="T31" fmla="*/ 18 h 62"/>
              <a:gd name="T32" fmla="*/ 19 w 60"/>
              <a:gd name="T33" fmla="*/ 20 h 62"/>
              <a:gd name="T34" fmla="*/ 19 w 60"/>
              <a:gd name="T35" fmla="*/ 20 h 62"/>
              <a:gd name="T36" fmla="*/ 16 w 60"/>
              <a:gd name="T37" fmla="*/ 20 h 62"/>
              <a:gd name="T38" fmla="*/ 8 w 60"/>
              <a:gd name="T39" fmla="*/ 12 h 62"/>
              <a:gd name="T40" fmla="*/ 8 w 60"/>
              <a:gd name="T41" fmla="*/ 10 h 62"/>
              <a:gd name="T42" fmla="*/ 8 w 60"/>
              <a:gd name="T43" fmla="*/ 10 h 62"/>
              <a:gd name="T44" fmla="*/ 10 w 60"/>
              <a:gd name="T45" fmla="*/ 10 h 62"/>
              <a:gd name="T46" fmla="*/ 25 w 60"/>
              <a:gd name="T47" fmla="*/ 24 h 62"/>
              <a:gd name="T48" fmla="*/ 34 w 60"/>
              <a:gd name="T49" fmla="*/ 32 h 62"/>
              <a:gd name="T50" fmla="*/ 34 w 60"/>
              <a:gd name="T51" fmla="*/ 35 h 62"/>
              <a:gd name="T52" fmla="*/ 34 w 60"/>
              <a:gd name="T53" fmla="*/ 35 h 62"/>
              <a:gd name="T54" fmla="*/ 32 w 60"/>
              <a:gd name="T55" fmla="*/ 35 h 62"/>
              <a:gd name="T56" fmla="*/ 23 w 60"/>
              <a:gd name="T57" fmla="*/ 27 h 62"/>
              <a:gd name="T58" fmla="*/ 23 w 60"/>
              <a:gd name="T59" fmla="*/ 24 h 62"/>
              <a:gd name="T60" fmla="*/ 23 w 60"/>
              <a:gd name="T61" fmla="*/ 24 h 62"/>
              <a:gd name="T62" fmla="*/ 25 w 60"/>
              <a:gd name="T63" fmla="*/ 24 h 62"/>
              <a:gd name="T64" fmla="*/ 41 w 60"/>
              <a:gd name="T65" fmla="*/ 39 h 62"/>
              <a:gd name="T66" fmla="*/ 49 w 60"/>
              <a:gd name="T67" fmla="*/ 47 h 62"/>
              <a:gd name="T68" fmla="*/ 49 w 60"/>
              <a:gd name="T69" fmla="*/ 49 h 62"/>
              <a:gd name="T70" fmla="*/ 49 w 60"/>
              <a:gd name="T71" fmla="*/ 49 h 62"/>
              <a:gd name="T72" fmla="*/ 47 w 60"/>
              <a:gd name="T73" fmla="*/ 49 h 62"/>
              <a:gd name="T74" fmla="*/ 38 w 60"/>
              <a:gd name="T75" fmla="*/ 41 h 62"/>
              <a:gd name="T76" fmla="*/ 38 w 60"/>
              <a:gd name="T77" fmla="*/ 39 h 62"/>
              <a:gd name="T78" fmla="*/ 38 w 60"/>
              <a:gd name="T79" fmla="*/ 39 h 62"/>
              <a:gd name="T80" fmla="*/ 41 w 60"/>
              <a:gd name="T81" fmla="*/ 39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0" h="62">
                <a:moveTo>
                  <a:pt x="60" y="57"/>
                </a:moveTo>
                <a:cubicBezTo>
                  <a:pt x="60" y="62"/>
                  <a:pt x="60" y="62"/>
                  <a:pt x="60" y="62"/>
                </a:cubicBezTo>
                <a:cubicBezTo>
                  <a:pt x="58" y="60"/>
                  <a:pt x="56" y="58"/>
                  <a:pt x="53" y="56"/>
                </a:cubicBezTo>
                <a:cubicBezTo>
                  <a:pt x="53" y="55"/>
                  <a:pt x="53" y="54"/>
                  <a:pt x="53" y="53"/>
                </a:cubicBezTo>
                <a:cubicBezTo>
                  <a:pt x="53" y="53"/>
                  <a:pt x="53" y="53"/>
                  <a:pt x="53" y="53"/>
                </a:cubicBezTo>
                <a:cubicBezTo>
                  <a:pt x="54" y="53"/>
                  <a:pt x="55" y="53"/>
                  <a:pt x="56" y="53"/>
                </a:cubicBezTo>
                <a:cubicBezTo>
                  <a:pt x="57" y="55"/>
                  <a:pt x="58" y="56"/>
                  <a:pt x="60" y="57"/>
                </a:cubicBezTo>
                <a:close/>
                <a:moveTo>
                  <a:pt x="0" y="4"/>
                </a:moveTo>
                <a:cubicBezTo>
                  <a:pt x="0" y="0"/>
                  <a:pt x="0" y="0"/>
                  <a:pt x="0" y="0"/>
                </a:cubicBezTo>
                <a:cubicBezTo>
                  <a:pt x="1" y="1"/>
                  <a:pt x="2" y="2"/>
                  <a:pt x="3" y="3"/>
                </a:cubicBezTo>
                <a:cubicBezTo>
                  <a:pt x="4" y="4"/>
                  <a:pt x="4" y="5"/>
                  <a:pt x="4" y="6"/>
                </a:cubicBezTo>
                <a:cubicBezTo>
                  <a:pt x="4" y="6"/>
                  <a:pt x="4" y="6"/>
                  <a:pt x="4" y="6"/>
                </a:cubicBezTo>
                <a:cubicBezTo>
                  <a:pt x="3" y="7"/>
                  <a:pt x="2" y="7"/>
                  <a:pt x="1" y="6"/>
                </a:cubicBezTo>
                <a:cubicBezTo>
                  <a:pt x="1" y="5"/>
                  <a:pt x="0" y="5"/>
                  <a:pt x="0" y="4"/>
                </a:cubicBezTo>
                <a:close/>
                <a:moveTo>
                  <a:pt x="10" y="10"/>
                </a:moveTo>
                <a:cubicBezTo>
                  <a:pt x="13" y="13"/>
                  <a:pt x="16" y="15"/>
                  <a:pt x="19" y="18"/>
                </a:cubicBezTo>
                <a:cubicBezTo>
                  <a:pt x="19" y="19"/>
                  <a:pt x="19" y="20"/>
                  <a:pt x="19" y="20"/>
                </a:cubicBezTo>
                <a:cubicBezTo>
                  <a:pt x="19" y="20"/>
                  <a:pt x="19" y="20"/>
                  <a:pt x="19" y="20"/>
                </a:cubicBezTo>
                <a:cubicBezTo>
                  <a:pt x="18" y="21"/>
                  <a:pt x="17" y="21"/>
                  <a:pt x="16" y="20"/>
                </a:cubicBezTo>
                <a:cubicBezTo>
                  <a:pt x="14" y="18"/>
                  <a:pt x="11" y="15"/>
                  <a:pt x="8" y="12"/>
                </a:cubicBezTo>
                <a:cubicBezTo>
                  <a:pt x="7" y="12"/>
                  <a:pt x="7" y="11"/>
                  <a:pt x="8" y="10"/>
                </a:cubicBezTo>
                <a:cubicBezTo>
                  <a:pt x="8" y="10"/>
                  <a:pt x="8" y="10"/>
                  <a:pt x="8" y="10"/>
                </a:cubicBezTo>
                <a:cubicBezTo>
                  <a:pt x="8" y="9"/>
                  <a:pt x="9" y="9"/>
                  <a:pt x="10" y="10"/>
                </a:cubicBezTo>
                <a:close/>
                <a:moveTo>
                  <a:pt x="25" y="24"/>
                </a:moveTo>
                <a:cubicBezTo>
                  <a:pt x="28" y="27"/>
                  <a:pt x="31" y="30"/>
                  <a:pt x="34" y="32"/>
                </a:cubicBezTo>
                <a:cubicBezTo>
                  <a:pt x="35" y="33"/>
                  <a:pt x="35" y="34"/>
                  <a:pt x="34" y="35"/>
                </a:cubicBezTo>
                <a:cubicBezTo>
                  <a:pt x="34" y="35"/>
                  <a:pt x="34" y="35"/>
                  <a:pt x="34" y="35"/>
                </a:cubicBezTo>
                <a:cubicBezTo>
                  <a:pt x="33" y="35"/>
                  <a:pt x="32" y="35"/>
                  <a:pt x="32" y="35"/>
                </a:cubicBezTo>
                <a:cubicBezTo>
                  <a:pt x="29" y="32"/>
                  <a:pt x="26" y="29"/>
                  <a:pt x="23" y="27"/>
                </a:cubicBezTo>
                <a:cubicBezTo>
                  <a:pt x="22" y="26"/>
                  <a:pt x="22" y="25"/>
                  <a:pt x="23" y="24"/>
                </a:cubicBezTo>
                <a:cubicBezTo>
                  <a:pt x="23" y="24"/>
                  <a:pt x="23" y="24"/>
                  <a:pt x="23" y="24"/>
                </a:cubicBezTo>
                <a:cubicBezTo>
                  <a:pt x="24" y="24"/>
                  <a:pt x="25" y="24"/>
                  <a:pt x="25" y="24"/>
                </a:cubicBezTo>
                <a:close/>
                <a:moveTo>
                  <a:pt x="41" y="39"/>
                </a:moveTo>
                <a:cubicBezTo>
                  <a:pt x="43" y="42"/>
                  <a:pt x="46" y="44"/>
                  <a:pt x="49" y="47"/>
                </a:cubicBezTo>
                <a:cubicBezTo>
                  <a:pt x="50" y="48"/>
                  <a:pt x="50" y="49"/>
                  <a:pt x="49" y="49"/>
                </a:cubicBezTo>
                <a:cubicBezTo>
                  <a:pt x="49" y="49"/>
                  <a:pt x="49" y="49"/>
                  <a:pt x="49" y="49"/>
                </a:cubicBezTo>
                <a:cubicBezTo>
                  <a:pt x="48" y="50"/>
                  <a:pt x="47" y="50"/>
                  <a:pt x="47" y="49"/>
                </a:cubicBezTo>
                <a:cubicBezTo>
                  <a:pt x="44" y="47"/>
                  <a:pt x="41" y="44"/>
                  <a:pt x="38" y="41"/>
                </a:cubicBezTo>
                <a:cubicBezTo>
                  <a:pt x="38" y="41"/>
                  <a:pt x="38" y="40"/>
                  <a:pt x="38" y="39"/>
                </a:cubicBezTo>
                <a:cubicBezTo>
                  <a:pt x="38" y="39"/>
                  <a:pt x="38" y="39"/>
                  <a:pt x="38" y="39"/>
                </a:cubicBezTo>
                <a:cubicBezTo>
                  <a:pt x="39" y="38"/>
                  <a:pt x="40" y="38"/>
                  <a:pt x="41" y="39"/>
                </a:cubicBezTo>
                <a:close/>
              </a:path>
            </a:pathLst>
          </a:custGeom>
          <a:solidFill>
            <a:srgbClr val="369CAB"/>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 name="Freeform 10"/>
          <p:cNvSpPr/>
          <p:nvPr/>
        </p:nvSpPr>
        <p:spPr bwMode="auto">
          <a:xfrm>
            <a:off x="338137" y="3003593"/>
            <a:ext cx="1081087" cy="955675"/>
          </a:xfrm>
          <a:custGeom>
            <a:avLst/>
            <a:gdLst>
              <a:gd name="T0" fmla="*/ 0 w 681"/>
              <a:gd name="T1" fmla="*/ 0 h 602"/>
              <a:gd name="T2" fmla="*/ 681 w 681"/>
              <a:gd name="T3" fmla="*/ 0 h 602"/>
              <a:gd name="T4" fmla="*/ 681 w 681"/>
              <a:gd name="T5" fmla="*/ 602 h 602"/>
              <a:gd name="T6" fmla="*/ 0 w 681"/>
              <a:gd name="T7" fmla="*/ 602 h 602"/>
              <a:gd name="T8" fmla="*/ 183 w 681"/>
              <a:gd name="T9" fmla="*/ 304 h 602"/>
              <a:gd name="T10" fmla="*/ 0 w 681"/>
              <a:gd name="T11" fmla="*/ 0 h 602"/>
              <a:gd name="T12" fmla="*/ 0 w 681"/>
              <a:gd name="T13" fmla="*/ 0 h 602"/>
            </a:gdLst>
            <a:ahLst/>
            <a:cxnLst>
              <a:cxn ang="0">
                <a:pos x="T0" y="T1"/>
              </a:cxn>
              <a:cxn ang="0">
                <a:pos x="T2" y="T3"/>
              </a:cxn>
              <a:cxn ang="0">
                <a:pos x="T4" y="T5"/>
              </a:cxn>
              <a:cxn ang="0">
                <a:pos x="T6" y="T7"/>
              </a:cxn>
              <a:cxn ang="0">
                <a:pos x="T8" y="T9"/>
              </a:cxn>
              <a:cxn ang="0">
                <a:pos x="T10" y="T11"/>
              </a:cxn>
              <a:cxn ang="0">
                <a:pos x="T12" y="T13"/>
              </a:cxn>
            </a:cxnLst>
            <a:rect l="0" t="0" r="r" b="b"/>
            <a:pathLst>
              <a:path w="681" h="602">
                <a:moveTo>
                  <a:pt x="0" y="0"/>
                </a:moveTo>
                <a:lnTo>
                  <a:pt x="681" y="0"/>
                </a:lnTo>
                <a:lnTo>
                  <a:pt x="681" y="602"/>
                </a:lnTo>
                <a:lnTo>
                  <a:pt x="0" y="602"/>
                </a:lnTo>
                <a:lnTo>
                  <a:pt x="183" y="304"/>
                </a:lnTo>
                <a:lnTo>
                  <a:pt x="0" y="0"/>
                </a:lnTo>
                <a:lnTo>
                  <a:pt x="0" y="0"/>
                </a:lnTo>
                <a:close/>
              </a:path>
            </a:pathLst>
          </a:custGeom>
          <a:solidFill>
            <a:srgbClr val="FDD820"/>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 name="Freeform 11"/>
          <p:cNvSpPr>
            <a:spLocks noEditPoints="1"/>
          </p:cNvSpPr>
          <p:nvPr/>
        </p:nvSpPr>
        <p:spPr bwMode="auto">
          <a:xfrm>
            <a:off x="454024" y="3062331"/>
            <a:ext cx="998537" cy="33338"/>
          </a:xfrm>
          <a:custGeom>
            <a:avLst/>
            <a:gdLst>
              <a:gd name="T0" fmla="*/ 1 w 120"/>
              <a:gd name="T1" fmla="*/ 0 h 4"/>
              <a:gd name="T2" fmla="*/ 13 w 120"/>
              <a:gd name="T3" fmla="*/ 0 h 4"/>
              <a:gd name="T4" fmla="*/ 15 w 120"/>
              <a:gd name="T5" fmla="*/ 2 h 4"/>
              <a:gd name="T6" fmla="*/ 15 w 120"/>
              <a:gd name="T7" fmla="*/ 2 h 4"/>
              <a:gd name="T8" fmla="*/ 13 w 120"/>
              <a:gd name="T9" fmla="*/ 4 h 4"/>
              <a:gd name="T10" fmla="*/ 1 w 120"/>
              <a:gd name="T11" fmla="*/ 4 h 4"/>
              <a:gd name="T12" fmla="*/ 0 w 120"/>
              <a:gd name="T13" fmla="*/ 2 h 4"/>
              <a:gd name="T14" fmla="*/ 0 w 120"/>
              <a:gd name="T15" fmla="*/ 2 h 4"/>
              <a:gd name="T16" fmla="*/ 1 w 120"/>
              <a:gd name="T17" fmla="*/ 0 h 4"/>
              <a:gd name="T18" fmla="*/ 22 w 120"/>
              <a:gd name="T19" fmla="*/ 0 h 4"/>
              <a:gd name="T20" fmla="*/ 34 w 120"/>
              <a:gd name="T21" fmla="*/ 0 h 4"/>
              <a:gd name="T22" fmla="*/ 36 w 120"/>
              <a:gd name="T23" fmla="*/ 2 h 4"/>
              <a:gd name="T24" fmla="*/ 36 w 120"/>
              <a:gd name="T25" fmla="*/ 2 h 4"/>
              <a:gd name="T26" fmla="*/ 34 w 120"/>
              <a:gd name="T27" fmla="*/ 4 h 4"/>
              <a:gd name="T28" fmla="*/ 22 w 120"/>
              <a:gd name="T29" fmla="*/ 4 h 4"/>
              <a:gd name="T30" fmla="*/ 21 w 120"/>
              <a:gd name="T31" fmla="*/ 2 h 4"/>
              <a:gd name="T32" fmla="*/ 21 w 120"/>
              <a:gd name="T33" fmla="*/ 2 h 4"/>
              <a:gd name="T34" fmla="*/ 22 w 120"/>
              <a:gd name="T35" fmla="*/ 0 h 4"/>
              <a:gd name="T36" fmla="*/ 43 w 120"/>
              <a:gd name="T37" fmla="*/ 0 h 4"/>
              <a:gd name="T38" fmla="*/ 55 w 120"/>
              <a:gd name="T39" fmla="*/ 0 h 4"/>
              <a:gd name="T40" fmla="*/ 57 w 120"/>
              <a:gd name="T41" fmla="*/ 2 h 4"/>
              <a:gd name="T42" fmla="*/ 57 w 120"/>
              <a:gd name="T43" fmla="*/ 2 h 4"/>
              <a:gd name="T44" fmla="*/ 55 w 120"/>
              <a:gd name="T45" fmla="*/ 4 h 4"/>
              <a:gd name="T46" fmla="*/ 43 w 120"/>
              <a:gd name="T47" fmla="*/ 4 h 4"/>
              <a:gd name="T48" fmla="*/ 42 w 120"/>
              <a:gd name="T49" fmla="*/ 2 h 4"/>
              <a:gd name="T50" fmla="*/ 42 w 120"/>
              <a:gd name="T51" fmla="*/ 2 h 4"/>
              <a:gd name="T52" fmla="*/ 43 w 120"/>
              <a:gd name="T53" fmla="*/ 0 h 4"/>
              <a:gd name="T54" fmla="*/ 64 w 120"/>
              <a:gd name="T55" fmla="*/ 0 h 4"/>
              <a:gd name="T56" fmla="*/ 76 w 120"/>
              <a:gd name="T57" fmla="*/ 0 h 4"/>
              <a:gd name="T58" fmla="*/ 78 w 120"/>
              <a:gd name="T59" fmla="*/ 2 h 4"/>
              <a:gd name="T60" fmla="*/ 78 w 120"/>
              <a:gd name="T61" fmla="*/ 2 h 4"/>
              <a:gd name="T62" fmla="*/ 76 w 120"/>
              <a:gd name="T63" fmla="*/ 4 h 4"/>
              <a:gd name="T64" fmla="*/ 64 w 120"/>
              <a:gd name="T65" fmla="*/ 4 h 4"/>
              <a:gd name="T66" fmla="*/ 63 w 120"/>
              <a:gd name="T67" fmla="*/ 2 h 4"/>
              <a:gd name="T68" fmla="*/ 63 w 120"/>
              <a:gd name="T69" fmla="*/ 2 h 4"/>
              <a:gd name="T70" fmla="*/ 64 w 120"/>
              <a:gd name="T71" fmla="*/ 0 h 4"/>
              <a:gd name="T72" fmla="*/ 85 w 120"/>
              <a:gd name="T73" fmla="*/ 0 h 4"/>
              <a:gd name="T74" fmla="*/ 97 w 120"/>
              <a:gd name="T75" fmla="*/ 0 h 4"/>
              <a:gd name="T76" fmla="*/ 99 w 120"/>
              <a:gd name="T77" fmla="*/ 2 h 4"/>
              <a:gd name="T78" fmla="*/ 99 w 120"/>
              <a:gd name="T79" fmla="*/ 2 h 4"/>
              <a:gd name="T80" fmla="*/ 97 w 120"/>
              <a:gd name="T81" fmla="*/ 4 h 4"/>
              <a:gd name="T82" fmla="*/ 85 w 120"/>
              <a:gd name="T83" fmla="*/ 4 h 4"/>
              <a:gd name="T84" fmla="*/ 84 w 120"/>
              <a:gd name="T85" fmla="*/ 2 h 4"/>
              <a:gd name="T86" fmla="*/ 84 w 120"/>
              <a:gd name="T87" fmla="*/ 2 h 4"/>
              <a:gd name="T88" fmla="*/ 85 w 120"/>
              <a:gd name="T89" fmla="*/ 0 h 4"/>
              <a:gd name="T90" fmla="*/ 106 w 120"/>
              <a:gd name="T91" fmla="*/ 0 h 4"/>
              <a:gd name="T92" fmla="*/ 118 w 120"/>
              <a:gd name="T93" fmla="*/ 0 h 4"/>
              <a:gd name="T94" fmla="*/ 120 w 120"/>
              <a:gd name="T95" fmla="*/ 2 h 4"/>
              <a:gd name="T96" fmla="*/ 120 w 120"/>
              <a:gd name="T97" fmla="*/ 2 h 4"/>
              <a:gd name="T98" fmla="*/ 118 w 120"/>
              <a:gd name="T99" fmla="*/ 4 h 4"/>
              <a:gd name="T100" fmla="*/ 106 w 120"/>
              <a:gd name="T101" fmla="*/ 4 h 4"/>
              <a:gd name="T102" fmla="*/ 105 w 120"/>
              <a:gd name="T103" fmla="*/ 2 h 4"/>
              <a:gd name="T104" fmla="*/ 105 w 120"/>
              <a:gd name="T105" fmla="*/ 2 h 4"/>
              <a:gd name="T106" fmla="*/ 106 w 120"/>
              <a:gd name="T107"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0" h="4">
                <a:moveTo>
                  <a:pt x="1" y="0"/>
                </a:moveTo>
                <a:cubicBezTo>
                  <a:pt x="5" y="0"/>
                  <a:pt x="9" y="0"/>
                  <a:pt x="13" y="0"/>
                </a:cubicBezTo>
                <a:cubicBezTo>
                  <a:pt x="14" y="0"/>
                  <a:pt x="15" y="1"/>
                  <a:pt x="15" y="2"/>
                </a:cubicBezTo>
                <a:cubicBezTo>
                  <a:pt x="15" y="2"/>
                  <a:pt x="15" y="2"/>
                  <a:pt x="15" y="2"/>
                </a:cubicBezTo>
                <a:cubicBezTo>
                  <a:pt x="15" y="3"/>
                  <a:pt x="14" y="4"/>
                  <a:pt x="13" y="4"/>
                </a:cubicBezTo>
                <a:cubicBezTo>
                  <a:pt x="9" y="4"/>
                  <a:pt x="5" y="4"/>
                  <a:pt x="1" y="4"/>
                </a:cubicBezTo>
                <a:cubicBezTo>
                  <a:pt x="0" y="4"/>
                  <a:pt x="0" y="3"/>
                  <a:pt x="0" y="2"/>
                </a:cubicBezTo>
                <a:cubicBezTo>
                  <a:pt x="0" y="2"/>
                  <a:pt x="0" y="2"/>
                  <a:pt x="0" y="2"/>
                </a:cubicBezTo>
                <a:cubicBezTo>
                  <a:pt x="0" y="1"/>
                  <a:pt x="0" y="0"/>
                  <a:pt x="1" y="0"/>
                </a:cubicBezTo>
                <a:close/>
                <a:moveTo>
                  <a:pt x="22" y="0"/>
                </a:moveTo>
                <a:cubicBezTo>
                  <a:pt x="26" y="0"/>
                  <a:pt x="30" y="0"/>
                  <a:pt x="34" y="0"/>
                </a:cubicBezTo>
                <a:cubicBezTo>
                  <a:pt x="35" y="0"/>
                  <a:pt x="36" y="1"/>
                  <a:pt x="36" y="2"/>
                </a:cubicBezTo>
                <a:cubicBezTo>
                  <a:pt x="36" y="2"/>
                  <a:pt x="36" y="2"/>
                  <a:pt x="36" y="2"/>
                </a:cubicBezTo>
                <a:cubicBezTo>
                  <a:pt x="36" y="3"/>
                  <a:pt x="35" y="4"/>
                  <a:pt x="34" y="4"/>
                </a:cubicBezTo>
                <a:cubicBezTo>
                  <a:pt x="30" y="4"/>
                  <a:pt x="26" y="4"/>
                  <a:pt x="22" y="4"/>
                </a:cubicBezTo>
                <a:cubicBezTo>
                  <a:pt x="21" y="4"/>
                  <a:pt x="21" y="3"/>
                  <a:pt x="21" y="2"/>
                </a:cubicBezTo>
                <a:cubicBezTo>
                  <a:pt x="21" y="2"/>
                  <a:pt x="21" y="2"/>
                  <a:pt x="21" y="2"/>
                </a:cubicBezTo>
                <a:cubicBezTo>
                  <a:pt x="21" y="1"/>
                  <a:pt x="21" y="0"/>
                  <a:pt x="22" y="0"/>
                </a:cubicBezTo>
                <a:close/>
                <a:moveTo>
                  <a:pt x="43" y="0"/>
                </a:moveTo>
                <a:cubicBezTo>
                  <a:pt x="47" y="0"/>
                  <a:pt x="51" y="0"/>
                  <a:pt x="55" y="0"/>
                </a:cubicBezTo>
                <a:cubicBezTo>
                  <a:pt x="56" y="0"/>
                  <a:pt x="57" y="1"/>
                  <a:pt x="57" y="2"/>
                </a:cubicBezTo>
                <a:cubicBezTo>
                  <a:pt x="57" y="2"/>
                  <a:pt x="57" y="2"/>
                  <a:pt x="57" y="2"/>
                </a:cubicBezTo>
                <a:cubicBezTo>
                  <a:pt x="57" y="3"/>
                  <a:pt x="56" y="4"/>
                  <a:pt x="55" y="4"/>
                </a:cubicBezTo>
                <a:cubicBezTo>
                  <a:pt x="51" y="4"/>
                  <a:pt x="47" y="4"/>
                  <a:pt x="43" y="4"/>
                </a:cubicBezTo>
                <a:cubicBezTo>
                  <a:pt x="42" y="4"/>
                  <a:pt x="42" y="3"/>
                  <a:pt x="42" y="2"/>
                </a:cubicBezTo>
                <a:cubicBezTo>
                  <a:pt x="42" y="2"/>
                  <a:pt x="42" y="2"/>
                  <a:pt x="42" y="2"/>
                </a:cubicBezTo>
                <a:cubicBezTo>
                  <a:pt x="42" y="1"/>
                  <a:pt x="42" y="0"/>
                  <a:pt x="43" y="0"/>
                </a:cubicBezTo>
                <a:close/>
                <a:moveTo>
                  <a:pt x="64" y="0"/>
                </a:moveTo>
                <a:cubicBezTo>
                  <a:pt x="68" y="0"/>
                  <a:pt x="72" y="0"/>
                  <a:pt x="76" y="0"/>
                </a:cubicBezTo>
                <a:cubicBezTo>
                  <a:pt x="77" y="0"/>
                  <a:pt x="78" y="1"/>
                  <a:pt x="78" y="2"/>
                </a:cubicBezTo>
                <a:cubicBezTo>
                  <a:pt x="78" y="2"/>
                  <a:pt x="78" y="2"/>
                  <a:pt x="78" y="2"/>
                </a:cubicBezTo>
                <a:cubicBezTo>
                  <a:pt x="78" y="3"/>
                  <a:pt x="77" y="4"/>
                  <a:pt x="76" y="4"/>
                </a:cubicBezTo>
                <a:cubicBezTo>
                  <a:pt x="72" y="4"/>
                  <a:pt x="68" y="4"/>
                  <a:pt x="64" y="4"/>
                </a:cubicBezTo>
                <a:cubicBezTo>
                  <a:pt x="63" y="4"/>
                  <a:pt x="63" y="3"/>
                  <a:pt x="63" y="2"/>
                </a:cubicBezTo>
                <a:cubicBezTo>
                  <a:pt x="63" y="2"/>
                  <a:pt x="63" y="2"/>
                  <a:pt x="63" y="2"/>
                </a:cubicBezTo>
                <a:cubicBezTo>
                  <a:pt x="63" y="1"/>
                  <a:pt x="63" y="0"/>
                  <a:pt x="64" y="0"/>
                </a:cubicBezTo>
                <a:close/>
                <a:moveTo>
                  <a:pt x="85" y="0"/>
                </a:moveTo>
                <a:cubicBezTo>
                  <a:pt x="89" y="0"/>
                  <a:pt x="93" y="0"/>
                  <a:pt x="97" y="0"/>
                </a:cubicBezTo>
                <a:cubicBezTo>
                  <a:pt x="98" y="0"/>
                  <a:pt x="99" y="1"/>
                  <a:pt x="99" y="2"/>
                </a:cubicBezTo>
                <a:cubicBezTo>
                  <a:pt x="99" y="2"/>
                  <a:pt x="99" y="2"/>
                  <a:pt x="99" y="2"/>
                </a:cubicBezTo>
                <a:cubicBezTo>
                  <a:pt x="99" y="3"/>
                  <a:pt x="98" y="4"/>
                  <a:pt x="97" y="4"/>
                </a:cubicBezTo>
                <a:cubicBezTo>
                  <a:pt x="93" y="4"/>
                  <a:pt x="89" y="4"/>
                  <a:pt x="85" y="4"/>
                </a:cubicBezTo>
                <a:cubicBezTo>
                  <a:pt x="84" y="4"/>
                  <a:pt x="84" y="3"/>
                  <a:pt x="84" y="2"/>
                </a:cubicBezTo>
                <a:cubicBezTo>
                  <a:pt x="84" y="2"/>
                  <a:pt x="84" y="2"/>
                  <a:pt x="84" y="2"/>
                </a:cubicBezTo>
                <a:cubicBezTo>
                  <a:pt x="84" y="1"/>
                  <a:pt x="84" y="0"/>
                  <a:pt x="85" y="0"/>
                </a:cubicBezTo>
                <a:close/>
                <a:moveTo>
                  <a:pt x="106" y="0"/>
                </a:moveTo>
                <a:cubicBezTo>
                  <a:pt x="110" y="0"/>
                  <a:pt x="114" y="0"/>
                  <a:pt x="118" y="0"/>
                </a:cubicBezTo>
                <a:cubicBezTo>
                  <a:pt x="119" y="0"/>
                  <a:pt x="120" y="1"/>
                  <a:pt x="120" y="2"/>
                </a:cubicBezTo>
                <a:cubicBezTo>
                  <a:pt x="120" y="2"/>
                  <a:pt x="120" y="2"/>
                  <a:pt x="120" y="2"/>
                </a:cubicBezTo>
                <a:cubicBezTo>
                  <a:pt x="120" y="3"/>
                  <a:pt x="119" y="4"/>
                  <a:pt x="118" y="4"/>
                </a:cubicBezTo>
                <a:cubicBezTo>
                  <a:pt x="114" y="4"/>
                  <a:pt x="110" y="4"/>
                  <a:pt x="106" y="4"/>
                </a:cubicBezTo>
                <a:cubicBezTo>
                  <a:pt x="105" y="4"/>
                  <a:pt x="105" y="3"/>
                  <a:pt x="105" y="2"/>
                </a:cubicBezTo>
                <a:cubicBezTo>
                  <a:pt x="105" y="2"/>
                  <a:pt x="105" y="2"/>
                  <a:pt x="105" y="2"/>
                </a:cubicBezTo>
                <a:cubicBezTo>
                  <a:pt x="105" y="1"/>
                  <a:pt x="105" y="0"/>
                  <a:pt x="106" y="0"/>
                </a:cubicBezTo>
                <a:close/>
              </a:path>
            </a:pathLst>
          </a:custGeom>
          <a:solidFill>
            <a:srgbClr val="FEEAA6"/>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 name="Freeform 12"/>
          <p:cNvSpPr>
            <a:spLocks noEditPoints="1"/>
          </p:cNvSpPr>
          <p:nvPr/>
        </p:nvSpPr>
        <p:spPr bwMode="auto">
          <a:xfrm>
            <a:off x="454024" y="3868781"/>
            <a:ext cx="998537" cy="33338"/>
          </a:xfrm>
          <a:custGeom>
            <a:avLst/>
            <a:gdLst>
              <a:gd name="T0" fmla="*/ 1 w 120"/>
              <a:gd name="T1" fmla="*/ 0 h 4"/>
              <a:gd name="T2" fmla="*/ 13 w 120"/>
              <a:gd name="T3" fmla="*/ 0 h 4"/>
              <a:gd name="T4" fmla="*/ 15 w 120"/>
              <a:gd name="T5" fmla="*/ 2 h 4"/>
              <a:gd name="T6" fmla="*/ 15 w 120"/>
              <a:gd name="T7" fmla="*/ 2 h 4"/>
              <a:gd name="T8" fmla="*/ 13 w 120"/>
              <a:gd name="T9" fmla="*/ 4 h 4"/>
              <a:gd name="T10" fmla="*/ 1 w 120"/>
              <a:gd name="T11" fmla="*/ 4 h 4"/>
              <a:gd name="T12" fmla="*/ 0 w 120"/>
              <a:gd name="T13" fmla="*/ 2 h 4"/>
              <a:gd name="T14" fmla="*/ 0 w 120"/>
              <a:gd name="T15" fmla="*/ 2 h 4"/>
              <a:gd name="T16" fmla="*/ 1 w 120"/>
              <a:gd name="T17" fmla="*/ 0 h 4"/>
              <a:gd name="T18" fmla="*/ 22 w 120"/>
              <a:gd name="T19" fmla="*/ 0 h 4"/>
              <a:gd name="T20" fmla="*/ 34 w 120"/>
              <a:gd name="T21" fmla="*/ 0 h 4"/>
              <a:gd name="T22" fmla="*/ 36 w 120"/>
              <a:gd name="T23" fmla="*/ 2 h 4"/>
              <a:gd name="T24" fmla="*/ 36 w 120"/>
              <a:gd name="T25" fmla="*/ 2 h 4"/>
              <a:gd name="T26" fmla="*/ 34 w 120"/>
              <a:gd name="T27" fmla="*/ 4 h 4"/>
              <a:gd name="T28" fmla="*/ 22 w 120"/>
              <a:gd name="T29" fmla="*/ 4 h 4"/>
              <a:gd name="T30" fmla="*/ 21 w 120"/>
              <a:gd name="T31" fmla="*/ 2 h 4"/>
              <a:gd name="T32" fmla="*/ 21 w 120"/>
              <a:gd name="T33" fmla="*/ 2 h 4"/>
              <a:gd name="T34" fmla="*/ 22 w 120"/>
              <a:gd name="T35" fmla="*/ 0 h 4"/>
              <a:gd name="T36" fmla="*/ 43 w 120"/>
              <a:gd name="T37" fmla="*/ 0 h 4"/>
              <a:gd name="T38" fmla="*/ 55 w 120"/>
              <a:gd name="T39" fmla="*/ 0 h 4"/>
              <a:gd name="T40" fmla="*/ 57 w 120"/>
              <a:gd name="T41" fmla="*/ 2 h 4"/>
              <a:gd name="T42" fmla="*/ 57 w 120"/>
              <a:gd name="T43" fmla="*/ 2 h 4"/>
              <a:gd name="T44" fmla="*/ 55 w 120"/>
              <a:gd name="T45" fmla="*/ 4 h 4"/>
              <a:gd name="T46" fmla="*/ 43 w 120"/>
              <a:gd name="T47" fmla="*/ 4 h 4"/>
              <a:gd name="T48" fmla="*/ 42 w 120"/>
              <a:gd name="T49" fmla="*/ 2 h 4"/>
              <a:gd name="T50" fmla="*/ 42 w 120"/>
              <a:gd name="T51" fmla="*/ 2 h 4"/>
              <a:gd name="T52" fmla="*/ 43 w 120"/>
              <a:gd name="T53" fmla="*/ 0 h 4"/>
              <a:gd name="T54" fmla="*/ 64 w 120"/>
              <a:gd name="T55" fmla="*/ 0 h 4"/>
              <a:gd name="T56" fmla="*/ 76 w 120"/>
              <a:gd name="T57" fmla="*/ 0 h 4"/>
              <a:gd name="T58" fmla="*/ 78 w 120"/>
              <a:gd name="T59" fmla="*/ 2 h 4"/>
              <a:gd name="T60" fmla="*/ 78 w 120"/>
              <a:gd name="T61" fmla="*/ 2 h 4"/>
              <a:gd name="T62" fmla="*/ 76 w 120"/>
              <a:gd name="T63" fmla="*/ 4 h 4"/>
              <a:gd name="T64" fmla="*/ 64 w 120"/>
              <a:gd name="T65" fmla="*/ 4 h 4"/>
              <a:gd name="T66" fmla="*/ 63 w 120"/>
              <a:gd name="T67" fmla="*/ 2 h 4"/>
              <a:gd name="T68" fmla="*/ 63 w 120"/>
              <a:gd name="T69" fmla="*/ 2 h 4"/>
              <a:gd name="T70" fmla="*/ 64 w 120"/>
              <a:gd name="T71" fmla="*/ 0 h 4"/>
              <a:gd name="T72" fmla="*/ 85 w 120"/>
              <a:gd name="T73" fmla="*/ 0 h 4"/>
              <a:gd name="T74" fmla="*/ 97 w 120"/>
              <a:gd name="T75" fmla="*/ 0 h 4"/>
              <a:gd name="T76" fmla="*/ 99 w 120"/>
              <a:gd name="T77" fmla="*/ 2 h 4"/>
              <a:gd name="T78" fmla="*/ 99 w 120"/>
              <a:gd name="T79" fmla="*/ 2 h 4"/>
              <a:gd name="T80" fmla="*/ 97 w 120"/>
              <a:gd name="T81" fmla="*/ 4 h 4"/>
              <a:gd name="T82" fmla="*/ 85 w 120"/>
              <a:gd name="T83" fmla="*/ 4 h 4"/>
              <a:gd name="T84" fmla="*/ 84 w 120"/>
              <a:gd name="T85" fmla="*/ 2 h 4"/>
              <a:gd name="T86" fmla="*/ 84 w 120"/>
              <a:gd name="T87" fmla="*/ 2 h 4"/>
              <a:gd name="T88" fmla="*/ 85 w 120"/>
              <a:gd name="T89" fmla="*/ 0 h 4"/>
              <a:gd name="T90" fmla="*/ 106 w 120"/>
              <a:gd name="T91" fmla="*/ 0 h 4"/>
              <a:gd name="T92" fmla="*/ 118 w 120"/>
              <a:gd name="T93" fmla="*/ 0 h 4"/>
              <a:gd name="T94" fmla="*/ 120 w 120"/>
              <a:gd name="T95" fmla="*/ 2 h 4"/>
              <a:gd name="T96" fmla="*/ 120 w 120"/>
              <a:gd name="T97" fmla="*/ 2 h 4"/>
              <a:gd name="T98" fmla="*/ 118 w 120"/>
              <a:gd name="T99" fmla="*/ 4 h 4"/>
              <a:gd name="T100" fmla="*/ 106 w 120"/>
              <a:gd name="T101" fmla="*/ 4 h 4"/>
              <a:gd name="T102" fmla="*/ 105 w 120"/>
              <a:gd name="T103" fmla="*/ 2 h 4"/>
              <a:gd name="T104" fmla="*/ 105 w 120"/>
              <a:gd name="T105" fmla="*/ 2 h 4"/>
              <a:gd name="T106" fmla="*/ 106 w 120"/>
              <a:gd name="T107"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0" h="4">
                <a:moveTo>
                  <a:pt x="1" y="0"/>
                </a:moveTo>
                <a:cubicBezTo>
                  <a:pt x="5" y="0"/>
                  <a:pt x="9" y="0"/>
                  <a:pt x="13" y="0"/>
                </a:cubicBezTo>
                <a:cubicBezTo>
                  <a:pt x="14" y="0"/>
                  <a:pt x="15" y="1"/>
                  <a:pt x="15" y="2"/>
                </a:cubicBezTo>
                <a:cubicBezTo>
                  <a:pt x="15" y="2"/>
                  <a:pt x="15" y="2"/>
                  <a:pt x="15" y="2"/>
                </a:cubicBezTo>
                <a:cubicBezTo>
                  <a:pt x="15" y="3"/>
                  <a:pt x="14" y="4"/>
                  <a:pt x="13" y="4"/>
                </a:cubicBezTo>
                <a:cubicBezTo>
                  <a:pt x="9" y="4"/>
                  <a:pt x="5" y="4"/>
                  <a:pt x="1" y="4"/>
                </a:cubicBezTo>
                <a:cubicBezTo>
                  <a:pt x="0" y="4"/>
                  <a:pt x="0" y="3"/>
                  <a:pt x="0" y="2"/>
                </a:cubicBezTo>
                <a:cubicBezTo>
                  <a:pt x="0" y="2"/>
                  <a:pt x="0" y="2"/>
                  <a:pt x="0" y="2"/>
                </a:cubicBezTo>
                <a:cubicBezTo>
                  <a:pt x="0" y="1"/>
                  <a:pt x="0" y="0"/>
                  <a:pt x="1" y="0"/>
                </a:cubicBezTo>
                <a:close/>
                <a:moveTo>
                  <a:pt x="22" y="0"/>
                </a:moveTo>
                <a:cubicBezTo>
                  <a:pt x="26" y="0"/>
                  <a:pt x="30" y="0"/>
                  <a:pt x="34" y="0"/>
                </a:cubicBezTo>
                <a:cubicBezTo>
                  <a:pt x="35" y="0"/>
                  <a:pt x="36" y="1"/>
                  <a:pt x="36" y="2"/>
                </a:cubicBezTo>
                <a:cubicBezTo>
                  <a:pt x="36" y="2"/>
                  <a:pt x="36" y="2"/>
                  <a:pt x="36" y="2"/>
                </a:cubicBezTo>
                <a:cubicBezTo>
                  <a:pt x="36" y="3"/>
                  <a:pt x="35" y="4"/>
                  <a:pt x="34" y="4"/>
                </a:cubicBezTo>
                <a:cubicBezTo>
                  <a:pt x="30" y="4"/>
                  <a:pt x="26" y="4"/>
                  <a:pt x="22" y="4"/>
                </a:cubicBezTo>
                <a:cubicBezTo>
                  <a:pt x="21" y="4"/>
                  <a:pt x="21" y="3"/>
                  <a:pt x="21" y="2"/>
                </a:cubicBezTo>
                <a:cubicBezTo>
                  <a:pt x="21" y="2"/>
                  <a:pt x="21" y="2"/>
                  <a:pt x="21" y="2"/>
                </a:cubicBezTo>
                <a:cubicBezTo>
                  <a:pt x="21" y="1"/>
                  <a:pt x="21" y="0"/>
                  <a:pt x="22" y="0"/>
                </a:cubicBezTo>
                <a:close/>
                <a:moveTo>
                  <a:pt x="43" y="0"/>
                </a:moveTo>
                <a:cubicBezTo>
                  <a:pt x="47" y="0"/>
                  <a:pt x="51" y="0"/>
                  <a:pt x="55" y="0"/>
                </a:cubicBezTo>
                <a:cubicBezTo>
                  <a:pt x="56" y="0"/>
                  <a:pt x="57" y="1"/>
                  <a:pt x="57" y="2"/>
                </a:cubicBezTo>
                <a:cubicBezTo>
                  <a:pt x="57" y="2"/>
                  <a:pt x="57" y="2"/>
                  <a:pt x="57" y="2"/>
                </a:cubicBezTo>
                <a:cubicBezTo>
                  <a:pt x="57" y="3"/>
                  <a:pt x="56" y="4"/>
                  <a:pt x="55" y="4"/>
                </a:cubicBezTo>
                <a:cubicBezTo>
                  <a:pt x="51" y="4"/>
                  <a:pt x="47" y="4"/>
                  <a:pt x="43" y="4"/>
                </a:cubicBezTo>
                <a:cubicBezTo>
                  <a:pt x="42" y="4"/>
                  <a:pt x="42" y="3"/>
                  <a:pt x="42" y="2"/>
                </a:cubicBezTo>
                <a:cubicBezTo>
                  <a:pt x="42" y="2"/>
                  <a:pt x="42" y="2"/>
                  <a:pt x="42" y="2"/>
                </a:cubicBezTo>
                <a:cubicBezTo>
                  <a:pt x="42" y="1"/>
                  <a:pt x="42" y="0"/>
                  <a:pt x="43" y="0"/>
                </a:cubicBezTo>
                <a:close/>
                <a:moveTo>
                  <a:pt x="64" y="0"/>
                </a:moveTo>
                <a:cubicBezTo>
                  <a:pt x="68" y="0"/>
                  <a:pt x="72" y="0"/>
                  <a:pt x="76" y="0"/>
                </a:cubicBezTo>
                <a:cubicBezTo>
                  <a:pt x="77" y="0"/>
                  <a:pt x="78" y="1"/>
                  <a:pt x="78" y="2"/>
                </a:cubicBezTo>
                <a:cubicBezTo>
                  <a:pt x="78" y="2"/>
                  <a:pt x="78" y="2"/>
                  <a:pt x="78" y="2"/>
                </a:cubicBezTo>
                <a:cubicBezTo>
                  <a:pt x="78" y="3"/>
                  <a:pt x="77" y="4"/>
                  <a:pt x="76" y="4"/>
                </a:cubicBezTo>
                <a:cubicBezTo>
                  <a:pt x="72" y="4"/>
                  <a:pt x="68" y="4"/>
                  <a:pt x="64" y="4"/>
                </a:cubicBezTo>
                <a:cubicBezTo>
                  <a:pt x="63" y="4"/>
                  <a:pt x="63" y="3"/>
                  <a:pt x="63" y="2"/>
                </a:cubicBezTo>
                <a:cubicBezTo>
                  <a:pt x="63" y="2"/>
                  <a:pt x="63" y="2"/>
                  <a:pt x="63" y="2"/>
                </a:cubicBezTo>
                <a:cubicBezTo>
                  <a:pt x="63" y="1"/>
                  <a:pt x="63" y="0"/>
                  <a:pt x="64" y="0"/>
                </a:cubicBezTo>
                <a:close/>
                <a:moveTo>
                  <a:pt x="85" y="0"/>
                </a:moveTo>
                <a:cubicBezTo>
                  <a:pt x="89" y="0"/>
                  <a:pt x="93" y="0"/>
                  <a:pt x="97" y="0"/>
                </a:cubicBezTo>
                <a:cubicBezTo>
                  <a:pt x="98" y="0"/>
                  <a:pt x="99" y="1"/>
                  <a:pt x="99" y="2"/>
                </a:cubicBezTo>
                <a:cubicBezTo>
                  <a:pt x="99" y="2"/>
                  <a:pt x="99" y="2"/>
                  <a:pt x="99" y="2"/>
                </a:cubicBezTo>
                <a:cubicBezTo>
                  <a:pt x="99" y="3"/>
                  <a:pt x="98" y="4"/>
                  <a:pt x="97" y="4"/>
                </a:cubicBezTo>
                <a:cubicBezTo>
                  <a:pt x="93" y="4"/>
                  <a:pt x="89" y="4"/>
                  <a:pt x="85" y="4"/>
                </a:cubicBezTo>
                <a:cubicBezTo>
                  <a:pt x="84" y="4"/>
                  <a:pt x="84" y="3"/>
                  <a:pt x="84" y="2"/>
                </a:cubicBezTo>
                <a:cubicBezTo>
                  <a:pt x="84" y="2"/>
                  <a:pt x="84" y="2"/>
                  <a:pt x="84" y="2"/>
                </a:cubicBezTo>
                <a:cubicBezTo>
                  <a:pt x="84" y="1"/>
                  <a:pt x="84" y="0"/>
                  <a:pt x="85" y="0"/>
                </a:cubicBezTo>
                <a:close/>
                <a:moveTo>
                  <a:pt x="106" y="0"/>
                </a:moveTo>
                <a:cubicBezTo>
                  <a:pt x="110" y="0"/>
                  <a:pt x="114" y="0"/>
                  <a:pt x="118" y="0"/>
                </a:cubicBezTo>
                <a:cubicBezTo>
                  <a:pt x="119" y="0"/>
                  <a:pt x="120" y="1"/>
                  <a:pt x="120" y="2"/>
                </a:cubicBezTo>
                <a:cubicBezTo>
                  <a:pt x="120" y="2"/>
                  <a:pt x="120" y="2"/>
                  <a:pt x="120" y="2"/>
                </a:cubicBezTo>
                <a:cubicBezTo>
                  <a:pt x="120" y="3"/>
                  <a:pt x="119" y="4"/>
                  <a:pt x="118" y="4"/>
                </a:cubicBezTo>
                <a:cubicBezTo>
                  <a:pt x="114" y="4"/>
                  <a:pt x="110" y="4"/>
                  <a:pt x="106" y="4"/>
                </a:cubicBezTo>
                <a:cubicBezTo>
                  <a:pt x="105" y="4"/>
                  <a:pt x="105" y="3"/>
                  <a:pt x="105" y="2"/>
                </a:cubicBezTo>
                <a:cubicBezTo>
                  <a:pt x="105" y="2"/>
                  <a:pt x="105" y="2"/>
                  <a:pt x="105" y="2"/>
                </a:cubicBezTo>
                <a:cubicBezTo>
                  <a:pt x="105" y="1"/>
                  <a:pt x="105" y="0"/>
                  <a:pt x="106" y="0"/>
                </a:cubicBezTo>
                <a:close/>
              </a:path>
            </a:pathLst>
          </a:custGeom>
          <a:solidFill>
            <a:srgbClr val="FEEAA6"/>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 name="Freeform 13"/>
          <p:cNvSpPr/>
          <p:nvPr/>
        </p:nvSpPr>
        <p:spPr bwMode="auto">
          <a:xfrm>
            <a:off x="769937" y="2628943"/>
            <a:ext cx="498475" cy="1430338"/>
          </a:xfrm>
          <a:custGeom>
            <a:avLst/>
            <a:gdLst>
              <a:gd name="T0" fmla="*/ 0 w 314"/>
              <a:gd name="T1" fmla="*/ 0 h 901"/>
              <a:gd name="T2" fmla="*/ 314 w 314"/>
              <a:gd name="T3" fmla="*/ 299 h 901"/>
              <a:gd name="T4" fmla="*/ 314 w 314"/>
              <a:gd name="T5" fmla="*/ 901 h 901"/>
              <a:gd name="T6" fmla="*/ 0 w 314"/>
              <a:gd name="T7" fmla="*/ 603 h 901"/>
              <a:gd name="T8" fmla="*/ 0 w 314"/>
              <a:gd name="T9" fmla="*/ 0 h 901"/>
              <a:gd name="T10" fmla="*/ 0 w 314"/>
              <a:gd name="T11" fmla="*/ 0 h 901"/>
            </a:gdLst>
            <a:ahLst/>
            <a:cxnLst>
              <a:cxn ang="0">
                <a:pos x="T0" y="T1"/>
              </a:cxn>
              <a:cxn ang="0">
                <a:pos x="T2" y="T3"/>
              </a:cxn>
              <a:cxn ang="0">
                <a:pos x="T4" y="T5"/>
              </a:cxn>
              <a:cxn ang="0">
                <a:pos x="T6" y="T7"/>
              </a:cxn>
              <a:cxn ang="0">
                <a:pos x="T8" y="T9"/>
              </a:cxn>
              <a:cxn ang="0">
                <a:pos x="T10" y="T11"/>
              </a:cxn>
            </a:cxnLst>
            <a:rect l="0" t="0" r="r" b="b"/>
            <a:pathLst>
              <a:path w="314" h="901">
                <a:moveTo>
                  <a:pt x="0" y="0"/>
                </a:moveTo>
                <a:lnTo>
                  <a:pt x="314" y="299"/>
                </a:lnTo>
                <a:lnTo>
                  <a:pt x="314" y="901"/>
                </a:lnTo>
                <a:lnTo>
                  <a:pt x="0" y="603"/>
                </a:lnTo>
                <a:lnTo>
                  <a:pt x="0" y="0"/>
                </a:lnTo>
                <a:lnTo>
                  <a:pt x="0" y="0"/>
                </a:lnTo>
                <a:close/>
              </a:path>
            </a:pathLst>
          </a:custGeom>
          <a:solidFill>
            <a:srgbClr val="D46B00"/>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 name="Freeform 14"/>
          <p:cNvSpPr>
            <a:spLocks noEditPoints="1"/>
          </p:cNvSpPr>
          <p:nvPr/>
        </p:nvSpPr>
        <p:spPr bwMode="auto">
          <a:xfrm>
            <a:off x="769937" y="3460793"/>
            <a:ext cx="498475" cy="506413"/>
          </a:xfrm>
          <a:custGeom>
            <a:avLst/>
            <a:gdLst>
              <a:gd name="T0" fmla="*/ 60 w 60"/>
              <a:gd name="T1" fmla="*/ 57 h 61"/>
              <a:gd name="T2" fmla="*/ 60 w 60"/>
              <a:gd name="T3" fmla="*/ 61 h 61"/>
              <a:gd name="T4" fmla="*/ 53 w 60"/>
              <a:gd name="T5" fmla="*/ 55 h 61"/>
              <a:gd name="T6" fmla="*/ 53 w 60"/>
              <a:gd name="T7" fmla="*/ 53 h 61"/>
              <a:gd name="T8" fmla="*/ 53 w 60"/>
              <a:gd name="T9" fmla="*/ 53 h 61"/>
              <a:gd name="T10" fmla="*/ 56 w 60"/>
              <a:gd name="T11" fmla="*/ 53 h 61"/>
              <a:gd name="T12" fmla="*/ 60 w 60"/>
              <a:gd name="T13" fmla="*/ 57 h 61"/>
              <a:gd name="T14" fmla="*/ 0 w 60"/>
              <a:gd name="T15" fmla="*/ 4 h 61"/>
              <a:gd name="T16" fmla="*/ 0 w 60"/>
              <a:gd name="T17" fmla="*/ 0 h 61"/>
              <a:gd name="T18" fmla="*/ 3 w 60"/>
              <a:gd name="T19" fmla="*/ 3 h 61"/>
              <a:gd name="T20" fmla="*/ 4 w 60"/>
              <a:gd name="T21" fmla="*/ 6 h 61"/>
              <a:gd name="T22" fmla="*/ 4 w 60"/>
              <a:gd name="T23" fmla="*/ 6 h 61"/>
              <a:gd name="T24" fmla="*/ 1 w 60"/>
              <a:gd name="T25" fmla="*/ 6 h 61"/>
              <a:gd name="T26" fmla="*/ 0 w 60"/>
              <a:gd name="T27" fmla="*/ 4 h 61"/>
              <a:gd name="T28" fmla="*/ 10 w 60"/>
              <a:gd name="T29" fmla="*/ 10 h 61"/>
              <a:gd name="T30" fmla="*/ 19 w 60"/>
              <a:gd name="T31" fmla="*/ 18 h 61"/>
              <a:gd name="T32" fmla="*/ 19 w 60"/>
              <a:gd name="T33" fmla="*/ 20 h 61"/>
              <a:gd name="T34" fmla="*/ 19 w 60"/>
              <a:gd name="T35" fmla="*/ 20 h 61"/>
              <a:gd name="T36" fmla="*/ 16 w 60"/>
              <a:gd name="T37" fmla="*/ 20 h 61"/>
              <a:gd name="T38" fmla="*/ 8 w 60"/>
              <a:gd name="T39" fmla="*/ 12 h 61"/>
              <a:gd name="T40" fmla="*/ 8 w 60"/>
              <a:gd name="T41" fmla="*/ 10 h 61"/>
              <a:gd name="T42" fmla="*/ 8 w 60"/>
              <a:gd name="T43" fmla="*/ 10 h 61"/>
              <a:gd name="T44" fmla="*/ 10 w 60"/>
              <a:gd name="T45" fmla="*/ 10 h 61"/>
              <a:gd name="T46" fmla="*/ 25 w 60"/>
              <a:gd name="T47" fmla="*/ 24 h 61"/>
              <a:gd name="T48" fmla="*/ 34 w 60"/>
              <a:gd name="T49" fmla="*/ 32 h 61"/>
              <a:gd name="T50" fmla="*/ 34 w 60"/>
              <a:gd name="T51" fmla="*/ 35 h 61"/>
              <a:gd name="T52" fmla="*/ 34 w 60"/>
              <a:gd name="T53" fmla="*/ 35 h 61"/>
              <a:gd name="T54" fmla="*/ 32 w 60"/>
              <a:gd name="T55" fmla="*/ 35 h 61"/>
              <a:gd name="T56" fmla="*/ 23 w 60"/>
              <a:gd name="T57" fmla="*/ 27 h 61"/>
              <a:gd name="T58" fmla="*/ 23 w 60"/>
              <a:gd name="T59" fmla="*/ 24 h 61"/>
              <a:gd name="T60" fmla="*/ 23 w 60"/>
              <a:gd name="T61" fmla="*/ 24 h 61"/>
              <a:gd name="T62" fmla="*/ 25 w 60"/>
              <a:gd name="T63" fmla="*/ 24 h 61"/>
              <a:gd name="T64" fmla="*/ 41 w 60"/>
              <a:gd name="T65" fmla="*/ 39 h 61"/>
              <a:gd name="T66" fmla="*/ 49 w 60"/>
              <a:gd name="T67" fmla="*/ 47 h 61"/>
              <a:gd name="T68" fmla="*/ 49 w 60"/>
              <a:gd name="T69" fmla="*/ 49 h 61"/>
              <a:gd name="T70" fmla="*/ 49 w 60"/>
              <a:gd name="T71" fmla="*/ 49 h 61"/>
              <a:gd name="T72" fmla="*/ 47 w 60"/>
              <a:gd name="T73" fmla="*/ 49 h 61"/>
              <a:gd name="T74" fmla="*/ 38 w 60"/>
              <a:gd name="T75" fmla="*/ 41 h 61"/>
              <a:gd name="T76" fmla="*/ 38 w 60"/>
              <a:gd name="T77" fmla="*/ 39 h 61"/>
              <a:gd name="T78" fmla="*/ 38 w 60"/>
              <a:gd name="T79" fmla="*/ 39 h 61"/>
              <a:gd name="T80" fmla="*/ 41 w 60"/>
              <a:gd name="T81" fmla="*/ 39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0" h="61">
                <a:moveTo>
                  <a:pt x="60" y="57"/>
                </a:moveTo>
                <a:cubicBezTo>
                  <a:pt x="60" y="61"/>
                  <a:pt x="60" y="61"/>
                  <a:pt x="60" y="61"/>
                </a:cubicBezTo>
                <a:cubicBezTo>
                  <a:pt x="58" y="59"/>
                  <a:pt x="56" y="57"/>
                  <a:pt x="53" y="55"/>
                </a:cubicBezTo>
                <a:cubicBezTo>
                  <a:pt x="53" y="55"/>
                  <a:pt x="53" y="54"/>
                  <a:pt x="53" y="53"/>
                </a:cubicBezTo>
                <a:cubicBezTo>
                  <a:pt x="53" y="53"/>
                  <a:pt x="53" y="53"/>
                  <a:pt x="53" y="53"/>
                </a:cubicBezTo>
                <a:cubicBezTo>
                  <a:pt x="54" y="52"/>
                  <a:pt x="55" y="52"/>
                  <a:pt x="56" y="53"/>
                </a:cubicBezTo>
                <a:cubicBezTo>
                  <a:pt x="57" y="54"/>
                  <a:pt x="58" y="56"/>
                  <a:pt x="60" y="57"/>
                </a:cubicBezTo>
                <a:close/>
                <a:moveTo>
                  <a:pt x="0" y="4"/>
                </a:moveTo>
                <a:cubicBezTo>
                  <a:pt x="0" y="0"/>
                  <a:pt x="0" y="0"/>
                  <a:pt x="0" y="0"/>
                </a:cubicBezTo>
                <a:cubicBezTo>
                  <a:pt x="1" y="1"/>
                  <a:pt x="2" y="2"/>
                  <a:pt x="3" y="3"/>
                </a:cubicBezTo>
                <a:cubicBezTo>
                  <a:pt x="4" y="4"/>
                  <a:pt x="4" y="5"/>
                  <a:pt x="4" y="6"/>
                </a:cubicBezTo>
                <a:cubicBezTo>
                  <a:pt x="4" y="6"/>
                  <a:pt x="4" y="6"/>
                  <a:pt x="4" y="6"/>
                </a:cubicBezTo>
                <a:cubicBezTo>
                  <a:pt x="3" y="6"/>
                  <a:pt x="2" y="6"/>
                  <a:pt x="1" y="6"/>
                </a:cubicBezTo>
                <a:cubicBezTo>
                  <a:pt x="1" y="5"/>
                  <a:pt x="0" y="5"/>
                  <a:pt x="0" y="4"/>
                </a:cubicBezTo>
                <a:close/>
                <a:moveTo>
                  <a:pt x="10" y="10"/>
                </a:moveTo>
                <a:cubicBezTo>
                  <a:pt x="13" y="12"/>
                  <a:pt x="16" y="15"/>
                  <a:pt x="19" y="18"/>
                </a:cubicBezTo>
                <a:cubicBezTo>
                  <a:pt x="19" y="18"/>
                  <a:pt x="19" y="19"/>
                  <a:pt x="19" y="20"/>
                </a:cubicBezTo>
                <a:cubicBezTo>
                  <a:pt x="19" y="20"/>
                  <a:pt x="19" y="20"/>
                  <a:pt x="19" y="20"/>
                </a:cubicBezTo>
                <a:cubicBezTo>
                  <a:pt x="18" y="21"/>
                  <a:pt x="17" y="21"/>
                  <a:pt x="16" y="20"/>
                </a:cubicBezTo>
                <a:cubicBezTo>
                  <a:pt x="14" y="17"/>
                  <a:pt x="11" y="15"/>
                  <a:pt x="8" y="12"/>
                </a:cubicBezTo>
                <a:cubicBezTo>
                  <a:pt x="7" y="11"/>
                  <a:pt x="7" y="10"/>
                  <a:pt x="8" y="10"/>
                </a:cubicBezTo>
                <a:cubicBezTo>
                  <a:pt x="8" y="10"/>
                  <a:pt x="8" y="10"/>
                  <a:pt x="8" y="10"/>
                </a:cubicBezTo>
                <a:cubicBezTo>
                  <a:pt x="8" y="9"/>
                  <a:pt x="9" y="9"/>
                  <a:pt x="10" y="10"/>
                </a:cubicBezTo>
                <a:close/>
                <a:moveTo>
                  <a:pt x="25" y="24"/>
                </a:moveTo>
                <a:cubicBezTo>
                  <a:pt x="28" y="27"/>
                  <a:pt x="31" y="30"/>
                  <a:pt x="34" y="32"/>
                </a:cubicBezTo>
                <a:cubicBezTo>
                  <a:pt x="35" y="33"/>
                  <a:pt x="35" y="34"/>
                  <a:pt x="34" y="35"/>
                </a:cubicBezTo>
                <a:cubicBezTo>
                  <a:pt x="34" y="35"/>
                  <a:pt x="34" y="35"/>
                  <a:pt x="34" y="35"/>
                </a:cubicBezTo>
                <a:cubicBezTo>
                  <a:pt x="33" y="35"/>
                  <a:pt x="32" y="35"/>
                  <a:pt x="32" y="35"/>
                </a:cubicBezTo>
                <a:cubicBezTo>
                  <a:pt x="29" y="32"/>
                  <a:pt x="26" y="29"/>
                  <a:pt x="23" y="27"/>
                </a:cubicBezTo>
                <a:cubicBezTo>
                  <a:pt x="22" y="26"/>
                  <a:pt x="22" y="25"/>
                  <a:pt x="23" y="24"/>
                </a:cubicBezTo>
                <a:cubicBezTo>
                  <a:pt x="23" y="24"/>
                  <a:pt x="23" y="24"/>
                  <a:pt x="23" y="24"/>
                </a:cubicBezTo>
                <a:cubicBezTo>
                  <a:pt x="24" y="24"/>
                  <a:pt x="25" y="23"/>
                  <a:pt x="25" y="24"/>
                </a:cubicBezTo>
                <a:close/>
                <a:moveTo>
                  <a:pt x="41" y="39"/>
                </a:moveTo>
                <a:cubicBezTo>
                  <a:pt x="43" y="41"/>
                  <a:pt x="46" y="44"/>
                  <a:pt x="49" y="47"/>
                </a:cubicBezTo>
                <a:cubicBezTo>
                  <a:pt x="50" y="47"/>
                  <a:pt x="50" y="48"/>
                  <a:pt x="49" y="49"/>
                </a:cubicBezTo>
                <a:cubicBezTo>
                  <a:pt x="49" y="49"/>
                  <a:pt x="49" y="49"/>
                  <a:pt x="49" y="49"/>
                </a:cubicBezTo>
                <a:cubicBezTo>
                  <a:pt x="48" y="50"/>
                  <a:pt x="47" y="50"/>
                  <a:pt x="47" y="49"/>
                </a:cubicBezTo>
                <a:cubicBezTo>
                  <a:pt x="44" y="46"/>
                  <a:pt x="41" y="44"/>
                  <a:pt x="38" y="41"/>
                </a:cubicBezTo>
                <a:cubicBezTo>
                  <a:pt x="38" y="40"/>
                  <a:pt x="38" y="39"/>
                  <a:pt x="38" y="39"/>
                </a:cubicBezTo>
                <a:cubicBezTo>
                  <a:pt x="38" y="39"/>
                  <a:pt x="38" y="39"/>
                  <a:pt x="38" y="39"/>
                </a:cubicBezTo>
                <a:cubicBezTo>
                  <a:pt x="39" y="38"/>
                  <a:pt x="40" y="38"/>
                  <a:pt x="41" y="39"/>
                </a:cubicBezTo>
                <a:close/>
              </a:path>
            </a:pathLst>
          </a:custGeom>
          <a:solidFill>
            <a:srgbClr val="F4B400"/>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 name="Freeform 15"/>
          <p:cNvSpPr/>
          <p:nvPr/>
        </p:nvSpPr>
        <p:spPr bwMode="auto">
          <a:xfrm>
            <a:off x="338137" y="1374818"/>
            <a:ext cx="1081087" cy="955675"/>
          </a:xfrm>
          <a:custGeom>
            <a:avLst/>
            <a:gdLst>
              <a:gd name="T0" fmla="*/ 0 w 681"/>
              <a:gd name="T1" fmla="*/ 0 h 602"/>
              <a:gd name="T2" fmla="*/ 681 w 681"/>
              <a:gd name="T3" fmla="*/ 0 h 602"/>
              <a:gd name="T4" fmla="*/ 681 w 681"/>
              <a:gd name="T5" fmla="*/ 602 h 602"/>
              <a:gd name="T6" fmla="*/ 0 w 681"/>
              <a:gd name="T7" fmla="*/ 602 h 602"/>
              <a:gd name="T8" fmla="*/ 183 w 681"/>
              <a:gd name="T9" fmla="*/ 303 h 602"/>
              <a:gd name="T10" fmla="*/ 0 w 681"/>
              <a:gd name="T11" fmla="*/ 0 h 602"/>
              <a:gd name="T12" fmla="*/ 0 w 681"/>
              <a:gd name="T13" fmla="*/ 0 h 602"/>
            </a:gdLst>
            <a:ahLst/>
            <a:cxnLst>
              <a:cxn ang="0">
                <a:pos x="T0" y="T1"/>
              </a:cxn>
              <a:cxn ang="0">
                <a:pos x="T2" y="T3"/>
              </a:cxn>
              <a:cxn ang="0">
                <a:pos x="T4" y="T5"/>
              </a:cxn>
              <a:cxn ang="0">
                <a:pos x="T6" y="T7"/>
              </a:cxn>
              <a:cxn ang="0">
                <a:pos x="T8" y="T9"/>
              </a:cxn>
              <a:cxn ang="0">
                <a:pos x="T10" y="T11"/>
              </a:cxn>
              <a:cxn ang="0">
                <a:pos x="T12" y="T13"/>
              </a:cxn>
            </a:cxnLst>
            <a:rect l="0" t="0" r="r" b="b"/>
            <a:pathLst>
              <a:path w="681" h="602">
                <a:moveTo>
                  <a:pt x="0" y="0"/>
                </a:moveTo>
                <a:lnTo>
                  <a:pt x="681" y="0"/>
                </a:lnTo>
                <a:lnTo>
                  <a:pt x="681" y="602"/>
                </a:lnTo>
                <a:lnTo>
                  <a:pt x="0" y="602"/>
                </a:lnTo>
                <a:lnTo>
                  <a:pt x="183" y="303"/>
                </a:lnTo>
                <a:lnTo>
                  <a:pt x="0" y="0"/>
                </a:lnTo>
                <a:lnTo>
                  <a:pt x="0" y="0"/>
                </a:lnTo>
                <a:close/>
              </a:path>
            </a:pathLst>
          </a:custGeom>
          <a:solidFill>
            <a:srgbClr val="757975"/>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 name="Freeform 16"/>
          <p:cNvSpPr>
            <a:spLocks noEditPoints="1"/>
          </p:cNvSpPr>
          <p:nvPr/>
        </p:nvSpPr>
        <p:spPr bwMode="auto">
          <a:xfrm>
            <a:off x="454024" y="1431968"/>
            <a:ext cx="998537" cy="33338"/>
          </a:xfrm>
          <a:custGeom>
            <a:avLst/>
            <a:gdLst>
              <a:gd name="T0" fmla="*/ 1 w 120"/>
              <a:gd name="T1" fmla="*/ 0 h 4"/>
              <a:gd name="T2" fmla="*/ 13 w 120"/>
              <a:gd name="T3" fmla="*/ 0 h 4"/>
              <a:gd name="T4" fmla="*/ 15 w 120"/>
              <a:gd name="T5" fmla="*/ 2 h 4"/>
              <a:gd name="T6" fmla="*/ 15 w 120"/>
              <a:gd name="T7" fmla="*/ 2 h 4"/>
              <a:gd name="T8" fmla="*/ 13 w 120"/>
              <a:gd name="T9" fmla="*/ 4 h 4"/>
              <a:gd name="T10" fmla="*/ 1 w 120"/>
              <a:gd name="T11" fmla="*/ 4 h 4"/>
              <a:gd name="T12" fmla="*/ 0 w 120"/>
              <a:gd name="T13" fmla="*/ 2 h 4"/>
              <a:gd name="T14" fmla="*/ 0 w 120"/>
              <a:gd name="T15" fmla="*/ 2 h 4"/>
              <a:gd name="T16" fmla="*/ 1 w 120"/>
              <a:gd name="T17" fmla="*/ 0 h 4"/>
              <a:gd name="T18" fmla="*/ 22 w 120"/>
              <a:gd name="T19" fmla="*/ 0 h 4"/>
              <a:gd name="T20" fmla="*/ 34 w 120"/>
              <a:gd name="T21" fmla="*/ 0 h 4"/>
              <a:gd name="T22" fmla="*/ 36 w 120"/>
              <a:gd name="T23" fmla="*/ 2 h 4"/>
              <a:gd name="T24" fmla="*/ 36 w 120"/>
              <a:gd name="T25" fmla="*/ 2 h 4"/>
              <a:gd name="T26" fmla="*/ 34 w 120"/>
              <a:gd name="T27" fmla="*/ 4 h 4"/>
              <a:gd name="T28" fmla="*/ 22 w 120"/>
              <a:gd name="T29" fmla="*/ 4 h 4"/>
              <a:gd name="T30" fmla="*/ 21 w 120"/>
              <a:gd name="T31" fmla="*/ 2 h 4"/>
              <a:gd name="T32" fmla="*/ 21 w 120"/>
              <a:gd name="T33" fmla="*/ 2 h 4"/>
              <a:gd name="T34" fmla="*/ 22 w 120"/>
              <a:gd name="T35" fmla="*/ 0 h 4"/>
              <a:gd name="T36" fmla="*/ 43 w 120"/>
              <a:gd name="T37" fmla="*/ 0 h 4"/>
              <a:gd name="T38" fmla="*/ 55 w 120"/>
              <a:gd name="T39" fmla="*/ 0 h 4"/>
              <a:gd name="T40" fmla="*/ 57 w 120"/>
              <a:gd name="T41" fmla="*/ 2 h 4"/>
              <a:gd name="T42" fmla="*/ 57 w 120"/>
              <a:gd name="T43" fmla="*/ 2 h 4"/>
              <a:gd name="T44" fmla="*/ 55 w 120"/>
              <a:gd name="T45" fmla="*/ 4 h 4"/>
              <a:gd name="T46" fmla="*/ 43 w 120"/>
              <a:gd name="T47" fmla="*/ 4 h 4"/>
              <a:gd name="T48" fmla="*/ 42 w 120"/>
              <a:gd name="T49" fmla="*/ 2 h 4"/>
              <a:gd name="T50" fmla="*/ 42 w 120"/>
              <a:gd name="T51" fmla="*/ 2 h 4"/>
              <a:gd name="T52" fmla="*/ 43 w 120"/>
              <a:gd name="T53" fmla="*/ 0 h 4"/>
              <a:gd name="T54" fmla="*/ 64 w 120"/>
              <a:gd name="T55" fmla="*/ 0 h 4"/>
              <a:gd name="T56" fmla="*/ 76 w 120"/>
              <a:gd name="T57" fmla="*/ 0 h 4"/>
              <a:gd name="T58" fmla="*/ 78 w 120"/>
              <a:gd name="T59" fmla="*/ 2 h 4"/>
              <a:gd name="T60" fmla="*/ 78 w 120"/>
              <a:gd name="T61" fmla="*/ 2 h 4"/>
              <a:gd name="T62" fmla="*/ 76 w 120"/>
              <a:gd name="T63" fmla="*/ 4 h 4"/>
              <a:gd name="T64" fmla="*/ 64 w 120"/>
              <a:gd name="T65" fmla="*/ 4 h 4"/>
              <a:gd name="T66" fmla="*/ 63 w 120"/>
              <a:gd name="T67" fmla="*/ 2 h 4"/>
              <a:gd name="T68" fmla="*/ 63 w 120"/>
              <a:gd name="T69" fmla="*/ 2 h 4"/>
              <a:gd name="T70" fmla="*/ 64 w 120"/>
              <a:gd name="T71" fmla="*/ 0 h 4"/>
              <a:gd name="T72" fmla="*/ 85 w 120"/>
              <a:gd name="T73" fmla="*/ 0 h 4"/>
              <a:gd name="T74" fmla="*/ 97 w 120"/>
              <a:gd name="T75" fmla="*/ 0 h 4"/>
              <a:gd name="T76" fmla="*/ 99 w 120"/>
              <a:gd name="T77" fmla="*/ 2 h 4"/>
              <a:gd name="T78" fmla="*/ 99 w 120"/>
              <a:gd name="T79" fmla="*/ 2 h 4"/>
              <a:gd name="T80" fmla="*/ 97 w 120"/>
              <a:gd name="T81" fmla="*/ 4 h 4"/>
              <a:gd name="T82" fmla="*/ 85 w 120"/>
              <a:gd name="T83" fmla="*/ 4 h 4"/>
              <a:gd name="T84" fmla="*/ 84 w 120"/>
              <a:gd name="T85" fmla="*/ 2 h 4"/>
              <a:gd name="T86" fmla="*/ 84 w 120"/>
              <a:gd name="T87" fmla="*/ 2 h 4"/>
              <a:gd name="T88" fmla="*/ 85 w 120"/>
              <a:gd name="T89" fmla="*/ 0 h 4"/>
              <a:gd name="T90" fmla="*/ 106 w 120"/>
              <a:gd name="T91" fmla="*/ 0 h 4"/>
              <a:gd name="T92" fmla="*/ 118 w 120"/>
              <a:gd name="T93" fmla="*/ 0 h 4"/>
              <a:gd name="T94" fmla="*/ 120 w 120"/>
              <a:gd name="T95" fmla="*/ 2 h 4"/>
              <a:gd name="T96" fmla="*/ 120 w 120"/>
              <a:gd name="T97" fmla="*/ 2 h 4"/>
              <a:gd name="T98" fmla="*/ 118 w 120"/>
              <a:gd name="T99" fmla="*/ 4 h 4"/>
              <a:gd name="T100" fmla="*/ 106 w 120"/>
              <a:gd name="T101" fmla="*/ 4 h 4"/>
              <a:gd name="T102" fmla="*/ 105 w 120"/>
              <a:gd name="T103" fmla="*/ 2 h 4"/>
              <a:gd name="T104" fmla="*/ 105 w 120"/>
              <a:gd name="T105" fmla="*/ 2 h 4"/>
              <a:gd name="T106" fmla="*/ 106 w 120"/>
              <a:gd name="T107"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0" h="4">
                <a:moveTo>
                  <a:pt x="1" y="0"/>
                </a:moveTo>
                <a:cubicBezTo>
                  <a:pt x="5" y="0"/>
                  <a:pt x="9" y="0"/>
                  <a:pt x="13" y="0"/>
                </a:cubicBezTo>
                <a:cubicBezTo>
                  <a:pt x="14" y="0"/>
                  <a:pt x="15" y="1"/>
                  <a:pt x="15" y="2"/>
                </a:cubicBezTo>
                <a:cubicBezTo>
                  <a:pt x="15" y="2"/>
                  <a:pt x="15" y="2"/>
                  <a:pt x="15" y="2"/>
                </a:cubicBezTo>
                <a:cubicBezTo>
                  <a:pt x="15" y="3"/>
                  <a:pt x="14" y="4"/>
                  <a:pt x="13" y="4"/>
                </a:cubicBezTo>
                <a:cubicBezTo>
                  <a:pt x="9" y="4"/>
                  <a:pt x="5" y="4"/>
                  <a:pt x="1" y="4"/>
                </a:cubicBezTo>
                <a:cubicBezTo>
                  <a:pt x="0" y="4"/>
                  <a:pt x="0" y="3"/>
                  <a:pt x="0" y="2"/>
                </a:cubicBezTo>
                <a:cubicBezTo>
                  <a:pt x="0" y="2"/>
                  <a:pt x="0" y="2"/>
                  <a:pt x="0" y="2"/>
                </a:cubicBezTo>
                <a:cubicBezTo>
                  <a:pt x="0" y="1"/>
                  <a:pt x="0" y="0"/>
                  <a:pt x="1" y="0"/>
                </a:cubicBezTo>
                <a:close/>
                <a:moveTo>
                  <a:pt x="22" y="0"/>
                </a:moveTo>
                <a:cubicBezTo>
                  <a:pt x="26" y="0"/>
                  <a:pt x="30" y="0"/>
                  <a:pt x="34" y="0"/>
                </a:cubicBezTo>
                <a:cubicBezTo>
                  <a:pt x="35" y="0"/>
                  <a:pt x="36" y="1"/>
                  <a:pt x="36" y="2"/>
                </a:cubicBezTo>
                <a:cubicBezTo>
                  <a:pt x="36" y="2"/>
                  <a:pt x="36" y="2"/>
                  <a:pt x="36" y="2"/>
                </a:cubicBezTo>
                <a:cubicBezTo>
                  <a:pt x="36" y="3"/>
                  <a:pt x="35" y="4"/>
                  <a:pt x="34" y="4"/>
                </a:cubicBezTo>
                <a:cubicBezTo>
                  <a:pt x="30" y="4"/>
                  <a:pt x="26" y="4"/>
                  <a:pt x="22" y="4"/>
                </a:cubicBezTo>
                <a:cubicBezTo>
                  <a:pt x="21" y="4"/>
                  <a:pt x="21" y="3"/>
                  <a:pt x="21" y="2"/>
                </a:cubicBezTo>
                <a:cubicBezTo>
                  <a:pt x="21" y="2"/>
                  <a:pt x="21" y="2"/>
                  <a:pt x="21" y="2"/>
                </a:cubicBezTo>
                <a:cubicBezTo>
                  <a:pt x="21" y="1"/>
                  <a:pt x="21" y="0"/>
                  <a:pt x="22" y="0"/>
                </a:cubicBezTo>
                <a:close/>
                <a:moveTo>
                  <a:pt x="43" y="0"/>
                </a:moveTo>
                <a:cubicBezTo>
                  <a:pt x="47" y="0"/>
                  <a:pt x="51" y="0"/>
                  <a:pt x="55" y="0"/>
                </a:cubicBezTo>
                <a:cubicBezTo>
                  <a:pt x="56" y="0"/>
                  <a:pt x="57" y="1"/>
                  <a:pt x="57" y="2"/>
                </a:cubicBezTo>
                <a:cubicBezTo>
                  <a:pt x="57" y="2"/>
                  <a:pt x="57" y="2"/>
                  <a:pt x="57" y="2"/>
                </a:cubicBezTo>
                <a:cubicBezTo>
                  <a:pt x="57" y="3"/>
                  <a:pt x="56" y="4"/>
                  <a:pt x="55" y="4"/>
                </a:cubicBezTo>
                <a:cubicBezTo>
                  <a:pt x="51" y="4"/>
                  <a:pt x="47" y="4"/>
                  <a:pt x="43" y="4"/>
                </a:cubicBezTo>
                <a:cubicBezTo>
                  <a:pt x="42" y="4"/>
                  <a:pt x="42" y="3"/>
                  <a:pt x="42" y="2"/>
                </a:cubicBezTo>
                <a:cubicBezTo>
                  <a:pt x="42" y="2"/>
                  <a:pt x="42" y="2"/>
                  <a:pt x="42" y="2"/>
                </a:cubicBezTo>
                <a:cubicBezTo>
                  <a:pt x="42" y="1"/>
                  <a:pt x="42" y="0"/>
                  <a:pt x="43" y="0"/>
                </a:cubicBezTo>
                <a:close/>
                <a:moveTo>
                  <a:pt x="64" y="0"/>
                </a:moveTo>
                <a:cubicBezTo>
                  <a:pt x="68" y="0"/>
                  <a:pt x="72" y="0"/>
                  <a:pt x="76" y="0"/>
                </a:cubicBezTo>
                <a:cubicBezTo>
                  <a:pt x="77" y="0"/>
                  <a:pt x="78" y="1"/>
                  <a:pt x="78" y="2"/>
                </a:cubicBezTo>
                <a:cubicBezTo>
                  <a:pt x="78" y="2"/>
                  <a:pt x="78" y="2"/>
                  <a:pt x="78" y="2"/>
                </a:cubicBezTo>
                <a:cubicBezTo>
                  <a:pt x="78" y="3"/>
                  <a:pt x="77" y="4"/>
                  <a:pt x="76" y="4"/>
                </a:cubicBezTo>
                <a:cubicBezTo>
                  <a:pt x="72" y="4"/>
                  <a:pt x="68" y="4"/>
                  <a:pt x="64" y="4"/>
                </a:cubicBezTo>
                <a:cubicBezTo>
                  <a:pt x="63" y="4"/>
                  <a:pt x="63" y="3"/>
                  <a:pt x="63" y="2"/>
                </a:cubicBezTo>
                <a:cubicBezTo>
                  <a:pt x="63" y="2"/>
                  <a:pt x="63" y="2"/>
                  <a:pt x="63" y="2"/>
                </a:cubicBezTo>
                <a:cubicBezTo>
                  <a:pt x="63" y="1"/>
                  <a:pt x="63" y="0"/>
                  <a:pt x="64" y="0"/>
                </a:cubicBezTo>
                <a:close/>
                <a:moveTo>
                  <a:pt x="85" y="0"/>
                </a:moveTo>
                <a:cubicBezTo>
                  <a:pt x="89" y="0"/>
                  <a:pt x="93" y="0"/>
                  <a:pt x="97" y="0"/>
                </a:cubicBezTo>
                <a:cubicBezTo>
                  <a:pt x="98" y="0"/>
                  <a:pt x="99" y="1"/>
                  <a:pt x="99" y="2"/>
                </a:cubicBezTo>
                <a:cubicBezTo>
                  <a:pt x="99" y="2"/>
                  <a:pt x="99" y="2"/>
                  <a:pt x="99" y="2"/>
                </a:cubicBezTo>
                <a:cubicBezTo>
                  <a:pt x="99" y="3"/>
                  <a:pt x="98" y="4"/>
                  <a:pt x="97" y="4"/>
                </a:cubicBezTo>
                <a:cubicBezTo>
                  <a:pt x="93" y="4"/>
                  <a:pt x="89" y="4"/>
                  <a:pt x="85" y="4"/>
                </a:cubicBezTo>
                <a:cubicBezTo>
                  <a:pt x="84" y="4"/>
                  <a:pt x="84" y="3"/>
                  <a:pt x="84" y="2"/>
                </a:cubicBezTo>
                <a:cubicBezTo>
                  <a:pt x="84" y="2"/>
                  <a:pt x="84" y="2"/>
                  <a:pt x="84" y="2"/>
                </a:cubicBezTo>
                <a:cubicBezTo>
                  <a:pt x="84" y="1"/>
                  <a:pt x="84" y="0"/>
                  <a:pt x="85" y="0"/>
                </a:cubicBezTo>
                <a:close/>
                <a:moveTo>
                  <a:pt x="106" y="0"/>
                </a:moveTo>
                <a:cubicBezTo>
                  <a:pt x="110" y="0"/>
                  <a:pt x="114" y="0"/>
                  <a:pt x="118" y="0"/>
                </a:cubicBezTo>
                <a:cubicBezTo>
                  <a:pt x="119" y="0"/>
                  <a:pt x="120" y="1"/>
                  <a:pt x="120" y="2"/>
                </a:cubicBezTo>
                <a:cubicBezTo>
                  <a:pt x="120" y="2"/>
                  <a:pt x="120" y="2"/>
                  <a:pt x="120" y="2"/>
                </a:cubicBezTo>
                <a:cubicBezTo>
                  <a:pt x="120" y="3"/>
                  <a:pt x="119" y="4"/>
                  <a:pt x="118" y="4"/>
                </a:cubicBezTo>
                <a:cubicBezTo>
                  <a:pt x="114" y="4"/>
                  <a:pt x="110" y="4"/>
                  <a:pt x="106" y="4"/>
                </a:cubicBezTo>
                <a:cubicBezTo>
                  <a:pt x="105" y="4"/>
                  <a:pt x="105" y="3"/>
                  <a:pt x="105" y="2"/>
                </a:cubicBezTo>
                <a:cubicBezTo>
                  <a:pt x="105" y="2"/>
                  <a:pt x="105" y="2"/>
                  <a:pt x="105" y="2"/>
                </a:cubicBezTo>
                <a:cubicBezTo>
                  <a:pt x="105" y="1"/>
                  <a:pt x="105" y="0"/>
                  <a:pt x="106" y="0"/>
                </a:cubicBezTo>
                <a:close/>
              </a:path>
            </a:pathLst>
          </a:custGeom>
          <a:solidFill>
            <a:srgbClr val="979895"/>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 name="Freeform 17"/>
          <p:cNvSpPr>
            <a:spLocks noEditPoints="1"/>
          </p:cNvSpPr>
          <p:nvPr/>
        </p:nvSpPr>
        <p:spPr bwMode="auto">
          <a:xfrm>
            <a:off x="454024" y="2238418"/>
            <a:ext cx="998537" cy="33338"/>
          </a:xfrm>
          <a:custGeom>
            <a:avLst/>
            <a:gdLst>
              <a:gd name="T0" fmla="*/ 1 w 120"/>
              <a:gd name="T1" fmla="*/ 0 h 4"/>
              <a:gd name="T2" fmla="*/ 13 w 120"/>
              <a:gd name="T3" fmla="*/ 0 h 4"/>
              <a:gd name="T4" fmla="*/ 15 w 120"/>
              <a:gd name="T5" fmla="*/ 2 h 4"/>
              <a:gd name="T6" fmla="*/ 15 w 120"/>
              <a:gd name="T7" fmla="*/ 2 h 4"/>
              <a:gd name="T8" fmla="*/ 13 w 120"/>
              <a:gd name="T9" fmla="*/ 4 h 4"/>
              <a:gd name="T10" fmla="*/ 1 w 120"/>
              <a:gd name="T11" fmla="*/ 4 h 4"/>
              <a:gd name="T12" fmla="*/ 0 w 120"/>
              <a:gd name="T13" fmla="*/ 2 h 4"/>
              <a:gd name="T14" fmla="*/ 0 w 120"/>
              <a:gd name="T15" fmla="*/ 2 h 4"/>
              <a:gd name="T16" fmla="*/ 1 w 120"/>
              <a:gd name="T17" fmla="*/ 0 h 4"/>
              <a:gd name="T18" fmla="*/ 22 w 120"/>
              <a:gd name="T19" fmla="*/ 0 h 4"/>
              <a:gd name="T20" fmla="*/ 34 w 120"/>
              <a:gd name="T21" fmla="*/ 0 h 4"/>
              <a:gd name="T22" fmla="*/ 36 w 120"/>
              <a:gd name="T23" fmla="*/ 2 h 4"/>
              <a:gd name="T24" fmla="*/ 36 w 120"/>
              <a:gd name="T25" fmla="*/ 2 h 4"/>
              <a:gd name="T26" fmla="*/ 34 w 120"/>
              <a:gd name="T27" fmla="*/ 4 h 4"/>
              <a:gd name="T28" fmla="*/ 22 w 120"/>
              <a:gd name="T29" fmla="*/ 4 h 4"/>
              <a:gd name="T30" fmla="*/ 21 w 120"/>
              <a:gd name="T31" fmla="*/ 2 h 4"/>
              <a:gd name="T32" fmla="*/ 21 w 120"/>
              <a:gd name="T33" fmla="*/ 2 h 4"/>
              <a:gd name="T34" fmla="*/ 22 w 120"/>
              <a:gd name="T35" fmla="*/ 0 h 4"/>
              <a:gd name="T36" fmla="*/ 43 w 120"/>
              <a:gd name="T37" fmla="*/ 0 h 4"/>
              <a:gd name="T38" fmla="*/ 55 w 120"/>
              <a:gd name="T39" fmla="*/ 0 h 4"/>
              <a:gd name="T40" fmla="*/ 57 w 120"/>
              <a:gd name="T41" fmla="*/ 2 h 4"/>
              <a:gd name="T42" fmla="*/ 57 w 120"/>
              <a:gd name="T43" fmla="*/ 2 h 4"/>
              <a:gd name="T44" fmla="*/ 55 w 120"/>
              <a:gd name="T45" fmla="*/ 4 h 4"/>
              <a:gd name="T46" fmla="*/ 43 w 120"/>
              <a:gd name="T47" fmla="*/ 4 h 4"/>
              <a:gd name="T48" fmla="*/ 42 w 120"/>
              <a:gd name="T49" fmla="*/ 2 h 4"/>
              <a:gd name="T50" fmla="*/ 42 w 120"/>
              <a:gd name="T51" fmla="*/ 2 h 4"/>
              <a:gd name="T52" fmla="*/ 43 w 120"/>
              <a:gd name="T53" fmla="*/ 0 h 4"/>
              <a:gd name="T54" fmla="*/ 64 w 120"/>
              <a:gd name="T55" fmla="*/ 0 h 4"/>
              <a:gd name="T56" fmla="*/ 76 w 120"/>
              <a:gd name="T57" fmla="*/ 0 h 4"/>
              <a:gd name="T58" fmla="*/ 78 w 120"/>
              <a:gd name="T59" fmla="*/ 2 h 4"/>
              <a:gd name="T60" fmla="*/ 78 w 120"/>
              <a:gd name="T61" fmla="*/ 2 h 4"/>
              <a:gd name="T62" fmla="*/ 76 w 120"/>
              <a:gd name="T63" fmla="*/ 4 h 4"/>
              <a:gd name="T64" fmla="*/ 64 w 120"/>
              <a:gd name="T65" fmla="*/ 4 h 4"/>
              <a:gd name="T66" fmla="*/ 63 w 120"/>
              <a:gd name="T67" fmla="*/ 2 h 4"/>
              <a:gd name="T68" fmla="*/ 63 w 120"/>
              <a:gd name="T69" fmla="*/ 2 h 4"/>
              <a:gd name="T70" fmla="*/ 64 w 120"/>
              <a:gd name="T71" fmla="*/ 0 h 4"/>
              <a:gd name="T72" fmla="*/ 85 w 120"/>
              <a:gd name="T73" fmla="*/ 0 h 4"/>
              <a:gd name="T74" fmla="*/ 97 w 120"/>
              <a:gd name="T75" fmla="*/ 0 h 4"/>
              <a:gd name="T76" fmla="*/ 99 w 120"/>
              <a:gd name="T77" fmla="*/ 2 h 4"/>
              <a:gd name="T78" fmla="*/ 99 w 120"/>
              <a:gd name="T79" fmla="*/ 2 h 4"/>
              <a:gd name="T80" fmla="*/ 97 w 120"/>
              <a:gd name="T81" fmla="*/ 4 h 4"/>
              <a:gd name="T82" fmla="*/ 85 w 120"/>
              <a:gd name="T83" fmla="*/ 4 h 4"/>
              <a:gd name="T84" fmla="*/ 84 w 120"/>
              <a:gd name="T85" fmla="*/ 2 h 4"/>
              <a:gd name="T86" fmla="*/ 84 w 120"/>
              <a:gd name="T87" fmla="*/ 2 h 4"/>
              <a:gd name="T88" fmla="*/ 85 w 120"/>
              <a:gd name="T89" fmla="*/ 0 h 4"/>
              <a:gd name="T90" fmla="*/ 106 w 120"/>
              <a:gd name="T91" fmla="*/ 0 h 4"/>
              <a:gd name="T92" fmla="*/ 118 w 120"/>
              <a:gd name="T93" fmla="*/ 0 h 4"/>
              <a:gd name="T94" fmla="*/ 120 w 120"/>
              <a:gd name="T95" fmla="*/ 2 h 4"/>
              <a:gd name="T96" fmla="*/ 120 w 120"/>
              <a:gd name="T97" fmla="*/ 2 h 4"/>
              <a:gd name="T98" fmla="*/ 118 w 120"/>
              <a:gd name="T99" fmla="*/ 4 h 4"/>
              <a:gd name="T100" fmla="*/ 106 w 120"/>
              <a:gd name="T101" fmla="*/ 4 h 4"/>
              <a:gd name="T102" fmla="*/ 105 w 120"/>
              <a:gd name="T103" fmla="*/ 2 h 4"/>
              <a:gd name="T104" fmla="*/ 105 w 120"/>
              <a:gd name="T105" fmla="*/ 2 h 4"/>
              <a:gd name="T106" fmla="*/ 106 w 120"/>
              <a:gd name="T107"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0" h="4">
                <a:moveTo>
                  <a:pt x="1" y="0"/>
                </a:moveTo>
                <a:cubicBezTo>
                  <a:pt x="5" y="0"/>
                  <a:pt x="9" y="0"/>
                  <a:pt x="13" y="0"/>
                </a:cubicBezTo>
                <a:cubicBezTo>
                  <a:pt x="14" y="0"/>
                  <a:pt x="15" y="1"/>
                  <a:pt x="15" y="2"/>
                </a:cubicBezTo>
                <a:cubicBezTo>
                  <a:pt x="15" y="2"/>
                  <a:pt x="15" y="2"/>
                  <a:pt x="15" y="2"/>
                </a:cubicBezTo>
                <a:cubicBezTo>
                  <a:pt x="15" y="3"/>
                  <a:pt x="14" y="4"/>
                  <a:pt x="13" y="4"/>
                </a:cubicBezTo>
                <a:cubicBezTo>
                  <a:pt x="9" y="4"/>
                  <a:pt x="5" y="4"/>
                  <a:pt x="1" y="4"/>
                </a:cubicBezTo>
                <a:cubicBezTo>
                  <a:pt x="0" y="4"/>
                  <a:pt x="0" y="3"/>
                  <a:pt x="0" y="2"/>
                </a:cubicBezTo>
                <a:cubicBezTo>
                  <a:pt x="0" y="2"/>
                  <a:pt x="0" y="2"/>
                  <a:pt x="0" y="2"/>
                </a:cubicBezTo>
                <a:cubicBezTo>
                  <a:pt x="0" y="1"/>
                  <a:pt x="0" y="0"/>
                  <a:pt x="1" y="0"/>
                </a:cubicBezTo>
                <a:close/>
                <a:moveTo>
                  <a:pt x="22" y="0"/>
                </a:moveTo>
                <a:cubicBezTo>
                  <a:pt x="26" y="0"/>
                  <a:pt x="30" y="0"/>
                  <a:pt x="34" y="0"/>
                </a:cubicBezTo>
                <a:cubicBezTo>
                  <a:pt x="35" y="0"/>
                  <a:pt x="36" y="1"/>
                  <a:pt x="36" y="2"/>
                </a:cubicBezTo>
                <a:cubicBezTo>
                  <a:pt x="36" y="2"/>
                  <a:pt x="36" y="2"/>
                  <a:pt x="36" y="2"/>
                </a:cubicBezTo>
                <a:cubicBezTo>
                  <a:pt x="36" y="3"/>
                  <a:pt x="35" y="4"/>
                  <a:pt x="34" y="4"/>
                </a:cubicBezTo>
                <a:cubicBezTo>
                  <a:pt x="30" y="4"/>
                  <a:pt x="26" y="4"/>
                  <a:pt x="22" y="4"/>
                </a:cubicBezTo>
                <a:cubicBezTo>
                  <a:pt x="21" y="4"/>
                  <a:pt x="21" y="3"/>
                  <a:pt x="21" y="2"/>
                </a:cubicBezTo>
                <a:cubicBezTo>
                  <a:pt x="21" y="2"/>
                  <a:pt x="21" y="2"/>
                  <a:pt x="21" y="2"/>
                </a:cubicBezTo>
                <a:cubicBezTo>
                  <a:pt x="21" y="1"/>
                  <a:pt x="21" y="0"/>
                  <a:pt x="22" y="0"/>
                </a:cubicBezTo>
                <a:close/>
                <a:moveTo>
                  <a:pt x="43" y="0"/>
                </a:moveTo>
                <a:cubicBezTo>
                  <a:pt x="47" y="0"/>
                  <a:pt x="51" y="0"/>
                  <a:pt x="55" y="0"/>
                </a:cubicBezTo>
                <a:cubicBezTo>
                  <a:pt x="56" y="0"/>
                  <a:pt x="57" y="1"/>
                  <a:pt x="57" y="2"/>
                </a:cubicBezTo>
                <a:cubicBezTo>
                  <a:pt x="57" y="2"/>
                  <a:pt x="57" y="2"/>
                  <a:pt x="57" y="2"/>
                </a:cubicBezTo>
                <a:cubicBezTo>
                  <a:pt x="57" y="3"/>
                  <a:pt x="56" y="4"/>
                  <a:pt x="55" y="4"/>
                </a:cubicBezTo>
                <a:cubicBezTo>
                  <a:pt x="51" y="4"/>
                  <a:pt x="47" y="4"/>
                  <a:pt x="43" y="4"/>
                </a:cubicBezTo>
                <a:cubicBezTo>
                  <a:pt x="42" y="4"/>
                  <a:pt x="42" y="3"/>
                  <a:pt x="42" y="2"/>
                </a:cubicBezTo>
                <a:cubicBezTo>
                  <a:pt x="42" y="2"/>
                  <a:pt x="42" y="2"/>
                  <a:pt x="42" y="2"/>
                </a:cubicBezTo>
                <a:cubicBezTo>
                  <a:pt x="42" y="1"/>
                  <a:pt x="42" y="0"/>
                  <a:pt x="43" y="0"/>
                </a:cubicBezTo>
                <a:close/>
                <a:moveTo>
                  <a:pt x="64" y="0"/>
                </a:moveTo>
                <a:cubicBezTo>
                  <a:pt x="68" y="0"/>
                  <a:pt x="72" y="0"/>
                  <a:pt x="76" y="0"/>
                </a:cubicBezTo>
                <a:cubicBezTo>
                  <a:pt x="77" y="0"/>
                  <a:pt x="78" y="1"/>
                  <a:pt x="78" y="2"/>
                </a:cubicBezTo>
                <a:cubicBezTo>
                  <a:pt x="78" y="2"/>
                  <a:pt x="78" y="2"/>
                  <a:pt x="78" y="2"/>
                </a:cubicBezTo>
                <a:cubicBezTo>
                  <a:pt x="78" y="3"/>
                  <a:pt x="77" y="4"/>
                  <a:pt x="76" y="4"/>
                </a:cubicBezTo>
                <a:cubicBezTo>
                  <a:pt x="72" y="4"/>
                  <a:pt x="68" y="4"/>
                  <a:pt x="64" y="4"/>
                </a:cubicBezTo>
                <a:cubicBezTo>
                  <a:pt x="63" y="4"/>
                  <a:pt x="63" y="3"/>
                  <a:pt x="63" y="2"/>
                </a:cubicBezTo>
                <a:cubicBezTo>
                  <a:pt x="63" y="2"/>
                  <a:pt x="63" y="2"/>
                  <a:pt x="63" y="2"/>
                </a:cubicBezTo>
                <a:cubicBezTo>
                  <a:pt x="63" y="1"/>
                  <a:pt x="63" y="0"/>
                  <a:pt x="64" y="0"/>
                </a:cubicBezTo>
                <a:close/>
                <a:moveTo>
                  <a:pt x="85" y="0"/>
                </a:moveTo>
                <a:cubicBezTo>
                  <a:pt x="89" y="0"/>
                  <a:pt x="93" y="0"/>
                  <a:pt x="97" y="0"/>
                </a:cubicBezTo>
                <a:cubicBezTo>
                  <a:pt x="98" y="0"/>
                  <a:pt x="99" y="1"/>
                  <a:pt x="99" y="2"/>
                </a:cubicBezTo>
                <a:cubicBezTo>
                  <a:pt x="99" y="2"/>
                  <a:pt x="99" y="2"/>
                  <a:pt x="99" y="2"/>
                </a:cubicBezTo>
                <a:cubicBezTo>
                  <a:pt x="99" y="3"/>
                  <a:pt x="98" y="4"/>
                  <a:pt x="97" y="4"/>
                </a:cubicBezTo>
                <a:cubicBezTo>
                  <a:pt x="93" y="4"/>
                  <a:pt x="89" y="4"/>
                  <a:pt x="85" y="4"/>
                </a:cubicBezTo>
                <a:cubicBezTo>
                  <a:pt x="84" y="4"/>
                  <a:pt x="84" y="3"/>
                  <a:pt x="84" y="2"/>
                </a:cubicBezTo>
                <a:cubicBezTo>
                  <a:pt x="84" y="2"/>
                  <a:pt x="84" y="2"/>
                  <a:pt x="84" y="2"/>
                </a:cubicBezTo>
                <a:cubicBezTo>
                  <a:pt x="84" y="1"/>
                  <a:pt x="84" y="0"/>
                  <a:pt x="85" y="0"/>
                </a:cubicBezTo>
                <a:close/>
                <a:moveTo>
                  <a:pt x="106" y="0"/>
                </a:moveTo>
                <a:cubicBezTo>
                  <a:pt x="110" y="0"/>
                  <a:pt x="114" y="0"/>
                  <a:pt x="118" y="0"/>
                </a:cubicBezTo>
                <a:cubicBezTo>
                  <a:pt x="119" y="0"/>
                  <a:pt x="120" y="1"/>
                  <a:pt x="120" y="2"/>
                </a:cubicBezTo>
                <a:cubicBezTo>
                  <a:pt x="120" y="2"/>
                  <a:pt x="120" y="2"/>
                  <a:pt x="120" y="2"/>
                </a:cubicBezTo>
                <a:cubicBezTo>
                  <a:pt x="120" y="3"/>
                  <a:pt x="119" y="4"/>
                  <a:pt x="118" y="4"/>
                </a:cubicBezTo>
                <a:cubicBezTo>
                  <a:pt x="114" y="4"/>
                  <a:pt x="110" y="4"/>
                  <a:pt x="106" y="4"/>
                </a:cubicBezTo>
                <a:cubicBezTo>
                  <a:pt x="105" y="4"/>
                  <a:pt x="105" y="3"/>
                  <a:pt x="105" y="2"/>
                </a:cubicBezTo>
                <a:cubicBezTo>
                  <a:pt x="105" y="2"/>
                  <a:pt x="105" y="2"/>
                  <a:pt x="105" y="2"/>
                </a:cubicBezTo>
                <a:cubicBezTo>
                  <a:pt x="105" y="1"/>
                  <a:pt x="105" y="0"/>
                  <a:pt x="106" y="0"/>
                </a:cubicBezTo>
                <a:close/>
              </a:path>
            </a:pathLst>
          </a:custGeom>
          <a:solidFill>
            <a:srgbClr val="979895"/>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 name="Freeform 18"/>
          <p:cNvSpPr/>
          <p:nvPr/>
        </p:nvSpPr>
        <p:spPr bwMode="auto">
          <a:xfrm>
            <a:off x="769937" y="1000168"/>
            <a:ext cx="498475" cy="1430338"/>
          </a:xfrm>
          <a:custGeom>
            <a:avLst/>
            <a:gdLst>
              <a:gd name="T0" fmla="*/ 0 w 314"/>
              <a:gd name="T1" fmla="*/ 0 h 901"/>
              <a:gd name="T2" fmla="*/ 314 w 314"/>
              <a:gd name="T3" fmla="*/ 299 h 901"/>
              <a:gd name="T4" fmla="*/ 314 w 314"/>
              <a:gd name="T5" fmla="*/ 901 h 901"/>
              <a:gd name="T6" fmla="*/ 0 w 314"/>
              <a:gd name="T7" fmla="*/ 602 h 901"/>
              <a:gd name="T8" fmla="*/ 0 w 314"/>
              <a:gd name="T9" fmla="*/ 0 h 901"/>
              <a:gd name="T10" fmla="*/ 0 w 314"/>
              <a:gd name="T11" fmla="*/ 0 h 901"/>
            </a:gdLst>
            <a:ahLst/>
            <a:cxnLst>
              <a:cxn ang="0">
                <a:pos x="T0" y="T1"/>
              </a:cxn>
              <a:cxn ang="0">
                <a:pos x="T2" y="T3"/>
              </a:cxn>
              <a:cxn ang="0">
                <a:pos x="T4" y="T5"/>
              </a:cxn>
              <a:cxn ang="0">
                <a:pos x="T6" y="T7"/>
              </a:cxn>
              <a:cxn ang="0">
                <a:pos x="T8" y="T9"/>
              </a:cxn>
              <a:cxn ang="0">
                <a:pos x="T10" y="T11"/>
              </a:cxn>
            </a:cxnLst>
            <a:rect l="0" t="0" r="r" b="b"/>
            <a:pathLst>
              <a:path w="314" h="901">
                <a:moveTo>
                  <a:pt x="0" y="0"/>
                </a:moveTo>
                <a:lnTo>
                  <a:pt x="314" y="299"/>
                </a:lnTo>
                <a:lnTo>
                  <a:pt x="314" y="901"/>
                </a:lnTo>
                <a:lnTo>
                  <a:pt x="0" y="602"/>
                </a:lnTo>
                <a:lnTo>
                  <a:pt x="0" y="0"/>
                </a:lnTo>
                <a:lnTo>
                  <a:pt x="0" y="0"/>
                </a:lnTo>
                <a:close/>
              </a:path>
            </a:pathLst>
          </a:custGeom>
          <a:solidFill>
            <a:srgbClr val="3D4947"/>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 name="Freeform 19"/>
          <p:cNvSpPr>
            <a:spLocks noEditPoints="1"/>
          </p:cNvSpPr>
          <p:nvPr/>
        </p:nvSpPr>
        <p:spPr bwMode="auto">
          <a:xfrm>
            <a:off x="769937" y="1832018"/>
            <a:ext cx="498475" cy="506413"/>
          </a:xfrm>
          <a:custGeom>
            <a:avLst/>
            <a:gdLst>
              <a:gd name="T0" fmla="*/ 60 w 60"/>
              <a:gd name="T1" fmla="*/ 57 h 61"/>
              <a:gd name="T2" fmla="*/ 60 w 60"/>
              <a:gd name="T3" fmla="*/ 61 h 61"/>
              <a:gd name="T4" fmla="*/ 53 w 60"/>
              <a:gd name="T5" fmla="*/ 55 h 61"/>
              <a:gd name="T6" fmla="*/ 53 w 60"/>
              <a:gd name="T7" fmla="*/ 53 h 61"/>
              <a:gd name="T8" fmla="*/ 53 w 60"/>
              <a:gd name="T9" fmla="*/ 53 h 61"/>
              <a:gd name="T10" fmla="*/ 56 w 60"/>
              <a:gd name="T11" fmla="*/ 53 h 61"/>
              <a:gd name="T12" fmla="*/ 60 w 60"/>
              <a:gd name="T13" fmla="*/ 57 h 61"/>
              <a:gd name="T14" fmla="*/ 0 w 60"/>
              <a:gd name="T15" fmla="*/ 4 h 61"/>
              <a:gd name="T16" fmla="*/ 0 w 60"/>
              <a:gd name="T17" fmla="*/ 0 h 61"/>
              <a:gd name="T18" fmla="*/ 3 w 60"/>
              <a:gd name="T19" fmla="*/ 3 h 61"/>
              <a:gd name="T20" fmla="*/ 4 w 60"/>
              <a:gd name="T21" fmla="*/ 6 h 61"/>
              <a:gd name="T22" fmla="*/ 4 w 60"/>
              <a:gd name="T23" fmla="*/ 6 h 61"/>
              <a:gd name="T24" fmla="*/ 1 w 60"/>
              <a:gd name="T25" fmla="*/ 6 h 61"/>
              <a:gd name="T26" fmla="*/ 0 w 60"/>
              <a:gd name="T27" fmla="*/ 4 h 61"/>
              <a:gd name="T28" fmla="*/ 10 w 60"/>
              <a:gd name="T29" fmla="*/ 10 h 61"/>
              <a:gd name="T30" fmla="*/ 19 w 60"/>
              <a:gd name="T31" fmla="*/ 18 h 61"/>
              <a:gd name="T32" fmla="*/ 19 w 60"/>
              <a:gd name="T33" fmla="*/ 20 h 61"/>
              <a:gd name="T34" fmla="*/ 19 w 60"/>
              <a:gd name="T35" fmla="*/ 20 h 61"/>
              <a:gd name="T36" fmla="*/ 16 w 60"/>
              <a:gd name="T37" fmla="*/ 20 h 61"/>
              <a:gd name="T38" fmla="*/ 8 w 60"/>
              <a:gd name="T39" fmla="*/ 12 h 61"/>
              <a:gd name="T40" fmla="*/ 8 w 60"/>
              <a:gd name="T41" fmla="*/ 10 h 61"/>
              <a:gd name="T42" fmla="*/ 8 w 60"/>
              <a:gd name="T43" fmla="*/ 10 h 61"/>
              <a:gd name="T44" fmla="*/ 10 w 60"/>
              <a:gd name="T45" fmla="*/ 10 h 61"/>
              <a:gd name="T46" fmla="*/ 25 w 60"/>
              <a:gd name="T47" fmla="*/ 24 h 61"/>
              <a:gd name="T48" fmla="*/ 34 w 60"/>
              <a:gd name="T49" fmla="*/ 32 h 61"/>
              <a:gd name="T50" fmla="*/ 34 w 60"/>
              <a:gd name="T51" fmla="*/ 35 h 61"/>
              <a:gd name="T52" fmla="*/ 34 w 60"/>
              <a:gd name="T53" fmla="*/ 35 h 61"/>
              <a:gd name="T54" fmla="*/ 32 w 60"/>
              <a:gd name="T55" fmla="*/ 35 h 61"/>
              <a:gd name="T56" fmla="*/ 23 w 60"/>
              <a:gd name="T57" fmla="*/ 26 h 61"/>
              <a:gd name="T58" fmla="*/ 23 w 60"/>
              <a:gd name="T59" fmla="*/ 24 h 61"/>
              <a:gd name="T60" fmla="*/ 23 w 60"/>
              <a:gd name="T61" fmla="*/ 24 h 61"/>
              <a:gd name="T62" fmla="*/ 25 w 60"/>
              <a:gd name="T63" fmla="*/ 24 h 61"/>
              <a:gd name="T64" fmla="*/ 41 w 60"/>
              <a:gd name="T65" fmla="*/ 39 h 61"/>
              <a:gd name="T66" fmla="*/ 49 w 60"/>
              <a:gd name="T67" fmla="*/ 47 h 61"/>
              <a:gd name="T68" fmla="*/ 49 w 60"/>
              <a:gd name="T69" fmla="*/ 49 h 61"/>
              <a:gd name="T70" fmla="*/ 49 w 60"/>
              <a:gd name="T71" fmla="*/ 49 h 61"/>
              <a:gd name="T72" fmla="*/ 47 w 60"/>
              <a:gd name="T73" fmla="*/ 49 h 61"/>
              <a:gd name="T74" fmla="*/ 38 w 60"/>
              <a:gd name="T75" fmla="*/ 41 h 61"/>
              <a:gd name="T76" fmla="*/ 38 w 60"/>
              <a:gd name="T77" fmla="*/ 39 h 61"/>
              <a:gd name="T78" fmla="*/ 38 w 60"/>
              <a:gd name="T79" fmla="*/ 39 h 61"/>
              <a:gd name="T80" fmla="*/ 41 w 60"/>
              <a:gd name="T81" fmla="*/ 39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0" h="61">
                <a:moveTo>
                  <a:pt x="60" y="57"/>
                </a:moveTo>
                <a:cubicBezTo>
                  <a:pt x="60" y="61"/>
                  <a:pt x="60" y="61"/>
                  <a:pt x="60" y="61"/>
                </a:cubicBezTo>
                <a:cubicBezTo>
                  <a:pt x="58" y="59"/>
                  <a:pt x="56" y="57"/>
                  <a:pt x="53" y="55"/>
                </a:cubicBezTo>
                <a:cubicBezTo>
                  <a:pt x="53" y="55"/>
                  <a:pt x="53" y="54"/>
                  <a:pt x="53" y="53"/>
                </a:cubicBezTo>
                <a:cubicBezTo>
                  <a:pt x="53" y="53"/>
                  <a:pt x="53" y="53"/>
                  <a:pt x="53" y="53"/>
                </a:cubicBezTo>
                <a:cubicBezTo>
                  <a:pt x="54" y="52"/>
                  <a:pt x="55" y="52"/>
                  <a:pt x="56" y="53"/>
                </a:cubicBezTo>
                <a:cubicBezTo>
                  <a:pt x="57" y="54"/>
                  <a:pt x="58" y="55"/>
                  <a:pt x="60" y="57"/>
                </a:cubicBezTo>
                <a:close/>
                <a:moveTo>
                  <a:pt x="0" y="4"/>
                </a:moveTo>
                <a:cubicBezTo>
                  <a:pt x="0" y="0"/>
                  <a:pt x="0" y="0"/>
                  <a:pt x="0" y="0"/>
                </a:cubicBezTo>
                <a:cubicBezTo>
                  <a:pt x="1" y="1"/>
                  <a:pt x="2" y="2"/>
                  <a:pt x="3" y="3"/>
                </a:cubicBezTo>
                <a:cubicBezTo>
                  <a:pt x="4" y="4"/>
                  <a:pt x="4" y="5"/>
                  <a:pt x="4" y="6"/>
                </a:cubicBezTo>
                <a:cubicBezTo>
                  <a:pt x="4" y="6"/>
                  <a:pt x="4" y="6"/>
                  <a:pt x="4" y="6"/>
                </a:cubicBezTo>
                <a:cubicBezTo>
                  <a:pt x="3" y="6"/>
                  <a:pt x="2" y="6"/>
                  <a:pt x="1" y="6"/>
                </a:cubicBezTo>
                <a:cubicBezTo>
                  <a:pt x="1" y="5"/>
                  <a:pt x="0" y="5"/>
                  <a:pt x="0" y="4"/>
                </a:cubicBezTo>
                <a:close/>
                <a:moveTo>
                  <a:pt x="10" y="10"/>
                </a:moveTo>
                <a:cubicBezTo>
                  <a:pt x="13" y="12"/>
                  <a:pt x="16" y="15"/>
                  <a:pt x="19" y="18"/>
                </a:cubicBezTo>
                <a:cubicBezTo>
                  <a:pt x="19" y="18"/>
                  <a:pt x="19" y="19"/>
                  <a:pt x="19" y="20"/>
                </a:cubicBezTo>
                <a:cubicBezTo>
                  <a:pt x="19" y="20"/>
                  <a:pt x="19" y="20"/>
                  <a:pt x="19" y="20"/>
                </a:cubicBezTo>
                <a:cubicBezTo>
                  <a:pt x="18" y="21"/>
                  <a:pt x="17" y="21"/>
                  <a:pt x="16" y="20"/>
                </a:cubicBezTo>
                <a:cubicBezTo>
                  <a:pt x="14" y="17"/>
                  <a:pt x="11" y="15"/>
                  <a:pt x="8" y="12"/>
                </a:cubicBezTo>
                <a:cubicBezTo>
                  <a:pt x="7" y="11"/>
                  <a:pt x="7" y="10"/>
                  <a:pt x="8" y="10"/>
                </a:cubicBezTo>
                <a:cubicBezTo>
                  <a:pt x="8" y="10"/>
                  <a:pt x="8" y="10"/>
                  <a:pt x="8" y="10"/>
                </a:cubicBezTo>
                <a:cubicBezTo>
                  <a:pt x="8" y="9"/>
                  <a:pt x="9" y="9"/>
                  <a:pt x="10" y="10"/>
                </a:cubicBezTo>
                <a:close/>
                <a:moveTo>
                  <a:pt x="25" y="24"/>
                </a:moveTo>
                <a:cubicBezTo>
                  <a:pt x="28" y="27"/>
                  <a:pt x="31" y="29"/>
                  <a:pt x="34" y="32"/>
                </a:cubicBezTo>
                <a:cubicBezTo>
                  <a:pt x="35" y="33"/>
                  <a:pt x="35" y="34"/>
                  <a:pt x="34" y="35"/>
                </a:cubicBezTo>
                <a:cubicBezTo>
                  <a:pt x="34" y="35"/>
                  <a:pt x="34" y="35"/>
                  <a:pt x="34" y="35"/>
                </a:cubicBezTo>
                <a:cubicBezTo>
                  <a:pt x="33" y="35"/>
                  <a:pt x="32" y="35"/>
                  <a:pt x="32" y="35"/>
                </a:cubicBezTo>
                <a:cubicBezTo>
                  <a:pt x="29" y="32"/>
                  <a:pt x="26" y="29"/>
                  <a:pt x="23" y="26"/>
                </a:cubicBezTo>
                <a:cubicBezTo>
                  <a:pt x="22" y="26"/>
                  <a:pt x="22" y="25"/>
                  <a:pt x="23" y="24"/>
                </a:cubicBezTo>
                <a:cubicBezTo>
                  <a:pt x="23" y="24"/>
                  <a:pt x="23" y="24"/>
                  <a:pt x="23" y="24"/>
                </a:cubicBezTo>
                <a:cubicBezTo>
                  <a:pt x="24" y="23"/>
                  <a:pt x="25" y="23"/>
                  <a:pt x="25" y="24"/>
                </a:cubicBezTo>
                <a:close/>
                <a:moveTo>
                  <a:pt x="41" y="39"/>
                </a:moveTo>
                <a:cubicBezTo>
                  <a:pt x="43" y="41"/>
                  <a:pt x="46" y="44"/>
                  <a:pt x="49" y="47"/>
                </a:cubicBezTo>
                <a:cubicBezTo>
                  <a:pt x="50" y="47"/>
                  <a:pt x="50" y="48"/>
                  <a:pt x="49" y="49"/>
                </a:cubicBezTo>
                <a:cubicBezTo>
                  <a:pt x="49" y="49"/>
                  <a:pt x="49" y="49"/>
                  <a:pt x="49" y="49"/>
                </a:cubicBezTo>
                <a:cubicBezTo>
                  <a:pt x="48" y="50"/>
                  <a:pt x="47" y="50"/>
                  <a:pt x="47" y="49"/>
                </a:cubicBezTo>
                <a:cubicBezTo>
                  <a:pt x="44" y="46"/>
                  <a:pt x="41" y="44"/>
                  <a:pt x="38" y="41"/>
                </a:cubicBezTo>
                <a:cubicBezTo>
                  <a:pt x="38" y="40"/>
                  <a:pt x="38" y="39"/>
                  <a:pt x="38" y="39"/>
                </a:cubicBezTo>
                <a:cubicBezTo>
                  <a:pt x="38" y="39"/>
                  <a:pt x="38" y="39"/>
                  <a:pt x="38" y="39"/>
                </a:cubicBezTo>
                <a:cubicBezTo>
                  <a:pt x="39" y="38"/>
                  <a:pt x="40" y="38"/>
                  <a:pt x="41" y="39"/>
                </a:cubicBezTo>
                <a:close/>
              </a:path>
            </a:pathLst>
          </a:custGeom>
          <a:solidFill>
            <a:srgbClr val="4B5754"/>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 name="Freeform 31"/>
          <p:cNvSpPr/>
          <p:nvPr/>
        </p:nvSpPr>
        <p:spPr bwMode="auto">
          <a:xfrm>
            <a:off x="769937" y="1000168"/>
            <a:ext cx="1954212" cy="955675"/>
          </a:xfrm>
          <a:custGeom>
            <a:avLst/>
            <a:gdLst>
              <a:gd name="T0" fmla="*/ 0 w 1231"/>
              <a:gd name="T1" fmla="*/ 0 h 602"/>
              <a:gd name="T2" fmla="*/ 1047 w 1231"/>
              <a:gd name="T3" fmla="*/ 0 h 602"/>
              <a:gd name="T4" fmla="*/ 1231 w 1231"/>
              <a:gd name="T5" fmla="*/ 299 h 602"/>
              <a:gd name="T6" fmla="*/ 1047 w 1231"/>
              <a:gd name="T7" fmla="*/ 602 h 602"/>
              <a:gd name="T8" fmla="*/ 0 w 1231"/>
              <a:gd name="T9" fmla="*/ 602 h 602"/>
              <a:gd name="T10" fmla="*/ 0 w 1231"/>
              <a:gd name="T11" fmla="*/ 0 h 602"/>
              <a:gd name="T12" fmla="*/ 0 w 1231"/>
              <a:gd name="T13" fmla="*/ 0 h 602"/>
            </a:gdLst>
            <a:ahLst/>
            <a:cxnLst>
              <a:cxn ang="0">
                <a:pos x="T0" y="T1"/>
              </a:cxn>
              <a:cxn ang="0">
                <a:pos x="T2" y="T3"/>
              </a:cxn>
              <a:cxn ang="0">
                <a:pos x="T4" y="T5"/>
              </a:cxn>
              <a:cxn ang="0">
                <a:pos x="T6" y="T7"/>
              </a:cxn>
              <a:cxn ang="0">
                <a:pos x="T8" y="T9"/>
              </a:cxn>
              <a:cxn ang="0">
                <a:pos x="T10" y="T11"/>
              </a:cxn>
              <a:cxn ang="0">
                <a:pos x="T12" y="T13"/>
              </a:cxn>
            </a:cxnLst>
            <a:rect l="0" t="0" r="r" b="b"/>
            <a:pathLst>
              <a:path w="1231" h="602">
                <a:moveTo>
                  <a:pt x="0" y="0"/>
                </a:moveTo>
                <a:lnTo>
                  <a:pt x="1047" y="0"/>
                </a:lnTo>
                <a:lnTo>
                  <a:pt x="1231" y="299"/>
                </a:lnTo>
                <a:lnTo>
                  <a:pt x="1047" y="602"/>
                </a:lnTo>
                <a:lnTo>
                  <a:pt x="0" y="602"/>
                </a:lnTo>
                <a:lnTo>
                  <a:pt x="0" y="0"/>
                </a:lnTo>
                <a:lnTo>
                  <a:pt x="0" y="0"/>
                </a:lnTo>
                <a:close/>
              </a:path>
            </a:pathLst>
          </a:custGeom>
          <a:solidFill>
            <a:srgbClr val="4B5754"/>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 name="Freeform 32"/>
          <p:cNvSpPr>
            <a:spLocks noEditPoints="1"/>
          </p:cNvSpPr>
          <p:nvPr/>
        </p:nvSpPr>
        <p:spPr bwMode="auto">
          <a:xfrm>
            <a:off x="769937" y="1531981"/>
            <a:ext cx="1836737" cy="366713"/>
          </a:xfrm>
          <a:custGeom>
            <a:avLst/>
            <a:gdLst>
              <a:gd name="T0" fmla="*/ 30 w 221"/>
              <a:gd name="T1" fmla="*/ 44 h 44"/>
              <a:gd name="T2" fmla="*/ 32 w 221"/>
              <a:gd name="T3" fmla="*/ 42 h 44"/>
              <a:gd name="T4" fmla="*/ 19 w 221"/>
              <a:gd name="T5" fmla="*/ 40 h 44"/>
              <a:gd name="T6" fmla="*/ 17 w 221"/>
              <a:gd name="T7" fmla="*/ 42 h 44"/>
              <a:gd name="T8" fmla="*/ 196 w 221"/>
              <a:gd name="T9" fmla="*/ 42 h 44"/>
              <a:gd name="T10" fmla="*/ 198 w 221"/>
              <a:gd name="T11" fmla="*/ 36 h 44"/>
              <a:gd name="T12" fmla="*/ 195 w 221"/>
              <a:gd name="T13" fmla="*/ 37 h 44"/>
              <a:gd name="T14" fmla="*/ 186 w 221"/>
              <a:gd name="T15" fmla="*/ 40 h 44"/>
              <a:gd name="T16" fmla="*/ 185 w 221"/>
              <a:gd name="T17" fmla="*/ 42 h 44"/>
              <a:gd name="T18" fmla="*/ 194 w 221"/>
              <a:gd name="T19" fmla="*/ 44 h 44"/>
              <a:gd name="T20" fmla="*/ 217 w 221"/>
              <a:gd name="T21" fmla="*/ 1 h 44"/>
              <a:gd name="T22" fmla="*/ 212 w 221"/>
              <a:gd name="T23" fmla="*/ 13 h 44"/>
              <a:gd name="T24" fmla="*/ 214 w 221"/>
              <a:gd name="T25" fmla="*/ 12 h 44"/>
              <a:gd name="T26" fmla="*/ 219 w 221"/>
              <a:gd name="T27" fmla="*/ 0 h 44"/>
              <a:gd name="T28" fmla="*/ 217 w 221"/>
              <a:gd name="T29" fmla="*/ 1 h 44"/>
              <a:gd name="T30" fmla="*/ 200 w 221"/>
              <a:gd name="T31" fmla="*/ 29 h 44"/>
              <a:gd name="T32" fmla="*/ 201 w 221"/>
              <a:gd name="T33" fmla="*/ 31 h 44"/>
              <a:gd name="T34" fmla="*/ 209 w 221"/>
              <a:gd name="T35" fmla="*/ 20 h 44"/>
              <a:gd name="T36" fmla="*/ 209 w 221"/>
              <a:gd name="T37" fmla="*/ 18 h 44"/>
              <a:gd name="T38" fmla="*/ 0 w 221"/>
              <a:gd name="T39" fmla="*/ 40 h 44"/>
              <a:gd name="T40" fmla="*/ 8 w 221"/>
              <a:gd name="T41" fmla="*/ 44 h 44"/>
              <a:gd name="T42" fmla="*/ 10 w 221"/>
              <a:gd name="T43" fmla="*/ 42 h 44"/>
              <a:gd name="T44" fmla="*/ 0 w 221"/>
              <a:gd name="T45" fmla="*/ 40 h 44"/>
              <a:gd name="T46" fmla="*/ 51 w 221"/>
              <a:gd name="T47" fmla="*/ 44 h 44"/>
              <a:gd name="T48" fmla="*/ 53 w 221"/>
              <a:gd name="T49" fmla="*/ 42 h 44"/>
              <a:gd name="T50" fmla="*/ 40 w 221"/>
              <a:gd name="T51" fmla="*/ 40 h 44"/>
              <a:gd name="T52" fmla="*/ 38 w 221"/>
              <a:gd name="T53" fmla="*/ 42 h 44"/>
              <a:gd name="T54" fmla="*/ 60 w 221"/>
              <a:gd name="T55" fmla="*/ 44 h 44"/>
              <a:gd name="T56" fmla="*/ 74 w 221"/>
              <a:gd name="T57" fmla="*/ 42 h 44"/>
              <a:gd name="T58" fmla="*/ 72 w 221"/>
              <a:gd name="T59" fmla="*/ 40 h 44"/>
              <a:gd name="T60" fmla="*/ 59 w 221"/>
              <a:gd name="T61" fmla="*/ 42 h 44"/>
              <a:gd name="T62" fmla="*/ 60 w 221"/>
              <a:gd name="T63" fmla="*/ 44 h 44"/>
              <a:gd name="T64" fmla="*/ 93 w 221"/>
              <a:gd name="T65" fmla="*/ 44 h 44"/>
              <a:gd name="T66" fmla="*/ 95 w 221"/>
              <a:gd name="T67" fmla="*/ 42 h 44"/>
              <a:gd name="T68" fmla="*/ 81 w 221"/>
              <a:gd name="T69" fmla="*/ 40 h 44"/>
              <a:gd name="T70" fmla="*/ 80 w 221"/>
              <a:gd name="T71" fmla="*/ 42 h 44"/>
              <a:gd name="T72" fmla="*/ 102 w 221"/>
              <a:gd name="T73" fmla="*/ 44 h 44"/>
              <a:gd name="T74" fmla="*/ 116 w 221"/>
              <a:gd name="T75" fmla="*/ 42 h 44"/>
              <a:gd name="T76" fmla="*/ 114 w 221"/>
              <a:gd name="T77" fmla="*/ 40 h 44"/>
              <a:gd name="T78" fmla="*/ 101 w 221"/>
              <a:gd name="T79" fmla="*/ 42 h 44"/>
              <a:gd name="T80" fmla="*/ 102 w 221"/>
              <a:gd name="T81" fmla="*/ 44 h 44"/>
              <a:gd name="T82" fmla="*/ 135 w 221"/>
              <a:gd name="T83" fmla="*/ 44 h 44"/>
              <a:gd name="T84" fmla="*/ 137 w 221"/>
              <a:gd name="T85" fmla="*/ 42 h 44"/>
              <a:gd name="T86" fmla="*/ 123 w 221"/>
              <a:gd name="T87" fmla="*/ 40 h 44"/>
              <a:gd name="T88" fmla="*/ 122 w 221"/>
              <a:gd name="T89" fmla="*/ 42 h 44"/>
              <a:gd name="T90" fmla="*/ 144 w 221"/>
              <a:gd name="T91" fmla="*/ 44 h 44"/>
              <a:gd name="T92" fmla="*/ 158 w 221"/>
              <a:gd name="T93" fmla="*/ 42 h 44"/>
              <a:gd name="T94" fmla="*/ 156 w 221"/>
              <a:gd name="T95" fmla="*/ 40 h 44"/>
              <a:gd name="T96" fmla="*/ 143 w 221"/>
              <a:gd name="T97" fmla="*/ 42 h 44"/>
              <a:gd name="T98" fmla="*/ 144 w 221"/>
              <a:gd name="T99" fmla="*/ 44 h 44"/>
              <a:gd name="T100" fmla="*/ 177 w 221"/>
              <a:gd name="T101" fmla="*/ 44 h 44"/>
              <a:gd name="T102" fmla="*/ 179 w 221"/>
              <a:gd name="T103" fmla="*/ 42 h 44"/>
              <a:gd name="T104" fmla="*/ 165 w 221"/>
              <a:gd name="T105" fmla="*/ 40 h 44"/>
              <a:gd name="T106" fmla="*/ 164 w 221"/>
              <a:gd name="T107" fmla="*/ 42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21" h="44">
                <a:moveTo>
                  <a:pt x="19" y="44"/>
                </a:moveTo>
                <a:cubicBezTo>
                  <a:pt x="22" y="44"/>
                  <a:pt x="26" y="44"/>
                  <a:pt x="30" y="44"/>
                </a:cubicBezTo>
                <a:cubicBezTo>
                  <a:pt x="31" y="44"/>
                  <a:pt x="32" y="43"/>
                  <a:pt x="32" y="42"/>
                </a:cubicBezTo>
                <a:cubicBezTo>
                  <a:pt x="32" y="42"/>
                  <a:pt x="32" y="42"/>
                  <a:pt x="32" y="42"/>
                </a:cubicBezTo>
                <a:cubicBezTo>
                  <a:pt x="32" y="41"/>
                  <a:pt x="31" y="40"/>
                  <a:pt x="30" y="40"/>
                </a:cubicBezTo>
                <a:cubicBezTo>
                  <a:pt x="26" y="40"/>
                  <a:pt x="22" y="40"/>
                  <a:pt x="19" y="40"/>
                </a:cubicBezTo>
                <a:cubicBezTo>
                  <a:pt x="18" y="40"/>
                  <a:pt x="17" y="41"/>
                  <a:pt x="17" y="42"/>
                </a:cubicBezTo>
                <a:cubicBezTo>
                  <a:pt x="17" y="42"/>
                  <a:pt x="17" y="42"/>
                  <a:pt x="17" y="42"/>
                </a:cubicBezTo>
                <a:cubicBezTo>
                  <a:pt x="17" y="43"/>
                  <a:pt x="18" y="44"/>
                  <a:pt x="19" y="44"/>
                </a:cubicBezTo>
                <a:close/>
                <a:moveTo>
                  <a:pt x="196" y="42"/>
                </a:moveTo>
                <a:cubicBezTo>
                  <a:pt x="196" y="41"/>
                  <a:pt x="197" y="40"/>
                  <a:pt x="198" y="38"/>
                </a:cubicBezTo>
                <a:cubicBezTo>
                  <a:pt x="199" y="38"/>
                  <a:pt x="198" y="36"/>
                  <a:pt x="198" y="36"/>
                </a:cubicBezTo>
                <a:cubicBezTo>
                  <a:pt x="198" y="36"/>
                  <a:pt x="198" y="36"/>
                  <a:pt x="198" y="36"/>
                </a:cubicBezTo>
                <a:cubicBezTo>
                  <a:pt x="197" y="36"/>
                  <a:pt x="196" y="36"/>
                  <a:pt x="195" y="37"/>
                </a:cubicBezTo>
                <a:cubicBezTo>
                  <a:pt x="195" y="38"/>
                  <a:pt x="194" y="39"/>
                  <a:pt x="193" y="40"/>
                </a:cubicBezTo>
                <a:cubicBezTo>
                  <a:pt x="190" y="40"/>
                  <a:pt x="190" y="40"/>
                  <a:pt x="186" y="40"/>
                </a:cubicBezTo>
                <a:cubicBezTo>
                  <a:pt x="186" y="40"/>
                  <a:pt x="185" y="41"/>
                  <a:pt x="185" y="42"/>
                </a:cubicBezTo>
                <a:cubicBezTo>
                  <a:pt x="185" y="42"/>
                  <a:pt x="185" y="42"/>
                  <a:pt x="185" y="42"/>
                </a:cubicBezTo>
                <a:cubicBezTo>
                  <a:pt x="185" y="43"/>
                  <a:pt x="186" y="44"/>
                  <a:pt x="186" y="44"/>
                </a:cubicBezTo>
                <a:cubicBezTo>
                  <a:pt x="194" y="44"/>
                  <a:pt x="194" y="44"/>
                  <a:pt x="194" y="44"/>
                </a:cubicBezTo>
                <a:cubicBezTo>
                  <a:pt x="195" y="44"/>
                  <a:pt x="195" y="43"/>
                  <a:pt x="196" y="42"/>
                </a:cubicBezTo>
                <a:close/>
                <a:moveTo>
                  <a:pt x="217" y="1"/>
                </a:moveTo>
                <a:cubicBezTo>
                  <a:pt x="215" y="4"/>
                  <a:pt x="213" y="7"/>
                  <a:pt x="211" y="11"/>
                </a:cubicBezTo>
                <a:cubicBezTo>
                  <a:pt x="211" y="12"/>
                  <a:pt x="211" y="13"/>
                  <a:pt x="212" y="13"/>
                </a:cubicBezTo>
                <a:cubicBezTo>
                  <a:pt x="212" y="13"/>
                  <a:pt x="212" y="13"/>
                  <a:pt x="212" y="13"/>
                </a:cubicBezTo>
                <a:cubicBezTo>
                  <a:pt x="212" y="14"/>
                  <a:pt x="213" y="13"/>
                  <a:pt x="214" y="12"/>
                </a:cubicBezTo>
                <a:cubicBezTo>
                  <a:pt x="216" y="9"/>
                  <a:pt x="218" y="6"/>
                  <a:pt x="220" y="2"/>
                </a:cubicBezTo>
                <a:cubicBezTo>
                  <a:pt x="221" y="2"/>
                  <a:pt x="220" y="1"/>
                  <a:pt x="219" y="0"/>
                </a:cubicBezTo>
                <a:cubicBezTo>
                  <a:pt x="219" y="0"/>
                  <a:pt x="219" y="0"/>
                  <a:pt x="219" y="0"/>
                </a:cubicBezTo>
                <a:cubicBezTo>
                  <a:pt x="219" y="0"/>
                  <a:pt x="218" y="0"/>
                  <a:pt x="217" y="1"/>
                </a:cubicBezTo>
                <a:close/>
                <a:moveTo>
                  <a:pt x="206" y="19"/>
                </a:moveTo>
                <a:cubicBezTo>
                  <a:pt x="204" y="22"/>
                  <a:pt x="202" y="25"/>
                  <a:pt x="200" y="29"/>
                </a:cubicBezTo>
                <a:cubicBezTo>
                  <a:pt x="200" y="29"/>
                  <a:pt x="200" y="30"/>
                  <a:pt x="201" y="31"/>
                </a:cubicBezTo>
                <a:cubicBezTo>
                  <a:pt x="201" y="31"/>
                  <a:pt x="201" y="31"/>
                  <a:pt x="201" y="31"/>
                </a:cubicBezTo>
                <a:cubicBezTo>
                  <a:pt x="201" y="31"/>
                  <a:pt x="203" y="31"/>
                  <a:pt x="203" y="30"/>
                </a:cubicBezTo>
                <a:cubicBezTo>
                  <a:pt x="205" y="27"/>
                  <a:pt x="207" y="24"/>
                  <a:pt x="209" y="20"/>
                </a:cubicBezTo>
                <a:cubicBezTo>
                  <a:pt x="210" y="20"/>
                  <a:pt x="209" y="19"/>
                  <a:pt x="209" y="18"/>
                </a:cubicBezTo>
                <a:cubicBezTo>
                  <a:pt x="209" y="18"/>
                  <a:pt x="209" y="18"/>
                  <a:pt x="209" y="18"/>
                </a:cubicBezTo>
                <a:cubicBezTo>
                  <a:pt x="208" y="18"/>
                  <a:pt x="207" y="18"/>
                  <a:pt x="206" y="19"/>
                </a:cubicBezTo>
                <a:close/>
                <a:moveTo>
                  <a:pt x="0" y="40"/>
                </a:moveTo>
                <a:cubicBezTo>
                  <a:pt x="0" y="44"/>
                  <a:pt x="0" y="44"/>
                  <a:pt x="0" y="44"/>
                </a:cubicBezTo>
                <a:cubicBezTo>
                  <a:pt x="8" y="44"/>
                  <a:pt x="8" y="44"/>
                  <a:pt x="8" y="44"/>
                </a:cubicBezTo>
                <a:cubicBezTo>
                  <a:pt x="9" y="44"/>
                  <a:pt x="10" y="43"/>
                  <a:pt x="10" y="42"/>
                </a:cubicBezTo>
                <a:cubicBezTo>
                  <a:pt x="10" y="42"/>
                  <a:pt x="10" y="42"/>
                  <a:pt x="10" y="42"/>
                </a:cubicBezTo>
                <a:cubicBezTo>
                  <a:pt x="10" y="41"/>
                  <a:pt x="9" y="40"/>
                  <a:pt x="8" y="40"/>
                </a:cubicBezTo>
                <a:cubicBezTo>
                  <a:pt x="0" y="40"/>
                  <a:pt x="0" y="40"/>
                  <a:pt x="0" y="40"/>
                </a:cubicBezTo>
                <a:close/>
                <a:moveTo>
                  <a:pt x="40" y="44"/>
                </a:moveTo>
                <a:cubicBezTo>
                  <a:pt x="43" y="44"/>
                  <a:pt x="47" y="44"/>
                  <a:pt x="51" y="44"/>
                </a:cubicBezTo>
                <a:cubicBezTo>
                  <a:pt x="52" y="44"/>
                  <a:pt x="53" y="43"/>
                  <a:pt x="53" y="42"/>
                </a:cubicBezTo>
                <a:cubicBezTo>
                  <a:pt x="53" y="42"/>
                  <a:pt x="53" y="42"/>
                  <a:pt x="53" y="42"/>
                </a:cubicBezTo>
                <a:cubicBezTo>
                  <a:pt x="53" y="41"/>
                  <a:pt x="52" y="40"/>
                  <a:pt x="51" y="40"/>
                </a:cubicBezTo>
                <a:cubicBezTo>
                  <a:pt x="47" y="40"/>
                  <a:pt x="43" y="40"/>
                  <a:pt x="40" y="40"/>
                </a:cubicBezTo>
                <a:cubicBezTo>
                  <a:pt x="39" y="40"/>
                  <a:pt x="38" y="41"/>
                  <a:pt x="38" y="42"/>
                </a:cubicBezTo>
                <a:cubicBezTo>
                  <a:pt x="38" y="42"/>
                  <a:pt x="38" y="42"/>
                  <a:pt x="38" y="42"/>
                </a:cubicBezTo>
                <a:cubicBezTo>
                  <a:pt x="38" y="43"/>
                  <a:pt x="39" y="44"/>
                  <a:pt x="40" y="44"/>
                </a:cubicBezTo>
                <a:close/>
                <a:moveTo>
                  <a:pt x="60" y="44"/>
                </a:moveTo>
                <a:cubicBezTo>
                  <a:pt x="64" y="44"/>
                  <a:pt x="68" y="44"/>
                  <a:pt x="72" y="44"/>
                </a:cubicBezTo>
                <a:cubicBezTo>
                  <a:pt x="73" y="44"/>
                  <a:pt x="74" y="43"/>
                  <a:pt x="74" y="42"/>
                </a:cubicBezTo>
                <a:cubicBezTo>
                  <a:pt x="74" y="42"/>
                  <a:pt x="74" y="42"/>
                  <a:pt x="74" y="42"/>
                </a:cubicBezTo>
                <a:cubicBezTo>
                  <a:pt x="74" y="41"/>
                  <a:pt x="73" y="40"/>
                  <a:pt x="72" y="40"/>
                </a:cubicBezTo>
                <a:cubicBezTo>
                  <a:pt x="68" y="40"/>
                  <a:pt x="64" y="40"/>
                  <a:pt x="60" y="40"/>
                </a:cubicBezTo>
                <a:cubicBezTo>
                  <a:pt x="60" y="40"/>
                  <a:pt x="59" y="41"/>
                  <a:pt x="59" y="42"/>
                </a:cubicBezTo>
                <a:cubicBezTo>
                  <a:pt x="59" y="42"/>
                  <a:pt x="59" y="42"/>
                  <a:pt x="59" y="42"/>
                </a:cubicBezTo>
                <a:cubicBezTo>
                  <a:pt x="59" y="43"/>
                  <a:pt x="60" y="44"/>
                  <a:pt x="60" y="44"/>
                </a:cubicBezTo>
                <a:close/>
                <a:moveTo>
                  <a:pt x="81" y="44"/>
                </a:moveTo>
                <a:cubicBezTo>
                  <a:pt x="85" y="44"/>
                  <a:pt x="89" y="44"/>
                  <a:pt x="93" y="44"/>
                </a:cubicBezTo>
                <a:cubicBezTo>
                  <a:pt x="94" y="44"/>
                  <a:pt x="95" y="43"/>
                  <a:pt x="95" y="42"/>
                </a:cubicBezTo>
                <a:cubicBezTo>
                  <a:pt x="95" y="42"/>
                  <a:pt x="95" y="42"/>
                  <a:pt x="95" y="42"/>
                </a:cubicBezTo>
                <a:cubicBezTo>
                  <a:pt x="95" y="41"/>
                  <a:pt x="94" y="40"/>
                  <a:pt x="93" y="40"/>
                </a:cubicBezTo>
                <a:cubicBezTo>
                  <a:pt x="89" y="40"/>
                  <a:pt x="85" y="40"/>
                  <a:pt x="81" y="40"/>
                </a:cubicBezTo>
                <a:cubicBezTo>
                  <a:pt x="81" y="40"/>
                  <a:pt x="80" y="41"/>
                  <a:pt x="80" y="42"/>
                </a:cubicBezTo>
                <a:cubicBezTo>
                  <a:pt x="80" y="42"/>
                  <a:pt x="80" y="42"/>
                  <a:pt x="80" y="42"/>
                </a:cubicBezTo>
                <a:cubicBezTo>
                  <a:pt x="80" y="43"/>
                  <a:pt x="81" y="44"/>
                  <a:pt x="81" y="44"/>
                </a:cubicBezTo>
                <a:close/>
                <a:moveTo>
                  <a:pt x="102" y="44"/>
                </a:moveTo>
                <a:cubicBezTo>
                  <a:pt x="106" y="44"/>
                  <a:pt x="110" y="44"/>
                  <a:pt x="114" y="44"/>
                </a:cubicBezTo>
                <a:cubicBezTo>
                  <a:pt x="115" y="44"/>
                  <a:pt x="116" y="43"/>
                  <a:pt x="116" y="42"/>
                </a:cubicBezTo>
                <a:cubicBezTo>
                  <a:pt x="116" y="42"/>
                  <a:pt x="116" y="42"/>
                  <a:pt x="116" y="42"/>
                </a:cubicBezTo>
                <a:cubicBezTo>
                  <a:pt x="116" y="41"/>
                  <a:pt x="115" y="40"/>
                  <a:pt x="114" y="40"/>
                </a:cubicBezTo>
                <a:cubicBezTo>
                  <a:pt x="110" y="40"/>
                  <a:pt x="106" y="40"/>
                  <a:pt x="102" y="40"/>
                </a:cubicBezTo>
                <a:cubicBezTo>
                  <a:pt x="102" y="40"/>
                  <a:pt x="101" y="41"/>
                  <a:pt x="101" y="42"/>
                </a:cubicBezTo>
                <a:cubicBezTo>
                  <a:pt x="101" y="42"/>
                  <a:pt x="101" y="42"/>
                  <a:pt x="101" y="42"/>
                </a:cubicBezTo>
                <a:cubicBezTo>
                  <a:pt x="101" y="43"/>
                  <a:pt x="102" y="44"/>
                  <a:pt x="102" y="44"/>
                </a:cubicBezTo>
                <a:close/>
                <a:moveTo>
                  <a:pt x="123" y="44"/>
                </a:moveTo>
                <a:cubicBezTo>
                  <a:pt x="127" y="44"/>
                  <a:pt x="131" y="44"/>
                  <a:pt x="135" y="44"/>
                </a:cubicBezTo>
                <a:cubicBezTo>
                  <a:pt x="136" y="44"/>
                  <a:pt x="137" y="43"/>
                  <a:pt x="137" y="42"/>
                </a:cubicBezTo>
                <a:cubicBezTo>
                  <a:pt x="137" y="42"/>
                  <a:pt x="137" y="42"/>
                  <a:pt x="137" y="42"/>
                </a:cubicBezTo>
                <a:cubicBezTo>
                  <a:pt x="137" y="41"/>
                  <a:pt x="136" y="40"/>
                  <a:pt x="135" y="40"/>
                </a:cubicBezTo>
                <a:cubicBezTo>
                  <a:pt x="131" y="40"/>
                  <a:pt x="127" y="40"/>
                  <a:pt x="123" y="40"/>
                </a:cubicBezTo>
                <a:cubicBezTo>
                  <a:pt x="123" y="40"/>
                  <a:pt x="122" y="41"/>
                  <a:pt x="122" y="42"/>
                </a:cubicBezTo>
                <a:cubicBezTo>
                  <a:pt x="122" y="42"/>
                  <a:pt x="122" y="42"/>
                  <a:pt x="122" y="42"/>
                </a:cubicBezTo>
                <a:cubicBezTo>
                  <a:pt x="122" y="43"/>
                  <a:pt x="123" y="44"/>
                  <a:pt x="123" y="44"/>
                </a:cubicBezTo>
                <a:close/>
                <a:moveTo>
                  <a:pt x="144" y="44"/>
                </a:moveTo>
                <a:cubicBezTo>
                  <a:pt x="148" y="44"/>
                  <a:pt x="152" y="44"/>
                  <a:pt x="156" y="44"/>
                </a:cubicBezTo>
                <a:cubicBezTo>
                  <a:pt x="157" y="44"/>
                  <a:pt x="158" y="43"/>
                  <a:pt x="158" y="42"/>
                </a:cubicBezTo>
                <a:cubicBezTo>
                  <a:pt x="158" y="42"/>
                  <a:pt x="158" y="42"/>
                  <a:pt x="158" y="42"/>
                </a:cubicBezTo>
                <a:cubicBezTo>
                  <a:pt x="158" y="41"/>
                  <a:pt x="157" y="40"/>
                  <a:pt x="156" y="40"/>
                </a:cubicBezTo>
                <a:cubicBezTo>
                  <a:pt x="152" y="40"/>
                  <a:pt x="148" y="40"/>
                  <a:pt x="144" y="40"/>
                </a:cubicBezTo>
                <a:cubicBezTo>
                  <a:pt x="144" y="40"/>
                  <a:pt x="143" y="41"/>
                  <a:pt x="143" y="42"/>
                </a:cubicBezTo>
                <a:cubicBezTo>
                  <a:pt x="143" y="42"/>
                  <a:pt x="143" y="42"/>
                  <a:pt x="143" y="42"/>
                </a:cubicBezTo>
                <a:cubicBezTo>
                  <a:pt x="143" y="43"/>
                  <a:pt x="144" y="44"/>
                  <a:pt x="144" y="44"/>
                </a:cubicBezTo>
                <a:close/>
                <a:moveTo>
                  <a:pt x="165" y="44"/>
                </a:moveTo>
                <a:cubicBezTo>
                  <a:pt x="169" y="44"/>
                  <a:pt x="173" y="44"/>
                  <a:pt x="177" y="44"/>
                </a:cubicBezTo>
                <a:cubicBezTo>
                  <a:pt x="178" y="44"/>
                  <a:pt x="179" y="43"/>
                  <a:pt x="179" y="42"/>
                </a:cubicBezTo>
                <a:cubicBezTo>
                  <a:pt x="179" y="42"/>
                  <a:pt x="179" y="42"/>
                  <a:pt x="179" y="42"/>
                </a:cubicBezTo>
                <a:cubicBezTo>
                  <a:pt x="179" y="41"/>
                  <a:pt x="178" y="40"/>
                  <a:pt x="177" y="40"/>
                </a:cubicBezTo>
                <a:cubicBezTo>
                  <a:pt x="173" y="40"/>
                  <a:pt x="169" y="40"/>
                  <a:pt x="165" y="40"/>
                </a:cubicBezTo>
                <a:cubicBezTo>
                  <a:pt x="165" y="40"/>
                  <a:pt x="164" y="41"/>
                  <a:pt x="164" y="42"/>
                </a:cubicBezTo>
                <a:cubicBezTo>
                  <a:pt x="164" y="42"/>
                  <a:pt x="164" y="42"/>
                  <a:pt x="164" y="42"/>
                </a:cubicBezTo>
                <a:cubicBezTo>
                  <a:pt x="164" y="43"/>
                  <a:pt x="165" y="44"/>
                  <a:pt x="165" y="44"/>
                </a:cubicBezTo>
                <a:close/>
              </a:path>
            </a:pathLst>
          </a:custGeom>
          <a:solidFill>
            <a:srgbClr val="757975"/>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 name="Freeform 33"/>
          <p:cNvSpPr>
            <a:spLocks noEditPoints="1"/>
          </p:cNvSpPr>
          <p:nvPr/>
        </p:nvSpPr>
        <p:spPr bwMode="auto">
          <a:xfrm>
            <a:off x="769937" y="1058906"/>
            <a:ext cx="1870075" cy="431800"/>
          </a:xfrm>
          <a:custGeom>
            <a:avLst/>
            <a:gdLst>
              <a:gd name="T0" fmla="*/ 30 w 225"/>
              <a:gd name="T1" fmla="*/ 0 h 52"/>
              <a:gd name="T2" fmla="*/ 32 w 225"/>
              <a:gd name="T3" fmla="*/ 2 h 52"/>
              <a:gd name="T4" fmla="*/ 19 w 225"/>
              <a:gd name="T5" fmla="*/ 4 h 52"/>
              <a:gd name="T6" fmla="*/ 17 w 225"/>
              <a:gd name="T7" fmla="*/ 2 h 52"/>
              <a:gd name="T8" fmla="*/ 224 w 225"/>
              <a:gd name="T9" fmla="*/ 48 h 52"/>
              <a:gd name="T10" fmla="*/ 225 w 225"/>
              <a:gd name="T11" fmla="*/ 50 h 52"/>
              <a:gd name="T12" fmla="*/ 224 w 225"/>
              <a:gd name="T13" fmla="*/ 52 h 52"/>
              <a:gd name="T14" fmla="*/ 222 w 225"/>
              <a:gd name="T15" fmla="*/ 51 h 52"/>
              <a:gd name="T16" fmla="*/ 224 w 225"/>
              <a:gd name="T17" fmla="*/ 48 h 52"/>
              <a:gd name="T18" fmla="*/ 198 w 225"/>
              <a:gd name="T19" fmla="*/ 6 h 52"/>
              <a:gd name="T20" fmla="*/ 198 w 225"/>
              <a:gd name="T21" fmla="*/ 8 h 52"/>
              <a:gd name="T22" fmla="*/ 193 w 225"/>
              <a:gd name="T23" fmla="*/ 4 h 52"/>
              <a:gd name="T24" fmla="*/ 185 w 225"/>
              <a:gd name="T25" fmla="*/ 2 h 52"/>
              <a:gd name="T26" fmla="*/ 186 w 225"/>
              <a:gd name="T27" fmla="*/ 0 h 52"/>
              <a:gd name="T28" fmla="*/ 196 w 225"/>
              <a:gd name="T29" fmla="*/ 1 h 52"/>
              <a:gd name="T30" fmla="*/ 211 w 225"/>
              <a:gd name="T31" fmla="*/ 33 h 52"/>
              <a:gd name="T32" fmla="*/ 212 w 225"/>
              <a:gd name="T33" fmla="*/ 31 h 52"/>
              <a:gd name="T34" fmla="*/ 220 w 225"/>
              <a:gd name="T35" fmla="*/ 41 h 52"/>
              <a:gd name="T36" fmla="*/ 219 w 225"/>
              <a:gd name="T37" fmla="*/ 44 h 52"/>
              <a:gd name="T38" fmla="*/ 206 w 225"/>
              <a:gd name="T39" fmla="*/ 25 h 52"/>
              <a:gd name="T40" fmla="*/ 201 w 225"/>
              <a:gd name="T41" fmla="*/ 13 h 52"/>
              <a:gd name="T42" fmla="*/ 203 w 225"/>
              <a:gd name="T43" fmla="*/ 13 h 52"/>
              <a:gd name="T44" fmla="*/ 209 w 225"/>
              <a:gd name="T45" fmla="*/ 26 h 52"/>
              <a:gd name="T46" fmla="*/ 206 w 225"/>
              <a:gd name="T47" fmla="*/ 25 h 52"/>
              <a:gd name="T48" fmla="*/ 0 w 225"/>
              <a:gd name="T49" fmla="*/ 0 h 52"/>
              <a:gd name="T50" fmla="*/ 10 w 225"/>
              <a:gd name="T51" fmla="*/ 2 h 52"/>
              <a:gd name="T52" fmla="*/ 8 w 225"/>
              <a:gd name="T53" fmla="*/ 4 h 52"/>
              <a:gd name="T54" fmla="*/ 40 w 225"/>
              <a:gd name="T55" fmla="*/ 0 h 52"/>
              <a:gd name="T56" fmla="*/ 53 w 225"/>
              <a:gd name="T57" fmla="*/ 2 h 52"/>
              <a:gd name="T58" fmla="*/ 51 w 225"/>
              <a:gd name="T59" fmla="*/ 4 h 52"/>
              <a:gd name="T60" fmla="*/ 38 w 225"/>
              <a:gd name="T61" fmla="*/ 2 h 52"/>
              <a:gd name="T62" fmla="*/ 40 w 225"/>
              <a:gd name="T63" fmla="*/ 0 h 52"/>
              <a:gd name="T64" fmla="*/ 72 w 225"/>
              <a:gd name="T65" fmla="*/ 0 h 52"/>
              <a:gd name="T66" fmla="*/ 74 w 225"/>
              <a:gd name="T67" fmla="*/ 2 h 52"/>
              <a:gd name="T68" fmla="*/ 60 w 225"/>
              <a:gd name="T69" fmla="*/ 4 h 52"/>
              <a:gd name="T70" fmla="*/ 59 w 225"/>
              <a:gd name="T71" fmla="*/ 2 h 52"/>
              <a:gd name="T72" fmla="*/ 81 w 225"/>
              <a:gd name="T73" fmla="*/ 0 h 52"/>
              <a:gd name="T74" fmla="*/ 95 w 225"/>
              <a:gd name="T75" fmla="*/ 2 h 52"/>
              <a:gd name="T76" fmla="*/ 93 w 225"/>
              <a:gd name="T77" fmla="*/ 4 h 52"/>
              <a:gd name="T78" fmla="*/ 80 w 225"/>
              <a:gd name="T79" fmla="*/ 2 h 52"/>
              <a:gd name="T80" fmla="*/ 81 w 225"/>
              <a:gd name="T81" fmla="*/ 0 h 52"/>
              <a:gd name="T82" fmla="*/ 114 w 225"/>
              <a:gd name="T83" fmla="*/ 0 h 52"/>
              <a:gd name="T84" fmla="*/ 116 w 225"/>
              <a:gd name="T85" fmla="*/ 2 h 52"/>
              <a:gd name="T86" fmla="*/ 102 w 225"/>
              <a:gd name="T87" fmla="*/ 4 h 52"/>
              <a:gd name="T88" fmla="*/ 101 w 225"/>
              <a:gd name="T89" fmla="*/ 2 h 52"/>
              <a:gd name="T90" fmla="*/ 123 w 225"/>
              <a:gd name="T91" fmla="*/ 0 h 52"/>
              <a:gd name="T92" fmla="*/ 137 w 225"/>
              <a:gd name="T93" fmla="*/ 2 h 52"/>
              <a:gd name="T94" fmla="*/ 135 w 225"/>
              <a:gd name="T95" fmla="*/ 4 h 52"/>
              <a:gd name="T96" fmla="*/ 122 w 225"/>
              <a:gd name="T97" fmla="*/ 2 h 52"/>
              <a:gd name="T98" fmla="*/ 123 w 225"/>
              <a:gd name="T99" fmla="*/ 0 h 52"/>
              <a:gd name="T100" fmla="*/ 156 w 225"/>
              <a:gd name="T101" fmla="*/ 0 h 52"/>
              <a:gd name="T102" fmla="*/ 158 w 225"/>
              <a:gd name="T103" fmla="*/ 2 h 52"/>
              <a:gd name="T104" fmla="*/ 144 w 225"/>
              <a:gd name="T105" fmla="*/ 4 h 52"/>
              <a:gd name="T106" fmla="*/ 143 w 225"/>
              <a:gd name="T107" fmla="*/ 2 h 52"/>
              <a:gd name="T108" fmla="*/ 165 w 225"/>
              <a:gd name="T109" fmla="*/ 0 h 52"/>
              <a:gd name="T110" fmla="*/ 179 w 225"/>
              <a:gd name="T111" fmla="*/ 2 h 52"/>
              <a:gd name="T112" fmla="*/ 177 w 225"/>
              <a:gd name="T113" fmla="*/ 4 h 52"/>
              <a:gd name="T114" fmla="*/ 164 w 225"/>
              <a:gd name="T115" fmla="*/ 2 h 52"/>
              <a:gd name="T116" fmla="*/ 165 w 225"/>
              <a:gd name="T117"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5" h="52">
                <a:moveTo>
                  <a:pt x="19" y="0"/>
                </a:moveTo>
                <a:cubicBezTo>
                  <a:pt x="22" y="0"/>
                  <a:pt x="26" y="0"/>
                  <a:pt x="30" y="0"/>
                </a:cubicBezTo>
                <a:cubicBezTo>
                  <a:pt x="31" y="0"/>
                  <a:pt x="32" y="1"/>
                  <a:pt x="32" y="2"/>
                </a:cubicBezTo>
                <a:cubicBezTo>
                  <a:pt x="32" y="2"/>
                  <a:pt x="32" y="2"/>
                  <a:pt x="32" y="2"/>
                </a:cubicBezTo>
                <a:cubicBezTo>
                  <a:pt x="32" y="3"/>
                  <a:pt x="31" y="4"/>
                  <a:pt x="30" y="4"/>
                </a:cubicBezTo>
                <a:cubicBezTo>
                  <a:pt x="26" y="4"/>
                  <a:pt x="22" y="4"/>
                  <a:pt x="19" y="4"/>
                </a:cubicBezTo>
                <a:cubicBezTo>
                  <a:pt x="18" y="4"/>
                  <a:pt x="17" y="3"/>
                  <a:pt x="17" y="2"/>
                </a:cubicBezTo>
                <a:cubicBezTo>
                  <a:pt x="17" y="2"/>
                  <a:pt x="17" y="2"/>
                  <a:pt x="17" y="2"/>
                </a:cubicBezTo>
                <a:cubicBezTo>
                  <a:pt x="17" y="1"/>
                  <a:pt x="18" y="0"/>
                  <a:pt x="19" y="0"/>
                </a:cubicBezTo>
                <a:close/>
                <a:moveTo>
                  <a:pt x="224" y="48"/>
                </a:moveTo>
                <a:cubicBezTo>
                  <a:pt x="224" y="48"/>
                  <a:pt x="224" y="48"/>
                  <a:pt x="224" y="48"/>
                </a:cubicBezTo>
                <a:cubicBezTo>
                  <a:pt x="225" y="48"/>
                  <a:pt x="225" y="49"/>
                  <a:pt x="225" y="50"/>
                </a:cubicBezTo>
                <a:cubicBezTo>
                  <a:pt x="225" y="51"/>
                  <a:pt x="225" y="51"/>
                  <a:pt x="225" y="51"/>
                </a:cubicBezTo>
                <a:cubicBezTo>
                  <a:pt x="225" y="52"/>
                  <a:pt x="225" y="52"/>
                  <a:pt x="224" y="52"/>
                </a:cubicBezTo>
                <a:cubicBezTo>
                  <a:pt x="224" y="52"/>
                  <a:pt x="224" y="52"/>
                  <a:pt x="224" y="52"/>
                </a:cubicBezTo>
                <a:cubicBezTo>
                  <a:pt x="223" y="52"/>
                  <a:pt x="222" y="52"/>
                  <a:pt x="222" y="51"/>
                </a:cubicBezTo>
                <a:cubicBezTo>
                  <a:pt x="222" y="50"/>
                  <a:pt x="222" y="50"/>
                  <a:pt x="222" y="50"/>
                </a:cubicBezTo>
                <a:cubicBezTo>
                  <a:pt x="222" y="49"/>
                  <a:pt x="223" y="48"/>
                  <a:pt x="224" y="48"/>
                </a:cubicBezTo>
                <a:close/>
                <a:moveTo>
                  <a:pt x="196" y="1"/>
                </a:moveTo>
                <a:cubicBezTo>
                  <a:pt x="196" y="3"/>
                  <a:pt x="197" y="4"/>
                  <a:pt x="198" y="6"/>
                </a:cubicBezTo>
                <a:cubicBezTo>
                  <a:pt x="199" y="6"/>
                  <a:pt x="198" y="7"/>
                  <a:pt x="198" y="8"/>
                </a:cubicBezTo>
                <a:cubicBezTo>
                  <a:pt x="198" y="8"/>
                  <a:pt x="198" y="8"/>
                  <a:pt x="198" y="8"/>
                </a:cubicBezTo>
                <a:cubicBezTo>
                  <a:pt x="197" y="8"/>
                  <a:pt x="196" y="8"/>
                  <a:pt x="195" y="7"/>
                </a:cubicBezTo>
                <a:cubicBezTo>
                  <a:pt x="195" y="6"/>
                  <a:pt x="194" y="5"/>
                  <a:pt x="193" y="4"/>
                </a:cubicBezTo>
                <a:cubicBezTo>
                  <a:pt x="190" y="4"/>
                  <a:pt x="190" y="4"/>
                  <a:pt x="186" y="4"/>
                </a:cubicBezTo>
                <a:cubicBezTo>
                  <a:pt x="186" y="4"/>
                  <a:pt x="185" y="3"/>
                  <a:pt x="185" y="2"/>
                </a:cubicBezTo>
                <a:cubicBezTo>
                  <a:pt x="185" y="2"/>
                  <a:pt x="185" y="2"/>
                  <a:pt x="185" y="2"/>
                </a:cubicBezTo>
                <a:cubicBezTo>
                  <a:pt x="185" y="1"/>
                  <a:pt x="186" y="0"/>
                  <a:pt x="186" y="0"/>
                </a:cubicBezTo>
                <a:cubicBezTo>
                  <a:pt x="194" y="0"/>
                  <a:pt x="194" y="0"/>
                  <a:pt x="194" y="0"/>
                </a:cubicBezTo>
                <a:cubicBezTo>
                  <a:pt x="195" y="0"/>
                  <a:pt x="195" y="1"/>
                  <a:pt x="196" y="1"/>
                </a:cubicBezTo>
                <a:close/>
                <a:moveTo>
                  <a:pt x="217" y="43"/>
                </a:moveTo>
                <a:cubicBezTo>
                  <a:pt x="215" y="40"/>
                  <a:pt x="213" y="36"/>
                  <a:pt x="211" y="33"/>
                </a:cubicBezTo>
                <a:cubicBezTo>
                  <a:pt x="211" y="32"/>
                  <a:pt x="211" y="31"/>
                  <a:pt x="212" y="31"/>
                </a:cubicBezTo>
                <a:cubicBezTo>
                  <a:pt x="212" y="31"/>
                  <a:pt x="212" y="31"/>
                  <a:pt x="212" y="31"/>
                </a:cubicBezTo>
                <a:cubicBezTo>
                  <a:pt x="212" y="30"/>
                  <a:pt x="213" y="31"/>
                  <a:pt x="214" y="31"/>
                </a:cubicBezTo>
                <a:cubicBezTo>
                  <a:pt x="216" y="35"/>
                  <a:pt x="218" y="38"/>
                  <a:pt x="220" y="41"/>
                </a:cubicBezTo>
                <a:cubicBezTo>
                  <a:pt x="221" y="42"/>
                  <a:pt x="220" y="43"/>
                  <a:pt x="219" y="44"/>
                </a:cubicBezTo>
                <a:cubicBezTo>
                  <a:pt x="219" y="44"/>
                  <a:pt x="219" y="44"/>
                  <a:pt x="219" y="44"/>
                </a:cubicBezTo>
                <a:cubicBezTo>
                  <a:pt x="219" y="44"/>
                  <a:pt x="218" y="44"/>
                  <a:pt x="217" y="43"/>
                </a:cubicBezTo>
                <a:close/>
                <a:moveTo>
                  <a:pt x="206" y="25"/>
                </a:moveTo>
                <a:cubicBezTo>
                  <a:pt x="204" y="22"/>
                  <a:pt x="202" y="19"/>
                  <a:pt x="200" y="15"/>
                </a:cubicBezTo>
                <a:cubicBezTo>
                  <a:pt x="200" y="14"/>
                  <a:pt x="200" y="13"/>
                  <a:pt x="201" y="13"/>
                </a:cubicBezTo>
                <a:cubicBezTo>
                  <a:pt x="201" y="13"/>
                  <a:pt x="201" y="13"/>
                  <a:pt x="201" y="13"/>
                </a:cubicBezTo>
                <a:cubicBezTo>
                  <a:pt x="201" y="12"/>
                  <a:pt x="203" y="13"/>
                  <a:pt x="203" y="13"/>
                </a:cubicBezTo>
                <a:cubicBezTo>
                  <a:pt x="205" y="17"/>
                  <a:pt x="207" y="20"/>
                  <a:pt x="209" y="23"/>
                </a:cubicBezTo>
                <a:cubicBezTo>
                  <a:pt x="210" y="24"/>
                  <a:pt x="209" y="25"/>
                  <a:pt x="209" y="26"/>
                </a:cubicBezTo>
                <a:cubicBezTo>
                  <a:pt x="209" y="26"/>
                  <a:pt x="209" y="26"/>
                  <a:pt x="209" y="26"/>
                </a:cubicBezTo>
                <a:cubicBezTo>
                  <a:pt x="208" y="26"/>
                  <a:pt x="207" y="26"/>
                  <a:pt x="206" y="25"/>
                </a:cubicBezTo>
                <a:close/>
                <a:moveTo>
                  <a:pt x="0" y="4"/>
                </a:moveTo>
                <a:cubicBezTo>
                  <a:pt x="0" y="0"/>
                  <a:pt x="0" y="0"/>
                  <a:pt x="0" y="0"/>
                </a:cubicBezTo>
                <a:cubicBezTo>
                  <a:pt x="8" y="0"/>
                  <a:pt x="8" y="0"/>
                  <a:pt x="8" y="0"/>
                </a:cubicBezTo>
                <a:cubicBezTo>
                  <a:pt x="9" y="0"/>
                  <a:pt x="10" y="1"/>
                  <a:pt x="10" y="2"/>
                </a:cubicBezTo>
                <a:cubicBezTo>
                  <a:pt x="10" y="2"/>
                  <a:pt x="10" y="2"/>
                  <a:pt x="10" y="2"/>
                </a:cubicBezTo>
                <a:cubicBezTo>
                  <a:pt x="10" y="3"/>
                  <a:pt x="9" y="4"/>
                  <a:pt x="8" y="4"/>
                </a:cubicBezTo>
                <a:cubicBezTo>
                  <a:pt x="0" y="4"/>
                  <a:pt x="0" y="4"/>
                  <a:pt x="0" y="4"/>
                </a:cubicBezTo>
                <a:close/>
                <a:moveTo>
                  <a:pt x="40" y="0"/>
                </a:moveTo>
                <a:cubicBezTo>
                  <a:pt x="43" y="0"/>
                  <a:pt x="47" y="0"/>
                  <a:pt x="51" y="0"/>
                </a:cubicBezTo>
                <a:cubicBezTo>
                  <a:pt x="52" y="0"/>
                  <a:pt x="53" y="1"/>
                  <a:pt x="53" y="2"/>
                </a:cubicBezTo>
                <a:cubicBezTo>
                  <a:pt x="53" y="2"/>
                  <a:pt x="53" y="2"/>
                  <a:pt x="53" y="2"/>
                </a:cubicBezTo>
                <a:cubicBezTo>
                  <a:pt x="53" y="3"/>
                  <a:pt x="52" y="4"/>
                  <a:pt x="51" y="4"/>
                </a:cubicBezTo>
                <a:cubicBezTo>
                  <a:pt x="47" y="4"/>
                  <a:pt x="43" y="4"/>
                  <a:pt x="40" y="4"/>
                </a:cubicBezTo>
                <a:cubicBezTo>
                  <a:pt x="39" y="4"/>
                  <a:pt x="38" y="3"/>
                  <a:pt x="38" y="2"/>
                </a:cubicBezTo>
                <a:cubicBezTo>
                  <a:pt x="38" y="2"/>
                  <a:pt x="38" y="2"/>
                  <a:pt x="38" y="2"/>
                </a:cubicBezTo>
                <a:cubicBezTo>
                  <a:pt x="38" y="1"/>
                  <a:pt x="39" y="0"/>
                  <a:pt x="40" y="0"/>
                </a:cubicBezTo>
                <a:close/>
                <a:moveTo>
                  <a:pt x="60" y="0"/>
                </a:moveTo>
                <a:cubicBezTo>
                  <a:pt x="64" y="0"/>
                  <a:pt x="68" y="0"/>
                  <a:pt x="72" y="0"/>
                </a:cubicBezTo>
                <a:cubicBezTo>
                  <a:pt x="73" y="0"/>
                  <a:pt x="74" y="1"/>
                  <a:pt x="74" y="2"/>
                </a:cubicBezTo>
                <a:cubicBezTo>
                  <a:pt x="74" y="2"/>
                  <a:pt x="74" y="2"/>
                  <a:pt x="74" y="2"/>
                </a:cubicBezTo>
                <a:cubicBezTo>
                  <a:pt x="74" y="3"/>
                  <a:pt x="73" y="4"/>
                  <a:pt x="72" y="4"/>
                </a:cubicBezTo>
                <a:cubicBezTo>
                  <a:pt x="68" y="4"/>
                  <a:pt x="64" y="4"/>
                  <a:pt x="60" y="4"/>
                </a:cubicBezTo>
                <a:cubicBezTo>
                  <a:pt x="60" y="4"/>
                  <a:pt x="59" y="3"/>
                  <a:pt x="59" y="2"/>
                </a:cubicBezTo>
                <a:cubicBezTo>
                  <a:pt x="59" y="2"/>
                  <a:pt x="59" y="2"/>
                  <a:pt x="59" y="2"/>
                </a:cubicBezTo>
                <a:cubicBezTo>
                  <a:pt x="59" y="1"/>
                  <a:pt x="60" y="0"/>
                  <a:pt x="60" y="0"/>
                </a:cubicBezTo>
                <a:close/>
                <a:moveTo>
                  <a:pt x="81" y="0"/>
                </a:moveTo>
                <a:cubicBezTo>
                  <a:pt x="85" y="0"/>
                  <a:pt x="89" y="0"/>
                  <a:pt x="93" y="0"/>
                </a:cubicBezTo>
                <a:cubicBezTo>
                  <a:pt x="94" y="0"/>
                  <a:pt x="95" y="1"/>
                  <a:pt x="95" y="2"/>
                </a:cubicBezTo>
                <a:cubicBezTo>
                  <a:pt x="95" y="2"/>
                  <a:pt x="95" y="2"/>
                  <a:pt x="95" y="2"/>
                </a:cubicBezTo>
                <a:cubicBezTo>
                  <a:pt x="95" y="3"/>
                  <a:pt x="94" y="4"/>
                  <a:pt x="93" y="4"/>
                </a:cubicBezTo>
                <a:cubicBezTo>
                  <a:pt x="89" y="4"/>
                  <a:pt x="85" y="4"/>
                  <a:pt x="81" y="4"/>
                </a:cubicBezTo>
                <a:cubicBezTo>
                  <a:pt x="81" y="4"/>
                  <a:pt x="80" y="3"/>
                  <a:pt x="80" y="2"/>
                </a:cubicBezTo>
                <a:cubicBezTo>
                  <a:pt x="80" y="2"/>
                  <a:pt x="80" y="2"/>
                  <a:pt x="80" y="2"/>
                </a:cubicBezTo>
                <a:cubicBezTo>
                  <a:pt x="80" y="1"/>
                  <a:pt x="81" y="0"/>
                  <a:pt x="81" y="0"/>
                </a:cubicBezTo>
                <a:close/>
                <a:moveTo>
                  <a:pt x="102" y="0"/>
                </a:moveTo>
                <a:cubicBezTo>
                  <a:pt x="106" y="0"/>
                  <a:pt x="110" y="0"/>
                  <a:pt x="114" y="0"/>
                </a:cubicBezTo>
                <a:cubicBezTo>
                  <a:pt x="115" y="0"/>
                  <a:pt x="116" y="1"/>
                  <a:pt x="116" y="2"/>
                </a:cubicBezTo>
                <a:cubicBezTo>
                  <a:pt x="116" y="2"/>
                  <a:pt x="116" y="2"/>
                  <a:pt x="116" y="2"/>
                </a:cubicBezTo>
                <a:cubicBezTo>
                  <a:pt x="116" y="3"/>
                  <a:pt x="115" y="4"/>
                  <a:pt x="114" y="4"/>
                </a:cubicBezTo>
                <a:cubicBezTo>
                  <a:pt x="110" y="4"/>
                  <a:pt x="106" y="4"/>
                  <a:pt x="102" y="4"/>
                </a:cubicBezTo>
                <a:cubicBezTo>
                  <a:pt x="102" y="4"/>
                  <a:pt x="101" y="3"/>
                  <a:pt x="101" y="2"/>
                </a:cubicBezTo>
                <a:cubicBezTo>
                  <a:pt x="101" y="2"/>
                  <a:pt x="101" y="2"/>
                  <a:pt x="101" y="2"/>
                </a:cubicBezTo>
                <a:cubicBezTo>
                  <a:pt x="101" y="1"/>
                  <a:pt x="102" y="0"/>
                  <a:pt x="102" y="0"/>
                </a:cubicBezTo>
                <a:close/>
                <a:moveTo>
                  <a:pt x="123" y="0"/>
                </a:moveTo>
                <a:cubicBezTo>
                  <a:pt x="127" y="0"/>
                  <a:pt x="131" y="0"/>
                  <a:pt x="135" y="0"/>
                </a:cubicBezTo>
                <a:cubicBezTo>
                  <a:pt x="136" y="0"/>
                  <a:pt x="137" y="1"/>
                  <a:pt x="137" y="2"/>
                </a:cubicBezTo>
                <a:cubicBezTo>
                  <a:pt x="137" y="2"/>
                  <a:pt x="137" y="2"/>
                  <a:pt x="137" y="2"/>
                </a:cubicBezTo>
                <a:cubicBezTo>
                  <a:pt x="137" y="3"/>
                  <a:pt x="136" y="4"/>
                  <a:pt x="135" y="4"/>
                </a:cubicBezTo>
                <a:cubicBezTo>
                  <a:pt x="131" y="4"/>
                  <a:pt x="127" y="4"/>
                  <a:pt x="123" y="4"/>
                </a:cubicBezTo>
                <a:cubicBezTo>
                  <a:pt x="123" y="4"/>
                  <a:pt x="122" y="3"/>
                  <a:pt x="122" y="2"/>
                </a:cubicBezTo>
                <a:cubicBezTo>
                  <a:pt x="122" y="2"/>
                  <a:pt x="122" y="2"/>
                  <a:pt x="122" y="2"/>
                </a:cubicBezTo>
                <a:cubicBezTo>
                  <a:pt x="122" y="1"/>
                  <a:pt x="123" y="0"/>
                  <a:pt x="123" y="0"/>
                </a:cubicBezTo>
                <a:close/>
                <a:moveTo>
                  <a:pt x="144" y="0"/>
                </a:moveTo>
                <a:cubicBezTo>
                  <a:pt x="148" y="0"/>
                  <a:pt x="152" y="0"/>
                  <a:pt x="156" y="0"/>
                </a:cubicBezTo>
                <a:cubicBezTo>
                  <a:pt x="157" y="0"/>
                  <a:pt x="158" y="1"/>
                  <a:pt x="158" y="2"/>
                </a:cubicBezTo>
                <a:cubicBezTo>
                  <a:pt x="158" y="2"/>
                  <a:pt x="158" y="2"/>
                  <a:pt x="158" y="2"/>
                </a:cubicBezTo>
                <a:cubicBezTo>
                  <a:pt x="158" y="3"/>
                  <a:pt x="157" y="4"/>
                  <a:pt x="156" y="4"/>
                </a:cubicBezTo>
                <a:cubicBezTo>
                  <a:pt x="152" y="4"/>
                  <a:pt x="148" y="4"/>
                  <a:pt x="144" y="4"/>
                </a:cubicBezTo>
                <a:cubicBezTo>
                  <a:pt x="144" y="4"/>
                  <a:pt x="143" y="3"/>
                  <a:pt x="143" y="2"/>
                </a:cubicBezTo>
                <a:cubicBezTo>
                  <a:pt x="143" y="2"/>
                  <a:pt x="143" y="2"/>
                  <a:pt x="143" y="2"/>
                </a:cubicBezTo>
                <a:cubicBezTo>
                  <a:pt x="143" y="1"/>
                  <a:pt x="144" y="0"/>
                  <a:pt x="144" y="0"/>
                </a:cubicBezTo>
                <a:close/>
                <a:moveTo>
                  <a:pt x="165" y="0"/>
                </a:moveTo>
                <a:cubicBezTo>
                  <a:pt x="169" y="0"/>
                  <a:pt x="173" y="0"/>
                  <a:pt x="177" y="0"/>
                </a:cubicBezTo>
                <a:cubicBezTo>
                  <a:pt x="178" y="0"/>
                  <a:pt x="179" y="1"/>
                  <a:pt x="179" y="2"/>
                </a:cubicBezTo>
                <a:cubicBezTo>
                  <a:pt x="179" y="2"/>
                  <a:pt x="179" y="2"/>
                  <a:pt x="179" y="2"/>
                </a:cubicBezTo>
                <a:cubicBezTo>
                  <a:pt x="179" y="3"/>
                  <a:pt x="178" y="4"/>
                  <a:pt x="177" y="4"/>
                </a:cubicBezTo>
                <a:cubicBezTo>
                  <a:pt x="173" y="4"/>
                  <a:pt x="169" y="4"/>
                  <a:pt x="165" y="4"/>
                </a:cubicBezTo>
                <a:cubicBezTo>
                  <a:pt x="165" y="4"/>
                  <a:pt x="164" y="3"/>
                  <a:pt x="164" y="2"/>
                </a:cubicBezTo>
                <a:cubicBezTo>
                  <a:pt x="164" y="2"/>
                  <a:pt x="164" y="2"/>
                  <a:pt x="164" y="2"/>
                </a:cubicBezTo>
                <a:cubicBezTo>
                  <a:pt x="164" y="1"/>
                  <a:pt x="165" y="0"/>
                  <a:pt x="165" y="0"/>
                </a:cubicBezTo>
                <a:close/>
              </a:path>
            </a:pathLst>
          </a:custGeom>
          <a:solidFill>
            <a:srgbClr val="757975"/>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 name="Freeform 36"/>
          <p:cNvSpPr/>
          <p:nvPr/>
        </p:nvSpPr>
        <p:spPr bwMode="auto">
          <a:xfrm>
            <a:off x="769937" y="2628943"/>
            <a:ext cx="1954212" cy="957263"/>
          </a:xfrm>
          <a:custGeom>
            <a:avLst/>
            <a:gdLst>
              <a:gd name="T0" fmla="*/ 0 w 1231"/>
              <a:gd name="T1" fmla="*/ 0 h 603"/>
              <a:gd name="T2" fmla="*/ 1047 w 1231"/>
              <a:gd name="T3" fmla="*/ 0 h 603"/>
              <a:gd name="T4" fmla="*/ 1231 w 1231"/>
              <a:gd name="T5" fmla="*/ 299 h 603"/>
              <a:gd name="T6" fmla="*/ 1047 w 1231"/>
              <a:gd name="T7" fmla="*/ 603 h 603"/>
              <a:gd name="T8" fmla="*/ 0 w 1231"/>
              <a:gd name="T9" fmla="*/ 603 h 603"/>
              <a:gd name="T10" fmla="*/ 0 w 1231"/>
              <a:gd name="T11" fmla="*/ 0 h 603"/>
              <a:gd name="T12" fmla="*/ 0 w 1231"/>
              <a:gd name="T13" fmla="*/ 0 h 603"/>
            </a:gdLst>
            <a:ahLst/>
            <a:cxnLst>
              <a:cxn ang="0">
                <a:pos x="T0" y="T1"/>
              </a:cxn>
              <a:cxn ang="0">
                <a:pos x="T2" y="T3"/>
              </a:cxn>
              <a:cxn ang="0">
                <a:pos x="T4" y="T5"/>
              </a:cxn>
              <a:cxn ang="0">
                <a:pos x="T6" y="T7"/>
              </a:cxn>
              <a:cxn ang="0">
                <a:pos x="T8" y="T9"/>
              </a:cxn>
              <a:cxn ang="0">
                <a:pos x="T10" y="T11"/>
              </a:cxn>
              <a:cxn ang="0">
                <a:pos x="T12" y="T13"/>
              </a:cxn>
            </a:cxnLst>
            <a:rect l="0" t="0" r="r" b="b"/>
            <a:pathLst>
              <a:path w="1231" h="603">
                <a:moveTo>
                  <a:pt x="0" y="0"/>
                </a:moveTo>
                <a:lnTo>
                  <a:pt x="1047" y="0"/>
                </a:lnTo>
                <a:lnTo>
                  <a:pt x="1231" y="299"/>
                </a:lnTo>
                <a:lnTo>
                  <a:pt x="1047" y="603"/>
                </a:lnTo>
                <a:lnTo>
                  <a:pt x="0" y="603"/>
                </a:lnTo>
                <a:lnTo>
                  <a:pt x="0" y="0"/>
                </a:lnTo>
                <a:lnTo>
                  <a:pt x="0" y="0"/>
                </a:lnTo>
                <a:close/>
              </a:path>
            </a:pathLst>
          </a:custGeom>
          <a:solidFill>
            <a:srgbClr val="F4B400"/>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 name="Freeform 37"/>
          <p:cNvSpPr/>
          <p:nvPr/>
        </p:nvSpPr>
        <p:spPr bwMode="auto">
          <a:xfrm>
            <a:off x="769937" y="4251368"/>
            <a:ext cx="1954212" cy="955675"/>
          </a:xfrm>
          <a:custGeom>
            <a:avLst/>
            <a:gdLst>
              <a:gd name="T0" fmla="*/ 0 w 1231"/>
              <a:gd name="T1" fmla="*/ 0 h 602"/>
              <a:gd name="T2" fmla="*/ 1047 w 1231"/>
              <a:gd name="T3" fmla="*/ 0 h 602"/>
              <a:gd name="T4" fmla="*/ 1231 w 1231"/>
              <a:gd name="T5" fmla="*/ 303 h 602"/>
              <a:gd name="T6" fmla="*/ 1047 w 1231"/>
              <a:gd name="T7" fmla="*/ 602 h 602"/>
              <a:gd name="T8" fmla="*/ 0 w 1231"/>
              <a:gd name="T9" fmla="*/ 602 h 602"/>
              <a:gd name="T10" fmla="*/ 0 w 1231"/>
              <a:gd name="T11" fmla="*/ 0 h 602"/>
              <a:gd name="T12" fmla="*/ 0 w 1231"/>
              <a:gd name="T13" fmla="*/ 0 h 602"/>
            </a:gdLst>
            <a:ahLst/>
            <a:cxnLst>
              <a:cxn ang="0">
                <a:pos x="T0" y="T1"/>
              </a:cxn>
              <a:cxn ang="0">
                <a:pos x="T2" y="T3"/>
              </a:cxn>
              <a:cxn ang="0">
                <a:pos x="T4" y="T5"/>
              </a:cxn>
              <a:cxn ang="0">
                <a:pos x="T6" y="T7"/>
              </a:cxn>
              <a:cxn ang="0">
                <a:pos x="T8" y="T9"/>
              </a:cxn>
              <a:cxn ang="0">
                <a:pos x="T10" y="T11"/>
              </a:cxn>
              <a:cxn ang="0">
                <a:pos x="T12" y="T13"/>
              </a:cxn>
            </a:cxnLst>
            <a:rect l="0" t="0" r="r" b="b"/>
            <a:pathLst>
              <a:path w="1231" h="602">
                <a:moveTo>
                  <a:pt x="0" y="0"/>
                </a:moveTo>
                <a:lnTo>
                  <a:pt x="1047" y="0"/>
                </a:lnTo>
                <a:lnTo>
                  <a:pt x="1231" y="303"/>
                </a:lnTo>
                <a:lnTo>
                  <a:pt x="1047" y="602"/>
                </a:lnTo>
                <a:lnTo>
                  <a:pt x="0" y="602"/>
                </a:lnTo>
                <a:lnTo>
                  <a:pt x="0" y="0"/>
                </a:lnTo>
                <a:lnTo>
                  <a:pt x="0" y="0"/>
                </a:lnTo>
                <a:close/>
              </a:path>
            </a:pathLst>
          </a:custGeom>
          <a:solidFill>
            <a:srgbClr val="2AA1DC"/>
          </a:solidFill>
          <a:ln>
            <a:noFill/>
          </a:ln>
        </p:spPr>
        <p:txBody>
          <a:bodyPr vert="horz" wrap="square" lIns="91440" tIns="45720" rIns="91440" bIns="45720" numCol="1" anchor="t" anchorCtr="0" compatLnSpc="1"/>
          <a:lstStyle/>
          <a:p>
            <a:endParaRPr lang="zh-CN" altLang="en-US"/>
          </a:p>
        </p:txBody>
      </p:sp>
      <p:sp>
        <p:nvSpPr>
          <p:cNvPr id="23" name="Freeform 38"/>
          <p:cNvSpPr>
            <a:spLocks noEditPoints="1"/>
          </p:cNvSpPr>
          <p:nvPr/>
        </p:nvSpPr>
        <p:spPr bwMode="auto">
          <a:xfrm>
            <a:off x="769937" y="3162343"/>
            <a:ext cx="1836737" cy="365125"/>
          </a:xfrm>
          <a:custGeom>
            <a:avLst/>
            <a:gdLst>
              <a:gd name="T0" fmla="*/ 30 w 221"/>
              <a:gd name="T1" fmla="*/ 44 h 44"/>
              <a:gd name="T2" fmla="*/ 32 w 221"/>
              <a:gd name="T3" fmla="*/ 42 h 44"/>
              <a:gd name="T4" fmla="*/ 19 w 221"/>
              <a:gd name="T5" fmla="*/ 40 h 44"/>
              <a:gd name="T6" fmla="*/ 17 w 221"/>
              <a:gd name="T7" fmla="*/ 42 h 44"/>
              <a:gd name="T8" fmla="*/ 196 w 221"/>
              <a:gd name="T9" fmla="*/ 43 h 44"/>
              <a:gd name="T10" fmla="*/ 198 w 221"/>
              <a:gd name="T11" fmla="*/ 36 h 44"/>
              <a:gd name="T12" fmla="*/ 195 w 221"/>
              <a:gd name="T13" fmla="*/ 37 h 44"/>
              <a:gd name="T14" fmla="*/ 186 w 221"/>
              <a:gd name="T15" fmla="*/ 40 h 44"/>
              <a:gd name="T16" fmla="*/ 185 w 221"/>
              <a:gd name="T17" fmla="*/ 42 h 44"/>
              <a:gd name="T18" fmla="*/ 194 w 221"/>
              <a:gd name="T19" fmla="*/ 44 h 44"/>
              <a:gd name="T20" fmla="*/ 217 w 221"/>
              <a:gd name="T21" fmla="*/ 1 h 44"/>
              <a:gd name="T22" fmla="*/ 212 w 221"/>
              <a:gd name="T23" fmla="*/ 13 h 44"/>
              <a:gd name="T24" fmla="*/ 214 w 221"/>
              <a:gd name="T25" fmla="*/ 13 h 44"/>
              <a:gd name="T26" fmla="*/ 219 w 221"/>
              <a:gd name="T27" fmla="*/ 0 h 44"/>
              <a:gd name="T28" fmla="*/ 217 w 221"/>
              <a:gd name="T29" fmla="*/ 1 h 44"/>
              <a:gd name="T30" fmla="*/ 200 w 221"/>
              <a:gd name="T31" fmla="*/ 29 h 44"/>
              <a:gd name="T32" fmla="*/ 201 w 221"/>
              <a:gd name="T33" fmla="*/ 31 h 44"/>
              <a:gd name="T34" fmla="*/ 209 w 221"/>
              <a:gd name="T35" fmla="*/ 20 h 44"/>
              <a:gd name="T36" fmla="*/ 209 w 221"/>
              <a:gd name="T37" fmla="*/ 18 h 44"/>
              <a:gd name="T38" fmla="*/ 0 w 221"/>
              <a:gd name="T39" fmla="*/ 40 h 44"/>
              <a:gd name="T40" fmla="*/ 8 w 221"/>
              <a:gd name="T41" fmla="*/ 44 h 44"/>
              <a:gd name="T42" fmla="*/ 10 w 221"/>
              <a:gd name="T43" fmla="*/ 42 h 44"/>
              <a:gd name="T44" fmla="*/ 0 w 221"/>
              <a:gd name="T45" fmla="*/ 40 h 44"/>
              <a:gd name="T46" fmla="*/ 51 w 221"/>
              <a:gd name="T47" fmla="*/ 44 h 44"/>
              <a:gd name="T48" fmla="*/ 53 w 221"/>
              <a:gd name="T49" fmla="*/ 42 h 44"/>
              <a:gd name="T50" fmla="*/ 40 w 221"/>
              <a:gd name="T51" fmla="*/ 40 h 44"/>
              <a:gd name="T52" fmla="*/ 38 w 221"/>
              <a:gd name="T53" fmla="*/ 42 h 44"/>
              <a:gd name="T54" fmla="*/ 60 w 221"/>
              <a:gd name="T55" fmla="*/ 44 h 44"/>
              <a:gd name="T56" fmla="*/ 74 w 221"/>
              <a:gd name="T57" fmla="*/ 42 h 44"/>
              <a:gd name="T58" fmla="*/ 72 w 221"/>
              <a:gd name="T59" fmla="*/ 40 h 44"/>
              <a:gd name="T60" fmla="*/ 59 w 221"/>
              <a:gd name="T61" fmla="*/ 42 h 44"/>
              <a:gd name="T62" fmla="*/ 60 w 221"/>
              <a:gd name="T63" fmla="*/ 44 h 44"/>
              <a:gd name="T64" fmla="*/ 93 w 221"/>
              <a:gd name="T65" fmla="*/ 44 h 44"/>
              <a:gd name="T66" fmla="*/ 95 w 221"/>
              <a:gd name="T67" fmla="*/ 42 h 44"/>
              <a:gd name="T68" fmla="*/ 81 w 221"/>
              <a:gd name="T69" fmla="*/ 40 h 44"/>
              <a:gd name="T70" fmla="*/ 80 w 221"/>
              <a:gd name="T71" fmla="*/ 42 h 44"/>
              <a:gd name="T72" fmla="*/ 102 w 221"/>
              <a:gd name="T73" fmla="*/ 44 h 44"/>
              <a:gd name="T74" fmla="*/ 116 w 221"/>
              <a:gd name="T75" fmla="*/ 42 h 44"/>
              <a:gd name="T76" fmla="*/ 114 w 221"/>
              <a:gd name="T77" fmla="*/ 40 h 44"/>
              <a:gd name="T78" fmla="*/ 101 w 221"/>
              <a:gd name="T79" fmla="*/ 42 h 44"/>
              <a:gd name="T80" fmla="*/ 102 w 221"/>
              <a:gd name="T81" fmla="*/ 44 h 44"/>
              <a:gd name="T82" fmla="*/ 135 w 221"/>
              <a:gd name="T83" fmla="*/ 44 h 44"/>
              <a:gd name="T84" fmla="*/ 137 w 221"/>
              <a:gd name="T85" fmla="*/ 42 h 44"/>
              <a:gd name="T86" fmla="*/ 123 w 221"/>
              <a:gd name="T87" fmla="*/ 40 h 44"/>
              <a:gd name="T88" fmla="*/ 122 w 221"/>
              <a:gd name="T89" fmla="*/ 42 h 44"/>
              <a:gd name="T90" fmla="*/ 144 w 221"/>
              <a:gd name="T91" fmla="*/ 44 h 44"/>
              <a:gd name="T92" fmla="*/ 158 w 221"/>
              <a:gd name="T93" fmla="*/ 42 h 44"/>
              <a:gd name="T94" fmla="*/ 156 w 221"/>
              <a:gd name="T95" fmla="*/ 40 h 44"/>
              <a:gd name="T96" fmla="*/ 143 w 221"/>
              <a:gd name="T97" fmla="*/ 42 h 44"/>
              <a:gd name="T98" fmla="*/ 144 w 221"/>
              <a:gd name="T99" fmla="*/ 44 h 44"/>
              <a:gd name="T100" fmla="*/ 177 w 221"/>
              <a:gd name="T101" fmla="*/ 44 h 44"/>
              <a:gd name="T102" fmla="*/ 179 w 221"/>
              <a:gd name="T103" fmla="*/ 42 h 44"/>
              <a:gd name="T104" fmla="*/ 165 w 221"/>
              <a:gd name="T105" fmla="*/ 40 h 44"/>
              <a:gd name="T106" fmla="*/ 164 w 221"/>
              <a:gd name="T107" fmla="*/ 42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21" h="44">
                <a:moveTo>
                  <a:pt x="19" y="44"/>
                </a:moveTo>
                <a:cubicBezTo>
                  <a:pt x="22" y="44"/>
                  <a:pt x="26" y="44"/>
                  <a:pt x="30" y="44"/>
                </a:cubicBezTo>
                <a:cubicBezTo>
                  <a:pt x="31" y="44"/>
                  <a:pt x="32" y="43"/>
                  <a:pt x="32" y="42"/>
                </a:cubicBezTo>
                <a:cubicBezTo>
                  <a:pt x="32" y="42"/>
                  <a:pt x="32" y="42"/>
                  <a:pt x="32" y="42"/>
                </a:cubicBezTo>
                <a:cubicBezTo>
                  <a:pt x="32" y="41"/>
                  <a:pt x="31" y="40"/>
                  <a:pt x="30" y="40"/>
                </a:cubicBezTo>
                <a:cubicBezTo>
                  <a:pt x="26" y="40"/>
                  <a:pt x="22" y="40"/>
                  <a:pt x="19" y="40"/>
                </a:cubicBezTo>
                <a:cubicBezTo>
                  <a:pt x="18" y="40"/>
                  <a:pt x="17" y="41"/>
                  <a:pt x="17" y="42"/>
                </a:cubicBezTo>
                <a:cubicBezTo>
                  <a:pt x="17" y="42"/>
                  <a:pt x="17" y="42"/>
                  <a:pt x="17" y="42"/>
                </a:cubicBezTo>
                <a:cubicBezTo>
                  <a:pt x="17" y="43"/>
                  <a:pt x="18" y="44"/>
                  <a:pt x="19" y="44"/>
                </a:cubicBezTo>
                <a:close/>
                <a:moveTo>
                  <a:pt x="196" y="43"/>
                </a:moveTo>
                <a:cubicBezTo>
                  <a:pt x="196" y="41"/>
                  <a:pt x="197" y="40"/>
                  <a:pt x="198" y="38"/>
                </a:cubicBezTo>
                <a:cubicBezTo>
                  <a:pt x="199" y="38"/>
                  <a:pt x="198" y="37"/>
                  <a:pt x="198" y="36"/>
                </a:cubicBezTo>
                <a:cubicBezTo>
                  <a:pt x="198" y="36"/>
                  <a:pt x="198" y="36"/>
                  <a:pt x="198" y="36"/>
                </a:cubicBezTo>
                <a:cubicBezTo>
                  <a:pt x="197" y="36"/>
                  <a:pt x="196" y="36"/>
                  <a:pt x="195" y="37"/>
                </a:cubicBezTo>
                <a:cubicBezTo>
                  <a:pt x="195" y="38"/>
                  <a:pt x="194" y="39"/>
                  <a:pt x="193" y="40"/>
                </a:cubicBezTo>
                <a:cubicBezTo>
                  <a:pt x="190" y="40"/>
                  <a:pt x="190" y="40"/>
                  <a:pt x="186" y="40"/>
                </a:cubicBezTo>
                <a:cubicBezTo>
                  <a:pt x="186" y="40"/>
                  <a:pt x="185" y="41"/>
                  <a:pt x="185" y="42"/>
                </a:cubicBezTo>
                <a:cubicBezTo>
                  <a:pt x="185" y="42"/>
                  <a:pt x="185" y="42"/>
                  <a:pt x="185" y="42"/>
                </a:cubicBezTo>
                <a:cubicBezTo>
                  <a:pt x="185" y="43"/>
                  <a:pt x="186" y="44"/>
                  <a:pt x="186" y="44"/>
                </a:cubicBezTo>
                <a:cubicBezTo>
                  <a:pt x="194" y="44"/>
                  <a:pt x="194" y="44"/>
                  <a:pt x="194" y="44"/>
                </a:cubicBezTo>
                <a:cubicBezTo>
                  <a:pt x="195" y="44"/>
                  <a:pt x="195" y="43"/>
                  <a:pt x="196" y="43"/>
                </a:cubicBezTo>
                <a:close/>
                <a:moveTo>
                  <a:pt x="217" y="1"/>
                </a:moveTo>
                <a:cubicBezTo>
                  <a:pt x="215" y="4"/>
                  <a:pt x="213" y="7"/>
                  <a:pt x="211" y="11"/>
                </a:cubicBezTo>
                <a:cubicBezTo>
                  <a:pt x="211" y="12"/>
                  <a:pt x="211" y="13"/>
                  <a:pt x="212" y="13"/>
                </a:cubicBezTo>
                <a:cubicBezTo>
                  <a:pt x="212" y="13"/>
                  <a:pt x="212" y="13"/>
                  <a:pt x="212" y="13"/>
                </a:cubicBezTo>
                <a:cubicBezTo>
                  <a:pt x="212" y="14"/>
                  <a:pt x="213" y="13"/>
                  <a:pt x="214" y="13"/>
                </a:cubicBezTo>
                <a:cubicBezTo>
                  <a:pt x="216" y="9"/>
                  <a:pt x="218" y="6"/>
                  <a:pt x="220" y="3"/>
                </a:cubicBezTo>
                <a:cubicBezTo>
                  <a:pt x="221" y="2"/>
                  <a:pt x="220" y="1"/>
                  <a:pt x="219" y="0"/>
                </a:cubicBezTo>
                <a:cubicBezTo>
                  <a:pt x="219" y="0"/>
                  <a:pt x="219" y="0"/>
                  <a:pt x="219" y="0"/>
                </a:cubicBezTo>
                <a:cubicBezTo>
                  <a:pt x="219" y="0"/>
                  <a:pt x="218" y="0"/>
                  <a:pt x="217" y="1"/>
                </a:cubicBezTo>
                <a:close/>
                <a:moveTo>
                  <a:pt x="206" y="19"/>
                </a:moveTo>
                <a:cubicBezTo>
                  <a:pt x="204" y="22"/>
                  <a:pt x="202" y="25"/>
                  <a:pt x="200" y="29"/>
                </a:cubicBezTo>
                <a:cubicBezTo>
                  <a:pt x="200" y="29"/>
                  <a:pt x="200" y="31"/>
                  <a:pt x="201" y="31"/>
                </a:cubicBezTo>
                <a:cubicBezTo>
                  <a:pt x="201" y="31"/>
                  <a:pt x="201" y="31"/>
                  <a:pt x="201" y="31"/>
                </a:cubicBezTo>
                <a:cubicBezTo>
                  <a:pt x="201" y="31"/>
                  <a:pt x="203" y="31"/>
                  <a:pt x="203" y="30"/>
                </a:cubicBezTo>
                <a:cubicBezTo>
                  <a:pt x="205" y="27"/>
                  <a:pt x="207" y="24"/>
                  <a:pt x="209" y="20"/>
                </a:cubicBezTo>
                <a:cubicBezTo>
                  <a:pt x="210" y="20"/>
                  <a:pt x="209" y="19"/>
                  <a:pt x="209" y="18"/>
                </a:cubicBezTo>
                <a:cubicBezTo>
                  <a:pt x="209" y="18"/>
                  <a:pt x="209" y="18"/>
                  <a:pt x="209" y="18"/>
                </a:cubicBezTo>
                <a:cubicBezTo>
                  <a:pt x="208" y="18"/>
                  <a:pt x="207" y="18"/>
                  <a:pt x="206" y="19"/>
                </a:cubicBezTo>
                <a:close/>
                <a:moveTo>
                  <a:pt x="0" y="40"/>
                </a:moveTo>
                <a:cubicBezTo>
                  <a:pt x="0" y="44"/>
                  <a:pt x="0" y="44"/>
                  <a:pt x="0" y="44"/>
                </a:cubicBezTo>
                <a:cubicBezTo>
                  <a:pt x="8" y="44"/>
                  <a:pt x="8" y="44"/>
                  <a:pt x="8" y="44"/>
                </a:cubicBezTo>
                <a:cubicBezTo>
                  <a:pt x="9" y="44"/>
                  <a:pt x="10" y="43"/>
                  <a:pt x="10" y="42"/>
                </a:cubicBezTo>
                <a:cubicBezTo>
                  <a:pt x="10" y="42"/>
                  <a:pt x="10" y="42"/>
                  <a:pt x="10" y="42"/>
                </a:cubicBezTo>
                <a:cubicBezTo>
                  <a:pt x="10" y="41"/>
                  <a:pt x="9" y="40"/>
                  <a:pt x="8" y="40"/>
                </a:cubicBezTo>
                <a:cubicBezTo>
                  <a:pt x="0" y="40"/>
                  <a:pt x="0" y="40"/>
                  <a:pt x="0" y="40"/>
                </a:cubicBezTo>
                <a:close/>
                <a:moveTo>
                  <a:pt x="40" y="44"/>
                </a:moveTo>
                <a:cubicBezTo>
                  <a:pt x="43" y="44"/>
                  <a:pt x="47" y="44"/>
                  <a:pt x="51" y="44"/>
                </a:cubicBezTo>
                <a:cubicBezTo>
                  <a:pt x="52" y="44"/>
                  <a:pt x="53" y="43"/>
                  <a:pt x="53" y="42"/>
                </a:cubicBezTo>
                <a:cubicBezTo>
                  <a:pt x="53" y="42"/>
                  <a:pt x="53" y="42"/>
                  <a:pt x="53" y="42"/>
                </a:cubicBezTo>
                <a:cubicBezTo>
                  <a:pt x="53" y="41"/>
                  <a:pt x="52" y="40"/>
                  <a:pt x="51" y="40"/>
                </a:cubicBezTo>
                <a:cubicBezTo>
                  <a:pt x="47" y="40"/>
                  <a:pt x="43" y="40"/>
                  <a:pt x="40" y="40"/>
                </a:cubicBezTo>
                <a:cubicBezTo>
                  <a:pt x="39" y="40"/>
                  <a:pt x="38" y="41"/>
                  <a:pt x="38" y="42"/>
                </a:cubicBezTo>
                <a:cubicBezTo>
                  <a:pt x="38" y="42"/>
                  <a:pt x="38" y="42"/>
                  <a:pt x="38" y="42"/>
                </a:cubicBezTo>
                <a:cubicBezTo>
                  <a:pt x="38" y="43"/>
                  <a:pt x="39" y="44"/>
                  <a:pt x="40" y="44"/>
                </a:cubicBezTo>
                <a:close/>
                <a:moveTo>
                  <a:pt x="60" y="44"/>
                </a:moveTo>
                <a:cubicBezTo>
                  <a:pt x="64" y="44"/>
                  <a:pt x="68" y="44"/>
                  <a:pt x="72" y="44"/>
                </a:cubicBezTo>
                <a:cubicBezTo>
                  <a:pt x="73" y="44"/>
                  <a:pt x="74" y="43"/>
                  <a:pt x="74" y="42"/>
                </a:cubicBezTo>
                <a:cubicBezTo>
                  <a:pt x="74" y="42"/>
                  <a:pt x="74" y="42"/>
                  <a:pt x="74" y="42"/>
                </a:cubicBezTo>
                <a:cubicBezTo>
                  <a:pt x="74" y="41"/>
                  <a:pt x="73" y="40"/>
                  <a:pt x="72" y="40"/>
                </a:cubicBezTo>
                <a:cubicBezTo>
                  <a:pt x="68" y="40"/>
                  <a:pt x="64" y="40"/>
                  <a:pt x="60" y="40"/>
                </a:cubicBezTo>
                <a:cubicBezTo>
                  <a:pt x="60" y="40"/>
                  <a:pt x="59" y="41"/>
                  <a:pt x="59" y="42"/>
                </a:cubicBezTo>
                <a:cubicBezTo>
                  <a:pt x="59" y="42"/>
                  <a:pt x="59" y="42"/>
                  <a:pt x="59" y="42"/>
                </a:cubicBezTo>
                <a:cubicBezTo>
                  <a:pt x="59" y="43"/>
                  <a:pt x="60" y="44"/>
                  <a:pt x="60" y="44"/>
                </a:cubicBezTo>
                <a:close/>
                <a:moveTo>
                  <a:pt x="81" y="44"/>
                </a:moveTo>
                <a:cubicBezTo>
                  <a:pt x="85" y="44"/>
                  <a:pt x="89" y="44"/>
                  <a:pt x="93" y="44"/>
                </a:cubicBezTo>
                <a:cubicBezTo>
                  <a:pt x="94" y="44"/>
                  <a:pt x="95" y="43"/>
                  <a:pt x="95" y="42"/>
                </a:cubicBezTo>
                <a:cubicBezTo>
                  <a:pt x="95" y="42"/>
                  <a:pt x="95" y="42"/>
                  <a:pt x="95" y="42"/>
                </a:cubicBezTo>
                <a:cubicBezTo>
                  <a:pt x="95" y="41"/>
                  <a:pt x="94" y="40"/>
                  <a:pt x="93" y="40"/>
                </a:cubicBezTo>
                <a:cubicBezTo>
                  <a:pt x="89" y="40"/>
                  <a:pt x="85" y="40"/>
                  <a:pt x="81" y="40"/>
                </a:cubicBezTo>
                <a:cubicBezTo>
                  <a:pt x="81" y="40"/>
                  <a:pt x="80" y="41"/>
                  <a:pt x="80" y="42"/>
                </a:cubicBezTo>
                <a:cubicBezTo>
                  <a:pt x="80" y="42"/>
                  <a:pt x="80" y="42"/>
                  <a:pt x="80" y="42"/>
                </a:cubicBezTo>
                <a:cubicBezTo>
                  <a:pt x="80" y="43"/>
                  <a:pt x="81" y="44"/>
                  <a:pt x="81" y="44"/>
                </a:cubicBezTo>
                <a:close/>
                <a:moveTo>
                  <a:pt x="102" y="44"/>
                </a:moveTo>
                <a:cubicBezTo>
                  <a:pt x="106" y="44"/>
                  <a:pt x="110" y="44"/>
                  <a:pt x="114" y="44"/>
                </a:cubicBezTo>
                <a:cubicBezTo>
                  <a:pt x="115" y="44"/>
                  <a:pt x="116" y="43"/>
                  <a:pt x="116" y="42"/>
                </a:cubicBezTo>
                <a:cubicBezTo>
                  <a:pt x="116" y="42"/>
                  <a:pt x="116" y="42"/>
                  <a:pt x="116" y="42"/>
                </a:cubicBezTo>
                <a:cubicBezTo>
                  <a:pt x="116" y="41"/>
                  <a:pt x="115" y="40"/>
                  <a:pt x="114" y="40"/>
                </a:cubicBezTo>
                <a:cubicBezTo>
                  <a:pt x="110" y="40"/>
                  <a:pt x="106" y="40"/>
                  <a:pt x="102" y="40"/>
                </a:cubicBezTo>
                <a:cubicBezTo>
                  <a:pt x="102" y="40"/>
                  <a:pt x="101" y="41"/>
                  <a:pt x="101" y="42"/>
                </a:cubicBezTo>
                <a:cubicBezTo>
                  <a:pt x="101" y="42"/>
                  <a:pt x="101" y="42"/>
                  <a:pt x="101" y="42"/>
                </a:cubicBezTo>
                <a:cubicBezTo>
                  <a:pt x="101" y="43"/>
                  <a:pt x="102" y="44"/>
                  <a:pt x="102" y="44"/>
                </a:cubicBezTo>
                <a:close/>
                <a:moveTo>
                  <a:pt x="123" y="44"/>
                </a:moveTo>
                <a:cubicBezTo>
                  <a:pt x="127" y="44"/>
                  <a:pt x="131" y="44"/>
                  <a:pt x="135" y="44"/>
                </a:cubicBezTo>
                <a:cubicBezTo>
                  <a:pt x="136" y="44"/>
                  <a:pt x="137" y="43"/>
                  <a:pt x="137" y="42"/>
                </a:cubicBezTo>
                <a:cubicBezTo>
                  <a:pt x="137" y="42"/>
                  <a:pt x="137" y="42"/>
                  <a:pt x="137" y="42"/>
                </a:cubicBezTo>
                <a:cubicBezTo>
                  <a:pt x="137" y="41"/>
                  <a:pt x="136" y="40"/>
                  <a:pt x="135" y="40"/>
                </a:cubicBezTo>
                <a:cubicBezTo>
                  <a:pt x="131" y="40"/>
                  <a:pt x="127" y="40"/>
                  <a:pt x="123" y="40"/>
                </a:cubicBezTo>
                <a:cubicBezTo>
                  <a:pt x="123" y="40"/>
                  <a:pt x="122" y="41"/>
                  <a:pt x="122" y="42"/>
                </a:cubicBezTo>
                <a:cubicBezTo>
                  <a:pt x="122" y="42"/>
                  <a:pt x="122" y="42"/>
                  <a:pt x="122" y="42"/>
                </a:cubicBezTo>
                <a:cubicBezTo>
                  <a:pt x="122" y="43"/>
                  <a:pt x="123" y="44"/>
                  <a:pt x="123" y="44"/>
                </a:cubicBezTo>
                <a:close/>
                <a:moveTo>
                  <a:pt x="144" y="44"/>
                </a:moveTo>
                <a:cubicBezTo>
                  <a:pt x="148" y="44"/>
                  <a:pt x="152" y="44"/>
                  <a:pt x="156" y="44"/>
                </a:cubicBezTo>
                <a:cubicBezTo>
                  <a:pt x="157" y="44"/>
                  <a:pt x="158" y="43"/>
                  <a:pt x="158" y="42"/>
                </a:cubicBezTo>
                <a:cubicBezTo>
                  <a:pt x="158" y="42"/>
                  <a:pt x="158" y="42"/>
                  <a:pt x="158" y="42"/>
                </a:cubicBezTo>
                <a:cubicBezTo>
                  <a:pt x="158" y="41"/>
                  <a:pt x="157" y="40"/>
                  <a:pt x="156" y="40"/>
                </a:cubicBezTo>
                <a:cubicBezTo>
                  <a:pt x="152" y="40"/>
                  <a:pt x="148" y="40"/>
                  <a:pt x="144" y="40"/>
                </a:cubicBezTo>
                <a:cubicBezTo>
                  <a:pt x="144" y="40"/>
                  <a:pt x="143" y="41"/>
                  <a:pt x="143" y="42"/>
                </a:cubicBezTo>
                <a:cubicBezTo>
                  <a:pt x="143" y="42"/>
                  <a:pt x="143" y="42"/>
                  <a:pt x="143" y="42"/>
                </a:cubicBezTo>
                <a:cubicBezTo>
                  <a:pt x="143" y="43"/>
                  <a:pt x="144" y="44"/>
                  <a:pt x="144" y="44"/>
                </a:cubicBezTo>
                <a:close/>
                <a:moveTo>
                  <a:pt x="165" y="44"/>
                </a:moveTo>
                <a:cubicBezTo>
                  <a:pt x="169" y="44"/>
                  <a:pt x="173" y="44"/>
                  <a:pt x="177" y="44"/>
                </a:cubicBezTo>
                <a:cubicBezTo>
                  <a:pt x="178" y="44"/>
                  <a:pt x="179" y="43"/>
                  <a:pt x="179" y="42"/>
                </a:cubicBezTo>
                <a:cubicBezTo>
                  <a:pt x="179" y="42"/>
                  <a:pt x="179" y="42"/>
                  <a:pt x="179" y="42"/>
                </a:cubicBezTo>
                <a:cubicBezTo>
                  <a:pt x="179" y="41"/>
                  <a:pt x="178" y="40"/>
                  <a:pt x="177" y="40"/>
                </a:cubicBezTo>
                <a:cubicBezTo>
                  <a:pt x="173" y="40"/>
                  <a:pt x="169" y="40"/>
                  <a:pt x="165" y="40"/>
                </a:cubicBezTo>
                <a:cubicBezTo>
                  <a:pt x="165" y="40"/>
                  <a:pt x="164" y="41"/>
                  <a:pt x="164" y="42"/>
                </a:cubicBezTo>
                <a:cubicBezTo>
                  <a:pt x="164" y="42"/>
                  <a:pt x="164" y="42"/>
                  <a:pt x="164" y="42"/>
                </a:cubicBezTo>
                <a:cubicBezTo>
                  <a:pt x="164" y="43"/>
                  <a:pt x="165" y="44"/>
                  <a:pt x="165" y="44"/>
                </a:cubicBezTo>
                <a:close/>
              </a:path>
            </a:pathLst>
          </a:custGeom>
          <a:solidFill>
            <a:srgbClr val="FDD820"/>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 name="Freeform 39"/>
          <p:cNvSpPr>
            <a:spLocks noEditPoints="1"/>
          </p:cNvSpPr>
          <p:nvPr/>
        </p:nvSpPr>
        <p:spPr bwMode="auto">
          <a:xfrm>
            <a:off x="769937" y="4783181"/>
            <a:ext cx="1836737" cy="365125"/>
          </a:xfrm>
          <a:custGeom>
            <a:avLst/>
            <a:gdLst>
              <a:gd name="T0" fmla="*/ 30 w 221"/>
              <a:gd name="T1" fmla="*/ 44 h 44"/>
              <a:gd name="T2" fmla="*/ 32 w 221"/>
              <a:gd name="T3" fmla="*/ 42 h 44"/>
              <a:gd name="T4" fmla="*/ 19 w 221"/>
              <a:gd name="T5" fmla="*/ 40 h 44"/>
              <a:gd name="T6" fmla="*/ 17 w 221"/>
              <a:gd name="T7" fmla="*/ 42 h 44"/>
              <a:gd name="T8" fmla="*/ 196 w 221"/>
              <a:gd name="T9" fmla="*/ 43 h 44"/>
              <a:gd name="T10" fmla="*/ 198 w 221"/>
              <a:gd name="T11" fmla="*/ 36 h 44"/>
              <a:gd name="T12" fmla="*/ 195 w 221"/>
              <a:gd name="T13" fmla="*/ 37 h 44"/>
              <a:gd name="T14" fmla="*/ 186 w 221"/>
              <a:gd name="T15" fmla="*/ 40 h 44"/>
              <a:gd name="T16" fmla="*/ 185 w 221"/>
              <a:gd name="T17" fmla="*/ 42 h 44"/>
              <a:gd name="T18" fmla="*/ 194 w 221"/>
              <a:gd name="T19" fmla="*/ 44 h 44"/>
              <a:gd name="T20" fmla="*/ 217 w 221"/>
              <a:gd name="T21" fmla="*/ 1 h 44"/>
              <a:gd name="T22" fmla="*/ 212 w 221"/>
              <a:gd name="T23" fmla="*/ 13 h 44"/>
              <a:gd name="T24" fmla="*/ 214 w 221"/>
              <a:gd name="T25" fmla="*/ 13 h 44"/>
              <a:gd name="T26" fmla="*/ 219 w 221"/>
              <a:gd name="T27" fmla="*/ 0 h 44"/>
              <a:gd name="T28" fmla="*/ 217 w 221"/>
              <a:gd name="T29" fmla="*/ 1 h 44"/>
              <a:gd name="T30" fmla="*/ 200 w 221"/>
              <a:gd name="T31" fmla="*/ 29 h 44"/>
              <a:gd name="T32" fmla="*/ 201 w 221"/>
              <a:gd name="T33" fmla="*/ 31 h 44"/>
              <a:gd name="T34" fmla="*/ 209 w 221"/>
              <a:gd name="T35" fmla="*/ 21 h 44"/>
              <a:gd name="T36" fmla="*/ 209 w 221"/>
              <a:gd name="T37" fmla="*/ 18 h 44"/>
              <a:gd name="T38" fmla="*/ 0 w 221"/>
              <a:gd name="T39" fmla="*/ 40 h 44"/>
              <a:gd name="T40" fmla="*/ 8 w 221"/>
              <a:gd name="T41" fmla="*/ 44 h 44"/>
              <a:gd name="T42" fmla="*/ 10 w 221"/>
              <a:gd name="T43" fmla="*/ 42 h 44"/>
              <a:gd name="T44" fmla="*/ 0 w 221"/>
              <a:gd name="T45" fmla="*/ 40 h 44"/>
              <a:gd name="T46" fmla="*/ 51 w 221"/>
              <a:gd name="T47" fmla="*/ 44 h 44"/>
              <a:gd name="T48" fmla="*/ 53 w 221"/>
              <a:gd name="T49" fmla="*/ 42 h 44"/>
              <a:gd name="T50" fmla="*/ 40 w 221"/>
              <a:gd name="T51" fmla="*/ 40 h 44"/>
              <a:gd name="T52" fmla="*/ 38 w 221"/>
              <a:gd name="T53" fmla="*/ 42 h 44"/>
              <a:gd name="T54" fmla="*/ 60 w 221"/>
              <a:gd name="T55" fmla="*/ 44 h 44"/>
              <a:gd name="T56" fmla="*/ 74 w 221"/>
              <a:gd name="T57" fmla="*/ 42 h 44"/>
              <a:gd name="T58" fmla="*/ 72 w 221"/>
              <a:gd name="T59" fmla="*/ 40 h 44"/>
              <a:gd name="T60" fmla="*/ 59 w 221"/>
              <a:gd name="T61" fmla="*/ 42 h 44"/>
              <a:gd name="T62" fmla="*/ 60 w 221"/>
              <a:gd name="T63" fmla="*/ 44 h 44"/>
              <a:gd name="T64" fmla="*/ 93 w 221"/>
              <a:gd name="T65" fmla="*/ 44 h 44"/>
              <a:gd name="T66" fmla="*/ 95 w 221"/>
              <a:gd name="T67" fmla="*/ 42 h 44"/>
              <a:gd name="T68" fmla="*/ 81 w 221"/>
              <a:gd name="T69" fmla="*/ 40 h 44"/>
              <a:gd name="T70" fmla="*/ 80 w 221"/>
              <a:gd name="T71" fmla="*/ 42 h 44"/>
              <a:gd name="T72" fmla="*/ 102 w 221"/>
              <a:gd name="T73" fmla="*/ 44 h 44"/>
              <a:gd name="T74" fmla="*/ 116 w 221"/>
              <a:gd name="T75" fmla="*/ 42 h 44"/>
              <a:gd name="T76" fmla="*/ 114 w 221"/>
              <a:gd name="T77" fmla="*/ 40 h 44"/>
              <a:gd name="T78" fmla="*/ 101 w 221"/>
              <a:gd name="T79" fmla="*/ 42 h 44"/>
              <a:gd name="T80" fmla="*/ 102 w 221"/>
              <a:gd name="T81" fmla="*/ 44 h 44"/>
              <a:gd name="T82" fmla="*/ 135 w 221"/>
              <a:gd name="T83" fmla="*/ 44 h 44"/>
              <a:gd name="T84" fmla="*/ 137 w 221"/>
              <a:gd name="T85" fmla="*/ 42 h 44"/>
              <a:gd name="T86" fmla="*/ 123 w 221"/>
              <a:gd name="T87" fmla="*/ 40 h 44"/>
              <a:gd name="T88" fmla="*/ 122 w 221"/>
              <a:gd name="T89" fmla="*/ 42 h 44"/>
              <a:gd name="T90" fmla="*/ 144 w 221"/>
              <a:gd name="T91" fmla="*/ 44 h 44"/>
              <a:gd name="T92" fmla="*/ 158 w 221"/>
              <a:gd name="T93" fmla="*/ 42 h 44"/>
              <a:gd name="T94" fmla="*/ 156 w 221"/>
              <a:gd name="T95" fmla="*/ 40 h 44"/>
              <a:gd name="T96" fmla="*/ 143 w 221"/>
              <a:gd name="T97" fmla="*/ 42 h 44"/>
              <a:gd name="T98" fmla="*/ 144 w 221"/>
              <a:gd name="T99" fmla="*/ 44 h 44"/>
              <a:gd name="T100" fmla="*/ 177 w 221"/>
              <a:gd name="T101" fmla="*/ 44 h 44"/>
              <a:gd name="T102" fmla="*/ 179 w 221"/>
              <a:gd name="T103" fmla="*/ 42 h 44"/>
              <a:gd name="T104" fmla="*/ 165 w 221"/>
              <a:gd name="T105" fmla="*/ 40 h 44"/>
              <a:gd name="T106" fmla="*/ 164 w 221"/>
              <a:gd name="T107" fmla="*/ 42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21" h="44">
                <a:moveTo>
                  <a:pt x="19" y="44"/>
                </a:moveTo>
                <a:cubicBezTo>
                  <a:pt x="22" y="44"/>
                  <a:pt x="26" y="44"/>
                  <a:pt x="30" y="44"/>
                </a:cubicBezTo>
                <a:cubicBezTo>
                  <a:pt x="31" y="44"/>
                  <a:pt x="32" y="43"/>
                  <a:pt x="32" y="42"/>
                </a:cubicBezTo>
                <a:cubicBezTo>
                  <a:pt x="32" y="42"/>
                  <a:pt x="32" y="42"/>
                  <a:pt x="32" y="42"/>
                </a:cubicBezTo>
                <a:cubicBezTo>
                  <a:pt x="32" y="41"/>
                  <a:pt x="31" y="40"/>
                  <a:pt x="30" y="40"/>
                </a:cubicBezTo>
                <a:cubicBezTo>
                  <a:pt x="26" y="40"/>
                  <a:pt x="22" y="40"/>
                  <a:pt x="19" y="40"/>
                </a:cubicBezTo>
                <a:cubicBezTo>
                  <a:pt x="18" y="40"/>
                  <a:pt x="17" y="41"/>
                  <a:pt x="17" y="42"/>
                </a:cubicBezTo>
                <a:cubicBezTo>
                  <a:pt x="17" y="42"/>
                  <a:pt x="17" y="42"/>
                  <a:pt x="17" y="42"/>
                </a:cubicBezTo>
                <a:cubicBezTo>
                  <a:pt x="17" y="43"/>
                  <a:pt x="18" y="44"/>
                  <a:pt x="19" y="44"/>
                </a:cubicBezTo>
                <a:close/>
                <a:moveTo>
                  <a:pt x="196" y="43"/>
                </a:moveTo>
                <a:cubicBezTo>
                  <a:pt x="196" y="41"/>
                  <a:pt x="197" y="40"/>
                  <a:pt x="198" y="39"/>
                </a:cubicBezTo>
                <a:cubicBezTo>
                  <a:pt x="199" y="38"/>
                  <a:pt x="198" y="37"/>
                  <a:pt x="198" y="36"/>
                </a:cubicBezTo>
                <a:cubicBezTo>
                  <a:pt x="198" y="36"/>
                  <a:pt x="198" y="36"/>
                  <a:pt x="198" y="36"/>
                </a:cubicBezTo>
                <a:cubicBezTo>
                  <a:pt x="197" y="36"/>
                  <a:pt x="196" y="36"/>
                  <a:pt x="195" y="37"/>
                </a:cubicBezTo>
                <a:cubicBezTo>
                  <a:pt x="195" y="38"/>
                  <a:pt x="194" y="39"/>
                  <a:pt x="193" y="40"/>
                </a:cubicBezTo>
                <a:cubicBezTo>
                  <a:pt x="190" y="40"/>
                  <a:pt x="190" y="40"/>
                  <a:pt x="186" y="40"/>
                </a:cubicBezTo>
                <a:cubicBezTo>
                  <a:pt x="186" y="40"/>
                  <a:pt x="185" y="41"/>
                  <a:pt x="185" y="42"/>
                </a:cubicBezTo>
                <a:cubicBezTo>
                  <a:pt x="185" y="42"/>
                  <a:pt x="185" y="42"/>
                  <a:pt x="185" y="42"/>
                </a:cubicBezTo>
                <a:cubicBezTo>
                  <a:pt x="185" y="43"/>
                  <a:pt x="186" y="44"/>
                  <a:pt x="186" y="44"/>
                </a:cubicBezTo>
                <a:cubicBezTo>
                  <a:pt x="194" y="44"/>
                  <a:pt x="194" y="44"/>
                  <a:pt x="194" y="44"/>
                </a:cubicBezTo>
                <a:cubicBezTo>
                  <a:pt x="195" y="44"/>
                  <a:pt x="195" y="43"/>
                  <a:pt x="196" y="43"/>
                </a:cubicBezTo>
                <a:close/>
                <a:moveTo>
                  <a:pt x="217" y="1"/>
                </a:moveTo>
                <a:cubicBezTo>
                  <a:pt x="215" y="4"/>
                  <a:pt x="213" y="8"/>
                  <a:pt x="211" y="11"/>
                </a:cubicBezTo>
                <a:cubicBezTo>
                  <a:pt x="211" y="12"/>
                  <a:pt x="211" y="13"/>
                  <a:pt x="212" y="13"/>
                </a:cubicBezTo>
                <a:cubicBezTo>
                  <a:pt x="212" y="13"/>
                  <a:pt x="212" y="13"/>
                  <a:pt x="212" y="13"/>
                </a:cubicBezTo>
                <a:cubicBezTo>
                  <a:pt x="212" y="14"/>
                  <a:pt x="213" y="14"/>
                  <a:pt x="214" y="13"/>
                </a:cubicBezTo>
                <a:cubicBezTo>
                  <a:pt x="216" y="9"/>
                  <a:pt x="218" y="6"/>
                  <a:pt x="220" y="3"/>
                </a:cubicBezTo>
                <a:cubicBezTo>
                  <a:pt x="221" y="2"/>
                  <a:pt x="220" y="1"/>
                  <a:pt x="219" y="0"/>
                </a:cubicBezTo>
                <a:cubicBezTo>
                  <a:pt x="219" y="0"/>
                  <a:pt x="219" y="0"/>
                  <a:pt x="219" y="0"/>
                </a:cubicBezTo>
                <a:cubicBezTo>
                  <a:pt x="219" y="0"/>
                  <a:pt x="218" y="0"/>
                  <a:pt x="217" y="1"/>
                </a:cubicBezTo>
                <a:close/>
                <a:moveTo>
                  <a:pt x="206" y="19"/>
                </a:moveTo>
                <a:cubicBezTo>
                  <a:pt x="204" y="22"/>
                  <a:pt x="202" y="26"/>
                  <a:pt x="200" y="29"/>
                </a:cubicBezTo>
                <a:cubicBezTo>
                  <a:pt x="200" y="30"/>
                  <a:pt x="200" y="31"/>
                  <a:pt x="201" y="31"/>
                </a:cubicBezTo>
                <a:cubicBezTo>
                  <a:pt x="201" y="31"/>
                  <a:pt x="201" y="31"/>
                  <a:pt x="201" y="31"/>
                </a:cubicBezTo>
                <a:cubicBezTo>
                  <a:pt x="201" y="32"/>
                  <a:pt x="203" y="31"/>
                  <a:pt x="203" y="31"/>
                </a:cubicBezTo>
                <a:cubicBezTo>
                  <a:pt x="205" y="27"/>
                  <a:pt x="207" y="24"/>
                  <a:pt x="209" y="21"/>
                </a:cubicBezTo>
                <a:cubicBezTo>
                  <a:pt x="210" y="20"/>
                  <a:pt x="209" y="19"/>
                  <a:pt x="209" y="18"/>
                </a:cubicBezTo>
                <a:cubicBezTo>
                  <a:pt x="209" y="18"/>
                  <a:pt x="209" y="18"/>
                  <a:pt x="209" y="18"/>
                </a:cubicBezTo>
                <a:cubicBezTo>
                  <a:pt x="208" y="18"/>
                  <a:pt x="207" y="18"/>
                  <a:pt x="206" y="19"/>
                </a:cubicBezTo>
                <a:close/>
                <a:moveTo>
                  <a:pt x="0" y="40"/>
                </a:moveTo>
                <a:cubicBezTo>
                  <a:pt x="0" y="44"/>
                  <a:pt x="0" y="44"/>
                  <a:pt x="0" y="44"/>
                </a:cubicBezTo>
                <a:cubicBezTo>
                  <a:pt x="8" y="44"/>
                  <a:pt x="8" y="44"/>
                  <a:pt x="8" y="44"/>
                </a:cubicBezTo>
                <a:cubicBezTo>
                  <a:pt x="9" y="44"/>
                  <a:pt x="10" y="43"/>
                  <a:pt x="10" y="42"/>
                </a:cubicBezTo>
                <a:cubicBezTo>
                  <a:pt x="10" y="42"/>
                  <a:pt x="10" y="42"/>
                  <a:pt x="10" y="42"/>
                </a:cubicBezTo>
                <a:cubicBezTo>
                  <a:pt x="10" y="41"/>
                  <a:pt x="9" y="40"/>
                  <a:pt x="8" y="40"/>
                </a:cubicBezTo>
                <a:cubicBezTo>
                  <a:pt x="0" y="40"/>
                  <a:pt x="0" y="40"/>
                  <a:pt x="0" y="40"/>
                </a:cubicBezTo>
                <a:close/>
                <a:moveTo>
                  <a:pt x="40" y="44"/>
                </a:moveTo>
                <a:cubicBezTo>
                  <a:pt x="43" y="44"/>
                  <a:pt x="47" y="44"/>
                  <a:pt x="51" y="44"/>
                </a:cubicBezTo>
                <a:cubicBezTo>
                  <a:pt x="52" y="44"/>
                  <a:pt x="53" y="43"/>
                  <a:pt x="53" y="42"/>
                </a:cubicBezTo>
                <a:cubicBezTo>
                  <a:pt x="53" y="42"/>
                  <a:pt x="53" y="42"/>
                  <a:pt x="53" y="42"/>
                </a:cubicBezTo>
                <a:cubicBezTo>
                  <a:pt x="53" y="41"/>
                  <a:pt x="52" y="40"/>
                  <a:pt x="51" y="40"/>
                </a:cubicBezTo>
                <a:cubicBezTo>
                  <a:pt x="47" y="40"/>
                  <a:pt x="43" y="40"/>
                  <a:pt x="40" y="40"/>
                </a:cubicBezTo>
                <a:cubicBezTo>
                  <a:pt x="39" y="40"/>
                  <a:pt x="38" y="41"/>
                  <a:pt x="38" y="42"/>
                </a:cubicBezTo>
                <a:cubicBezTo>
                  <a:pt x="38" y="42"/>
                  <a:pt x="38" y="42"/>
                  <a:pt x="38" y="42"/>
                </a:cubicBezTo>
                <a:cubicBezTo>
                  <a:pt x="38" y="43"/>
                  <a:pt x="39" y="44"/>
                  <a:pt x="40" y="44"/>
                </a:cubicBezTo>
                <a:close/>
                <a:moveTo>
                  <a:pt x="60" y="44"/>
                </a:moveTo>
                <a:cubicBezTo>
                  <a:pt x="64" y="44"/>
                  <a:pt x="68" y="44"/>
                  <a:pt x="72" y="44"/>
                </a:cubicBezTo>
                <a:cubicBezTo>
                  <a:pt x="73" y="44"/>
                  <a:pt x="74" y="43"/>
                  <a:pt x="74" y="42"/>
                </a:cubicBezTo>
                <a:cubicBezTo>
                  <a:pt x="74" y="42"/>
                  <a:pt x="74" y="42"/>
                  <a:pt x="74" y="42"/>
                </a:cubicBezTo>
                <a:cubicBezTo>
                  <a:pt x="74" y="41"/>
                  <a:pt x="73" y="40"/>
                  <a:pt x="72" y="40"/>
                </a:cubicBezTo>
                <a:cubicBezTo>
                  <a:pt x="68" y="40"/>
                  <a:pt x="64" y="40"/>
                  <a:pt x="60" y="40"/>
                </a:cubicBezTo>
                <a:cubicBezTo>
                  <a:pt x="60" y="40"/>
                  <a:pt x="59" y="41"/>
                  <a:pt x="59" y="42"/>
                </a:cubicBezTo>
                <a:cubicBezTo>
                  <a:pt x="59" y="42"/>
                  <a:pt x="59" y="42"/>
                  <a:pt x="59" y="42"/>
                </a:cubicBezTo>
                <a:cubicBezTo>
                  <a:pt x="59" y="43"/>
                  <a:pt x="60" y="44"/>
                  <a:pt x="60" y="44"/>
                </a:cubicBezTo>
                <a:close/>
                <a:moveTo>
                  <a:pt x="81" y="44"/>
                </a:moveTo>
                <a:cubicBezTo>
                  <a:pt x="85" y="44"/>
                  <a:pt x="89" y="44"/>
                  <a:pt x="93" y="44"/>
                </a:cubicBezTo>
                <a:cubicBezTo>
                  <a:pt x="94" y="44"/>
                  <a:pt x="95" y="43"/>
                  <a:pt x="95" y="42"/>
                </a:cubicBezTo>
                <a:cubicBezTo>
                  <a:pt x="95" y="42"/>
                  <a:pt x="95" y="42"/>
                  <a:pt x="95" y="42"/>
                </a:cubicBezTo>
                <a:cubicBezTo>
                  <a:pt x="95" y="41"/>
                  <a:pt x="94" y="40"/>
                  <a:pt x="93" y="40"/>
                </a:cubicBezTo>
                <a:cubicBezTo>
                  <a:pt x="89" y="40"/>
                  <a:pt x="85" y="40"/>
                  <a:pt x="81" y="40"/>
                </a:cubicBezTo>
                <a:cubicBezTo>
                  <a:pt x="81" y="40"/>
                  <a:pt x="80" y="41"/>
                  <a:pt x="80" y="42"/>
                </a:cubicBezTo>
                <a:cubicBezTo>
                  <a:pt x="80" y="42"/>
                  <a:pt x="80" y="42"/>
                  <a:pt x="80" y="42"/>
                </a:cubicBezTo>
                <a:cubicBezTo>
                  <a:pt x="80" y="43"/>
                  <a:pt x="81" y="44"/>
                  <a:pt x="81" y="44"/>
                </a:cubicBezTo>
                <a:close/>
                <a:moveTo>
                  <a:pt x="102" y="44"/>
                </a:moveTo>
                <a:cubicBezTo>
                  <a:pt x="106" y="44"/>
                  <a:pt x="110" y="44"/>
                  <a:pt x="114" y="44"/>
                </a:cubicBezTo>
                <a:cubicBezTo>
                  <a:pt x="115" y="44"/>
                  <a:pt x="116" y="43"/>
                  <a:pt x="116" y="42"/>
                </a:cubicBezTo>
                <a:cubicBezTo>
                  <a:pt x="116" y="42"/>
                  <a:pt x="116" y="42"/>
                  <a:pt x="116" y="42"/>
                </a:cubicBezTo>
                <a:cubicBezTo>
                  <a:pt x="116" y="41"/>
                  <a:pt x="115" y="40"/>
                  <a:pt x="114" y="40"/>
                </a:cubicBezTo>
                <a:cubicBezTo>
                  <a:pt x="110" y="40"/>
                  <a:pt x="106" y="40"/>
                  <a:pt x="102" y="40"/>
                </a:cubicBezTo>
                <a:cubicBezTo>
                  <a:pt x="102" y="40"/>
                  <a:pt x="101" y="41"/>
                  <a:pt x="101" y="42"/>
                </a:cubicBezTo>
                <a:cubicBezTo>
                  <a:pt x="101" y="42"/>
                  <a:pt x="101" y="42"/>
                  <a:pt x="101" y="42"/>
                </a:cubicBezTo>
                <a:cubicBezTo>
                  <a:pt x="101" y="43"/>
                  <a:pt x="102" y="44"/>
                  <a:pt x="102" y="44"/>
                </a:cubicBezTo>
                <a:close/>
                <a:moveTo>
                  <a:pt x="123" y="44"/>
                </a:moveTo>
                <a:cubicBezTo>
                  <a:pt x="127" y="44"/>
                  <a:pt x="131" y="44"/>
                  <a:pt x="135" y="44"/>
                </a:cubicBezTo>
                <a:cubicBezTo>
                  <a:pt x="136" y="44"/>
                  <a:pt x="137" y="43"/>
                  <a:pt x="137" y="42"/>
                </a:cubicBezTo>
                <a:cubicBezTo>
                  <a:pt x="137" y="42"/>
                  <a:pt x="137" y="42"/>
                  <a:pt x="137" y="42"/>
                </a:cubicBezTo>
                <a:cubicBezTo>
                  <a:pt x="137" y="41"/>
                  <a:pt x="136" y="40"/>
                  <a:pt x="135" y="40"/>
                </a:cubicBezTo>
                <a:cubicBezTo>
                  <a:pt x="131" y="40"/>
                  <a:pt x="127" y="40"/>
                  <a:pt x="123" y="40"/>
                </a:cubicBezTo>
                <a:cubicBezTo>
                  <a:pt x="123" y="40"/>
                  <a:pt x="122" y="41"/>
                  <a:pt x="122" y="42"/>
                </a:cubicBezTo>
                <a:cubicBezTo>
                  <a:pt x="122" y="42"/>
                  <a:pt x="122" y="42"/>
                  <a:pt x="122" y="42"/>
                </a:cubicBezTo>
                <a:cubicBezTo>
                  <a:pt x="122" y="43"/>
                  <a:pt x="123" y="44"/>
                  <a:pt x="123" y="44"/>
                </a:cubicBezTo>
                <a:close/>
                <a:moveTo>
                  <a:pt x="144" y="44"/>
                </a:moveTo>
                <a:cubicBezTo>
                  <a:pt x="148" y="44"/>
                  <a:pt x="152" y="44"/>
                  <a:pt x="156" y="44"/>
                </a:cubicBezTo>
                <a:cubicBezTo>
                  <a:pt x="157" y="44"/>
                  <a:pt x="158" y="43"/>
                  <a:pt x="158" y="42"/>
                </a:cubicBezTo>
                <a:cubicBezTo>
                  <a:pt x="158" y="42"/>
                  <a:pt x="158" y="42"/>
                  <a:pt x="158" y="42"/>
                </a:cubicBezTo>
                <a:cubicBezTo>
                  <a:pt x="158" y="41"/>
                  <a:pt x="157" y="40"/>
                  <a:pt x="156" y="40"/>
                </a:cubicBezTo>
                <a:cubicBezTo>
                  <a:pt x="152" y="40"/>
                  <a:pt x="148" y="40"/>
                  <a:pt x="144" y="40"/>
                </a:cubicBezTo>
                <a:cubicBezTo>
                  <a:pt x="144" y="40"/>
                  <a:pt x="143" y="41"/>
                  <a:pt x="143" y="42"/>
                </a:cubicBezTo>
                <a:cubicBezTo>
                  <a:pt x="143" y="42"/>
                  <a:pt x="143" y="42"/>
                  <a:pt x="143" y="42"/>
                </a:cubicBezTo>
                <a:cubicBezTo>
                  <a:pt x="143" y="43"/>
                  <a:pt x="144" y="44"/>
                  <a:pt x="144" y="44"/>
                </a:cubicBezTo>
                <a:close/>
                <a:moveTo>
                  <a:pt x="165" y="44"/>
                </a:moveTo>
                <a:cubicBezTo>
                  <a:pt x="169" y="44"/>
                  <a:pt x="173" y="44"/>
                  <a:pt x="177" y="44"/>
                </a:cubicBezTo>
                <a:cubicBezTo>
                  <a:pt x="178" y="44"/>
                  <a:pt x="179" y="43"/>
                  <a:pt x="179" y="42"/>
                </a:cubicBezTo>
                <a:cubicBezTo>
                  <a:pt x="179" y="42"/>
                  <a:pt x="179" y="42"/>
                  <a:pt x="179" y="42"/>
                </a:cubicBezTo>
                <a:cubicBezTo>
                  <a:pt x="179" y="41"/>
                  <a:pt x="178" y="40"/>
                  <a:pt x="177" y="40"/>
                </a:cubicBezTo>
                <a:cubicBezTo>
                  <a:pt x="173" y="40"/>
                  <a:pt x="169" y="40"/>
                  <a:pt x="165" y="40"/>
                </a:cubicBezTo>
                <a:cubicBezTo>
                  <a:pt x="165" y="40"/>
                  <a:pt x="164" y="41"/>
                  <a:pt x="164" y="42"/>
                </a:cubicBezTo>
                <a:cubicBezTo>
                  <a:pt x="164" y="42"/>
                  <a:pt x="164" y="42"/>
                  <a:pt x="164" y="42"/>
                </a:cubicBezTo>
                <a:cubicBezTo>
                  <a:pt x="164" y="43"/>
                  <a:pt x="165" y="44"/>
                  <a:pt x="165" y="44"/>
                </a:cubicBezTo>
                <a:close/>
              </a:path>
            </a:pathLst>
          </a:custGeom>
          <a:solidFill>
            <a:srgbClr val="82C3D0"/>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 name="Freeform 40"/>
          <p:cNvSpPr>
            <a:spLocks noEditPoints="1"/>
          </p:cNvSpPr>
          <p:nvPr/>
        </p:nvSpPr>
        <p:spPr bwMode="auto">
          <a:xfrm>
            <a:off x="769937" y="2687681"/>
            <a:ext cx="1870075" cy="431800"/>
          </a:xfrm>
          <a:custGeom>
            <a:avLst/>
            <a:gdLst>
              <a:gd name="T0" fmla="*/ 30 w 225"/>
              <a:gd name="T1" fmla="*/ 0 h 52"/>
              <a:gd name="T2" fmla="*/ 32 w 225"/>
              <a:gd name="T3" fmla="*/ 2 h 52"/>
              <a:gd name="T4" fmla="*/ 19 w 225"/>
              <a:gd name="T5" fmla="*/ 4 h 52"/>
              <a:gd name="T6" fmla="*/ 17 w 225"/>
              <a:gd name="T7" fmla="*/ 2 h 52"/>
              <a:gd name="T8" fmla="*/ 224 w 225"/>
              <a:gd name="T9" fmla="*/ 49 h 52"/>
              <a:gd name="T10" fmla="*/ 225 w 225"/>
              <a:gd name="T11" fmla="*/ 50 h 52"/>
              <a:gd name="T12" fmla="*/ 224 w 225"/>
              <a:gd name="T13" fmla="*/ 52 h 52"/>
              <a:gd name="T14" fmla="*/ 222 w 225"/>
              <a:gd name="T15" fmla="*/ 51 h 52"/>
              <a:gd name="T16" fmla="*/ 224 w 225"/>
              <a:gd name="T17" fmla="*/ 49 h 52"/>
              <a:gd name="T18" fmla="*/ 198 w 225"/>
              <a:gd name="T19" fmla="*/ 6 h 52"/>
              <a:gd name="T20" fmla="*/ 198 w 225"/>
              <a:gd name="T21" fmla="*/ 8 h 52"/>
              <a:gd name="T22" fmla="*/ 193 w 225"/>
              <a:gd name="T23" fmla="*/ 4 h 52"/>
              <a:gd name="T24" fmla="*/ 185 w 225"/>
              <a:gd name="T25" fmla="*/ 2 h 52"/>
              <a:gd name="T26" fmla="*/ 186 w 225"/>
              <a:gd name="T27" fmla="*/ 0 h 52"/>
              <a:gd name="T28" fmla="*/ 196 w 225"/>
              <a:gd name="T29" fmla="*/ 1 h 52"/>
              <a:gd name="T30" fmla="*/ 211 w 225"/>
              <a:gd name="T31" fmla="*/ 33 h 52"/>
              <a:gd name="T32" fmla="*/ 212 w 225"/>
              <a:gd name="T33" fmla="*/ 31 h 52"/>
              <a:gd name="T34" fmla="*/ 220 w 225"/>
              <a:gd name="T35" fmla="*/ 41 h 52"/>
              <a:gd name="T36" fmla="*/ 219 w 225"/>
              <a:gd name="T37" fmla="*/ 44 h 52"/>
              <a:gd name="T38" fmla="*/ 206 w 225"/>
              <a:gd name="T39" fmla="*/ 25 h 52"/>
              <a:gd name="T40" fmla="*/ 201 w 225"/>
              <a:gd name="T41" fmla="*/ 13 h 52"/>
              <a:gd name="T42" fmla="*/ 203 w 225"/>
              <a:gd name="T43" fmla="*/ 14 h 52"/>
              <a:gd name="T44" fmla="*/ 209 w 225"/>
              <a:gd name="T45" fmla="*/ 26 h 52"/>
              <a:gd name="T46" fmla="*/ 206 w 225"/>
              <a:gd name="T47" fmla="*/ 25 h 52"/>
              <a:gd name="T48" fmla="*/ 0 w 225"/>
              <a:gd name="T49" fmla="*/ 0 h 52"/>
              <a:gd name="T50" fmla="*/ 10 w 225"/>
              <a:gd name="T51" fmla="*/ 2 h 52"/>
              <a:gd name="T52" fmla="*/ 8 w 225"/>
              <a:gd name="T53" fmla="*/ 4 h 52"/>
              <a:gd name="T54" fmla="*/ 40 w 225"/>
              <a:gd name="T55" fmla="*/ 0 h 52"/>
              <a:gd name="T56" fmla="*/ 53 w 225"/>
              <a:gd name="T57" fmla="*/ 2 h 52"/>
              <a:gd name="T58" fmla="*/ 51 w 225"/>
              <a:gd name="T59" fmla="*/ 4 h 52"/>
              <a:gd name="T60" fmla="*/ 38 w 225"/>
              <a:gd name="T61" fmla="*/ 2 h 52"/>
              <a:gd name="T62" fmla="*/ 40 w 225"/>
              <a:gd name="T63" fmla="*/ 0 h 52"/>
              <a:gd name="T64" fmla="*/ 72 w 225"/>
              <a:gd name="T65" fmla="*/ 0 h 52"/>
              <a:gd name="T66" fmla="*/ 74 w 225"/>
              <a:gd name="T67" fmla="*/ 2 h 52"/>
              <a:gd name="T68" fmla="*/ 60 w 225"/>
              <a:gd name="T69" fmla="*/ 4 h 52"/>
              <a:gd name="T70" fmla="*/ 59 w 225"/>
              <a:gd name="T71" fmla="*/ 2 h 52"/>
              <a:gd name="T72" fmla="*/ 81 w 225"/>
              <a:gd name="T73" fmla="*/ 0 h 52"/>
              <a:gd name="T74" fmla="*/ 95 w 225"/>
              <a:gd name="T75" fmla="*/ 2 h 52"/>
              <a:gd name="T76" fmla="*/ 93 w 225"/>
              <a:gd name="T77" fmla="*/ 4 h 52"/>
              <a:gd name="T78" fmla="*/ 80 w 225"/>
              <a:gd name="T79" fmla="*/ 2 h 52"/>
              <a:gd name="T80" fmla="*/ 81 w 225"/>
              <a:gd name="T81" fmla="*/ 0 h 52"/>
              <a:gd name="T82" fmla="*/ 114 w 225"/>
              <a:gd name="T83" fmla="*/ 0 h 52"/>
              <a:gd name="T84" fmla="*/ 116 w 225"/>
              <a:gd name="T85" fmla="*/ 2 h 52"/>
              <a:gd name="T86" fmla="*/ 102 w 225"/>
              <a:gd name="T87" fmla="*/ 4 h 52"/>
              <a:gd name="T88" fmla="*/ 101 w 225"/>
              <a:gd name="T89" fmla="*/ 2 h 52"/>
              <a:gd name="T90" fmla="*/ 123 w 225"/>
              <a:gd name="T91" fmla="*/ 0 h 52"/>
              <a:gd name="T92" fmla="*/ 137 w 225"/>
              <a:gd name="T93" fmla="*/ 2 h 52"/>
              <a:gd name="T94" fmla="*/ 135 w 225"/>
              <a:gd name="T95" fmla="*/ 4 h 52"/>
              <a:gd name="T96" fmla="*/ 122 w 225"/>
              <a:gd name="T97" fmla="*/ 2 h 52"/>
              <a:gd name="T98" fmla="*/ 123 w 225"/>
              <a:gd name="T99" fmla="*/ 0 h 52"/>
              <a:gd name="T100" fmla="*/ 156 w 225"/>
              <a:gd name="T101" fmla="*/ 0 h 52"/>
              <a:gd name="T102" fmla="*/ 158 w 225"/>
              <a:gd name="T103" fmla="*/ 2 h 52"/>
              <a:gd name="T104" fmla="*/ 144 w 225"/>
              <a:gd name="T105" fmla="*/ 4 h 52"/>
              <a:gd name="T106" fmla="*/ 143 w 225"/>
              <a:gd name="T107" fmla="*/ 2 h 52"/>
              <a:gd name="T108" fmla="*/ 165 w 225"/>
              <a:gd name="T109" fmla="*/ 0 h 52"/>
              <a:gd name="T110" fmla="*/ 179 w 225"/>
              <a:gd name="T111" fmla="*/ 2 h 52"/>
              <a:gd name="T112" fmla="*/ 177 w 225"/>
              <a:gd name="T113" fmla="*/ 4 h 52"/>
              <a:gd name="T114" fmla="*/ 164 w 225"/>
              <a:gd name="T115" fmla="*/ 2 h 52"/>
              <a:gd name="T116" fmla="*/ 165 w 225"/>
              <a:gd name="T117"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5" h="52">
                <a:moveTo>
                  <a:pt x="19" y="0"/>
                </a:moveTo>
                <a:cubicBezTo>
                  <a:pt x="22" y="0"/>
                  <a:pt x="26" y="0"/>
                  <a:pt x="30" y="0"/>
                </a:cubicBezTo>
                <a:cubicBezTo>
                  <a:pt x="31" y="0"/>
                  <a:pt x="32" y="1"/>
                  <a:pt x="32" y="2"/>
                </a:cubicBezTo>
                <a:cubicBezTo>
                  <a:pt x="32" y="2"/>
                  <a:pt x="32" y="2"/>
                  <a:pt x="32" y="2"/>
                </a:cubicBezTo>
                <a:cubicBezTo>
                  <a:pt x="32" y="3"/>
                  <a:pt x="31" y="4"/>
                  <a:pt x="30" y="4"/>
                </a:cubicBezTo>
                <a:cubicBezTo>
                  <a:pt x="26" y="4"/>
                  <a:pt x="22" y="4"/>
                  <a:pt x="19" y="4"/>
                </a:cubicBezTo>
                <a:cubicBezTo>
                  <a:pt x="18" y="4"/>
                  <a:pt x="17" y="3"/>
                  <a:pt x="17" y="2"/>
                </a:cubicBezTo>
                <a:cubicBezTo>
                  <a:pt x="17" y="2"/>
                  <a:pt x="17" y="2"/>
                  <a:pt x="17" y="2"/>
                </a:cubicBezTo>
                <a:cubicBezTo>
                  <a:pt x="17" y="1"/>
                  <a:pt x="18" y="0"/>
                  <a:pt x="19" y="0"/>
                </a:cubicBezTo>
                <a:close/>
                <a:moveTo>
                  <a:pt x="224" y="49"/>
                </a:moveTo>
                <a:cubicBezTo>
                  <a:pt x="224" y="49"/>
                  <a:pt x="224" y="49"/>
                  <a:pt x="224" y="49"/>
                </a:cubicBezTo>
                <a:cubicBezTo>
                  <a:pt x="225" y="49"/>
                  <a:pt x="225" y="49"/>
                  <a:pt x="225" y="50"/>
                </a:cubicBezTo>
                <a:cubicBezTo>
                  <a:pt x="225" y="51"/>
                  <a:pt x="225" y="51"/>
                  <a:pt x="225" y="51"/>
                </a:cubicBezTo>
                <a:cubicBezTo>
                  <a:pt x="225" y="52"/>
                  <a:pt x="225" y="52"/>
                  <a:pt x="224" y="52"/>
                </a:cubicBezTo>
                <a:cubicBezTo>
                  <a:pt x="224" y="52"/>
                  <a:pt x="224" y="52"/>
                  <a:pt x="224" y="52"/>
                </a:cubicBezTo>
                <a:cubicBezTo>
                  <a:pt x="223" y="52"/>
                  <a:pt x="222" y="52"/>
                  <a:pt x="222" y="51"/>
                </a:cubicBezTo>
                <a:cubicBezTo>
                  <a:pt x="222" y="50"/>
                  <a:pt x="222" y="50"/>
                  <a:pt x="222" y="50"/>
                </a:cubicBezTo>
                <a:cubicBezTo>
                  <a:pt x="222" y="49"/>
                  <a:pt x="223" y="49"/>
                  <a:pt x="224" y="49"/>
                </a:cubicBezTo>
                <a:close/>
                <a:moveTo>
                  <a:pt x="196" y="1"/>
                </a:moveTo>
                <a:cubicBezTo>
                  <a:pt x="196" y="3"/>
                  <a:pt x="197" y="4"/>
                  <a:pt x="198" y="6"/>
                </a:cubicBezTo>
                <a:cubicBezTo>
                  <a:pt x="199" y="6"/>
                  <a:pt x="198" y="7"/>
                  <a:pt x="198" y="8"/>
                </a:cubicBezTo>
                <a:cubicBezTo>
                  <a:pt x="198" y="8"/>
                  <a:pt x="198" y="8"/>
                  <a:pt x="198" y="8"/>
                </a:cubicBezTo>
                <a:cubicBezTo>
                  <a:pt x="197" y="8"/>
                  <a:pt x="196" y="8"/>
                  <a:pt x="195" y="7"/>
                </a:cubicBezTo>
                <a:cubicBezTo>
                  <a:pt x="195" y="6"/>
                  <a:pt x="194" y="5"/>
                  <a:pt x="193" y="4"/>
                </a:cubicBezTo>
                <a:cubicBezTo>
                  <a:pt x="190" y="4"/>
                  <a:pt x="190" y="4"/>
                  <a:pt x="186" y="4"/>
                </a:cubicBezTo>
                <a:cubicBezTo>
                  <a:pt x="186" y="4"/>
                  <a:pt x="185" y="3"/>
                  <a:pt x="185" y="2"/>
                </a:cubicBezTo>
                <a:cubicBezTo>
                  <a:pt x="185" y="2"/>
                  <a:pt x="185" y="2"/>
                  <a:pt x="185" y="2"/>
                </a:cubicBezTo>
                <a:cubicBezTo>
                  <a:pt x="185" y="1"/>
                  <a:pt x="186" y="0"/>
                  <a:pt x="186" y="0"/>
                </a:cubicBezTo>
                <a:cubicBezTo>
                  <a:pt x="194" y="0"/>
                  <a:pt x="194" y="0"/>
                  <a:pt x="194" y="0"/>
                </a:cubicBezTo>
                <a:cubicBezTo>
                  <a:pt x="195" y="0"/>
                  <a:pt x="195" y="1"/>
                  <a:pt x="196" y="1"/>
                </a:cubicBezTo>
                <a:close/>
                <a:moveTo>
                  <a:pt x="217" y="43"/>
                </a:moveTo>
                <a:cubicBezTo>
                  <a:pt x="215" y="40"/>
                  <a:pt x="213" y="37"/>
                  <a:pt x="211" y="33"/>
                </a:cubicBezTo>
                <a:cubicBezTo>
                  <a:pt x="211" y="32"/>
                  <a:pt x="211" y="31"/>
                  <a:pt x="212" y="31"/>
                </a:cubicBezTo>
                <a:cubicBezTo>
                  <a:pt x="212" y="31"/>
                  <a:pt x="212" y="31"/>
                  <a:pt x="212" y="31"/>
                </a:cubicBezTo>
                <a:cubicBezTo>
                  <a:pt x="212" y="30"/>
                  <a:pt x="213" y="31"/>
                  <a:pt x="214" y="31"/>
                </a:cubicBezTo>
                <a:cubicBezTo>
                  <a:pt x="216" y="35"/>
                  <a:pt x="218" y="38"/>
                  <a:pt x="220" y="41"/>
                </a:cubicBezTo>
                <a:cubicBezTo>
                  <a:pt x="221" y="42"/>
                  <a:pt x="220" y="43"/>
                  <a:pt x="219" y="44"/>
                </a:cubicBezTo>
                <a:cubicBezTo>
                  <a:pt x="219" y="44"/>
                  <a:pt x="219" y="44"/>
                  <a:pt x="219" y="44"/>
                </a:cubicBezTo>
                <a:cubicBezTo>
                  <a:pt x="219" y="44"/>
                  <a:pt x="218" y="44"/>
                  <a:pt x="217" y="43"/>
                </a:cubicBezTo>
                <a:close/>
                <a:moveTo>
                  <a:pt x="206" y="25"/>
                </a:moveTo>
                <a:cubicBezTo>
                  <a:pt x="204" y="22"/>
                  <a:pt x="202" y="19"/>
                  <a:pt x="200" y="15"/>
                </a:cubicBezTo>
                <a:cubicBezTo>
                  <a:pt x="200" y="14"/>
                  <a:pt x="200" y="13"/>
                  <a:pt x="201" y="13"/>
                </a:cubicBezTo>
                <a:cubicBezTo>
                  <a:pt x="201" y="13"/>
                  <a:pt x="201" y="13"/>
                  <a:pt x="201" y="13"/>
                </a:cubicBezTo>
                <a:cubicBezTo>
                  <a:pt x="201" y="12"/>
                  <a:pt x="203" y="13"/>
                  <a:pt x="203" y="14"/>
                </a:cubicBezTo>
                <a:cubicBezTo>
                  <a:pt x="205" y="17"/>
                  <a:pt x="207" y="20"/>
                  <a:pt x="209" y="24"/>
                </a:cubicBezTo>
                <a:cubicBezTo>
                  <a:pt x="210" y="24"/>
                  <a:pt x="209" y="25"/>
                  <a:pt x="209" y="26"/>
                </a:cubicBezTo>
                <a:cubicBezTo>
                  <a:pt x="209" y="26"/>
                  <a:pt x="209" y="26"/>
                  <a:pt x="209" y="26"/>
                </a:cubicBezTo>
                <a:cubicBezTo>
                  <a:pt x="208" y="26"/>
                  <a:pt x="207" y="26"/>
                  <a:pt x="206" y="25"/>
                </a:cubicBezTo>
                <a:close/>
                <a:moveTo>
                  <a:pt x="0" y="4"/>
                </a:moveTo>
                <a:cubicBezTo>
                  <a:pt x="0" y="0"/>
                  <a:pt x="0" y="0"/>
                  <a:pt x="0" y="0"/>
                </a:cubicBezTo>
                <a:cubicBezTo>
                  <a:pt x="8" y="0"/>
                  <a:pt x="8" y="0"/>
                  <a:pt x="8" y="0"/>
                </a:cubicBezTo>
                <a:cubicBezTo>
                  <a:pt x="9" y="0"/>
                  <a:pt x="10" y="1"/>
                  <a:pt x="10" y="2"/>
                </a:cubicBezTo>
                <a:cubicBezTo>
                  <a:pt x="10" y="2"/>
                  <a:pt x="10" y="2"/>
                  <a:pt x="10" y="2"/>
                </a:cubicBezTo>
                <a:cubicBezTo>
                  <a:pt x="10" y="3"/>
                  <a:pt x="9" y="4"/>
                  <a:pt x="8" y="4"/>
                </a:cubicBezTo>
                <a:cubicBezTo>
                  <a:pt x="0" y="4"/>
                  <a:pt x="0" y="4"/>
                  <a:pt x="0" y="4"/>
                </a:cubicBezTo>
                <a:close/>
                <a:moveTo>
                  <a:pt x="40" y="0"/>
                </a:moveTo>
                <a:cubicBezTo>
                  <a:pt x="43" y="0"/>
                  <a:pt x="47" y="0"/>
                  <a:pt x="51" y="0"/>
                </a:cubicBezTo>
                <a:cubicBezTo>
                  <a:pt x="52" y="0"/>
                  <a:pt x="53" y="1"/>
                  <a:pt x="53" y="2"/>
                </a:cubicBezTo>
                <a:cubicBezTo>
                  <a:pt x="53" y="2"/>
                  <a:pt x="53" y="2"/>
                  <a:pt x="53" y="2"/>
                </a:cubicBezTo>
                <a:cubicBezTo>
                  <a:pt x="53" y="3"/>
                  <a:pt x="52" y="4"/>
                  <a:pt x="51" y="4"/>
                </a:cubicBezTo>
                <a:cubicBezTo>
                  <a:pt x="47" y="4"/>
                  <a:pt x="43" y="4"/>
                  <a:pt x="40" y="4"/>
                </a:cubicBezTo>
                <a:cubicBezTo>
                  <a:pt x="39" y="4"/>
                  <a:pt x="38" y="3"/>
                  <a:pt x="38" y="2"/>
                </a:cubicBezTo>
                <a:cubicBezTo>
                  <a:pt x="38" y="2"/>
                  <a:pt x="38" y="2"/>
                  <a:pt x="38" y="2"/>
                </a:cubicBezTo>
                <a:cubicBezTo>
                  <a:pt x="38" y="1"/>
                  <a:pt x="39" y="0"/>
                  <a:pt x="40" y="0"/>
                </a:cubicBezTo>
                <a:close/>
                <a:moveTo>
                  <a:pt x="60" y="0"/>
                </a:moveTo>
                <a:cubicBezTo>
                  <a:pt x="64" y="0"/>
                  <a:pt x="68" y="0"/>
                  <a:pt x="72" y="0"/>
                </a:cubicBezTo>
                <a:cubicBezTo>
                  <a:pt x="73" y="0"/>
                  <a:pt x="74" y="1"/>
                  <a:pt x="74" y="2"/>
                </a:cubicBezTo>
                <a:cubicBezTo>
                  <a:pt x="74" y="2"/>
                  <a:pt x="74" y="2"/>
                  <a:pt x="74" y="2"/>
                </a:cubicBezTo>
                <a:cubicBezTo>
                  <a:pt x="74" y="3"/>
                  <a:pt x="73" y="4"/>
                  <a:pt x="72" y="4"/>
                </a:cubicBezTo>
                <a:cubicBezTo>
                  <a:pt x="68" y="4"/>
                  <a:pt x="64" y="4"/>
                  <a:pt x="60" y="4"/>
                </a:cubicBezTo>
                <a:cubicBezTo>
                  <a:pt x="60" y="4"/>
                  <a:pt x="59" y="3"/>
                  <a:pt x="59" y="2"/>
                </a:cubicBezTo>
                <a:cubicBezTo>
                  <a:pt x="59" y="2"/>
                  <a:pt x="59" y="2"/>
                  <a:pt x="59" y="2"/>
                </a:cubicBezTo>
                <a:cubicBezTo>
                  <a:pt x="59" y="1"/>
                  <a:pt x="60" y="0"/>
                  <a:pt x="60" y="0"/>
                </a:cubicBezTo>
                <a:close/>
                <a:moveTo>
                  <a:pt x="81" y="0"/>
                </a:moveTo>
                <a:cubicBezTo>
                  <a:pt x="85" y="0"/>
                  <a:pt x="89" y="0"/>
                  <a:pt x="93" y="0"/>
                </a:cubicBezTo>
                <a:cubicBezTo>
                  <a:pt x="94" y="0"/>
                  <a:pt x="95" y="1"/>
                  <a:pt x="95" y="2"/>
                </a:cubicBezTo>
                <a:cubicBezTo>
                  <a:pt x="95" y="2"/>
                  <a:pt x="95" y="2"/>
                  <a:pt x="95" y="2"/>
                </a:cubicBezTo>
                <a:cubicBezTo>
                  <a:pt x="95" y="3"/>
                  <a:pt x="94" y="4"/>
                  <a:pt x="93" y="4"/>
                </a:cubicBezTo>
                <a:cubicBezTo>
                  <a:pt x="89" y="4"/>
                  <a:pt x="85" y="4"/>
                  <a:pt x="81" y="4"/>
                </a:cubicBezTo>
                <a:cubicBezTo>
                  <a:pt x="81" y="4"/>
                  <a:pt x="80" y="3"/>
                  <a:pt x="80" y="2"/>
                </a:cubicBezTo>
                <a:cubicBezTo>
                  <a:pt x="80" y="2"/>
                  <a:pt x="80" y="2"/>
                  <a:pt x="80" y="2"/>
                </a:cubicBezTo>
                <a:cubicBezTo>
                  <a:pt x="80" y="1"/>
                  <a:pt x="81" y="0"/>
                  <a:pt x="81" y="0"/>
                </a:cubicBezTo>
                <a:close/>
                <a:moveTo>
                  <a:pt x="102" y="0"/>
                </a:moveTo>
                <a:cubicBezTo>
                  <a:pt x="106" y="0"/>
                  <a:pt x="110" y="0"/>
                  <a:pt x="114" y="0"/>
                </a:cubicBezTo>
                <a:cubicBezTo>
                  <a:pt x="115" y="0"/>
                  <a:pt x="116" y="1"/>
                  <a:pt x="116" y="2"/>
                </a:cubicBezTo>
                <a:cubicBezTo>
                  <a:pt x="116" y="2"/>
                  <a:pt x="116" y="2"/>
                  <a:pt x="116" y="2"/>
                </a:cubicBezTo>
                <a:cubicBezTo>
                  <a:pt x="116" y="3"/>
                  <a:pt x="115" y="4"/>
                  <a:pt x="114" y="4"/>
                </a:cubicBezTo>
                <a:cubicBezTo>
                  <a:pt x="110" y="4"/>
                  <a:pt x="106" y="4"/>
                  <a:pt x="102" y="4"/>
                </a:cubicBezTo>
                <a:cubicBezTo>
                  <a:pt x="102" y="4"/>
                  <a:pt x="101" y="3"/>
                  <a:pt x="101" y="2"/>
                </a:cubicBezTo>
                <a:cubicBezTo>
                  <a:pt x="101" y="2"/>
                  <a:pt x="101" y="2"/>
                  <a:pt x="101" y="2"/>
                </a:cubicBezTo>
                <a:cubicBezTo>
                  <a:pt x="101" y="1"/>
                  <a:pt x="102" y="0"/>
                  <a:pt x="102" y="0"/>
                </a:cubicBezTo>
                <a:close/>
                <a:moveTo>
                  <a:pt x="123" y="0"/>
                </a:moveTo>
                <a:cubicBezTo>
                  <a:pt x="127" y="0"/>
                  <a:pt x="131" y="0"/>
                  <a:pt x="135" y="0"/>
                </a:cubicBezTo>
                <a:cubicBezTo>
                  <a:pt x="136" y="0"/>
                  <a:pt x="137" y="1"/>
                  <a:pt x="137" y="2"/>
                </a:cubicBezTo>
                <a:cubicBezTo>
                  <a:pt x="137" y="2"/>
                  <a:pt x="137" y="2"/>
                  <a:pt x="137" y="2"/>
                </a:cubicBezTo>
                <a:cubicBezTo>
                  <a:pt x="137" y="3"/>
                  <a:pt x="136" y="4"/>
                  <a:pt x="135" y="4"/>
                </a:cubicBezTo>
                <a:cubicBezTo>
                  <a:pt x="131" y="4"/>
                  <a:pt x="127" y="4"/>
                  <a:pt x="123" y="4"/>
                </a:cubicBezTo>
                <a:cubicBezTo>
                  <a:pt x="123" y="4"/>
                  <a:pt x="122" y="3"/>
                  <a:pt x="122" y="2"/>
                </a:cubicBezTo>
                <a:cubicBezTo>
                  <a:pt x="122" y="2"/>
                  <a:pt x="122" y="2"/>
                  <a:pt x="122" y="2"/>
                </a:cubicBezTo>
                <a:cubicBezTo>
                  <a:pt x="122" y="1"/>
                  <a:pt x="123" y="0"/>
                  <a:pt x="123" y="0"/>
                </a:cubicBezTo>
                <a:close/>
                <a:moveTo>
                  <a:pt x="144" y="0"/>
                </a:moveTo>
                <a:cubicBezTo>
                  <a:pt x="148" y="0"/>
                  <a:pt x="152" y="0"/>
                  <a:pt x="156" y="0"/>
                </a:cubicBezTo>
                <a:cubicBezTo>
                  <a:pt x="157" y="0"/>
                  <a:pt x="158" y="1"/>
                  <a:pt x="158" y="2"/>
                </a:cubicBezTo>
                <a:cubicBezTo>
                  <a:pt x="158" y="2"/>
                  <a:pt x="158" y="2"/>
                  <a:pt x="158" y="2"/>
                </a:cubicBezTo>
                <a:cubicBezTo>
                  <a:pt x="158" y="3"/>
                  <a:pt x="157" y="4"/>
                  <a:pt x="156" y="4"/>
                </a:cubicBezTo>
                <a:cubicBezTo>
                  <a:pt x="152" y="4"/>
                  <a:pt x="148" y="4"/>
                  <a:pt x="144" y="4"/>
                </a:cubicBezTo>
                <a:cubicBezTo>
                  <a:pt x="144" y="4"/>
                  <a:pt x="143" y="3"/>
                  <a:pt x="143" y="2"/>
                </a:cubicBezTo>
                <a:cubicBezTo>
                  <a:pt x="143" y="2"/>
                  <a:pt x="143" y="2"/>
                  <a:pt x="143" y="2"/>
                </a:cubicBezTo>
                <a:cubicBezTo>
                  <a:pt x="143" y="1"/>
                  <a:pt x="144" y="0"/>
                  <a:pt x="144" y="0"/>
                </a:cubicBezTo>
                <a:close/>
                <a:moveTo>
                  <a:pt x="165" y="0"/>
                </a:moveTo>
                <a:cubicBezTo>
                  <a:pt x="169" y="0"/>
                  <a:pt x="173" y="0"/>
                  <a:pt x="177" y="0"/>
                </a:cubicBezTo>
                <a:cubicBezTo>
                  <a:pt x="178" y="0"/>
                  <a:pt x="179" y="1"/>
                  <a:pt x="179" y="2"/>
                </a:cubicBezTo>
                <a:cubicBezTo>
                  <a:pt x="179" y="2"/>
                  <a:pt x="179" y="2"/>
                  <a:pt x="179" y="2"/>
                </a:cubicBezTo>
                <a:cubicBezTo>
                  <a:pt x="179" y="3"/>
                  <a:pt x="178" y="4"/>
                  <a:pt x="177" y="4"/>
                </a:cubicBezTo>
                <a:cubicBezTo>
                  <a:pt x="173" y="4"/>
                  <a:pt x="169" y="4"/>
                  <a:pt x="165" y="4"/>
                </a:cubicBezTo>
                <a:cubicBezTo>
                  <a:pt x="165" y="4"/>
                  <a:pt x="164" y="3"/>
                  <a:pt x="164" y="2"/>
                </a:cubicBezTo>
                <a:cubicBezTo>
                  <a:pt x="164" y="2"/>
                  <a:pt x="164" y="2"/>
                  <a:pt x="164" y="2"/>
                </a:cubicBezTo>
                <a:cubicBezTo>
                  <a:pt x="164" y="1"/>
                  <a:pt x="165" y="0"/>
                  <a:pt x="165" y="0"/>
                </a:cubicBezTo>
                <a:close/>
              </a:path>
            </a:pathLst>
          </a:custGeom>
          <a:solidFill>
            <a:srgbClr val="FDD820"/>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 name="Freeform 41"/>
          <p:cNvSpPr>
            <a:spLocks noEditPoints="1"/>
          </p:cNvSpPr>
          <p:nvPr/>
        </p:nvSpPr>
        <p:spPr bwMode="auto">
          <a:xfrm>
            <a:off x="769937" y="4316456"/>
            <a:ext cx="1870075" cy="433388"/>
          </a:xfrm>
          <a:custGeom>
            <a:avLst/>
            <a:gdLst>
              <a:gd name="T0" fmla="*/ 30 w 225"/>
              <a:gd name="T1" fmla="*/ 0 h 52"/>
              <a:gd name="T2" fmla="*/ 32 w 225"/>
              <a:gd name="T3" fmla="*/ 1 h 52"/>
              <a:gd name="T4" fmla="*/ 19 w 225"/>
              <a:gd name="T5" fmla="*/ 3 h 52"/>
              <a:gd name="T6" fmla="*/ 17 w 225"/>
              <a:gd name="T7" fmla="*/ 1 h 52"/>
              <a:gd name="T8" fmla="*/ 224 w 225"/>
              <a:gd name="T9" fmla="*/ 48 h 52"/>
              <a:gd name="T10" fmla="*/ 225 w 225"/>
              <a:gd name="T11" fmla="*/ 50 h 52"/>
              <a:gd name="T12" fmla="*/ 224 w 225"/>
              <a:gd name="T13" fmla="*/ 52 h 52"/>
              <a:gd name="T14" fmla="*/ 222 w 225"/>
              <a:gd name="T15" fmla="*/ 50 h 52"/>
              <a:gd name="T16" fmla="*/ 224 w 225"/>
              <a:gd name="T17" fmla="*/ 48 h 52"/>
              <a:gd name="T18" fmla="*/ 198 w 225"/>
              <a:gd name="T19" fmla="*/ 5 h 52"/>
              <a:gd name="T20" fmla="*/ 198 w 225"/>
              <a:gd name="T21" fmla="*/ 7 h 52"/>
              <a:gd name="T22" fmla="*/ 193 w 225"/>
              <a:gd name="T23" fmla="*/ 3 h 52"/>
              <a:gd name="T24" fmla="*/ 185 w 225"/>
              <a:gd name="T25" fmla="*/ 1 h 52"/>
              <a:gd name="T26" fmla="*/ 186 w 225"/>
              <a:gd name="T27" fmla="*/ 0 h 52"/>
              <a:gd name="T28" fmla="*/ 196 w 225"/>
              <a:gd name="T29" fmla="*/ 1 h 52"/>
              <a:gd name="T30" fmla="*/ 211 w 225"/>
              <a:gd name="T31" fmla="*/ 32 h 52"/>
              <a:gd name="T32" fmla="*/ 212 w 225"/>
              <a:gd name="T33" fmla="*/ 30 h 52"/>
              <a:gd name="T34" fmla="*/ 220 w 225"/>
              <a:gd name="T35" fmla="*/ 41 h 52"/>
              <a:gd name="T36" fmla="*/ 219 w 225"/>
              <a:gd name="T37" fmla="*/ 43 h 52"/>
              <a:gd name="T38" fmla="*/ 206 w 225"/>
              <a:gd name="T39" fmla="*/ 24 h 52"/>
              <a:gd name="T40" fmla="*/ 201 w 225"/>
              <a:gd name="T41" fmla="*/ 12 h 52"/>
              <a:gd name="T42" fmla="*/ 203 w 225"/>
              <a:gd name="T43" fmla="*/ 13 h 52"/>
              <a:gd name="T44" fmla="*/ 209 w 225"/>
              <a:gd name="T45" fmla="*/ 25 h 52"/>
              <a:gd name="T46" fmla="*/ 206 w 225"/>
              <a:gd name="T47" fmla="*/ 24 h 52"/>
              <a:gd name="T48" fmla="*/ 0 w 225"/>
              <a:gd name="T49" fmla="*/ 0 h 52"/>
              <a:gd name="T50" fmla="*/ 10 w 225"/>
              <a:gd name="T51" fmla="*/ 1 h 52"/>
              <a:gd name="T52" fmla="*/ 8 w 225"/>
              <a:gd name="T53" fmla="*/ 3 h 52"/>
              <a:gd name="T54" fmla="*/ 40 w 225"/>
              <a:gd name="T55" fmla="*/ 0 h 52"/>
              <a:gd name="T56" fmla="*/ 53 w 225"/>
              <a:gd name="T57" fmla="*/ 1 h 52"/>
              <a:gd name="T58" fmla="*/ 51 w 225"/>
              <a:gd name="T59" fmla="*/ 3 h 52"/>
              <a:gd name="T60" fmla="*/ 38 w 225"/>
              <a:gd name="T61" fmla="*/ 1 h 52"/>
              <a:gd name="T62" fmla="*/ 40 w 225"/>
              <a:gd name="T63" fmla="*/ 0 h 52"/>
              <a:gd name="T64" fmla="*/ 72 w 225"/>
              <a:gd name="T65" fmla="*/ 0 h 52"/>
              <a:gd name="T66" fmla="*/ 74 w 225"/>
              <a:gd name="T67" fmla="*/ 1 h 52"/>
              <a:gd name="T68" fmla="*/ 60 w 225"/>
              <a:gd name="T69" fmla="*/ 3 h 52"/>
              <a:gd name="T70" fmla="*/ 59 w 225"/>
              <a:gd name="T71" fmla="*/ 1 h 52"/>
              <a:gd name="T72" fmla="*/ 81 w 225"/>
              <a:gd name="T73" fmla="*/ 0 h 52"/>
              <a:gd name="T74" fmla="*/ 95 w 225"/>
              <a:gd name="T75" fmla="*/ 1 h 52"/>
              <a:gd name="T76" fmla="*/ 93 w 225"/>
              <a:gd name="T77" fmla="*/ 3 h 52"/>
              <a:gd name="T78" fmla="*/ 80 w 225"/>
              <a:gd name="T79" fmla="*/ 1 h 52"/>
              <a:gd name="T80" fmla="*/ 81 w 225"/>
              <a:gd name="T81" fmla="*/ 0 h 52"/>
              <a:gd name="T82" fmla="*/ 114 w 225"/>
              <a:gd name="T83" fmla="*/ 0 h 52"/>
              <a:gd name="T84" fmla="*/ 116 w 225"/>
              <a:gd name="T85" fmla="*/ 1 h 52"/>
              <a:gd name="T86" fmla="*/ 102 w 225"/>
              <a:gd name="T87" fmla="*/ 3 h 52"/>
              <a:gd name="T88" fmla="*/ 101 w 225"/>
              <a:gd name="T89" fmla="*/ 1 h 52"/>
              <a:gd name="T90" fmla="*/ 123 w 225"/>
              <a:gd name="T91" fmla="*/ 0 h 52"/>
              <a:gd name="T92" fmla="*/ 137 w 225"/>
              <a:gd name="T93" fmla="*/ 1 h 52"/>
              <a:gd name="T94" fmla="*/ 135 w 225"/>
              <a:gd name="T95" fmla="*/ 3 h 52"/>
              <a:gd name="T96" fmla="*/ 122 w 225"/>
              <a:gd name="T97" fmla="*/ 1 h 52"/>
              <a:gd name="T98" fmla="*/ 123 w 225"/>
              <a:gd name="T99" fmla="*/ 0 h 52"/>
              <a:gd name="T100" fmla="*/ 156 w 225"/>
              <a:gd name="T101" fmla="*/ 0 h 52"/>
              <a:gd name="T102" fmla="*/ 158 w 225"/>
              <a:gd name="T103" fmla="*/ 1 h 52"/>
              <a:gd name="T104" fmla="*/ 144 w 225"/>
              <a:gd name="T105" fmla="*/ 3 h 52"/>
              <a:gd name="T106" fmla="*/ 143 w 225"/>
              <a:gd name="T107" fmla="*/ 1 h 52"/>
              <a:gd name="T108" fmla="*/ 165 w 225"/>
              <a:gd name="T109" fmla="*/ 0 h 52"/>
              <a:gd name="T110" fmla="*/ 179 w 225"/>
              <a:gd name="T111" fmla="*/ 1 h 52"/>
              <a:gd name="T112" fmla="*/ 177 w 225"/>
              <a:gd name="T113" fmla="*/ 3 h 52"/>
              <a:gd name="T114" fmla="*/ 164 w 225"/>
              <a:gd name="T115" fmla="*/ 1 h 52"/>
              <a:gd name="T116" fmla="*/ 165 w 225"/>
              <a:gd name="T117"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5" h="52">
                <a:moveTo>
                  <a:pt x="19" y="0"/>
                </a:moveTo>
                <a:cubicBezTo>
                  <a:pt x="22" y="0"/>
                  <a:pt x="26" y="0"/>
                  <a:pt x="30" y="0"/>
                </a:cubicBezTo>
                <a:cubicBezTo>
                  <a:pt x="31" y="0"/>
                  <a:pt x="32" y="0"/>
                  <a:pt x="32" y="1"/>
                </a:cubicBezTo>
                <a:cubicBezTo>
                  <a:pt x="32" y="1"/>
                  <a:pt x="32" y="1"/>
                  <a:pt x="32" y="1"/>
                </a:cubicBezTo>
                <a:cubicBezTo>
                  <a:pt x="32" y="2"/>
                  <a:pt x="31" y="3"/>
                  <a:pt x="30" y="3"/>
                </a:cubicBezTo>
                <a:cubicBezTo>
                  <a:pt x="26" y="3"/>
                  <a:pt x="22" y="3"/>
                  <a:pt x="19" y="3"/>
                </a:cubicBezTo>
                <a:cubicBezTo>
                  <a:pt x="18" y="3"/>
                  <a:pt x="17" y="2"/>
                  <a:pt x="17" y="1"/>
                </a:cubicBezTo>
                <a:cubicBezTo>
                  <a:pt x="17" y="1"/>
                  <a:pt x="17" y="1"/>
                  <a:pt x="17" y="1"/>
                </a:cubicBezTo>
                <a:cubicBezTo>
                  <a:pt x="17" y="0"/>
                  <a:pt x="18" y="0"/>
                  <a:pt x="19" y="0"/>
                </a:cubicBezTo>
                <a:close/>
                <a:moveTo>
                  <a:pt x="224" y="48"/>
                </a:moveTo>
                <a:cubicBezTo>
                  <a:pt x="224" y="48"/>
                  <a:pt x="224" y="48"/>
                  <a:pt x="224" y="48"/>
                </a:cubicBezTo>
                <a:cubicBezTo>
                  <a:pt x="225" y="48"/>
                  <a:pt x="225" y="49"/>
                  <a:pt x="225" y="50"/>
                </a:cubicBezTo>
                <a:cubicBezTo>
                  <a:pt x="225" y="50"/>
                  <a:pt x="225" y="50"/>
                  <a:pt x="225" y="50"/>
                </a:cubicBezTo>
                <a:cubicBezTo>
                  <a:pt x="225" y="51"/>
                  <a:pt x="225" y="52"/>
                  <a:pt x="224" y="52"/>
                </a:cubicBezTo>
                <a:cubicBezTo>
                  <a:pt x="224" y="52"/>
                  <a:pt x="224" y="52"/>
                  <a:pt x="224" y="52"/>
                </a:cubicBezTo>
                <a:cubicBezTo>
                  <a:pt x="223" y="52"/>
                  <a:pt x="222" y="51"/>
                  <a:pt x="222" y="50"/>
                </a:cubicBezTo>
                <a:cubicBezTo>
                  <a:pt x="222" y="50"/>
                  <a:pt x="222" y="50"/>
                  <a:pt x="222" y="50"/>
                </a:cubicBezTo>
                <a:cubicBezTo>
                  <a:pt x="222" y="49"/>
                  <a:pt x="223" y="48"/>
                  <a:pt x="224" y="48"/>
                </a:cubicBezTo>
                <a:close/>
                <a:moveTo>
                  <a:pt x="196" y="1"/>
                </a:moveTo>
                <a:cubicBezTo>
                  <a:pt x="196" y="2"/>
                  <a:pt x="197" y="3"/>
                  <a:pt x="198" y="5"/>
                </a:cubicBezTo>
                <a:cubicBezTo>
                  <a:pt x="199" y="6"/>
                  <a:pt x="198" y="7"/>
                  <a:pt x="198" y="7"/>
                </a:cubicBezTo>
                <a:cubicBezTo>
                  <a:pt x="198" y="7"/>
                  <a:pt x="198" y="7"/>
                  <a:pt x="198" y="7"/>
                </a:cubicBezTo>
                <a:cubicBezTo>
                  <a:pt x="197" y="8"/>
                  <a:pt x="196" y="7"/>
                  <a:pt x="195" y="7"/>
                </a:cubicBezTo>
                <a:cubicBezTo>
                  <a:pt x="195" y="5"/>
                  <a:pt x="194" y="4"/>
                  <a:pt x="193" y="3"/>
                </a:cubicBezTo>
                <a:cubicBezTo>
                  <a:pt x="190" y="3"/>
                  <a:pt x="190" y="3"/>
                  <a:pt x="186" y="3"/>
                </a:cubicBezTo>
                <a:cubicBezTo>
                  <a:pt x="186" y="3"/>
                  <a:pt x="185" y="2"/>
                  <a:pt x="185" y="1"/>
                </a:cubicBezTo>
                <a:cubicBezTo>
                  <a:pt x="185" y="1"/>
                  <a:pt x="185" y="1"/>
                  <a:pt x="185" y="1"/>
                </a:cubicBezTo>
                <a:cubicBezTo>
                  <a:pt x="185" y="0"/>
                  <a:pt x="186" y="0"/>
                  <a:pt x="186" y="0"/>
                </a:cubicBezTo>
                <a:cubicBezTo>
                  <a:pt x="194" y="0"/>
                  <a:pt x="194" y="0"/>
                  <a:pt x="194" y="0"/>
                </a:cubicBezTo>
                <a:cubicBezTo>
                  <a:pt x="195" y="0"/>
                  <a:pt x="195" y="0"/>
                  <a:pt x="196" y="1"/>
                </a:cubicBezTo>
                <a:close/>
                <a:moveTo>
                  <a:pt x="217" y="42"/>
                </a:moveTo>
                <a:cubicBezTo>
                  <a:pt x="215" y="39"/>
                  <a:pt x="213" y="36"/>
                  <a:pt x="211" y="32"/>
                </a:cubicBezTo>
                <a:cubicBezTo>
                  <a:pt x="211" y="32"/>
                  <a:pt x="211" y="31"/>
                  <a:pt x="212" y="30"/>
                </a:cubicBezTo>
                <a:cubicBezTo>
                  <a:pt x="212" y="30"/>
                  <a:pt x="212" y="30"/>
                  <a:pt x="212" y="30"/>
                </a:cubicBezTo>
                <a:cubicBezTo>
                  <a:pt x="212" y="30"/>
                  <a:pt x="213" y="30"/>
                  <a:pt x="214" y="31"/>
                </a:cubicBezTo>
                <a:cubicBezTo>
                  <a:pt x="216" y="34"/>
                  <a:pt x="218" y="37"/>
                  <a:pt x="220" y="41"/>
                </a:cubicBezTo>
                <a:cubicBezTo>
                  <a:pt x="221" y="41"/>
                  <a:pt x="220" y="42"/>
                  <a:pt x="219" y="43"/>
                </a:cubicBezTo>
                <a:cubicBezTo>
                  <a:pt x="219" y="43"/>
                  <a:pt x="219" y="43"/>
                  <a:pt x="219" y="43"/>
                </a:cubicBezTo>
                <a:cubicBezTo>
                  <a:pt x="219" y="43"/>
                  <a:pt x="218" y="43"/>
                  <a:pt x="217" y="42"/>
                </a:cubicBezTo>
                <a:close/>
                <a:moveTo>
                  <a:pt x="206" y="24"/>
                </a:moveTo>
                <a:cubicBezTo>
                  <a:pt x="204" y="21"/>
                  <a:pt x="202" y="18"/>
                  <a:pt x="200" y="14"/>
                </a:cubicBezTo>
                <a:cubicBezTo>
                  <a:pt x="200" y="14"/>
                  <a:pt x="200" y="13"/>
                  <a:pt x="201" y="12"/>
                </a:cubicBezTo>
                <a:cubicBezTo>
                  <a:pt x="201" y="12"/>
                  <a:pt x="201" y="12"/>
                  <a:pt x="201" y="12"/>
                </a:cubicBezTo>
                <a:cubicBezTo>
                  <a:pt x="201" y="12"/>
                  <a:pt x="203" y="12"/>
                  <a:pt x="203" y="13"/>
                </a:cubicBezTo>
                <a:cubicBezTo>
                  <a:pt x="205" y="16"/>
                  <a:pt x="207" y="19"/>
                  <a:pt x="209" y="23"/>
                </a:cubicBezTo>
                <a:cubicBezTo>
                  <a:pt x="210" y="24"/>
                  <a:pt x="209" y="25"/>
                  <a:pt x="209" y="25"/>
                </a:cubicBezTo>
                <a:cubicBezTo>
                  <a:pt x="209" y="25"/>
                  <a:pt x="209" y="25"/>
                  <a:pt x="209" y="25"/>
                </a:cubicBezTo>
                <a:cubicBezTo>
                  <a:pt x="208" y="26"/>
                  <a:pt x="207" y="25"/>
                  <a:pt x="206" y="24"/>
                </a:cubicBezTo>
                <a:close/>
                <a:moveTo>
                  <a:pt x="0" y="3"/>
                </a:moveTo>
                <a:cubicBezTo>
                  <a:pt x="0" y="0"/>
                  <a:pt x="0" y="0"/>
                  <a:pt x="0" y="0"/>
                </a:cubicBezTo>
                <a:cubicBezTo>
                  <a:pt x="8" y="0"/>
                  <a:pt x="8" y="0"/>
                  <a:pt x="8" y="0"/>
                </a:cubicBezTo>
                <a:cubicBezTo>
                  <a:pt x="9" y="0"/>
                  <a:pt x="10" y="0"/>
                  <a:pt x="10" y="1"/>
                </a:cubicBezTo>
                <a:cubicBezTo>
                  <a:pt x="10" y="1"/>
                  <a:pt x="10" y="1"/>
                  <a:pt x="10" y="1"/>
                </a:cubicBezTo>
                <a:cubicBezTo>
                  <a:pt x="10" y="2"/>
                  <a:pt x="9" y="3"/>
                  <a:pt x="8" y="3"/>
                </a:cubicBezTo>
                <a:cubicBezTo>
                  <a:pt x="0" y="3"/>
                  <a:pt x="0" y="3"/>
                  <a:pt x="0" y="3"/>
                </a:cubicBezTo>
                <a:close/>
                <a:moveTo>
                  <a:pt x="40" y="0"/>
                </a:moveTo>
                <a:cubicBezTo>
                  <a:pt x="43" y="0"/>
                  <a:pt x="47" y="0"/>
                  <a:pt x="51" y="0"/>
                </a:cubicBezTo>
                <a:cubicBezTo>
                  <a:pt x="52" y="0"/>
                  <a:pt x="53" y="0"/>
                  <a:pt x="53" y="1"/>
                </a:cubicBezTo>
                <a:cubicBezTo>
                  <a:pt x="53" y="1"/>
                  <a:pt x="53" y="1"/>
                  <a:pt x="53" y="1"/>
                </a:cubicBezTo>
                <a:cubicBezTo>
                  <a:pt x="53" y="2"/>
                  <a:pt x="52" y="3"/>
                  <a:pt x="51" y="3"/>
                </a:cubicBezTo>
                <a:cubicBezTo>
                  <a:pt x="47" y="3"/>
                  <a:pt x="43" y="3"/>
                  <a:pt x="40" y="3"/>
                </a:cubicBezTo>
                <a:cubicBezTo>
                  <a:pt x="39" y="3"/>
                  <a:pt x="38" y="2"/>
                  <a:pt x="38" y="1"/>
                </a:cubicBezTo>
                <a:cubicBezTo>
                  <a:pt x="38" y="1"/>
                  <a:pt x="38" y="1"/>
                  <a:pt x="38" y="1"/>
                </a:cubicBezTo>
                <a:cubicBezTo>
                  <a:pt x="38" y="0"/>
                  <a:pt x="39" y="0"/>
                  <a:pt x="40" y="0"/>
                </a:cubicBezTo>
                <a:close/>
                <a:moveTo>
                  <a:pt x="60" y="0"/>
                </a:moveTo>
                <a:cubicBezTo>
                  <a:pt x="64" y="0"/>
                  <a:pt x="68" y="0"/>
                  <a:pt x="72" y="0"/>
                </a:cubicBezTo>
                <a:cubicBezTo>
                  <a:pt x="73" y="0"/>
                  <a:pt x="74" y="0"/>
                  <a:pt x="74" y="1"/>
                </a:cubicBezTo>
                <a:cubicBezTo>
                  <a:pt x="74" y="1"/>
                  <a:pt x="74" y="1"/>
                  <a:pt x="74" y="1"/>
                </a:cubicBezTo>
                <a:cubicBezTo>
                  <a:pt x="74" y="2"/>
                  <a:pt x="73" y="3"/>
                  <a:pt x="72" y="3"/>
                </a:cubicBezTo>
                <a:cubicBezTo>
                  <a:pt x="68" y="3"/>
                  <a:pt x="64" y="3"/>
                  <a:pt x="60" y="3"/>
                </a:cubicBezTo>
                <a:cubicBezTo>
                  <a:pt x="60" y="3"/>
                  <a:pt x="59" y="2"/>
                  <a:pt x="59" y="1"/>
                </a:cubicBezTo>
                <a:cubicBezTo>
                  <a:pt x="59" y="1"/>
                  <a:pt x="59" y="1"/>
                  <a:pt x="59" y="1"/>
                </a:cubicBezTo>
                <a:cubicBezTo>
                  <a:pt x="59" y="0"/>
                  <a:pt x="60" y="0"/>
                  <a:pt x="60" y="0"/>
                </a:cubicBezTo>
                <a:close/>
                <a:moveTo>
                  <a:pt x="81" y="0"/>
                </a:moveTo>
                <a:cubicBezTo>
                  <a:pt x="85" y="0"/>
                  <a:pt x="89" y="0"/>
                  <a:pt x="93" y="0"/>
                </a:cubicBezTo>
                <a:cubicBezTo>
                  <a:pt x="94" y="0"/>
                  <a:pt x="95" y="0"/>
                  <a:pt x="95" y="1"/>
                </a:cubicBezTo>
                <a:cubicBezTo>
                  <a:pt x="95" y="1"/>
                  <a:pt x="95" y="1"/>
                  <a:pt x="95" y="1"/>
                </a:cubicBezTo>
                <a:cubicBezTo>
                  <a:pt x="95" y="2"/>
                  <a:pt x="94" y="3"/>
                  <a:pt x="93" y="3"/>
                </a:cubicBezTo>
                <a:cubicBezTo>
                  <a:pt x="89" y="3"/>
                  <a:pt x="85" y="3"/>
                  <a:pt x="81" y="3"/>
                </a:cubicBezTo>
                <a:cubicBezTo>
                  <a:pt x="81" y="3"/>
                  <a:pt x="80" y="2"/>
                  <a:pt x="80" y="1"/>
                </a:cubicBezTo>
                <a:cubicBezTo>
                  <a:pt x="80" y="1"/>
                  <a:pt x="80" y="1"/>
                  <a:pt x="80" y="1"/>
                </a:cubicBezTo>
                <a:cubicBezTo>
                  <a:pt x="80" y="0"/>
                  <a:pt x="81" y="0"/>
                  <a:pt x="81" y="0"/>
                </a:cubicBezTo>
                <a:close/>
                <a:moveTo>
                  <a:pt x="102" y="0"/>
                </a:moveTo>
                <a:cubicBezTo>
                  <a:pt x="106" y="0"/>
                  <a:pt x="110" y="0"/>
                  <a:pt x="114" y="0"/>
                </a:cubicBezTo>
                <a:cubicBezTo>
                  <a:pt x="115" y="0"/>
                  <a:pt x="116" y="0"/>
                  <a:pt x="116" y="1"/>
                </a:cubicBezTo>
                <a:cubicBezTo>
                  <a:pt x="116" y="1"/>
                  <a:pt x="116" y="1"/>
                  <a:pt x="116" y="1"/>
                </a:cubicBezTo>
                <a:cubicBezTo>
                  <a:pt x="116" y="2"/>
                  <a:pt x="115" y="3"/>
                  <a:pt x="114" y="3"/>
                </a:cubicBezTo>
                <a:cubicBezTo>
                  <a:pt x="110" y="3"/>
                  <a:pt x="106" y="3"/>
                  <a:pt x="102" y="3"/>
                </a:cubicBezTo>
                <a:cubicBezTo>
                  <a:pt x="102" y="3"/>
                  <a:pt x="101" y="2"/>
                  <a:pt x="101" y="1"/>
                </a:cubicBezTo>
                <a:cubicBezTo>
                  <a:pt x="101" y="1"/>
                  <a:pt x="101" y="1"/>
                  <a:pt x="101" y="1"/>
                </a:cubicBezTo>
                <a:cubicBezTo>
                  <a:pt x="101" y="0"/>
                  <a:pt x="102" y="0"/>
                  <a:pt x="102" y="0"/>
                </a:cubicBezTo>
                <a:close/>
                <a:moveTo>
                  <a:pt x="123" y="0"/>
                </a:moveTo>
                <a:cubicBezTo>
                  <a:pt x="127" y="0"/>
                  <a:pt x="131" y="0"/>
                  <a:pt x="135" y="0"/>
                </a:cubicBezTo>
                <a:cubicBezTo>
                  <a:pt x="136" y="0"/>
                  <a:pt x="137" y="0"/>
                  <a:pt x="137" y="1"/>
                </a:cubicBezTo>
                <a:cubicBezTo>
                  <a:pt x="137" y="1"/>
                  <a:pt x="137" y="1"/>
                  <a:pt x="137" y="1"/>
                </a:cubicBezTo>
                <a:cubicBezTo>
                  <a:pt x="137" y="2"/>
                  <a:pt x="136" y="3"/>
                  <a:pt x="135" y="3"/>
                </a:cubicBezTo>
                <a:cubicBezTo>
                  <a:pt x="131" y="3"/>
                  <a:pt x="127" y="3"/>
                  <a:pt x="123" y="3"/>
                </a:cubicBezTo>
                <a:cubicBezTo>
                  <a:pt x="123" y="3"/>
                  <a:pt x="122" y="2"/>
                  <a:pt x="122" y="1"/>
                </a:cubicBezTo>
                <a:cubicBezTo>
                  <a:pt x="122" y="1"/>
                  <a:pt x="122" y="1"/>
                  <a:pt x="122" y="1"/>
                </a:cubicBezTo>
                <a:cubicBezTo>
                  <a:pt x="122" y="0"/>
                  <a:pt x="123" y="0"/>
                  <a:pt x="123" y="0"/>
                </a:cubicBezTo>
                <a:close/>
                <a:moveTo>
                  <a:pt x="144" y="0"/>
                </a:moveTo>
                <a:cubicBezTo>
                  <a:pt x="148" y="0"/>
                  <a:pt x="152" y="0"/>
                  <a:pt x="156" y="0"/>
                </a:cubicBezTo>
                <a:cubicBezTo>
                  <a:pt x="157" y="0"/>
                  <a:pt x="158" y="0"/>
                  <a:pt x="158" y="1"/>
                </a:cubicBezTo>
                <a:cubicBezTo>
                  <a:pt x="158" y="1"/>
                  <a:pt x="158" y="1"/>
                  <a:pt x="158" y="1"/>
                </a:cubicBezTo>
                <a:cubicBezTo>
                  <a:pt x="158" y="2"/>
                  <a:pt x="157" y="3"/>
                  <a:pt x="156" y="3"/>
                </a:cubicBezTo>
                <a:cubicBezTo>
                  <a:pt x="152" y="3"/>
                  <a:pt x="148" y="3"/>
                  <a:pt x="144" y="3"/>
                </a:cubicBezTo>
                <a:cubicBezTo>
                  <a:pt x="144" y="3"/>
                  <a:pt x="143" y="2"/>
                  <a:pt x="143" y="1"/>
                </a:cubicBezTo>
                <a:cubicBezTo>
                  <a:pt x="143" y="1"/>
                  <a:pt x="143" y="1"/>
                  <a:pt x="143" y="1"/>
                </a:cubicBezTo>
                <a:cubicBezTo>
                  <a:pt x="143" y="0"/>
                  <a:pt x="144" y="0"/>
                  <a:pt x="144" y="0"/>
                </a:cubicBezTo>
                <a:close/>
                <a:moveTo>
                  <a:pt x="165" y="0"/>
                </a:moveTo>
                <a:cubicBezTo>
                  <a:pt x="169" y="0"/>
                  <a:pt x="173" y="0"/>
                  <a:pt x="177" y="0"/>
                </a:cubicBezTo>
                <a:cubicBezTo>
                  <a:pt x="178" y="0"/>
                  <a:pt x="179" y="0"/>
                  <a:pt x="179" y="1"/>
                </a:cubicBezTo>
                <a:cubicBezTo>
                  <a:pt x="179" y="1"/>
                  <a:pt x="179" y="1"/>
                  <a:pt x="179" y="1"/>
                </a:cubicBezTo>
                <a:cubicBezTo>
                  <a:pt x="179" y="2"/>
                  <a:pt x="178" y="3"/>
                  <a:pt x="177" y="3"/>
                </a:cubicBezTo>
                <a:cubicBezTo>
                  <a:pt x="173" y="3"/>
                  <a:pt x="169" y="3"/>
                  <a:pt x="165" y="3"/>
                </a:cubicBezTo>
                <a:cubicBezTo>
                  <a:pt x="165" y="3"/>
                  <a:pt x="164" y="2"/>
                  <a:pt x="164" y="1"/>
                </a:cubicBezTo>
                <a:cubicBezTo>
                  <a:pt x="164" y="1"/>
                  <a:pt x="164" y="1"/>
                  <a:pt x="164" y="1"/>
                </a:cubicBezTo>
                <a:cubicBezTo>
                  <a:pt x="164" y="0"/>
                  <a:pt x="165" y="0"/>
                  <a:pt x="165" y="0"/>
                </a:cubicBezTo>
                <a:close/>
              </a:path>
            </a:pathLst>
          </a:custGeom>
          <a:solidFill>
            <a:srgbClr val="82C3D0"/>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 name="Freeform 45"/>
          <p:cNvSpPr>
            <a:spLocks noChangeAspect="1" noEditPoints="1"/>
          </p:cNvSpPr>
          <p:nvPr/>
        </p:nvSpPr>
        <p:spPr bwMode="auto">
          <a:xfrm>
            <a:off x="1074281" y="2864708"/>
            <a:ext cx="278276" cy="464405"/>
          </a:xfrm>
          <a:custGeom>
            <a:avLst/>
            <a:gdLst>
              <a:gd name="T0" fmla="*/ 427 w 463"/>
              <a:gd name="T1" fmla="*/ 0 h 773"/>
              <a:gd name="T2" fmla="*/ 42 w 463"/>
              <a:gd name="T3" fmla="*/ 0 h 773"/>
              <a:gd name="T4" fmla="*/ 0 w 463"/>
              <a:gd name="T5" fmla="*/ 35 h 773"/>
              <a:gd name="T6" fmla="*/ 0 w 463"/>
              <a:gd name="T7" fmla="*/ 733 h 773"/>
              <a:gd name="T8" fmla="*/ 42 w 463"/>
              <a:gd name="T9" fmla="*/ 773 h 773"/>
              <a:gd name="T10" fmla="*/ 427 w 463"/>
              <a:gd name="T11" fmla="*/ 773 h 773"/>
              <a:gd name="T12" fmla="*/ 463 w 463"/>
              <a:gd name="T13" fmla="*/ 733 h 773"/>
              <a:gd name="T14" fmla="*/ 463 w 463"/>
              <a:gd name="T15" fmla="*/ 35 h 773"/>
              <a:gd name="T16" fmla="*/ 427 w 463"/>
              <a:gd name="T17" fmla="*/ 0 h 773"/>
              <a:gd name="T18" fmla="*/ 152 w 463"/>
              <a:gd name="T19" fmla="*/ 730 h 773"/>
              <a:gd name="T20" fmla="*/ 139 w 463"/>
              <a:gd name="T21" fmla="*/ 743 h 773"/>
              <a:gd name="T22" fmla="*/ 112 w 463"/>
              <a:gd name="T23" fmla="*/ 743 h 773"/>
              <a:gd name="T24" fmla="*/ 99 w 463"/>
              <a:gd name="T25" fmla="*/ 730 h 773"/>
              <a:gd name="T26" fmla="*/ 99 w 463"/>
              <a:gd name="T27" fmla="*/ 722 h 773"/>
              <a:gd name="T28" fmla="*/ 112 w 463"/>
              <a:gd name="T29" fmla="*/ 709 h 773"/>
              <a:gd name="T30" fmla="*/ 139 w 463"/>
              <a:gd name="T31" fmla="*/ 709 h 773"/>
              <a:gd name="T32" fmla="*/ 152 w 463"/>
              <a:gd name="T33" fmla="*/ 722 h 773"/>
              <a:gd name="T34" fmla="*/ 152 w 463"/>
              <a:gd name="T35" fmla="*/ 730 h 773"/>
              <a:gd name="T36" fmla="*/ 263 w 463"/>
              <a:gd name="T37" fmla="*/ 724 h 773"/>
              <a:gd name="T38" fmla="*/ 247 w 463"/>
              <a:gd name="T39" fmla="*/ 743 h 773"/>
              <a:gd name="T40" fmla="*/ 219 w 463"/>
              <a:gd name="T41" fmla="*/ 743 h 773"/>
              <a:gd name="T42" fmla="*/ 202 w 463"/>
              <a:gd name="T43" fmla="*/ 724 h 773"/>
              <a:gd name="T44" fmla="*/ 202 w 463"/>
              <a:gd name="T45" fmla="*/ 716 h 773"/>
              <a:gd name="T46" fmla="*/ 219 w 463"/>
              <a:gd name="T47" fmla="*/ 699 h 773"/>
              <a:gd name="T48" fmla="*/ 247 w 463"/>
              <a:gd name="T49" fmla="*/ 699 h 773"/>
              <a:gd name="T50" fmla="*/ 263 w 463"/>
              <a:gd name="T51" fmla="*/ 716 h 773"/>
              <a:gd name="T52" fmla="*/ 263 w 463"/>
              <a:gd name="T53" fmla="*/ 724 h 773"/>
              <a:gd name="T54" fmla="*/ 366 w 463"/>
              <a:gd name="T55" fmla="*/ 730 h 773"/>
              <a:gd name="T56" fmla="*/ 354 w 463"/>
              <a:gd name="T57" fmla="*/ 743 h 773"/>
              <a:gd name="T58" fmla="*/ 326 w 463"/>
              <a:gd name="T59" fmla="*/ 743 h 773"/>
              <a:gd name="T60" fmla="*/ 314 w 463"/>
              <a:gd name="T61" fmla="*/ 730 h 773"/>
              <a:gd name="T62" fmla="*/ 314 w 463"/>
              <a:gd name="T63" fmla="*/ 722 h 773"/>
              <a:gd name="T64" fmla="*/ 326 w 463"/>
              <a:gd name="T65" fmla="*/ 709 h 773"/>
              <a:gd name="T66" fmla="*/ 354 w 463"/>
              <a:gd name="T67" fmla="*/ 709 h 773"/>
              <a:gd name="T68" fmla="*/ 366 w 463"/>
              <a:gd name="T69" fmla="*/ 722 h 773"/>
              <a:gd name="T70" fmla="*/ 366 w 463"/>
              <a:gd name="T71" fmla="*/ 730 h 773"/>
              <a:gd name="T72" fmla="*/ 417 w 463"/>
              <a:gd name="T73" fmla="*/ 644 h 773"/>
              <a:gd name="T74" fmla="*/ 394 w 463"/>
              <a:gd name="T75" fmla="*/ 671 h 773"/>
              <a:gd name="T76" fmla="*/ 74 w 463"/>
              <a:gd name="T77" fmla="*/ 671 h 773"/>
              <a:gd name="T78" fmla="*/ 49 w 463"/>
              <a:gd name="T79" fmla="*/ 644 h 773"/>
              <a:gd name="T80" fmla="*/ 49 w 463"/>
              <a:gd name="T81" fmla="*/ 67 h 773"/>
              <a:gd name="T82" fmla="*/ 74 w 463"/>
              <a:gd name="T83" fmla="*/ 46 h 773"/>
              <a:gd name="T84" fmla="*/ 394 w 463"/>
              <a:gd name="T85" fmla="*/ 46 h 773"/>
              <a:gd name="T86" fmla="*/ 417 w 463"/>
              <a:gd name="T87" fmla="*/ 67 h 773"/>
              <a:gd name="T88" fmla="*/ 417 w 463"/>
              <a:gd name="T89" fmla="*/ 64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63" h="773">
                <a:moveTo>
                  <a:pt x="427" y="0"/>
                </a:moveTo>
                <a:cubicBezTo>
                  <a:pt x="42" y="0"/>
                  <a:pt x="42" y="0"/>
                  <a:pt x="42" y="0"/>
                </a:cubicBezTo>
                <a:cubicBezTo>
                  <a:pt x="19" y="0"/>
                  <a:pt x="0" y="17"/>
                  <a:pt x="0" y="35"/>
                </a:cubicBezTo>
                <a:cubicBezTo>
                  <a:pt x="0" y="733"/>
                  <a:pt x="0" y="733"/>
                  <a:pt x="0" y="733"/>
                </a:cubicBezTo>
                <a:cubicBezTo>
                  <a:pt x="0" y="756"/>
                  <a:pt x="17" y="773"/>
                  <a:pt x="42" y="773"/>
                </a:cubicBezTo>
                <a:cubicBezTo>
                  <a:pt x="427" y="773"/>
                  <a:pt x="427" y="773"/>
                  <a:pt x="427" y="773"/>
                </a:cubicBezTo>
                <a:cubicBezTo>
                  <a:pt x="448" y="773"/>
                  <a:pt x="463" y="756"/>
                  <a:pt x="463" y="733"/>
                </a:cubicBezTo>
                <a:cubicBezTo>
                  <a:pt x="463" y="35"/>
                  <a:pt x="463" y="35"/>
                  <a:pt x="463" y="35"/>
                </a:cubicBezTo>
                <a:cubicBezTo>
                  <a:pt x="463" y="19"/>
                  <a:pt x="451" y="0"/>
                  <a:pt x="427" y="0"/>
                </a:cubicBezTo>
                <a:close/>
                <a:moveTo>
                  <a:pt x="152" y="730"/>
                </a:moveTo>
                <a:cubicBezTo>
                  <a:pt x="152" y="737"/>
                  <a:pt x="146" y="743"/>
                  <a:pt x="139" y="743"/>
                </a:cubicBezTo>
                <a:cubicBezTo>
                  <a:pt x="112" y="743"/>
                  <a:pt x="112" y="743"/>
                  <a:pt x="112" y="743"/>
                </a:cubicBezTo>
                <a:cubicBezTo>
                  <a:pt x="106" y="743"/>
                  <a:pt x="99" y="737"/>
                  <a:pt x="99" y="730"/>
                </a:cubicBezTo>
                <a:cubicBezTo>
                  <a:pt x="99" y="722"/>
                  <a:pt x="99" y="722"/>
                  <a:pt x="99" y="722"/>
                </a:cubicBezTo>
                <a:cubicBezTo>
                  <a:pt x="99" y="714"/>
                  <a:pt x="106" y="709"/>
                  <a:pt x="112" y="709"/>
                </a:cubicBezTo>
                <a:cubicBezTo>
                  <a:pt x="139" y="709"/>
                  <a:pt x="139" y="709"/>
                  <a:pt x="139" y="709"/>
                </a:cubicBezTo>
                <a:cubicBezTo>
                  <a:pt x="146" y="709"/>
                  <a:pt x="152" y="714"/>
                  <a:pt x="152" y="722"/>
                </a:cubicBezTo>
                <a:cubicBezTo>
                  <a:pt x="152" y="730"/>
                  <a:pt x="152" y="730"/>
                  <a:pt x="152" y="730"/>
                </a:cubicBezTo>
                <a:close/>
                <a:moveTo>
                  <a:pt x="263" y="724"/>
                </a:moveTo>
                <a:cubicBezTo>
                  <a:pt x="263" y="735"/>
                  <a:pt x="255" y="743"/>
                  <a:pt x="247" y="743"/>
                </a:cubicBezTo>
                <a:cubicBezTo>
                  <a:pt x="219" y="743"/>
                  <a:pt x="219" y="743"/>
                  <a:pt x="219" y="743"/>
                </a:cubicBezTo>
                <a:cubicBezTo>
                  <a:pt x="211" y="743"/>
                  <a:pt x="202" y="735"/>
                  <a:pt x="202" y="724"/>
                </a:cubicBezTo>
                <a:cubicBezTo>
                  <a:pt x="202" y="716"/>
                  <a:pt x="202" y="716"/>
                  <a:pt x="202" y="716"/>
                </a:cubicBezTo>
                <a:cubicBezTo>
                  <a:pt x="202" y="705"/>
                  <a:pt x="209" y="699"/>
                  <a:pt x="219" y="699"/>
                </a:cubicBezTo>
                <a:cubicBezTo>
                  <a:pt x="247" y="699"/>
                  <a:pt x="247" y="699"/>
                  <a:pt x="247" y="699"/>
                </a:cubicBezTo>
                <a:cubicBezTo>
                  <a:pt x="255" y="699"/>
                  <a:pt x="263" y="705"/>
                  <a:pt x="263" y="716"/>
                </a:cubicBezTo>
                <a:cubicBezTo>
                  <a:pt x="263" y="724"/>
                  <a:pt x="263" y="724"/>
                  <a:pt x="263" y="724"/>
                </a:cubicBezTo>
                <a:close/>
                <a:moveTo>
                  <a:pt x="366" y="730"/>
                </a:moveTo>
                <a:cubicBezTo>
                  <a:pt x="366" y="737"/>
                  <a:pt x="360" y="743"/>
                  <a:pt x="354" y="743"/>
                </a:cubicBezTo>
                <a:cubicBezTo>
                  <a:pt x="326" y="743"/>
                  <a:pt x="326" y="743"/>
                  <a:pt x="326" y="743"/>
                </a:cubicBezTo>
                <a:cubicBezTo>
                  <a:pt x="320" y="743"/>
                  <a:pt x="314" y="737"/>
                  <a:pt x="314" y="730"/>
                </a:cubicBezTo>
                <a:cubicBezTo>
                  <a:pt x="314" y="722"/>
                  <a:pt x="314" y="722"/>
                  <a:pt x="314" y="722"/>
                </a:cubicBezTo>
                <a:cubicBezTo>
                  <a:pt x="314" y="714"/>
                  <a:pt x="320" y="709"/>
                  <a:pt x="326" y="709"/>
                </a:cubicBezTo>
                <a:cubicBezTo>
                  <a:pt x="354" y="709"/>
                  <a:pt x="354" y="709"/>
                  <a:pt x="354" y="709"/>
                </a:cubicBezTo>
                <a:cubicBezTo>
                  <a:pt x="360" y="709"/>
                  <a:pt x="366" y="714"/>
                  <a:pt x="366" y="722"/>
                </a:cubicBezTo>
                <a:cubicBezTo>
                  <a:pt x="366" y="730"/>
                  <a:pt x="366" y="730"/>
                  <a:pt x="366" y="730"/>
                </a:cubicBezTo>
                <a:close/>
                <a:moveTo>
                  <a:pt x="417" y="644"/>
                </a:moveTo>
                <a:cubicBezTo>
                  <a:pt x="417" y="657"/>
                  <a:pt x="409" y="671"/>
                  <a:pt x="394" y="671"/>
                </a:cubicBezTo>
                <a:cubicBezTo>
                  <a:pt x="74" y="671"/>
                  <a:pt x="74" y="671"/>
                  <a:pt x="74" y="671"/>
                </a:cubicBezTo>
                <a:cubicBezTo>
                  <a:pt x="59" y="671"/>
                  <a:pt x="49" y="659"/>
                  <a:pt x="49" y="644"/>
                </a:cubicBezTo>
                <a:cubicBezTo>
                  <a:pt x="49" y="67"/>
                  <a:pt x="49" y="67"/>
                  <a:pt x="49" y="67"/>
                </a:cubicBezTo>
                <a:cubicBezTo>
                  <a:pt x="49" y="50"/>
                  <a:pt x="61" y="46"/>
                  <a:pt x="74" y="46"/>
                </a:cubicBezTo>
                <a:cubicBezTo>
                  <a:pt x="394" y="46"/>
                  <a:pt x="394" y="46"/>
                  <a:pt x="394" y="46"/>
                </a:cubicBezTo>
                <a:cubicBezTo>
                  <a:pt x="404" y="46"/>
                  <a:pt x="417" y="48"/>
                  <a:pt x="417" y="67"/>
                </a:cubicBezTo>
                <a:cubicBezTo>
                  <a:pt x="417" y="644"/>
                  <a:pt x="417" y="644"/>
                  <a:pt x="417" y="644"/>
                </a:cubicBezTo>
                <a:close/>
              </a:path>
            </a:pathLst>
          </a:custGeom>
          <a:solidFill>
            <a:srgbClr val="FFFFFF"/>
          </a:solidFill>
          <a:ln>
            <a:noFill/>
          </a:ln>
        </p:spPr>
        <p:txBody>
          <a:bodyPr vert="horz" wrap="square" lIns="93256" tIns="46627" rIns="93256" bIns="46627" numCol="1" anchor="t" anchorCtr="0" compatLnSpc="1"/>
          <a:lstStyle/>
          <a:p>
            <a:pPr>
              <a:defRPr/>
            </a:pPr>
            <a:endParaRPr lang="en-US" kern="0" dirty="0">
              <a:solidFill>
                <a:srgbClr val="FFFFFF"/>
              </a:solidFill>
            </a:endParaRPr>
          </a:p>
        </p:txBody>
      </p:sp>
      <p:sp>
        <p:nvSpPr>
          <p:cNvPr id="28" name="Freeform 10"/>
          <p:cNvSpPr>
            <a:spLocks noEditPoints="1"/>
          </p:cNvSpPr>
          <p:nvPr/>
        </p:nvSpPr>
        <p:spPr bwMode="auto">
          <a:xfrm>
            <a:off x="894923" y="1254396"/>
            <a:ext cx="710707" cy="449262"/>
          </a:xfrm>
          <a:custGeom>
            <a:avLst/>
            <a:gdLst>
              <a:gd name="T0" fmla="*/ 87 w 782"/>
              <a:gd name="T1" fmla="*/ 232 h 493"/>
              <a:gd name="T2" fmla="*/ 195 w 782"/>
              <a:gd name="T3" fmla="*/ 0 h 493"/>
              <a:gd name="T4" fmla="*/ 724 w 782"/>
              <a:gd name="T5" fmla="*/ 467 h 493"/>
              <a:gd name="T6" fmla="*/ 612 w 782"/>
              <a:gd name="T7" fmla="*/ 369 h 493"/>
              <a:gd name="T8" fmla="*/ 565 w 782"/>
              <a:gd name="T9" fmla="*/ 349 h 493"/>
              <a:gd name="T10" fmla="*/ 605 w 782"/>
              <a:gd name="T11" fmla="*/ 354 h 493"/>
              <a:gd name="T12" fmla="*/ 366 w 782"/>
              <a:gd name="T13" fmla="*/ 366 h 493"/>
              <a:gd name="T14" fmla="*/ 372 w 782"/>
              <a:gd name="T15" fmla="*/ 348 h 493"/>
              <a:gd name="T16" fmla="*/ 410 w 782"/>
              <a:gd name="T17" fmla="*/ 351 h 493"/>
              <a:gd name="T18" fmla="*/ 409 w 782"/>
              <a:gd name="T19" fmla="*/ 406 h 493"/>
              <a:gd name="T20" fmla="*/ 362 w 782"/>
              <a:gd name="T21" fmla="*/ 405 h 493"/>
              <a:gd name="T22" fmla="*/ 288 w 782"/>
              <a:gd name="T23" fmla="*/ 400 h 493"/>
              <a:gd name="T24" fmla="*/ 339 w 782"/>
              <a:gd name="T25" fmla="*/ 389 h 493"/>
              <a:gd name="T26" fmla="*/ 322 w 782"/>
              <a:gd name="T27" fmla="*/ 409 h 493"/>
              <a:gd name="T28" fmla="*/ 302 w 782"/>
              <a:gd name="T29" fmla="*/ 353 h 493"/>
              <a:gd name="T30" fmla="*/ 345 w 782"/>
              <a:gd name="T31" fmla="*/ 351 h 493"/>
              <a:gd name="T32" fmla="*/ 213 w 782"/>
              <a:gd name="T33" fmla="*/ 402 h 493"/>
              <a:gd name="T34" fmla="*/ 267 w 782"/>
              <a:gd name="T35" fmla="*/ 387 h 493"/>
              <a:gd name="T36" fmla="*/ 213 w 782"/>
              <a:gd name="T37" fmla="*/ 406 h 493"/>
              <a:gd name="T38" fmla="*/ 199 w 782"/>
              <a:gd name="T39" fmla="*/ 369 h 493"/>
              <a:gd name="T40" fmla="*/ 214 w 782"/>
              <a:gd name="T41" fmla="*/ 348 h 493"/>
              <a:gd name="T42" fmla="*/ 233 w 782"/>
              <a:gd name="T43" fmla="*/ 361 h 493"/>
              <a:gd name="T44" fmla="*/ 280 w 782"/>
              <a:gd name="T45" fmla="*/ 350 h 493"/>
              <a:gd name="T46" fmla="*/ 273 w 782"/>
              <a:gd name="T47" fmla="*/ 367 h 493"/>
              <a:gd name="T48" fmla="*/ 159 w 782"/>
              <a:gd name="T49" fmla="*/ 452 h 493"/>
              <a:gd name="T50" fmla="*/ 107 w 782"/>
              <a:gd name="T51" fmla="*/ 448 h 493"/>
              <a:gd name="T52" fmla="*/ 137 w 782"/>
              <a:gd name="T53" fmla="*/ 424 h 493"/>
              <a:gd name="T54" fmla="*/ 188 w 782"/>
              <a:gd name="T55" fmla="*/ 402 h 493"/>
              <a:gd name="T56" fmla="*/ 142 w 782"/>
              <a:gd name="T57" fmla="*/ 409 h 493"/>
              <a:gd name="T58" fmla="*/ 153 w 782"/>
              <a:gd name="T59" fmla="*/ 385 h 493"/>
              <a:gd name="T60" fmla="*/ 196 w 782"/>
              <a:gd name="T61" fmla="*/ 389 h 493"/>
              <a:gd name="T62" fmla="*/ 407 w 782"/>
              <a:gd name="T63" fmla="*/ 455 h 493"/>
              <a:gd name="T64" fmla="*/ 200 w 782"/>
              <a:gd name="T65" fmla="*/ 458 h 493"/>
              <a:gd name="T66" fmla="*/ 203 w 782"/>
              <a:gd name="T67" fmla="*/ 427 h 493"/>
              <a:gd name="T68" fmla="*/ 402 w 782"/>
              <a:gd name="T69" fmla="*/ 423 h 493"/>
              <a:gd name="T70" fmla="*/ 411 w 782"/>
              <a:gd name="T71" fmla="*/ 448 h 493"/>
              <a:gd name="T72" fmla="*/ 438 w 782"/>
              <a:gd name="T73" fmla="*/ 347 h 493"/>
              <a:gd name="T74" fmla="*/ 471 w 782"/>
              <a:gd name="T75" fmla="*/ 369 h 493"/>
              <a:gd name="T76" fmla="*/ 434 w 782"/>
              <a:gd name="T77" fmla="*/ 366 h 493"/>
              <a:gd name="T78" fmla="*/ 484 w 782"/>
              <a:gd name="T79" fmla="*/ 395 h 493"/>
              <a:gd name="T80" fmla="*/ 473 w 782"/>
              <a:gd name="T81" fmla="*/ 409 h 493"/>
              <a:gd name="T82" fmla="*/ 437 w 782"/>
              <a:gd name="T83" fmla="*/ 404 h 493"/>
              <a:gd name="T84" fmla="*/ 440 w 782"/>
              <a:gd name="T85" fmla="*/ 451 h 493"/>
              <a:gd name="T86" fmla="*/ 438 w 782"/>
              <a:gd name="T87" fmla="*/ 428 h 493"/>
              <a:gd name="T88" fmla="*/ 447 w 782"/>
              <a:gd name="T89" fmla="*/ 423 h 493"/>
              <a:gd name="T90" fmla="*/ 483 w 782"/>
              <a:gd name="T91" fmla="*/ 424 h 493"/>
              <a:gd name="T92" fmla="*/ 502 w 782"/>
              <a:gd name="T93" fmla="*/ 363 h 493"/>
              <a:gd name="T94" fmla="*/ 536 w 782"/>
              <a:gd name="T95" fmla="*/ 350 h 493"/>
              <a:gd name="T96" fmla="*/ 547 w 782"/>
              <a:gd name="T97" fmla="*/ 366 h 493"/>
              <a:gd name="T98" fmla="*/ 519 w 782"/>
              <a:gd name="T99" fmla="*/ 405 h 493"/>
              <a:gd name="T100" fmla="*/ 559 w 782"/>
              <a:gd name="T101" fmla="*/ 389 h 493"/>
              <a:gd name="T102" fmla="*/ 564 w 782"/>
              <a:gd name="T103" fmla="*/ 408 h 493"/>
              <a:gd name="T104" fmla="*/ 588 w 782"/>
              <a:gd name="T105" fmla="*/ 453 h 493"/>
              <a:gd name="T106" fmla="*/ 548 w 782"/>
              <a:gd name="T107" fmla="*/ 457 h 493"/>
              <a:gd name="T108" fmla="*/ 536 w 782"/>
              <a:gd name="T109" fmla="*/ 423 h 493"/>
              <a:gd name="T110" fmla="*/ 588 w 782"/>
              <a:gd name="T111" fmla="*/ 448 h 493"/>
              <a:gd name="T112" fmla="*/ 591 w 782"/>
              <a:gd name="T113" fmla="*/ 382 h 493"/>
              <a:gd name="T114" fmla="*/ 635 w 782"/>
              <a:gd name="T115" fmla="*/ 409 h 493"/>
              <a:gd name="T116" fmla="*/ 616 w 782"/>
              <a:gd name="T117" fmla="*/ 449 h 493"/>
              <a:gd name="T118" fmla="*/ 639 w 782"/>
              <a:gd name="T119" fmla="*/ 423 h 493"/>
              <a:gd name="T120" fmla="*/ 670 w 782"/>
              <a:gd name="T121" fmla="*/ 449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82" h="493">
                <a:moveTo>
                  <a:pt x="111" y="206"/>
                </a:moveTo>
                <a:cubicBezTo>
                  <a:pt x="91" y="187"/>
                  <a:pt x="91" y="152"/>
                  <a:pt x="111" y="134"/>
                </a:cubicBezTo>
                <a:cubicBezTo>
                  <a:pt x="97" y="136"/>
                  <a:pt x="84" y="151"/>
                  <a:pt x="84" y="170"/>
                </a:cubicBezTo>
                <a:cubicBezTo>
                  <a:pt x="84" y="188"/>
                  <a:pt x="97" y="203"/>
                  <a:pt x="111" y="206"/>
                </a:cubicBezTo>
                <a:close/>
                <a:moveTo>
                  <a:pt x="698" y="170"/>
                </a:moveTo>
                <a:cubicBezTo>
                  <a:pt x="698" y="151"/>
                  <a:pt x="685" y="136"/>
                  <a:pt x="671" y="134"/>
                </a:cubicBezTo>
                <a:cubicBezTo>
                  <a:pt x="691" y="152"/>
                  <a:pt x="691" y="187"/>
                  <a:pt x="671" y="206"/>
                </a:cubicBezTo>
                <a:cubicBezTo>
                  <a:pt x="685" y="203"/>
                  <a:pt x="698" y="188"/>
                  <a:pt x="698" y="170"/>
                </a:cubicBezTo>
                <a:close/>
                <a:moveTo>
                  <a:pt x="696" y="232"/>
                </a:moveTo>
                <a:cubicBezTo>
                  <a:pt x="716" y="224"/>
                  <a:pt x="737" y="200"/>
                  <a:pt x="737" y="170"/>
                </a:cubicBezTo>
                <a:cubicBezTo>
                  <a:pt x="737" y="139"/>
                  <a:pt x="716" y="115"/>
                  <a:pt x="696" y="108"/>
                </a:cubicBezTo>
                <a:cubicBezTo>
                  <a:pt x="712" y="124"/>
                  <a:pt x="723" y="147"/>
                  <a:pt x="723" y="170"/>
                </a:cubicBezTo>
                <a:cubicBezTo>
                  <a:pt x="723" y="193"/>
                  <a:pt x="712" y="215"/>
                  <a:pt x="696" y="232"/>
                </a:cubicBezTo>
                <a:close/>
                <a:moveTo>
                  <a:pt x="87" y="232"/>
                </a:moveTo>
                <a:cubicBezTo>
                  <a:pt x="70" y="215"/>
                  <a:pt x="59" y="193"/>
                  <a:pt x="59" y="170"/>
                </a:cubicBezTo>
                <a:cubicBezTo>
                  <a:pt x="59" y="147"/>
                  <a:pt x="70" y="124"/>
                  <a:pt x="87" y="108"/>
                </a:cubicBezTo>
                <a:cubicBezTo>
                  <a:pt x="66" y="115"/>
                  <a:pt x="45" y="139"/>
                  <a:pt x="46" y="170"/>
                </a:cubicBezTo>
                <a:cubicBezTo>
                  <a:pt x="45" y="200"/>
                  <a:pt x="66" y="224"/>
                  <a:pt x="87" y="232"/>
                </a:cubicBezTo>
                <a:close/>
                <a:moveTo>
                  <a:pt x="714" y="448"/>
                </a:moveTo>
                <a:cubicBezTo>
                  <a:pt x="706" y="438"/>
                  <a:pt x="697" y="428"/>
                  <a:pt x="689" y="419"/>
                </a:cubicBezTo>
                <a:cubicBezTo>
                  <a:pt x="671" y="397"/>
                  <a:pt x="653" y="376"/>
                  <a:pt x="635" y="355"/>
                </a:cubicBezTo>
                <a:cubicBezTo>
                  <a:pt x="634" y="354"/>
                  <a:pt x="633" y="353"/>
                  <a:pt x="632" y="352"/>
                </a:cubicBezTo>
                <a:cubicBezTo>
                  <a:pt x="629" y="347"/>
                  <a:pt x="623" y="345"/>
                  <a:pt x="617" y="343"/>
                </a:cubicBezTo>
                <a:cubicBezTo>
                  <a:pt x="612" y="341"/>
                  <a:pt x="606" y="339"/>
                  <a:pt x="599" y="339"/>
                </a:cubicBezTo>
                <a:cubicBezTo>
                  <a:pt x="621" y="333"/>
                  <a:pt x="637" y="314"/>
                  <a:pt x="637" y="291"/>
                </a:cubicBezTo>
                <a:cubicBezTo>
                  <a:pt x="637" y="50"/>
                  <a:pt x="637" y="50"/>
                  <a:pt x="637" y="50"/>
                </a:cubicBezTo>
                <a:cubicBezTo>
                  <a:pt x="637" y="22"/>
                  <a:pt x="614" y="0"/>
                  <a:pt x="587" y="0"/>
                </a:cubicBezTo>
                <a:cubicBezTo>
                  <a:pt x="195" y="0"/>
                  <a:pt x="195" y="0"/>
                  <a:pt x="195" y="0"/>
                </a:cubicBezTo>
                <a:cubicBezTo>
                  <a:pt x="168" y="0"/>
                  <a:pt x="145" y="22"/>
                  <a:pt x="145" y="50"/>
                </a:cubicBezTo>
                <a:cubicBezTo>
                  <a:pt x="145" y="291"/>
                  <a:pt x="145" y="291"/>
                  <a:pt x="145" y="291"/>
                </a:cubicBezTo>
                <a:cubicBezTo>
                  <a:pt x="145" y="314"/>
                  <a:pt x="161" y="334"/>
                  <a:pt x="183" y="339"/>
                </a:cubicBezTo>
                <a:cubicBezTo>
                  <a:pt x="171" y="340"/>
                  <a:pt x="157" y="344"/>
                  <a:pt x="149" y="354"/>
                </a:cubicBezTo>
                <a:cubicBezTo>
                  <a:pt x="143" y="361"/>
                  <a:pt x="136" y="369"/>
                  <a:pt x="130" y="377"/>
                </a:cubicBezTo>
                <a:cubicBezTo>
                  <a:pt x="111" y="399"/>
                  <a:pt x="91" y="422"/>
                  <a:pt x="72" y="446"/>
                </a:cubicBezTo>
                <a:cubicBezTo>
                  <a:pt x="67" y="451"/>
                  <a:pt x="58" y="459"/>
                  <a:pt x="58" y="467"/>
                </a:cubicBezTo>
                <a:cubicBezTo>
                  <a:pt x="58" y="489"/>
                  <a:pt x="58" y="478"/>
                  <a:pt x="58" y="478"/>
                </a:cubicBezTo>
                <a:cubicBezTo>
                  <a:pt x="58" y="481"/>
                  <a:pt x="59" y="483"/>
                  <a:pt x="60" y="485"/>
                </a:cubicBezTo>
                <a:cubicBezTo>
                  <a:pt x="65" y="492"/>
                  <a:pt x="75" y="493"/>
                  <a:pt x="83" y="493"/>
                </a:cubicBezTo>
                <a:cubicBezTo>
                  <a:pt x="94" y="493"/>
                  <a:pt x="667" y="493"/>
                  <a:pt x="684" y="493"/>
                </a:cubicBezTo>
                <a:cubicBezTo>
                  <a:pt x="693" y="493"/>
                  <a:pt x="702" y="492"/>
                  <a:pt x="711" y="490"/>
                </a:cubicBezTo>
                <a:cubicBezTo>
                  <a:pt x="716" y="489"/>
                  <a:pt x="723" y="486"/>
                  <a:pt x="724" y="479"/>
                </a:cubicBezTo>
                <a:cubicBezTo>
                  <a:pt x="724" y="456"/>
                  <a:pt x="724" y="467"/>
                  <a:pt x="724" y="467"/>
                </a:cubicBezTo>
                <a:cubicBezTo>
                  <a:pt x="725" y="462"/>
                  <a:pt x="722" y="457"/>
                  <a:pt x="718" y="453"/>
                </a:cubicBezTo>
                <a:cubicBezTo>
                  <a:pt x="717" y="451"/>
                  <a:pt x="715" y="449"/>
                  <a:pt x="714" y="448"/>
                </a:cubicBezTo>
                <a:close/>
                <a:moveTo>
                  <a:pt x="164" y="299"/>
                </a:moveTo>
                <a:cubicBezTo>
                  <a:pt x="164" y="64"/>
                  <a:pt x="164" y="53"/>
                  <a:pt x="164" y="53"/>
                </a:cubicBezTo>
                <a:cubicBezTo>
                  <a:pt x="164" y="39"/>
                  <a:pt x="175" y="16"/>
                  <a:pt x="189" y="16"/>
                </a:cubicBezTo>
                <a:cubicBezTo>
                  <a:pt x="570" y="16"/>
                  <a:pt x="593" y="16"/>
                  <a:pt x="593" y="16"/>
                </a:cubicBezTo>
                <a:cubicBezTo>
                  <a:pt x="607" y="16"/>
                  <a:pt x="618" y="39"/>
                  <a:pt x="618" y="53"/>
                </a:cubicBezTo>
                <a:cubicBezTo>
                  <a:pt x="618" y="268"/>
                  <a:pt x="618" y="299"/>
                  <a:pt x="618" y="299"/>
                </a:cubicBezTo>
                <a:cubicBezTo>
                  <a:pt x="618" y="313"/>
                  <a:pt x="607" y="325"/>
                  <a:pt x="593" y="325"/>
                </a:cubicBezTo>
                <a:cubicBezTo>
                  <a:pt x="212" y="325"/>
                  <a:pt x="189" y="325"/>
                  <a:pt x="189" y="325"/>
                </a:cubicBezTo>
                <a:cubicBezTo>
                  <a:pt x="175" y="325"/>
                  <a:pt x="164" y="302"/>
                  <a:pt x="164" y="287"/>
                </a:cubicBezTo>
                <a:lnTo>
                  <a:pt x="164" y="299"/>
                </a:lnTo>
                <a:close/>
                <a:moveTo>
                  <a:pt x="613" y="367"/>
                </a:moveTo>
                <a:cubicBezTo>
                  <a:pt x="613" y="367"/>
                  <a:pt x="613" y="368"/>
                  <a:pt x="612" y="369"/>
                </a:cubicBezTo>
                <a:cubicBezTo>
                  <a:pt x="612" y="369"/>
                  <a:pt x="612" y="369"/>
                  <a:pt x="612" y="369"/>
                </a:cubicBezTo>
                <a:cubicBezTo>
                  <a:pt x="612" y="369"/>
                  <a:pt x="612" y="369"/>
                  <a:pt x="612" y="369"/>
                </a:cubicBezTo>
                <a:cubicBezTo>
                  <a:pt x="612" y="369"/>
                  <a:pt x="612" y="369"/>
                  <a:pt x="612" y="369"/>
                </a:cubicBezTo>
                <a:cubicBezTo>
                  <a:pt x="612" y="369"/>
                  <a:pt x="612" y="369"/>
                  <a:pt x="611" y="369"/>
                </a:cubicBezTo>
                <a:cubicBezTo>
                  <a:pt x="611" y="369"/>
                  <a:pt x="611" y="369"/>
                  <a:pt x="611" y="369"/>
                </a:cubicBezTo>
                <a:cubicBezTo>
                  <a:pt x="611" y="369"/>
                  <a:pt x="611" y="369"/>
                  <a:pt x="610" y="369"/>
                </a:cubicBezTo>
                <a:cubicBezTo>
                  <a:pt x="608" y="371"/>
                  <a:pt x="604" y="371"/>
                  <a:pt x="600" y="371"/>
                </a:cubicBezTo>
                <a:cubicBezTo>
                  <a:pt x="584" y="371"/>
                  <a:pt x="584" y="371"/>
                  <a:pt x="584" y="371"/>
                </a:cubicBezTo>
                <a:cubicBezTo>
                  <a:pt x="580" y="371"/>
                  <a:pt x="577" y="370"/>
                  <a:pt x="574" y="369"/>
                </a:cubicBezTo>
                <a:cubicBezTo>
                  <a:pt x="573" y="368"/>
                  <a:pt x="572" y="367"/>
                  <a:pt x="571" y="367"/>
                </a:cubicBezTo>
                <a:cubicBezTo>
                  <a:pt x="570" y="366"/>
                  <a:pt x="569" y="365"/>
                  <a:pt x="569" y="365"/>
                </a:cubicBezTo>
                <a:cubicBezTo>
                  <a:pt x="568" y="363"/>
                  <a:pt x="568" y="363"/>
                  <a:pt x="568" y="363"/>
                </a:cubicBezTo>
                <a:cubicBezTo>
                  <a:pt x="566" y="360"/>
                  <a:pt x="564" y="357"/>
                  <a:pt x="563" y="354"/>
                </a:cubicBezTo>
                <a:cubicBezTo>
                  <a:pt x="561" y="351"/>
                  <a:pt x="563" y="350"/>
                  <a:pt x="565" y="349"/>
                </a:cubicBezTo>
                <a:cubicBezTo>
                  <a:pt x="565" y="349"/>
                  <a:pt x="566" y="349"/>
                  <a:pt x="566" y="349"/>
                </a:cubicBezTo>
                <a:cubicBezTo>
                  <a:pt x="567" y="348"/>
                  <a:pt x="569" y="348"/>
                  <a:pt x="570" y="348"/>
                </a:cubicBezTo>
                <a:cubicBezTo>
                  <a:pt x="573" y="348"/>
                  <a:pt x="573" y="348"/>
                  <a:pt x="573" y="348"/>
                </a:cubicBezTo>
                <a:cubicBezTo>
                  <a:pt x="573" y="348"/>
                  <a:pt x="573" y="348"/>
                  <a:pt x="573" y="348"/>
                </a:cubicBezTo>
                <a:cubicBezTo>
                  <a:pt x="577" y="348"/>
                  <a:pt x="581" y="348"/>
                  <a:pt x="586" y="348"/>
                </a:cubicBezTo>
                <a:cubicBezTo>
                  <a:pt x="586" y="348"/>
                  <a:pt x="586" y="348"/>
                  <a:pt x="586" y="348"/>
                </a:cubicBezTo>
                <a:cubicBezTo>
                  <a:pt x="590" y="348"/>
                  <a:pt x="590" y="348"/>
                  <a:pt x="590" y="348"/>
                </a:cubicBezTo>
                <a:cubicBezTo>
                  <a:pt x="592" y="348"/>
                  <a:pt x="594" y="348"/>
                  <a:pt x="595" y="348"/>
                </a:cubicBezTo>
                <a:cubicBezTo>
                  <a:pt x="596" y="349"/>
                  <a:pt x="597" y="349"/>
                  <a:pt x="598" y="349"/>
                </a:cubicBezTo>
                <a:cubicBezTo>
                  <a:pt x="598" y="349"/>
                  <a:pt x="598" y="349"/>
                  <a:pt x="598" y="349"/>
                </a:cubicBezTo>
                <a:cubicBezTo>
                  <a:pt x="598" y="350"/>
                  <a:pt x="598" y="350"/>
                  <a:pt x="599" y="350"/>
                </a:cubicBezTo>
                <a:cubicBezTo>
                  <a:pt x="599" y="350"/>
                  <a:pt x="599" y="350"/>
                  <a:pt x="599" y="350"/>
                </a:cubicBezTo>
                <a:cubicBezTo>
                  <a:pt x="600" y="350"/>
                  <a:pt x="602" y="351"/>
                  <a:pt x="603" y="351"/>
                </a:cubicBezTo>
                <a:cubicBezTo>
                  <a:pt x="604" y="352"/>
                  <a:pt x="604" y="353"/>
                  <a:pt x="605" y="354"/>
                </a:cubicBezTo>
                <a:cubicBezTo>
                  <a:pt x="608" y="359"/>
                  <a:pt x="608" y="359"/>
                  <a:pt x="608" y="359"/>
                </a:cubicBezTo>
                <a:cubicBezTo>
                  <a:pt x="609" y="360"/>
                  <a:pt x="611" y="362"/>
                  <a:pt x="612" y="364"/>
                </a:cubicBezTo>
                <a:cubicBezTo>
                  <a:pt x="612" y="364"/>
                  <a:pt x="612" y="364"/>
                  <a:pt x="612" y="364"/>
                </a:cubicBezTo>
                <a:cubicBezTo>
                  <a:pt x="613" y="365"/>
                  <a:pt x="613" y="366"/>
                  <a:pt x="613" y="367"/>
                </a:cubicBezTo>
                <a:close/>
                <a:moveTo>
                  <a:pt x="410" y="363"/>
                </a:moveTo>
                <a:cubicBezTo>
                  <a:pt x="410" y="364"/>
                  <a:pt x="410" y="364"/>
                  <a:pt x="410" y="365"/>
                </a:cubicBezTo>
                <a:cubicBezTo>
                  <a:pt x="406" y="371"/>
                  <a:pt x="392" y="369"/>
                  <a:pt x="386" y="369"/>
                </a:cubicBezTo>
                <a:cubicBezTo>
                  <a:pt x="383" y="369"/>
                  <a:pt x="380" y="369"/>
                  <a:pt x="377" y="369"/>
                </a:cubicBezTo>
                <a:cubicBezTo>
                  <a:pt x="374" y="369"/>
                  <a:pt x="370" y="369"/>
                  <a:pt x="367" y="367"/>
                </a:cubicBezTo>
                <a:cubicBezTo>
                  <a:pt x="367" y="367"/>
                  <a:pt x="367" y="367"/>
                  <a:pt x="367" y="367"/>
                </a:cubicBezTo>
                <a:cubicBezTo>
                  <a:pt x="367" y="366"/>
                  <a:pt x="367" y="366"/>
                  <a:pt x="367" y="366"/>
                </a:cubicBezTo>
                <a:cubicBezTo>
                  <a:pt x="366" y="366"/>
                  <a:pt x="366" y="366"/>
                  <a:pt x="366" y="366"/>
                </a:cubicBezTo>
                <a:cubicBezTo>
                  <a:pt x="366" y="366"/>
                  <a:pt x="366" y="366"/>
                  <a:pt x="366" y="366"/>
                </a:cubicBezTo>
                <a:cubicBezTo>
                  <a:pt x="366" y="366"/>
                  <a:pt x="366" y="366"/>
                  <a:pt x="366" y="366"/>
                </a:cubicBezTo>
                <a:cubicBezTo>
                  <a:pt x="366" y="365"/>
                  <a:pt x="366" y="365"/>
                  <a:pt x="366" y="365"/>
                </a:cubicBezTo>
                <a:cubicBezTo>
                  <a:pt x="366" y="364"/>
                  <a:pt x="366" y="364"/>
                  <a:pt x="366" y="363"/>
                </a:cubicBezTo>
                <a:cubicBezTo>
                  <a:pt x="366" y="363"/>
                  <a:pt x="366" y="363"/>
                  <a:pt x="366" y="363"/>
                </a:cubicBezTo>
                <a:cubicBezTo>
                  <a:pt x="366" y="362"/>
                  <a:pt x="366" y="361"/>
                  <a:pt x="366" y="361"/>
                </a:cubicBezTo>
                <a:cubicBezTo>
                  <a:pt x="366" y="360"/>
                  <a:pt x="366" y="360"/>
                  <a:pt x="366" y="360"/>
                </a:cubicBezTo>
                <a:cubicBezTo>
                  <a:pt x="366" y="358"/>
                  <a:pt x="366" y="355"/>
                  <a:pt x="367" y="353"/>
                </a:cubicBezTo>
                <a:cubicBezTo>
                  <a:pt x="367" y="352"/>
                  <a:pt x="367" y="352"/>
                  <a:pt x="367" y="352"/>
                </a:cubicBezTo>
                <a:cubicBezTo>
                  <a:pt x="367" y="352"/>
                  <a:pt x="367" y="351"/>
                  <a:pt x="368" y="350"/>
                </a:cubicBezTo>
                <a:cubicBezTo>
                  <a:pt x="369" y="350"/>
                  <a:pt x="369" y="349"/>
                  <a:pt x="370" y="349"/>
                </a:cubicBezTo>
                <a:cubicBezTo>
                  <a:pt x="370" y="349"/>
                  <a:pt x="370" y="349"/>
                  <a:pt x="370" y="349"/>
                </a:cubicBezTo>
                <a:cubicBezTo>
                  <a:pt x="370" y="349"/>
                  <a:pt x="370" y="348"/>
                  <a:pt x="370" y="348"/>
                </a:cubicBezTo>
                <a:cubicBezTo>
                  <a:pt x="370" y="348"/>
                  <a:pt x="371" y="348"/>
                  <a:pt x="371" y="348"/>
                </a:cubicBezTo>
                <a:cubicBezTo>
                  <a:pt x="371" y="348"/>
                  <a:pt x="371" y="348"/>
                  <a:pt x="371" y="348"/>
                </a:cubicBezTo>
                <a:cubicBezTo>
                  <a:pt x="371" y="348"/>
                  <a:pt x="372" y="348"/>
                  <a:pt x="372" y="348"/>
                </a:cubicBezTo>
                <a:cubicBezTo>
                  <a:pt x="372" y="348"/>
                  <a:pt x="372" y="348"/>
                  <a:pt x="373" y="348"/>
                </a:cubicBezTo>
                <a:cubicBezTo>
                  <a:pt x="373" y="347"/>
                  <a:pt x="373" y="347"/>
                  <a:pt x="374" y="347"/>
                </a:cubicBezTo>
                <a:cubicBezTo>
                  <a:pt x="374" y="347"/>
                  <a:pt x="374" y="347"/>
                  <a:pt x="374" y="347"/>
                </a:cubicBezTo>
                <a:cubicBezTo>
                  <a:pt x="374" y="347"/>
                  <a:pt x="374" y="347"/>
                  <a:pt x="374" y="347"/>
                </a:cubicBezTo>
                <a:cubicBezTo>
                  <a:pt x="375" y="347"/>
                  <a:pt x="375" y="347"/>
                  <a:pt x="375" y="347"/>
                </a:cubicBezTo>
                <a:cubicBezTo>
                  <a:pt x="376" y="347"/>
                  <a:pt x="377" y="347"/>
                  <a:pt x="378" y="347"/>
                </a:cubicBezTo>
                <a:cubicBezTo>
                  <a:pt x="379" y="347"/>
                  <a:pt x="379" y="347"/>
                  <a:pt x="379" y="347"/>
                </a:cubicBezTo>
                <a:cubicBezTo>
                  <a:pt x="380" y="347"/>
                  <a:pt x="382" y="347"/>
                  <a:pt x="383" y="347"/>
                </a:cubicBezTo>
                <a:cubicBezTo>
                  <a:pt x="399" y="347"/>
                  <a:pt x="399" y="347"/>
                  <a:pt x="399" y="347"/>
                </a:cubicBezTo>
                <a:cubicBezTo>
                  <a:pt x="399" y="347"/>
                  <a:pt x="399" y="347"/>
                  <a:pt x="400" y="347"/>
                </a:cubicBezTo>
                <a:cubicBezTo>
                  <a:pt x="400" y="347"/>
                  <a:pt x="400" y="347"/>
                  <a:pt x="400" y="347"/>
                </a:cubicBezTo>
                <a:cubicBezTo>
                  <a:pt x="401" y="347"/>
                  <a:pt x="401" y="347"/>
                  <a:pt x="402" y="347"/>
                </a:cubicBezTo>
                <a:cubicBezTo>
                  <a:pt x="405" y="347"/>
                  <a:pt x="408" y="348"/>
                  <a:pt x="409" y="351"/>
                </a:cubicBezTo>
                <a:cubicBezTo>
                  <a:pt x="410" y="351"/>
                  <a:pt x="410" y="351"/>
                  <a:pt x="410" y="351"/>
                </a:cubicBezTo>
                <a:cubicBezTo>
                  <a:pt x="410" y="351"/>
                  <a:pt x="410" y="351"/>
                  <a:pt x="410" y="351"/>
                </a:cubicBezTo>
                <a:cubicBezTo>
                  <a:pt x="411" y="355"/>
                  <a:pt x="410" y="359"/>
                  <a:pt x="410" y="362"/>
                </a:cubicBezTo>
                <a:cubicBezTo>
                  <a:pt x="410" y="363"/>
                  <a:pt x="410" y="363"/>
                  <a:pt x="410" y="363"/>
                </a:cubicBezTo>
                <a:cubicBezTo>
                  <a:pt x="410" y="363"/>
                  <a:pt x="410" y="363"/>
                  <a:pt x="410" y="363"/>
                </a:cubicBezTo>
                <a:close/>
                <a:moveTo>
                  <a:pt x="387" y="381"/>
                </a:moveTo>
                <a:cubicBezTo>
                  <a:pt x="393" y="381"/>
                  <a:pt x="407" y="380"/>
                  <a:pt x="410" y="386"/>
                </a:cubicBezTo>
                <a:cubicBezTo>
                  <a:pt x="410" y="387"/>
                  <a:pt x="411" y="387"/>
                  <a:pt x="411" y="388"/>
                </a:cubicBezTo>
                <a:cubicBezTo>
                  <a:pt x="411" y="395"/>
                  <a:pt x="411" y="395"/>
                  <a:pt x="411" y="395"/>
                </a:cubicBezTo>
                <a:cubicBezTo>
                  <a:pt x="411" y="397"/>
                  <a:pt x="411" y="399"/>
                  <a:pt x="411" y="401"/>
                </a:cubicBezTo>
                <a:cubicBezTo>
                  <a:pt x="411" y="401"/>
                  <a:pt x="411" y="401"/>
                  <a:pt x="411" y="401"/>
                </a:cubicBezTo>
                <a:cubicBezTo>
                  <a:pt x="411" y="402"/>
                  <a:pt x="411" y="402"/>
                  <a:pt x="411" y="402"/>
                </a:cubicBezTo>
                <a:cubicBezTo>
                  <a:pt x="411" y="402"/>
                  <a:pt x="410" y="404"/>
                  <a:pt x="410" y="404"/>
                </a:cubicBezTo>
                <a:cubicBezTo>
                  <a:pt x="409" y="405"/>
                  <a:pt x="409" y="405"/>
                  <a:pt x="409" y="405"/>
                </a:cubicBezTo>
                <a:cubicBezTo>
                  <a:pt x="409" y="405"/>
                  <a:pt x="409" y="405"/>
                  <a:pt x="409" y="406"/>
                </a:cubicBezTo>
                <a:cubicBezTo>
                  <a:pt x="409" y="406"/>
                  <a:pt x="409" y="406"/>
                  <a:pt x="409" y="406"/>
                </a:cubicBezTo>
                <a:cubicBezTo>
                  <a:pt x="407" y="407"/>
                  <a:pt x="405" y="408"/>
                  <a:pt x="403" y="409"/>
                </a:cubicBezTo>
                <a:cubicBezTo>
                  <a:pt x="403" y="409"/>
                  <a:pt x="403" y="409"/>
                  <a:pt x="403" y="409"/>
                </a:cubicBezTo>
                <a:cubicBezTo>
                  <a:pt x="403" y="409"/>
                  <a:pt x="403" y="409"/>
                  <a:pt x="403" y="409"/>
                </a:cubicBezTo>
                <a:cubicBezTo>
                  <a:pt x="402" y="409"/>
                  <a:pt x="401" y="409"/>
                  <a:pt x="401" y="409"/>
                </a:cubicBezTo>
                <a:cubicBezTo>
                  <a:pt x="400" y="409"/>
                  <a:pt x="400" y="409"/>
                  <a:pt x="400" y="409"/>
                </a:cubicBezTo>
                <a:cubicBezTo>
                  <a:pt x="399" y="409"/>
                  <a:pt x="398" y="409"/>
                  <a:pt x="398" y="409"/>
                </a:cubicBezTo>
                <a:cubicBezTo>
                  <a:pt x="398" y="409"/>
                  <a:pt x="398" y="409"/>
                  <a:pt x="398" y="409"/>
                </a:cubicBezTo>
                <a:cubicBezTo>
                  <a:pt x="373" y="409"/>
                  <a:pt x="373" y="409"/>
                  <a:pt x="373" y="409"/>
                </a:cubicBezTo>
                <a:cubicBezTo>
                  <a:pt x="371" y="409"/>
                  <a:pt x="367" y="409"/>
                  <a:pt x="364" y="407"/>
                </a:cubicBezTo>
                <a:cubicBezTo>
                  <a:pt x="364" y="407"/>
                  <a:pt x="364" y="407"/>
                  <a:pt x="364" y="407"/>
                </a:cubicBezTo>
                <a:cubicBezTo>
                  <a:pt x="364" y="407"/>
                  <a:pt x="364" y="407"/>
                  <a:pt x="364" y="407"/>
                </a:cubicBezTo>
                <a:cubicBezTo>
                  <a:pt x="364" y="407"/>
                  <a:pt x="364" y="406"/>
                  <a:pt x="363" y="406"/>
                </a:cubicBezTo>
                <a:cubicBezTo>
                  <a:pt x="363" y="406"/>
                  <a:pt x="362" y="405"/>
                  <a:pt x="362" y="405"/>
                </a:cubicBezTo>
                <a:cubicBezTo>
                  <a:pt x="362" y="405"/>
                  <a:pt x="362" y="405"/>
                  <a:pt x="362" y="404"/>
                </a:cubicBezTo>
                <a:cubicBezTo>
                  <a:pt x="362" y="404"/>
                  <a:pt x="361" y="403"/>
                  <a:pt x="361" y="402"/>
                </a:cubicBezTo>
                <a:cubicBezTo>
                  <a:pt x="362" y="400"/>
                  <a:pt x="362" y="400"/>
                  <a:pt x="362" y="400"/>
                </a:cubicBezTo>
                <a:cubicBezTo>
                  <a:pt x="362" y="400"/>
                  <a:pt x="362" y="400"/>
                  <a:pt x="362" y="400"/>
                </a:cubicBezTo>
                <a:cubicBezTo>
                  <a:pt x="362" y="396"/>
                  <a:pt x="362" y="392"/>
                  <a:pt x="363" y="388"/>
                </a:cubicBezTo>
                <a:cubicBezTo>
                  <a:pt x="363" y="388"/>
                  <a:pt x="363" y="388"/>
                  <a:pt x="363" y="388"/>
                </a:cubicBezTo>
                <a:cubicBezTo>
                  <a:pt x="363" y="388"/>
                  <a:pt x="363" y="388"/>
                  <a:pt x="363" y="388"/>
                </a:cubicBezTo>
                <a:cubicBezTo>
                  <a:pt x="364" y="379"/>
                  <a:pt x="381" y="381"/>
                  <a:pt x="387" y="381"/>
                </a:cubicBezTo>
                <a:close/>
                <a:moveTo>
                  <a:pt x="289" y="407"/>
                </a:moveTo>
                <a:cubicBezTo>
                  <a:pt x="289" y="407"/>
                  <a:pt x="289" y="407"/>
                  <a:pt x="288" y="406"/>
                </a:cubicBezTo>
                <a:cubicBezTo>
                  <a:pt x="288" y="406"/>
                  <a:pt x="288" y="405"/>
                  <a:pt x="287" y="405"/>
                </a:cubicBezTo>
                <a:cubicBezTo>
                  <a:pt x="287" y="405"/>
                  <a:pt x="287" y="405"/>
                  <a:pt x="287" y="405"/>
                </a:cubicBezTo>
                <a:cubicBezTo>
                  <a:pt x="287" y="404"/>
                  <a:pt x="287" y="403"/>
                  <a:pt x="287" y="402"/>
                </a:cubicBezTo>
                <a:cubicBezTo>
                  <a:pt x="288" y="400"/>
                  <a:pt x="288" y="400"/>
                  <a:pt x="288" y="400"/>
                </a:cubicBezTo>
                <a:cubicBezTo>
                  <a:pt x="288" y="400"/>
                  <a:pt x="288" y="400"/>
                  <a:pt x="288" y="400"/>
                </a:cubicBezTo>
                <a:cubicBezTo>
                  <a:pt x="288" y="400"/>
                  <a:pt x="288" y="399"/>
                  <a:pt x="288" y="399"/>
                </a:cubicBezTo>
                <a:cubicBezTo>
                  <a:pt x="291" y="388"/>
                  <a:pt x="291" y="388"/>
                  <a:pt x="291" y="388"/>
                </a:cubicBezTo>
                <a:cubicBezTo>
                  <a:pt x="291" y="388"/>
                  <a:pt x="291" y="388"/>
                  <a:pt x="292" y="388"/>
                </a:cubicBezTo>
                <a:cubicBezTo>
                  <a:pt x="295" y="380"/>
                  <a:pt x="310" y="381"/>
                  <a:pt x="317" y="381"/>
                </a:cubicBezTo>
                <a:cubicBezTo>
                  <a:pt x="320" y="381"/>
                  <a:pt x="325" y="381"/>
                  <a:pt x="330" y="381"/>
                </a:cubicBezTo>
                <a:cubicBezTo>
                  <a:pt x="331" y="382"/>
                  <a:pt x="332" y="382"/>
                  <a:pt x="333" y="382"/>
                </a:cubicBezTo>
                <a:cubicBezTo>
                  <a:pt x="333" y="382"/>
                  <a:pt x="333" y="382"/>
                  <a:pt x="333" y="382"/>
                </a:cubicBezTo>
                <a:cubicBezTo>
                  <a:pt x="335" y="383"/>
                  <a:pt x="337" y="384"/>
                  <a:pt x="338" y="385"/>
                </a:cubicBezTo>
                <a:cubicBezTo>
                  <a:pt x="338" y="385"/>
                  <a:pt x="338" y="385"/>
                  <a:pt x="338" y="385"/>
                </a:cubicBezTo>
                <a:cubicBezTo>
                  <a:pt x="338" y="386"/>
                  <a:pt x="338" y="386"/>
                  <a:pt x="338" y="386"/>
                </a:cubicBezTo>
                <a:cubicBezTo>
                  <a:pt x="338" y="386"/>
                  <a:pt x="338" y="386"/>
                  <a:pt x="338" y="386"/>
                </a:cubicBezTo>
                <a:cubicBezTo>
                  <a:pt x="339" y="387"/>
                  <a:pt x="339" y="388"/>
                  <a:pt x="339" y="388"/>
                </a:cubicBezTo>
                <a:cubicBezTo>
                  <a:pt x="339" y="389"/>
                  <a:pt x="339" y="389"/>
                  <a:pt x="339" y="389"/>
                </a:cubicBezTo>
                <a:cubicBezTo>
                  <a:pt x="339" y="389"/>
                  <a:pt x="339" y="389"/>
                  <a:pt x="339" y="389"/>
                </a:cubicBezTo>
                <a:cubicBezTo>
                  <a:pt x="338" y="391"/>
                  <a:pt x="338" y="393"/>
                  <a:pt x="338" y="395"/>
                </a:cubicBezTo>
                <a:cubicBezTo>
                  <a:pt x="336" y="402"/>
                  <a:pt x="336" y="402"/>
                  <a:pt x="336" y="402"/>
                </a:cubicBezTo>
                <a:cubicBezTo>
                  <a:pt x="336" y="403"/>
                  <a:pt x="336" y="404"/>
                  <a:pt x="335" y="404"/>
                </a:cubicBezTo>
                <a:cubicBezTo>
                  <a:pt x="335" y="405"/>
                  <a:pt x="335" y="405"/>
                  <a:pt x="335" y="405"/>
                </a:cubicBezTo>
                <a:cubicBezTo>
                  <a:pt x="335" y="405"/>
                  <a:pt x="334" y="405"/>
                  <a:pt x="334" y="405"/>
                </a:cubicBezTo>
                <a:cubicBezTo>
                  <a:pt x="334" y="405"/>
                  <a:pt x="334" y="406"/>
                  <a:pt x="334" y="406"/>
                </a:cubicBezTo>
                <a:cubicBezTo>
                  <a:pt x="332" y="407"/>
                  <a:pt x="329" y="408"/>
                  <a:pt x="327" y="409"/>
                </a:cubicBezTo>
                <a:cubicBezTo>
                  <a:pt x="327" y="409"/>
                  <a:pt x="327" y="409"/>
                  <a:pt x="327" y="409"/>
                </a:cubicBezTo>
                <a:cubicBezTo>
                  <a:pt x="327" y="409"/>
                  <a:pt x="327" y="409"/>
                  <a:pt x="327" y="409"/>
                </a:cubicBezTo>
                <a:cubicBezTo>
                  <a:pt x="327" y="409"/>
                  <a:pt x="326" y="409"/>
                  <a:pt x="325" y="409"/>
                </a:cubicBezTo>
                <a:cubicBezTo>
                  <a:pt x="325" y="409"/>
                  <a:pt x="325" y="409"/>
                  <a:pt x="324" y="409"/>
                </a:cubicBezTo>
                <a:cubicBezTo>
                  <a:pt x="324" y="409"/>
                  <a:pt x="323" y="409"/>
                  <a:pt x="322" y="409"/>
                </a:cubicBezTo>
                <a:cubicBezTo>
                  <a:pt x="322" y="409"/>
                  <a:pt x="322" y="409"/>
                  <a:pt x="322" y="409"/>
                </a:cubicBezTo>
                <a:cubicBezTo>
                  <a:pt x="298" y="409"/>
                  <a:pt x="298" y="409"/>
                  <a:pt x="298" y="409"/>
                </a:cubicBezTo>
                <a:cubicBezTo>
                  <a:pt x="295" y="409"/>
                  <a:pt x="292" y="409"/>
                  <a:pt x="289" y="407"/>
                </a:cubicBezTo>
                <a:cubicBezTo>
                  <a:pt x="289" y="407"/>
                  <a:pt x="289" y="407"/>
                  <a:pt x="289" y="407"/>
                </a:cubicBezTo>
                <a:close/>
                <a:moveTo>
                  <a:pt x="320" y="369"/>
                </a:moveTo>
                <a:cubicBezTo>
                  <a:pt x="316" y="369"/>
                  <a:pt x="312" y="369"/>
                  <a:pt x="309" y="369"/>
                </a:cubicBezTo>
                <a:cubicBezTo>
                  <a:pt x="306" y="369"/>
                  <a:pt x="301" y="369"/>
                  <a:pt x="299" y="366"/>
                </a:cubicBezTo>
                <a:cubicBezTo>
                  <a:pt x="299" y="365"/>
                  <a:pt x="299" y="365"/>
                  <a:pt x="299" y="365"/>
                </a:cubicBezTo>
                <a:cubicBezTo>
                  <a:pt x="299" y="365"/>
                  <a:pt x="299" y="364"/>
                  <a:pt x="299" y="364"/>
                </a:cubicBezTo>
                <a:cubicBezTo>
                  <a:pt x="299" y="364"/>
                  <a:pt x="299" y="364"/>
                  <a:pt x="299" y="363"/>
                </a:cubicBezTo>
                <a:cubicBezTo>
                  <a:pt x="299" y="363"/>
                  <a:pt x="299" y="363"/>
                  <a:pt x="299" y="363"/>
                </a:cubicBezTo>
                <a:cubicBezTo>
                  <a:pt x="299" y="363"/>
                  <a:pt x="299" y="363"/>
                  <a:pt x="299" y="363"/>
                </a:cubicBezTo>
                <a:cubicBezTo>
                  <a:pt x="299" y="362"/>
                  <a:pt x="299" y="361"/>
                  <a:pt x="300" y="361"/>
                </a:cubicBezTo>
                <a:cubicBezTo>
                  <a:pt x="300" y="358"/>
                  <a:pt x="301" y="355"/>
                  <a:pt x="302" y="353"/>
                </a:cubicBezTo>
                <a:cubicBezTo>
                  <a:pt x="302" y="353"/>
                  <a:pt x="302" y="353"/>
                  <a:pt x="302" y="353"/>
                </a:cubicBezTo>
                <a:cubicBezTo>
                  <a:pt x="302" y="352"/>
                  <a:pt x="303" y="351"/>
                  <a:pt x="303" y="350"/>
                </a:cubicBezTo>
                <a:cubicBezTo>
                  <a:pt x="304" y="350"/>
                  <a:pt x="304" y="350"/>
                  <a:pt x="305" y="349"/>
                </a:cubicBezTo>
                <a:cubicBezTo>
                  <a:pt x="306" y="348"/>
                  <a:pt x="308" y="348"/>
                  <a:pt x="310" y="347"/>
                </a:cubicBezTo>
                <a:cubicBezTo>
                  <a:pt x="310" y="347"/>
                  <a:pt x="310" y="347"/>
                  <a:pt x="310" y="347"/>
                </a:cubicBezTo>
                <a:cubicBezTo>
                  <a:pt x="312" y="347"/>
                  <a:pt x="313" y="347"/>
                  <a:pt x="315" y="347"/>
                </a:cubicBezTo>
                <a:cubicBezTo>
                  <a:pt x="317" y="347"/>
                  <a:pt x="317" y="347"/>
                  <a:pt x="317" y="347"/>
                </a:cubicBezTo>
                <a:cubicBezTo>
                  <a:pt x="317" y="347"/>
                  <a:pt x="318" y="347"/>
                  <a:pt x="319" y="347"/>
                </a:cubicBezTo>
                <a:cubicBezTo>
                  <a:pt x="323" y="347"/>
                  <a:pt x="328" y="347"/>
                  <a:pt x="332" y="347"/>
                </a:cubicBezTo>
                <a:cubicBezTo>
                  <a:pt x="333" y="347"/>
                  <a:pt x="334" y="347"/>
                  <a:pt x="334" y="347"/>
                </a:cubicBezTo>
                <a:cubicBezTo>
                  <a:pt x="335" y="347"/>
                  <a:pt x="335" y="347"/>
                  <a:pt x="335" y="347"/>
                </a:cubicBezTo>
                <a:cubicBezTo>
                  <a:pt x="335" y="347"/>
                  <a:pt x="335" y="347"/>
                  <a:pt x="336" y="347"/>
                </a:cubicBezTo>
                <a:cubicBezTo>
                  <a:pt x="336" y="347"/>
                  <a:pt x="337" y="347"/>
                  <a:pt x="337" y="347"/>
                </a:cubicBezTo>
                <a:cubicBezTo>
                  <a:pt x="337" y="347"/>
                  <a:pt x="337" y="347"/>
                  <a:pt x="337" y="347"/>
                </a:cubicBezTo>
                <a:cubicBezTo>
                  <a:pt x="341" y="347"/>
                  <a:pt x="345" y="348"/>
                  <a:pt x="345" y="351"/>
                </a:cubicBezTo>
                <a:cubicBezTo>
                  <a:pt x="345" y="351"/>
                  <a:pt x="345" y="351"/>
                  <a:pt x="345" y="351"/>
                </a:cubicBezTo>
                <a:cubicBezTo>
                  <a:pt x="345" y="351"/>
                  <a:pt x="345" y="351"/>
                  <a:pt x="345" y="352"/>
                </a:cubicBezTo>
                <a:cubicBezTo>
                  <a:pt x="345" y="355"/>
                  <a:pt x="344" y="359"/>
                  <a:pt x="343" y="362"/>
                </a:cubicBezTo>
                <a:cubicBezTo>
                  <a:pt x="343" y="362"/>
                  <a:pt x="343" y="362"/>
                  <a:pt x="343" y="362"/>
                </a:cubicBezTo>
                <a:cubicBezTo>
                  <a:pt x="343" y="363"/>
                  <a:pt x="343" y="363"/>
                  <a:pt x="343" y="363"/>
                </a:cubicBezTo>
                <a:cubicBezTo>
                  <a:pt x="343" y="364"/>
                  <a:pt x="343" y="364"/>
                  <a:pt x="342" y="365"/>
                </a:cubicBezTo>
                <a:cubicBezTo>
                  <a:pt x="342" y="365"/>
                  <a:pt x="342" y="365"/>
                  <a:pt x="342" y="366"/>
                </a:cubicBezTo>
                <a:cubicBezTo>
                  <a:pt x="342" y="366"/>
                  <a:pt x="342" y="366"/>
                  <a:pt x="342" y="366"/>
                </a:cubicBezTo>
                <a:cubicBezTo>
                  <a:pt x="342" y="366"/>
                  <a:pt x="342" y="366"/>
                  <a:pt x="342" y="366"/>
                </a:cubicBezTo>
                <a:cubicBezTo>
                  <a:pt x="337" y="371"/>
                  <a:pt x="325" y="369"/>
                  <a:pt x="320" y="369"/>
                </a:cubicBezTo>
                <a:close/>
                <a:moveTo>
                  <a:pt x="212" y="404"/>
                </a:moveTo>
                <a:cubicBezTo>
                  <a:pt x="212" y="404"/>
                  <a:pt x="212" y="403"/>
                  <a:pt x="212" y="403"/>
                </a:cubicBezTo>
                <a:cubicBezTo>
                  <a:pt x="213" y="403"/>
                  <a:pt x="213" y="402"/>
                  <a:pt x="213" y="402"/>
                </a:cubicBezTo>
                <a:cubicBezTo>
                  <a:pt x="213" y="402"/>
                  <a:pt x="213" y="402"/>
                  <a:pt x="213" y="402"/>
                </a:cubicBezTo>
                <a:cubicBezTo>
                  <a:pt x="213" y="402"/>
                  <a:pt x="213" y="402"/>
                  <a:pt x="213" y="402"/>
                </a:cubicBezTo>
                <a:cubicBezTo>
                  <a:pt x="213" y="401"/>
                  <a:pt x="214" y="401"/>
                  <a:pt x="214" y="400"/>
                </a:cubicBezTo>
                <a:cubicBezTo>
                  <a:pt x="216" y="396"/>
                  <a:pt x="217" y="393"/>
                  <a:pt x="219" y="389"/>
                </a:cubicBezTo>
                <a:cubicBezTo>
                  <a:pt x="219" y="389"/>
                  <a:pt x="219" y="389"/>
                  <a:pt x="219" y="389"/>
                </a:cubicBezTo>
                <a:cubicBezTo>
                  <a:pt x="219" y="389"/>
                  <a:pt x="219" y="389"/>
                  <a:pt x="219" y="389"/>
                </a:cubicBezTo>
                <a:cubicBezTo>
                  <a:pt x="220" y="388"/>
                  <a:pt x="220" y="388"/>
                  <a:pt x="220" y="388"/>
                </a:cubicBezTo>
                <a:cubicBezTo>
                  <a:pt x="220" y="388"/>
                  <a:pt x="220" y="388"/>
                  <a:pt x="220" y="387"/>
                </a:cubicBezTo>
                <a:cubicBezTo>
                  <a:pt x="220" y="387"/>
                  <a:pt x="220" y="387"/>
                  <a:pt x="221" y="387"/>
                </a:cubicBezTo>
                <a:cubicBezTo>
                  <a:pt x="226" y="380"/>
                  <a:pt x="238" y="382"/>
                  <a:pt x="245" y="382"/>
                </a:cubicBezTo>
                <a:cubicBezTo>
                  <a:pt x="245" y="382"/>
                  <a:pt x="245" y="382"/>
                  <a:pt x="245" y="382"/>
                </a:cubicBezTo>
                <a:cubicBezTo>
                  <a:pt x="247" y="382"/>
                  <a:pt x="253" y="381"/>
                  <a:pt x="258" y="382"/>
                </a:cubicBezTo>
                <a:cubicBezTo>
                  <a:pt x="259" y="382"/>
                  <a:pt x="261" y="382"/>
                  <a:pt x="262" y="382"/>
                </a:cubicBezTo>
                <a:cubicBezTo>
                  <a:pt x="263" y="382"/>
                  <a:pt x="264" y="383"/>
                  <a:pt x="264" y="383"/>
                </a:cubicBezTo>
                <a:cubicBezTo>
                  <a:pt x="266" y="384"/>
                  <a:pt x="267" y="385"/>
                  <a:pt x="267" y="387"/>
                </a:cubicBezTo>
                <a:cubicBezTo>
                  <a:pt x="267" y="387"/>
                  <a:pt x="267" y="387"/>
                  <a:pt x="267" y="387"/>
                </a:cubicBezTo>
                <a:cubicBezTo>
                  <a:pt x="267" y="387"/>
                  <a:pt x="267" y="387"/>
                  <a:pt x="267" y="388"/>
                </a:cubicBezTo>
                <a:cubicBezTo>
                  <a:pt x="267" y="388"/>
                  <a:pt x="267" y="388"/>
                  <a:pt x="267" y="388"/>
                </a:cubicBezTo>
                <a:cubicBezTo>
                  <a:pt x="262" y="402"/>
                  <a:pt x="262" y="402"/>
                  <a:pt x="262" y="402"/>
                </a:cubicBezTo>
                <a:cubicBezTo>
                  <a:pt x="262" y="403"/>
                  <a:pt x="261" y="404"/>
                  <a:pt x="260" y="405"/>
                </a:cubicBezTo>
                <a:cubicBezTo>
                  <a:pt x="259" y="406"/>
                  <a:pt x="258" y="407"/>
                  <a:pt x="256" y="407"/>
                </a:cubicBezTo>
                <a:cubicBezTo>
                  <a:pt x="256" y="407"/>
                  <a:pt x="256" y="407"/>
                  <a:pt x="256" y="407"/>
                </a:cubicBezTo>
                <a:cubicBezTo>
                  <a:pt x="254" y="408"/>
                  <a:pt x="252" y="409"/>
                  <a:pt x="250" y="409"/>
                </a:cubicBezTo>
                <a:cubicBezTo>
                  <a:pt x="249" y="409"/>
                  <a:pt x="249" y="409"/>
                  <a:pt x="249" y="409"/>
                </a:cubicBezTo>
                <a:cubicBezTo>
                  <a:pt x="249" y="409"/>
                  <a:pt x="249" y="409"/>
                  <a:pt x="248" y="409"/>
                </a:cubicBezTo>
                <a:cubicBezTo>
                  <a:pt x="244" y="410"/>
                  <a:pt x="240" y="409"/>
                  <a:pt x="235" y="409"/>
                </a:cubicBezTo>
                <a:cubicBezTo>
                  <a:pt x="231" y="409"/>
                  <a:pt x="227" y="410"/>
                  <a:pt x="222" y="410"/>
                </a:cubicBezTo>
                <a:cubicBezTo>
                  <a:pt x="219" y="410"/>
                  <a:pt x="215" y="409"/>
                  <a:pt x="213" y="406"/>
                </a:cubicBezTo>
                <a:cubicBezTo>
                  <a:pt x="213" y="406"/>
                  <a:pt x="213" y="406"/>
                  <a:pt x="213" y="406"/>
                </a:cubicBezTo>
                <a:cubicBezTo>
                  <a:pt x="213" y="406"/>
                  <a:pt x="213" y="406"/>
                  <a:pt x="213" y="406"/>
                </a:cubicBezTo>
                <a:cubicBezTo>
                  <a:pt x="213" y="405"/>
                  <a:pt x="213" y="405"/>
                  <a:pt x="212" y="405"/>
                </a:cubicBezTo>
                <a:cubicBezTo>
                  <a:pt x="212" y="405"/>
                  <a:pt x="212" y="405"/>
                  <a:pt x="212" y="405"/>
                </a:cubicBezTo>
                <a:cubicBezTo>
                  <a:pt x="212" y="405"/>
                  <a:pt x="212" y="405"/>
                  <a:pt x="212" y="405"/>
                </a:cubicBezTo>
                <a:cubicBezTo>
                  <a:pt x="212" y="404"/>
                  <a:pt x="212" y="404"/>
                  <a:pt x="212" y="404"/>
                </a:cubicBezTo>
                <a:close/>
                <a:moveTo>
                  <a:pt x="212" y="359"/>
                </a:moveTo>
                <a:cubicBezTo>
                  <a:pt x="212" y="359"/>
                  <a:pt x="212" y="359"/>
                  <a:pt x="212" y="359"/>
                </a:cubicBezTo>
                <a:cubicBezTo>
                  <a:pt x="209" y="364"/>
                  <a:pt x="209" y="364"/>
                  <a:pt x="209" y="364"/>
                </a:cubicBezTo>
                <a:cubicBezTo>
                  <a:pt x="209" y="364"/>
                  <a:pt x="208" y="365"/>
                  <a:pt x="207" y="366"/>
                </a:cubicBezTo>
                <a:cubicBezTo>
                  <a:pt x="206" y="367"/>
                  <a:pt x="205" y="367"/>
                  <a:pt x="203" y="368"/>
                </a:cubicBezTo>
                <a:cubicBezTo>
                  <a:pt x="203" y="368"/>
                  <a:pt x="203" y="368"/>
                  <a:pt x="202" y="368"/>
                </a:cubicBezTo>
                <a:cubicBezTo>
                  <a:pt x="202" y="369"/>
                  <a:pt x="202" y="369"/>
                  <a:pt x="202" y="369"/>
                </a:cubicBezTo>
                <a:cubicBezTo>
                  <a:pt x="202" y="369"/>
                  <a:pt x="202" y="369"/>
                  <a:pt x="202" y="369"/>
                </a:cubicBezTo>
                <a:cubicBezTo>
                  <a:pt x="201" y="369"/>
                  <a:pt x="200" y="369"/>
                  <a:pt x="199" y="369"/>
                </a:cubicBezTo>
                <a:cubicBezTo>
                  <a:pt x="197" y="370"/>
                  <a:pt x="196" y="370"/>
                  <a:pt x="194" y="370"/>
                </a:cubicBezTo>
                <a:cubicBezTo>
                  <a:pt x="189" y="370"/>
                  <a:pt x="189" y="370"/>
                  <a:pt x="189" y="370"/>
                </a:cubicBezTo>
                <a:cubicBezTo>
                  <a:pt x="189" y="370"/>
                  <a:pt x="189" y="370"/>
                  <a:pt x="189" y="370"/>
                </a:cubicBezTo>
                <a:cubicBezTo>
                  <a:pt x="184" y="370"/>
                  <a:pt x="178" y="370"/>
                  <a:pt x="172" y="370"/>
                </a:cubicBezTo>
                <a:cubicBezTo>
                  <a:pt x="170" y="370"/>
                  <a:pt x="165" y="369"/>
                  <a:pt x="164" y="366"/>
                </a:cubicBezTo>
                <a:cubicBezTo>
                  <a:pt x="164" y="366"/>
                  <a:pt x="164" y="365"/>
                  <a:pt x="164" y="365"/>
                </a:cubicBezTo>
                <a:cubicBezTo>
                  <a:pt x="165" y="364"/>
                  <a:pt x="166" y="362"/>
                  <a:pt x="166" y="362"/>
                </a:cubicBezTo>
                <a:cubicBezTo>
                  <a:pt x="168" y="358"/>
                  <a:pt x="170" y="355"/>
                  <a:pt x="173" y="352"/>
                </a:cubicBezTo>
                <a:cubicBezTo>
                  <a:pt x="173" y="352"/>
                  <a:pt x="173" y="352"/>
                  <a:pt x="173" y="352"/>
                </a:cubicBezTo>
                <a:cubicBezTo>
                  <a:pt x="173" y="352"/>
                  <a:pt x="173" y="352"/>
                  <a:pt x="173" y="352"/>
                </a:cubicBezTo>
                <a:cubicBezTo>
                  <a:pt x="180" y="345"/>
                  <a:pt x="193" y="347"/>
                  <a:pt x="201" y="347"/>
                </a:cubicBezTo>
                <a:cubicBezTo>
                  <a:pt x="205" y="347"/>
                  <a:pt x="210" y="346"/>
                  <a:pt x="213" y="348"/>
                </a:cubicBezTo>
                <a:cubicBezTo>
                  <a:pt x="213" y="348"/>
                  <a:pt x="213" y="348"/>
                  <a:pt x="213" y="348"/>
                </a:cubicBezTo>
                <a:cubicBezTo>
                  <a:pt x="214" y="348"/>
                  <a:pt x="214" y="348"/>
                  <a:pt x="214" y="348"/>
                </a:cubicBezTo>
                <a:cubicBezTo>
                  <a:pt x="214" y="348"/>
                  <a:pt x="214" y="349"/>
                  <a:pt x="214" y="349"/>
                </a:cubicBezTo>
                <a:cubicBezTo>
                  <a:pt x="215" y="349"/>
                  <a:pt x="216" y="350"/>
                  <a:pt x="216" y="350"/>
                </a:cubicBezTo>
                <a:cubicBezTo>
                  <a:pt x="216" y="351"/>
                  <a:pt x="216" y="352"/>
                  <a:pt x="215" y="353"/>
                </a:cubicBezTo>
                <a:cubicBezTo>
                  <a:pt x="215" y="353"/>
                  <a:pt x="215" y="353"/>
                  <a:pt x="215" y="353"/>
                </a:cubicBezTo>
                <a:cubicBezTo>
                  <a:pt x="214" y="355"/>
                  <a:pt x="213" y="357"/>
                  <a:pt x="212" y="359"/>
                </a:cubicBezTo>
                <a:close/>
                <a:moveTo>
                  <a:pt x="266" y="369"/>
                </a:moveTo>
                <a:cubicBezTo>
                  <a:pt x="266" y="369"/>
                  <a:pt x="265" y="369"/>
                  <a:pt x="264" y="369"/>
                </a:cubicBezTo>
                <a:cubicBezTo>
                  <a:pt x="264" y="369"/>
                  <a:pt x="264" y="370"/>
                  <a:pt x="264" y="370"/>
                </a:cubicBezTo>
                <a:cubicBezTo>
                  <a:pt x="261" y="370"/>
                  <a:pt x="258" y="370"/>
                  <a:pt x="254" y="370"/>
                </a:cubicBezTo>
                <a:cubicBezTo>
                  <a:pt x="240" y="370"/>
                  <a:pt x="240" y="370"/>
                  <a:pt x="240" y="370"/>
                </a:cubicBezTo>
                <a:cubicBezTo>
                  <a:pt x="238" y="370"/>
                  <a:pt x="233" y="369"/>
                  <a:pt x="231" y="366"/>
                </a:cubicBezTo>
                <a:cubicBezTo>
                  <a:pt x="231" y="366"/>
                  <a:pt x="231" y="365"/>
                  <a:pt x="231" y="365"/>
                </a:cubicBezTo>
                <a:cubicBezTo>
                  <a:pt x="231" y="365"/>
                  <a:pt x="231" y="365"/>
                  <a:pt x="231" y="364"/>
                </a:cubicBezTo>
                <a:cubicBezTo>
                  <a:pt x="232" y="363"/>
                  <a:pt x="233" y="362"/>
                  <a:pt x="233" y="361"/>
                </a:cubicBezTo>
                <a:cubicBezTo>
                  <a:pt x="234" y="358"/>
                  <a:pt x="235" y="354"/>
                  <a:pt x="238" y="352"/>
                </a:cubicBezTo>
                <a:cubicBezTo>
                  <a:pt x="238" y="351"/>
                  <a:pt x="238" y="351"/>
                  <a:pt x="238" y="351"/>
                </a:cubicBezTo>
                <a:cubicBezTo>
                  <a:pt x="238" y="351"/>
                  <a:pt x="238" y="351"/>
                  <a:pt x="238" y="351"/>
                </a:cubicBezTo>
                <a:cubicBezTo>
                  <a:pt x="239" y="351"/>
                  <a:pt x="239" y="351"/>
                  <a:pt x="239" y="351"/>
                </a:cubicBezTo>
                <a:cubicBezTo>
                  <a:pt x="239" y="350"/>
                  <a:pt x="239" y="350"/>
                  <a:pt x="239" y="350"/>
                </a:cubicBezTo>
                <a:cubicBezTo>
                  <a:pt x="239" y="350"/>
                  <a:pt x="239" y="350"/>
                  <a:pt x="239" y="350"/>
                </a:cubicBezTo>
                <a:cubicBezTo>
                  <a:pt x="241" y="349"/>
                  <a:pt x="244" y="348"/>
                  <a:pt x="246" y="348"/>
                </a:cubicBezTo>
                <a:cubicBezTo>
                  <a:pt x="246" y="348"/>
                  <a:pt x="246" y="347"/>
                  <a:pt x="247" y="347"/>
                </a:cubicBezTo>
                <a:cubicBezTo>
                  <a:pt x="248" y="347"/>
                  <a:pt x="249" y="347"/>
                  <a:pt x="251" y="347"/>
                </a:cubicBezTo>
                <a:cubicBezTo>
                  <a:pt x="259" y="347"/>
                  <a:pt x="259" y="347"/>
                  <a:pt x="259" y="347"/>
                </a:cubicBezTo>
                <a:cubicBezTo>
                  <a:pt x="262" y="347"/>
                  <a:pt x="265" y="347"/>
                  <a:pt x="267" y="347"/>
                </a:cubicBezTo>
                <a:cubicBezTo>
                  <a:pt x="271" y="347"/>
                  <a:pt x="276" y="346"/>
                  <a:pt x="279" y="349"/>
                </a:cubicBezTo>
                <a:cubicBezTo>
                  <a:pt x="279" y="349"/>
                  <a:pt x="280" y="349"/>
                  <a:pt x="280" y="350"/>
                </a:cubicBezTo>
                <a:cubicBezTo>
                  <a:pt x="280" y="350"/>
                  <a:pt x="280" y="350"/>
                  <a:pt x="280" y="350"/>
                </a:cubicBezTo>
                <a:cubicBezTo>
                  <a:pt x="280" y="350"/>
                  <a:pt x="280" y="350"/>
                  <a:pt x="280" y="350"/>
                </a:cubicBezTo>
                <a:cubicBezTo>
                  <a:pt x="280" y="350"/>
                  <a:pt x="280" y="350"/>
                  <a:pt x="280" y="350"/>
                </a:cubicBezTo>
                <a:cubicBezTo>
                  <a:pt x="280" y="351"/>
                  <a:pt x="280" y="351"/>
                  <a:pt x="280" y="352"/>
                </a:cubicBezTo>
                <a:cubicBezTo>
                  <a:pt x="280" y="355"/>
                  <a:pt x="278" y="359"/>
                  <a:pt x="277" y="361"/>
                </a:cubicBezTo>
                <a:cubicBezTo>
                  <a:pt x="277" y="361"/>
                  <a:pt x="277" y="361"/>
                  <a:pt x="277" y="361"/>
                </a:cubicBezTo>
                <a:cubicBezTo>
                  <a:pt x="277" y="362"/>
                  <a:pt x="277" y="362"/>
                  <a:pt x="276" y="363"/>
                </a:cubicBezTo>
                <a:cubicBezTo>
                  <a:pt x="276" y="363"/>
                  <a:pt x="276" y="363"/>
                  <a:pt x="276" y="363"/>
                </a:cubicBezTo>
                <a:cubicBezTo>
                  <a:pt x="276" y="364"/>
                  <a:pt x="276" y="364"/>
                  <a:pt x="276" y="364"/>
                </a:cubicBezTo>
                <a:cubicBezTo>
                  <a:pt x="276" y="364"/>
                  <a:pt x="276" y="364"/>
                  <a:pt x="276" y="364"/>
                </a:cubicBezTo>
                <a:cubicBezTo>
                  <a:pt x="276" y="364"/>
                  <a:pt x="275" y="365"/>
                  <a:pt x="275" y="365"/>
                </a:cubicBezTo>
                <a:cubicBezTo>
                  <a:pt x="275" y="365"/>
                  <a:pt x="275" y="365"/>
                  <a:pt x="275" y="365"/>
                </a:cubicBezTo>
                <a:cubicBezTo>
                  <a:pt x="275" y="365"/>
                  <a:pt x="275" y="365"/>
                  <a:pt x="275" y="365"/>
                </a:cubicBezTo>
                <a:cubicBezTo>
                  <a:pt x="275" y="366"/>
                  <a:pt x="275" y="366"/>
                  <a:pt x="275" y="366"/>
                </a:cubicBezTo>
                <a:cubicBezTo>
                  <a:pt x="274" y="366"/>
                  <a:pt x="274" y="367"/>
                  <a:pt x="273" y="367"/>
                </a:cubicBezTo>
                <a:cubicBezTo>
                  <a:pt x="273" y="367"/>
                  <a:pt x="272" y="367"/>
                  <a:pt x="272" y="368"/>
                </a:cubicBezTo>
                <a:cubicBezTo>
                  <a:pt x="271" y="368"/>
                  <a:pt x="271" y="368"/>
                  <a:pt x="271" y="368"/>
                </a:cubicBezTo>
                <a:cubicBezTo>
                  <a:pt x="271" y="368"/>
                  <a:pt x="271" y="368"/>
                  <a:pt x="271" y="368"/>
                </a:cubicBezTo>
                <a:cubicBezTo>
                  <a:pt x="269" y="369"/>
                  <a:pt x="268" y="369"/>
                  <a:pt x="266" y="369"/>
                </a:cubicBezTo>
                <a:close/>
                <a:moveTo>
                  <a:pt x="172" y="430"/>
                </a:moveTo>
                <a:cubicBezTo>
                  <a:pt x="172" y="430"/>
                  <a:pt x="172" y="430"/>
                  <a:pt x="172" y="430"/>
                </a:cubicBezTo>
                <a:cubicBezTo>
                  <a:pt x="172" y="433"/>
                  <a:pt x="169" y="437"/>
                  <a:pt x="167" y="439"/>
                </a:cubicBezTo>
                <a:cubicBezTo>
                  <a:pt x="167" y="439"/>
                  <a:pt x="167" y="439"/>
                  <a:pt x="167" y="439"/>
                </a:cubicBezTo>
                <a:cubicBezTo>
                  <a:pt x="165" y="443"/>
                  <a:pt x="164" y="447"/>
                  <a:pt x="161" y="450"/>
                </a:cubicBezTo>
                <a:cubicBezTo>
                  <a:pt x="161" y="450"/>
                  <a:pt x="161" y="450"/>
                  <a:pt x="161" y="451"/>
                </a:cubicBezTo>
                <a:cubicBezTo>
                  <a:pt x="160" y="451"/>
                  <a:pt x="160" y="451"/>
                  <a:pt x="160" y="451"/>
                </a:cubicBezTo>
                <a:cubicBezTo>
                  <a:pt x="160" y="451"/>
                  <a:pt x="160" y="451"/>
                  <a:pt x="160" y="452"/>
                </a:cubicBezTo>
                <a:cubicBezTo>
                  <a:pt x="159" y="452"/>
                  <a:pt x="159" y="452"/>
                  <a:pt x="159" y="452"/>
                </a:cubicBezTo>
                <a:cubicBezTo>
                  <a:pt x="159" y="452"/>
                  <a:pt x="159" y="452"/>
                  <a:pt x="159" y="452"/>
                </a:cubicBezTo>
                <a:cubicBezTo>
                  <a:pt x="156" y="455"/>
                  <a:pt x="153" y="456"/>
                  <a:pt x="150" y="457"/>
                </a:cubicBezTo>
                <a:cubicBezTo>
                  <a:pt x="149" y="457"/>
                  <a:pt x="149" y="457"/>
                  <a:pt x="149" y="458"/>
                </a:cubicBezTo>
                <a:cubicBezTo>
                  <a:pt x="146" y="458"/>
                  <a:pt x="144" y="458"/>
                  <a:pt x="142" y="458"/>
                </a:cubicBezTo>
                <a:cubicBezTo>
                  <a:pt x="141" y="458"/>
                  <a:pt x="141" y="458"/>
                  <a:pt x="141" y="458"/>
                </a:cubicBezTo>
                <a:cubicBezTo>
                  <a:pt x="141" y="458"/>
                  <a:pt x="141" y="458"/>
                  <a:pt x="141" y="458"/>
                </a:cubicBezTo>
                <a:cubicBezTo>
                  <a:pt x="132" y="458"/>
                  <a:pt x="124" y="458"/>
                  <a:pt x="115" y="458"/>
                </a:cubicBezTo>
                <a:cubicBezTo>
                  <a:pt x="114" y="458"/>
                  <a:pt x="114" y="458"/>
                  <a:pt x="113" y="458"/>
                </a:cubicBezTo>
                <a:cubicBezTo>
                  <a:pt x="112" y="458"/>
                  <a:pt x="111" y="458"/>
                  <a:pt x="110" y="458"/>
                </a:cubicBezTo>
                <a:cubicBezTo>
                  <a:pt x="109" y="457"/>
                  <a:pt x="107" y="456"/>
                  <a:pt x="107" y="456"/>
                </a:cubicBezTo>
                <a:cubicBezTo>
                  <a:pt x="106" y="455"/>
                  <a:pt x="106" y="453"/>
                  <a:pt x="106" y="452"/>
                </a:cubicBezTo>
                <a:cubicBezTo>
                  <a:pt x="106" y="451"/>
                  <a:pt x="106" y="451"/>
                  <a:pt x="107" y="450"/>
                </a:cubicBezTo>
                <a:cubicBezTo>
                  <a:pt x="107" y="449"/>
                  <a:pt x="107" y="449"/>
                  <a:pt x="107" y="449"/>
                </a:cubicBezTo>
                <a:cubicBezTo>
                  <a:pt x="107" y="449"/>
                  <a:pt x="107" y="449"/>
                  <a:pt x="107" y="449"/>
                </a:cubicBezTo>
                <a:cubicBezTo>
                  <a:pt x="107" y="448"/>
                  <a:pt x="107" y="448"/>
                  <a:pt x="107" y="448"/>
                </a:cubicBezTo>
                <a:cubicBezTo>
                  <a:pt x="107" y="448"/>
                  <a:pt x="107" y="448"/>
                  <a:pt x="107" y="448"/>
                </a:cubicBezTo>
                <a:cubicBezTo>
                  <a:pt x="109" y="445"/>
                  <a:pt x="112" y="442"/>
                  <a:pt x="114" y="439"/>
                </a:cubicBezTo>
                <a:cubicBezTo>
                  <a:pt x="116" y="436"/>
                  <a:pt x="117" y="433"/>
                  <a:pt x="119" y="431"/>
                </a:cubicBezTo>
                <a:cubicBezTo>
                  <a:pt x="120" y="431"/>
                  <a:pt x="120" y="430"/>
                  <a:pt x="120" y="430"/>
                </a:cubicBezTo>
                <a:cubicBezTo>
                  <a:pt x="120" y="430"/>
                  <a:pt x="120" y="430"/>
                  <a:pt x="120" y="430"/>
                </a:cubicBezTo>
                <a:cubicBezTo>
                  <a:pt x="121" y="430"/>
                  <a:pt x="121" y="429"/>
                  <a:pt x="122" y="429"/>
                </a:cubicBezTo>
                <a:cubicBezTo>
                  <a:pt x="122" y="429"/>
                  <a:pt x="122" y="429"/>
                  <a:pt x="122" y="429"/>
                </a:cubicBezTo>
                <a:cubicBezTo>
                  <a:pt x="122" y="429"/>
                  <a:pt x="122" y="429"/>
                  <a:pt x="122" y="429"/>
                </a:cubicBezTo>
                <a:cubicBezTo>
                  <a:pt x="125" y="426"/>
                  <a:pt x="128" y="425"/>
                  <a:pt x="132" y="424"/>
                </a:cubicBezTo>
                <a:cubicBezTo>
                  <a:pt x="132" y="424"/>
                  <a:pt x="132" y="424"/>
                  <a:pt x="132" y="424"/>
                </a:cubicBezTo>
                <a:cubicBezTo>
                  <a:pt x="132" y="424"/>
                  <a:pt x="132" y="424"/>
                  <a:pt x="132" y="424"/>
                </a:cubicBezTo>
                <a:cubicBezTo>
                  <a:pt x="133" y="424"/>
                  <a:pt x="133" y="424"/>
                  <a:pt x="134" y="424"/>
                </a:cubicBezTo>
                <a:cubicBezTo>
                  <a:pt x="135" y="424"/>
                  <a:pt x="135" y="424"/>
                  <a:pt x="135" y="424"/>
                </a:cubicBezTo>
                <a:cubicBezTo>
                  <a:pt x="136" y="424"/>
                  <a:pt x="136" y="424"/>
                  <a:pt x="137" y="424"/>
                </a:cubicBezTo>
                <a:cubicBezTo>
                  <a:pt x="137" y="423"/>
                  <a:pt x="137" y="423"/>
                  <a:pt x="138" y="423"/>
                </a:cubicBezTo>
                <a:cubicBezTo>
                  <a:pt x="138" y="423"/>
                  <a:pt x="138" y="423"/>
                  <a:pt x="138" y="423"/>
                </a:cubicBezTo>
                <a:cubicBezTo>
                  <a:pt x="138" y="423"/>
                  <a:pt x="138" y="423"/>
                  <a:pt x="138" y="423"/>
                </a:cubicBezTo>
                <a:cubicBezTo>
                  <a:pt x="146" y="423"/>
                  <a:pt x="153" y="423"/>
                  <a:pt x="161" y="423"/>
                </a:cubicBezTo>
                <a:cubicBezTo>
                  <a:pt x="161" y="423"/>
                  <a:pt x="161" y="423"/>
                  <a:pt x="161" y="423"/>
                </a:cubicBezTo>
                <a:cubicBezTo>
                  <a:pt x="163" y="423"/>
                  <a:pt x="163" y="423"/>
                  <a:pt x="163" y="423"/>
                </a:cubicBezTo>
                <a:cubicBezTo>
                  <a:pt x="165" y="423"/>
                  <a:pt x="166" y="424"/>
                  <a:pt x="167" y="424"/>
                </a:cubicBezTo>
                <a:cubicBezTo>
                  <a:pt x="168" y="424"/>
                  <a:pt x="168" y="424"/>
                  <a:pt x="169" y="425"/>
                </a:cubicBezTo>
                <a:cubicBezTo>
                  <a:pt x="169" y="425"/>
                  <a:pt x="169" y="425"/>
                  <a:pt x="169" y="425"/>
                </a:cubicBezTo>
                <a:cubicBezTo>
                  <a:pt x="169" y="425"/>
                  <a:pt x="169" y="425"/>
                  <a:pt x="170" y="425"/>
                </a:cubicBezTo>
                <a:cubicBezTo>
                  <a:pt x="172" y="426"/>
                  <a:pt x="173" y="428"/>
                  <a:pt x="172" y="430"/>
                </a:cubicBezTo>
                <a:close/>
                <a:moveTo>
                  <a:pt x="188" y="402"/>
                </a:moveTo>
                <a:cubicBezTo>
                  <a:pt x="188" y="402"/>
                  <a:pt x="188" y="402"/>
                  <a:pt x="188" y="402"/>
                </a:cubicBezTo>
                <a:cubicBezTo>
                  <a:pt x="188" y="402"/>
                  <a:pt x="188" y="402"/>
                  <a:pt x="188" y="402"/>
                </a:cubicBezTo>
                <a:cubicBezTo>
                  <a:pt x="188" y="403"/>
                  <a:pt x="187" y="403"/>
                  <a:pt x="187" y="404"/>
                </a:cubicBezTo>
                <a:cubicBezTo>
                  <a:pt x="187" y="404"/>
                  <a:pt x="187" y="404"/>
                  <a:pt x="187" y="404"/>
                </a:cubicBezTo>
                <a:cubicBezTo>
                  <a:pt x="185" y="406"/>
                  <a:pt x="182" y="407"/>
                  <a:pt x="179" y="408"/>
                </a:cubicBezTo>
                <a:cubicBezTo>
                  <a:pt x="179" y="408"/>
                  <a:pt x="179" y="408"/>
                  <a:pt x="179" y="408"/>
                </a:cubicBezTo>
                <a:cubicBezTo>
                  <a:pt x="179" y="409"/>
                  <a:pt x="178" y="409"/>
                  <a:pt x="178" y="409"/>
                </a:cubicBezTo>
                <a:cubicBezTo>
                  <a:pt x="177" y="409"/>
                  <a:pt x="177" y="409"/>
                  <a:pt x="177" y="409"/>
                </a:cubicBezTo>
                <a:cubicBezTo>
                  <a:pt x="177" y="409"/>
                  <a:pt x="177" y="409"/>
                  <a:pt x="176" y="409"/>
                </a:cubicBezTo>
                <a:cubicBezTo>
                  <a:pt x="174" y="409"/>
                  <a:pt x="172" y="410"/>
                  <a:pt x="171" y="410"/>
                </a:cubicBezTo>
                <a:cubicBezTo>
                  <a:pt x="170" y="410"/>
                  <a:pt x="170" y="410"/>
                  <a:pt x="170" y="410"/>
                </a:cubicBezTo>
                <a:cubicBezTo>
                  <a:pt x="167" y="410"/>
                  <a:pt x="164" y="410"/>
                  <a:pt x="161" y="410"/>
                </a:cubicBezTo>
                <a:cubicBezTo>
                  <a:pt x="156" y="410"/>
                  <a:pt x="151" y="410"/>
                  <a:pt x="146" y="410"/>
                </a:cubicBezTo>
                <a:cubicBezTo>
                  <a:pt x="146" y="410"/>
                  <a:pt x="145" y="410"/>
                  <a:pt x="144" y="410"/>
                </a:cubicBezTo>
                <a:cubicBezTo>
                  <a:pt x="144" y="410"/>
                  <a:pt x="144" y="410"/>
                  <a:pt x="144" y="410"/>
                </a:cubicBezTo>
                <a:cubicBezTo>
                  <a:pt x="143" y="409"/>
                  <a:pt x="143" y="409"/>
                  <a:pt x="142" y="409"/>
                </a:cubicBezTo>
                <a:cubicBezTo>
                  <a:pt x="142" y="409"/>
                  <a:pt x="142" y="409"/>
                  <a:pt x="142" y="409"/>
                </a:cubicBezTo>
                <a:cubicBezTo>
                  <a:pt x="142" y="409"/>
                  <a:pt x="142" y="409"/>
                  <a:pt x="142" y="409"/>
                </a:cubicBezTo>
                <a:cubicBezTo>
                  <a:pt x="140" y="409"/>
                  <a:pt x="138" y="407"/>
                  <a:pt x="138" y="405"/>
                </a:cubicBezTo>
                <a:cubicBezTo>
                  <a:pt x="138" y="405"/>
                  <a:pt x="138" y="404"/>
                  <a:pt x="138" y="404"/>
                </a:cubicBezTo>
                <a:cubicBezTo>
                  <a:pt x="138" y="404"/>
                  <a:pt x="138" y="404"/>
                  <a:pt x="138" y="403"/>
                </a:cubicBezTo>
                <a:cubicBezTo>
                  <a:pt x="138" y="403"/>
                  <a:pt x="138" y="403"/>
                  <a:pt x="139" y="402"/>
                </a:cubicBezTo>
                <a:cubicBezTo>
                  <a:pt x="139" y="402"/>
                  <a:pt x="139" y="402"/>
                  <a:pt x="139" y="402"/>
                </a:cubicBezTo>
                <a:cubicBezTo>
                  <a:pt x="139" y="402"/>
                  <a:pt x="139" y="402"/>
                  <a:pt x="139" y="402"/>
                </a:cubicBezTo>
                <a:cubicBezTo>
                  <a:pt x="139" y="402"/>
                  <a:pt x="139" y="401"/>
                  <a:pt x="140" y="401"/>
                </a:cubicBezTo>
                <a:cubicBezTo>
                  <a:pt x="142" y="397"/>
                  <a:pt x="144" y="394"/>
                  <a:pt x="147" y="390"/>
                </a:cubicBezTo>
                <a:cubicBezTo>
                  <a:pt x="147" y="390"/>
                  <a:pt x="147" y="390"/>
                  <a:pt x="147" y="390"/>
                </a:cubicBezTo>
                <a:cubicBezTo>
                  <a:pt x="148" y="389"/>
                  <a:pt x="148" y="389"/>
                  <a:pt x="148" y="389"/>
                </a:cubicBezTo>
                <a:cubicBezTo>
                  <a:pt x="149" y="388"/>
                  <a:pt x="149" y="387"/>
                  <a:pt x="151" y="386"/>
                </a:cubicBezTo>
                <a:cubicBezTo>
                  <a:pt x="151" y="385"/>
                  <a:pt x="152" y="385"/>
                  <a:pt x="153" y="385"/>
                </a:cubicBezTo>
                <a:cubicBezTo>
                  <a:pt x="153" y="384"/>
                  <a:pt x="154" y="384"/>
                  <a:pt x="154" y="384"/>
                </a:cubicBezTo>
                <a:cubicBezTo>
                  <a:pt x="154" y="384"/>
                  <a:pt x="154" y="384"/>
                  <a:pt x="155" y="384"/>
                </a:cubicBezTo>
                <a:cubicBezTo>
                  <a:pt x="155" y="384"/>
                  <a:pt x="155" y="384"/>
                  <a:pt x="155" y="384"/>
                </a:cubicBezTo>
                <a:cubicBezTo>
                  <a:pt x="155" y="384"/>
                  <a:pt x="155" y="384"/>
                  <a:pt x="156" y="383"/>
                </a:cubicBezTo>
                <a:cubicBezTo>
                  <a:pt x="157" y="383"/>
                  <a:pt x="158" y="383"/>
                  <a:pt x="160" y="382"/>
                </a:cubicBezTo>
                <a:cubicBezTo>
                  <a:pt x="161" y="382"/>
                  <a:pt x="163" y="382"/>
                  <a:pt x="165" y="382"/>
                </a:cubicBezTo>
                <a:cubicBezTo>
                  <a:pt x="169" y="382"/>
                  <a:pt x="169" y="382"/>
                  <a:pt x="169" y="382"/>
                </a:cubicBezTo>
                <a:cubicBezTo>
                  <a:pt x="170" y="382"/>
                  <a:pt x="171" y="382"/>
                  <a:pt x="172" y="382"/>
                </a:cubicBezTo>
                <a:cubicBezTo>
                  <a:pt x="177" y="382"/>
                  <a:pt x="181" y="382"/>
                  <a:pt x="185" y="382"/>
                </a:cubicBezTo>
                <a:cubicBezTo>
                  <a:pt x="185" y="382"/>
                  <a:pt x="185" y="382"/>
                  <a:pt x="185" y="382"/>
                </a:cubicBezTo>
                <a:cubicBezTo>
                  <a:pt x="187" y="382"/>
                  <a:pt x="187" y="382"/>
                  <a:pt x="187" y="382"/>
                </a:cubicBezTo>
                <a:cubicBezTo>
                  <a:pt x="189" y="382"/>
                  <a:pt x="190" y="382"/>
                  <a:pt x="191" y="382"/>
                </a:cubicBezTo>
                <a:cubicBezTo>
                  <a:pt x="193" y="383"/>
                  <a:pt x="193" y="383"/>
                  <a:pt x="194" y="383"/>
                </a:cubicBezTo>
                <a:cubicBezTo>
                  <a:pt x="196" y="384"/>
                  <a:pt x="197" y="386"/>
                  <a:pt x="196" y="389"/>
                </a:cubicBezTo>
                <a:cubicBezTo>
                  <a:pt x="194" y="392"/>
                  <a:pt x="192" y="395"/>
                  <a:pt x="190" y="398"/>
                </a:cubicBezTo>
                <a:cubicBezTo>
                  <a:pt x="188" y="402"/>
                  <a:pt x="188" y="402"/>
                  <a:pt x="188" y="402"/>
                </a:cubicBezTo>
                <a:cubicBezTo>
                  <a:pt x="188" y="402"/>
                  <a:pt x="188" y="402"/>
                  <a:pt x="188" y="402"/>
                </a:cubicBezTo>
                <a:close/>
                <a:moveTo>
                  <a:pt x="411" y="448"/>
                </a:moveTo>
                <a:cubicBezTo>
                  <a:pt x="411" y="449"/>
                  <a:pt x="411" y="449"/>
                  <a:pt x="411" y="450"/>
                </a:cubicBezTo>
                <a:cubicBezTo>
                  <a:pt x="411" y="450"/>
                  <a:pt x="411" y="450"/>
                  <a:pt x="411" y="450"/>
                </a:cubicBezTo>
                <a:cubicBezTo>
                  <a:pt x="411" y="451"/>
                  <a:pt x="411" y="451"/>
                  <a:pt x="410" y="451"/>
                </a:cubicBezTo>
                <a:cubicBezTo>
                  <a:pt x="410" y="451"/>
                  <a:pt x="410" y="451"/>
                  <a:pt x="410" y="452"/>
                </a:cubicBezTo>
                <a:cubicBezTo>
                  <a:pt x="410" y="452"/>
                  <a:pt x="410" y="452"/>
                  <a:pt x="410" y="452"/>
                </a:cubicBezTo>
                <a:cubicBezTo>
                  <a:pt x="410" y="452"/>
                  <a:pt x="409" y="453"/>
                  <a:pt x="409" y="453"/>
                </a:cubicBezTo>
                <a:cubicBezTo>
                  <a:pt x="409" y="453"/>
                  <a:pt x="409" y="453"/>
                  <a:pt x="409" y="453"/>
                </a:cubicBezTo>
                <a:cubicBezTo>
                  <a:pt x="408" y="454"/>
                  <a:pt x="408" y="454"/>
                  <a:pt x="407" y="455"/>
                </a:cubicBezTo>
                <a:cubicBezTo>
                  <a:pt x="407" y="455"/>
                  <a:pt x="407" y="455"/>
                  <a:pt x="407" y="455"/>
                </a:cubicBezTo>
                <a:cubicBezTo>
                  <a:pt x="407" y="455"/>
                  <a:pt x="407" y="455"/>
                  <a:pt x="407" y="455"/>
                </a:cubicBezTo>
                <a:cubicBezTo>
                  <a:pt x="406" y="455"/>
                  <a:pt x="406" y="456"/>
                  <a:pt x="405" y="456"/>
                </a:cubicBezTo>
                <a:cubicBezTo>
                  <a:pt x="405" y="456"/>
                  <a:pt x="405" y="456"/>
                  <a:pt x="405" y="456"/>
                </a:cubicBezTo>
                <a:cubicBezTo>
                  <a:pt x="404" y="456"/>
                  <a:pt x="404" y="456"/>
                  <a:pt x="404" y="456"/>
                </a:cubicBezTo>
                <a:cubicBezTo>
                  <a:pt x="403" y="456"/>
                  <a:pt x="403" y="457"/>
                  <a:pt x="403" y="457"/>
                </a:cubicBezTo>
                <a:cubicBezTo>
                  <a:pt x="403" y="457"/>
                  <a:pt x="403" y="457"/>
                  <a:pt x="402" y="457"/>
                </a:cubicBezTo>
                <a:cubicBezTo>
                  <a:pt x="402" y="457"/>
                  <a:pt x="402" y="457"/>
                  <a:pt x="402" y="457"/>
                </a:cubicBezTo>
                <a:cubicBezTo>
                  <a:pt x="402" y="457"/>
                  <a:pt x="401" y="457"/>
                  <a:pt x="400" y="457"/>
                </a:cubicBezTo>
                <a:cubicBezTo>
                  <a:pt x="400" y="457"/>
                  <a:pt x="399" y="457"/>
                  <a:pt x="399" y="457"/>
                </a:cubicBezTo>
                <a:cubicBezTo>
                  <a:pt x="398" y="458"/>
                  <a:pt x="398" y="458"/>
                  <a:pt x="397" y="458"/>
                </a:cubicBezTo>
                <a:cubicBezTo>
                  <a:pt x="397" y="458"/>
                  <a:pt x="397" y="458"/>
                  <a:pt x="397" y="458"/>
                </a:cubicBezTo>
                <a:cubicBezTo>
                  <a:pt x="396" y="458"/>
                  <a:pt x="396" y="458"/>
                  <a:pt x="396" y="458"/>
                </a:cubicBezTo>
                <a:cubicBezTo>
                  <a:pt x="396" y="458"/>
                  <a:pt x="396" y="458"/>
                  <a:pt x="396" y="458"/>
                </a:cubicBezTo>
                <a:cubicBezTo>
                  <a:pt x="393" y="458"/>
                  <a:pt x="390" y="458"/>
                  <a:pt x="387" y="458"/>
                </a:cubicBezTo>
                <a:cubicBezTo>
                  <a:pt x="373" y="458"/>
                  <a:pt x="212" y="458"/>
                  <a:pt x="200" y="458"/>
                </a:cubicBezTo>
                <a:cubicBezTo>
                  <a:pt x="199" y="458"/>
                  <a:pt x="198" y="458"/>
                  <a:pt x="198" y="458"/>
                </a:cubicBezTo>
                <a:cubicBezTo>
                  <a:pt x="197" y="458"/>
                  <a:pt x="196" y="458"/>
                  <a:pt x="195" y="457"/>
                </a:cubicBezTo>
                <a:cubicBezTo>
                  <a:pt x="193" y="457"/>
                  <a:pt x="192" y="456"/>
                  <a:pt x="191" y="455"/>
                </a:cubicBezTo>
                <a:cubicBezTo>
                  <a:pt x="190" y="454"/>
                  <a:pt x="190" y="453"/>
                  <a:pt x="189" y="452"/>
                </a:cubicBezTo>
                <a:cubicBezTo>
                  <a:pt x="189" y="451"/>
                  <a:pt x="189" y="450"/>
                  <a:pt x="190" y="449"/>
                </a:cubicBezTo>
                <a:cubicBezTo>
                  <a:pt x="191" y="448"/>
                  <a:pt x="191" y="448"/>
                  <a:pt x="191" y="448"/>
                </a:cubicBezTo>
                <a:cubicBezTo>
                  <a:pt x="191" y="448"/>
                  <a:pt x="191" y="448"/>
                  <a:pt x="191" y="448"/>
                </a:cubicBezTo>
                <a:cubicBezTo>
                  <a:pt x="192" y="444"/>
                  <a:pt x="194" y="440"/>
                  <a:pt x="196" y="437"/>
                </a:cubicBezTo>
                <a:cubicBezTo>
                  <a:pt x="196" y="436"/>
                  <a:pt x="197" y="435"/>
                  <a:pt x="197" y="435"/>
                </a:cubicBezTo>
                <a:cubicBezTo>
                  <a:pt x="198" y="432"/>
                  <a:pt x="198" y="432"/>
                  <a:pt x="198" y="432"/>
                </a:cubicBezTo>
                <a:cubicBezTo>
                  <a:pt x="199" y="431"/>
                  <a:pt x="200" y="430"/>
                  <a:pt x="201" y="428"/>
                </a:cubicBezTo>
                <a:cubicBezTo>
                  <a:pt x="201" y="428"/>
                  <a:pt x="202" y="428"/>
                  <a:pt x="202" y="428"/>
                </a:cubicBezTo>
                <a:cubicBezTo>
                  <a:pt x="202" y="428"/>
                  <a:pt x="202" y="428"/>
                  <a:pt x="203" y="428"/>
                </a:cubicBezTo>
                <a:cubicBezTo>
                  <a:pt x="203" y="427"/>
                  <a:pt x="203" y="427"/>
                  <a:pt x="203" y="427"/>
                </a:cubicBezTo>
                <a:cubicBezTo>
                  <a:pt x="203" y="427"/>
                  <a:pt x="203" y="427"/>
                  <a:pt x="203" y="427"/>
                </a:cubicBezTo>
                <a:cubicBezTo>
                  <a:pt x="204" y="427"/>
                  <a:pt x="204" y="427"/>
                  <a:pt x="204" y="427"/>
                </a:cubicBezTo>
                <a:cubicBezTo>
                  <a:pt x="204" y="426"/>
                  <a:pt x="205" y="426"/>
                  <a:pt x="205" y="426"/>
                </a:cubicBezTo>
                <a:cubicBezTo>
                  <a:pt x="205" y="426"/>
                  <a:pt x="206" y="426"/>
                  <a:pt x="206" y="425"/>
                </a:cubicBezTo>
                <a:cubicBezTo>
                  <a:pt x="206" y="425"/>
                  <a:pt x="207" y="425"/>
                  <a:pt x="207" y="425"/>
                </a:cubicBezTo>
                <a:cubicBezTo>
                  <a:pt x="208" y="425"/>
                  <a:pt x="208" y="425"/>
                  <a:pt x="209" y="424"/>
                </a:cubicBezTo>
                <a:cubicBezTo>
                  <a:pt x="209" y="424"/>
                  <a:pt x="210" y="424"/>
                  <a:pt x="210" y="424"/>
                </a:cubicBezTo>
                <a:cubicBezTo>
                  <a:pt x="210" y="424"/>
                  <a:pt x="210" y="424"/>
                  <a:pt x="210" y="424"/>
                </a:cubicBezTo>
                <a:cubicBezTo>
                  <a:pt x="212" y="423"/>
                  <a:pt x="214" y="423"/>
                  <a:pt x="216" y="423"/>
                </a:cubicBezTo>
                <a:cubicBezTo>
                  <a:pt x="216" y="423"/>
                  <a:pt x="385" y="423"/>
                  <a:pt x="392" y="423"/>
                </a:cubicBezTo>
                <a:cubicBezTo>
                  <a:pt x="393" y="423"/>
                  <a:pt x="395" y="423"/>
                  <a:pt x="397" y="423"/>
                </a:cubicBezTo>
                <a:cubicBezTo>
                  <a:pt x="398" y="423"/>
                  <a:pt x="399" y="423"/>
                  <a:pt x="400" y="423"/>
                </a:cubicBezTo>
                <a:cubicBezTo>
                  <a:pt x="400" y="423"/>
                  <a:pt x="400" y="423"/>
                  <a:pt x="400" y="423"/>
                </a:cubicBezTo>
                <a:cubicBezTo>
                  <a:pt x="401" y="423"/>
                  <a:pt x="402" y="423"/>
                  <a:pt x="402" y="423"/>
                </a:cubicBezTo>
                <a:cubicBezTo>
                  <a:pt x="403" y="423"/>
                  <a:pt x="403" y="423"/>
                  <a:pt x="403" y="423"/>
                </a:cubicBezTo>
                <a:cubicBezTo>
                  <a:pt x="403" y="423"/>
                  <a:pt x="403" y="423"/>
                  <a:pt x="403" y="423"/>
                </a:cubicBezTo>
                <a:cubicBezTo>
                  <a:pt x="404" y="424"/>
                  <a:pt x="404" y="424"/>
                  <a:pt x="405" y="424"/>
                </a:cubicBezTo>
                <a:cubicBezTo>
                  <a:pt x="405" y="424"/>
                  <a:pt x="405" y="424"/>
                  <a:pt x="405" y="424"/>
                </a:cubicBezTo>
                <a:cubicBezTo>
                  <a:pt x="406" y="425"/>
                  <a:pt x="406" y="425"/>
                  <a:pt x="407" y="425"/>
                </a:cubicBezTo>
                <a:cubicBezTo>
                  <a:pt x="407" y="425"/>
                  <a:pt x="407" y="425"/>
                  <a:pt x="407" y="425"/>
                </a:cubicBezTo>
                <a:cubicBezTo>
                  <a:pt x="407" y="425"/>
                  <a:pt x="407" y="425"/>
                  <a:pt x="407" y="425"/>
                </a:cubicBezTo>
                <a:cubicBezTo>
                  <a:pt x="408" y="426"/>
                  <a:pt x="408" y="426"/>
                  <a:pt x="408" y="426"/>
                </a:cubicBezTo>
                <a:cubicBezTo>
                  <a:pt x="409" y="427"/>
                  <a:pt x="409" y="427"/>
                  <a:pt x="410" y="428"/>
                </a:cubicBezTo>
                <a:cubicBezTo>
                  <a:pt x="411" y="429"/>
                  <a:pt x="411" y="430"/>
                  <a:pt x="411" y="431"/>
                </a:cubicBezTo>
                <a:cubicBezTo>
                  <a:pt x="411" y="432"/>
                  <a:pt x="411" y="432"/>
                  <a:pt x="411" y="432"/>
                </a:cubicBezTo>
                <a:cubicBezTo>
                  <a:pt x="411" y="432"/>
                  <a:pt x="411" y="432"/>
                  <a:pt x="411" y="432"/>
                </a:cubicBezTo>
                <a:cubicBezTo>
                  <a:pt x="411" y="436"/>
                  <a:pt x="411" y="441"/>
                  <a:pt x="411" y="445"/>
                </a:cubicBezTo>
                <a:cubicBezTo>
                  <a:pt x="411" y="446"/>
                  <a:pt x="411" y="447"/>
                  <a:pt x="411" y="448"/>
                </a:cubicBezTo>
                <a:close/>
                <a:moveTo>
                  <a:pt x="434" y="366"/>
                </a:moveTo>
                <a:cubicBezTo>
                  <a:pt x="434" y="366"/>
                  <a:pt x="434" y="366"/>
                  <a:pt x="434" y="366"/>
                </a:cubicBezTo>
                <a:cubicBezTo>
                  <a:pt x="434" y="366"/>
                  <a:pt x="434" y="366"/>
                  <a:pt x="434" y="365"/>
                </a:cubicBezTo>
                <a:cubicBezTo>
                  <a:pt x="433" y="365"/>
                  <a:pt x="433" y="364"/>
                  <a:pt x="432" y="363"/>
                </a:cubicBezTo>
                <a:cubicBezTo>
                  <a:pt x="432" y="362"/>
                  <a:pt x="432" y="362"/>
                  <a:pt x="432" y="362"/>
                </a:cubicBezTo>
                <a:cubicBezTo>
                  <a:pt x="432" y="362"/>
                  <a:pt x="432" y="361"/>
                  <a:pt x="432" y="360"/>
                </a:cubicBezTo>
                <a:cubicBezTo>
                  <a:pt x="432" y="360"/>
                  <a:pt x="432" y="360"/>
                  <a:pt x="432" y="360"/>
                </a:cubicBezTo>
                <a:cubicBezTo>
                  <a:pt x="432" y="358"/>
                  <a:pt x="432" y="355"/>
                  <a:pt x="432" y="353"/>
                </a:cubicBezTo>
                <a:cubicBezTo>
                  <a:pt x="432" y="352"/>
                  <a:pt x="432" y="352"/>
                  <a:pt x="432" y="352"/>
                </a:cubicBezTo>
                <a:cubicBezTo>
                  <a:pt x="432" y="351"/>
                  <a:pt x="432" y="350"/>
                  <a:pt x="432" y="350"/>
                </a:cubicBezTo>
                <a:cubicBezTo>
                  <a:pt x="433" y="349"/>
                  <a:pt x="434" y="349"/>
                  <a:pt x="435" y="348"/>
                </a:cubicBezTo>
                <a:cubicBezTo>
                  <a:pt x="436" y="348"/>
                  <a:pt x="437" y="347"/>
                  <a:pt x="438" y="347"/>
                </a:cubicBezTo>
                <a:cubicBezTo>
                  <a:pt x="438" y="347"/>
                  <a:pt x="438" y="347"/>
                  <a:pt x="438" y="347"/>
                </a:cubicBezTo>
                <a:cubicBezTo>
                  <a:pt x="438" y="347"/>
                  <a:pt x="438" y="347"/>
                  <a:pt x="438" y="347"/>
                </a:cubicBezTo>
                <a:cubicBezTo>
                  <a:pt x="439" y="347"/>
                  <a:pt x="439" y="347"/>
                  <a:pt x="440" y="347"/>
                </a:cubicBezTo>
                <a:cubicBezTo>
                  <a:pt x="440" y="347"/>
                  <a:pt x="440" y="347"/>
                  <a:pt x="441" y="347"/>
                </a:cubicBezTo>
                <a:cubicBezTo>
                  <a:pt x="443" y="346"/>
                  <a:pt x="445" y="346"/>
                  <a:pt x="447" y="346"/>
                </a:cubicBezTo>
                <a:cubicBezTo>
                  <a:pt x="463" y="346"/>
                  <a:pt x="463" y="346"/>
                  <a:pt x="463" y="346"/>
                </a:cubicBezTo>
                <a:cubicBezTo>
                  <a:pt x="464" y="346"/>
                  <a:pt x="465" y="346"/>
                  <a:pt x="465" y="347"/>
                </a:cubicBezTo>
                <a:cubicBezTo>
                  <a:pt x="469" y="347"/>
                  <a:pt x="474" y="348"/>
                  <a:pt x="475" y="352"/>
                </a:cubicBezTo>
                <a:cubicBezTo>
                  <a:pt x="476" y="355"/>
                  <a:pt x="476" y="359"/>
                  <a:pt x="477" y="362"/>
                </a:cubicBezTo>
                <a:cubicBezTo>
                  <a:pt x="477" y="363"/>
                  <a:pt x="477" y="363"/>
                  <a:pt x="477" y="363"/>
                </a:cubicBezTo>
                <a:cubicBezTo>
                  <a:pt x="477" y="364"/>
                  <a:pt x="477" y="364"/>
                  <a:pt x="477" y="365"/>
                </a:cubicBezTo>
                <a:cubicBezTo>
                  <a:pt x="477" y="365"/>
                  <a:pt x="477" y="365"/>
                  <a:pt x="477" y="365"/>
                </a:cubicBezTo>
                <a:cubicBezTo>
                  <a:pt x="477" y="365"/>
                  <a:pt x="477" y="365"/>
                  <a:pt x="477" y="365"/>
                </a:cubicBezTo>
                <a:cubicBezTo>
                  <a:pt x="477" y="365"/>
                  <a:pt x="477" y="365"/>
                  <a:pt x="477" y="365"/>
                </a:cubicBezTo>
                <a:cubicBezTo>
                  <a:pt x="476" y="367"/>
                  <a:pt x="474" y="368"/>
                  <a:pt x="472" y="369"/>
                </a:cubicBezTo>
                <a:cubicBezTo>
                  <a:pt x="471" y="369"/>
                  <a:pt x="471" y="369"/>
                  <a:pt x="471" y="369"/>
                </a:cubicBezTo>
                <a:cubicBezTo>
                  <a:pt x="471" y="369"/>
                  <a:pt x="471" y="369"/>
                  <a:pt x="470" y="369"/>
                </a:cubicBezTo>
                <a:cubicBezTo>
                  <a:pt x="470" y="369"/>
                  <a:pt x="470" y="369"/>
                  <a:pt x="470" y="369"/>
                </a:cubicBezTo>
                <a:cubicBezTo>
                  <a:pt x="469" y="369"/>
                  <a:pt x="469" y="369"/>
                  <a:pt x="469" y="369"/>
                </a:cubicBezTo>
                <a:cubicBezTo>
                  <a:pt x="463" y="370"/>
                  <a:pt x="457" y="369"/>
                  <a:pt x="455" y="369"/>
                </a:cubicBezTo>
                <a:cubicBezTo>
                  <a:pt x="445" y="369"/>
                  <a:pt x="445" y="369"/>
                  <a:pt x="445" y="369"/>
                </a:cubicBezTo>
                <a:cubicBezTo>
                  <a:pt x="444" y="369"/>
                  <a:pt x="443" y="369"/>
                  <a:pt x="442" y="369"/>
                </a:cubicBezTo>
                <a:cubicBezTo>
                  <a:pt x="442" y="369"/>
                  <a:pt x="441" y="369"/>
                  <a:pt x="441" y="369"/>
                </a:cubicBezTo>
                <a:cubicBezTo>
                  <a:pt x="440" y="369"/>
                  <a:pt x="440" y="369"/>
                  <a:pt x="440" y="369"/>
                </a:cubicBezTo>
                <a:cubicBezTo>
                  <a:pt x="440" y="369"/>
                  <a:pt x="440" y="369"/>
                  <a:pt x="440" y="369"/>
                </a:cubicBezTo>
                <a:cubicBezTo>
                  <a:pt x="439" y="369"/>
                  <a:pt x="439" y="369"/>
                  <a:pt x="438" y="368"/>
                </a:cubicBezTo>
                <a:cubicBezTo>
                  <a:pt x="438" y="368"/>
                  <a:pt x="438" y="368"/>
                  <a:pt x="438" y="368"/>
                </a:cubicBezTo>
                <a:cubicBezTo>
                  <a:pt x="437" y="368"/>
                  <a:pt x="437" y="368"/>
                  <a:pt x="436" y="367"/>
                </a:cubicBezTo>
                <a:cubicBezTo>
                  <a:pt x="436" y="367"/>
                  <a:pt x="435" y="367"/>
                  <a:pt x="434" y="366"/>
                </a:cubicBezTo>
                <a:cubicBezTo>
                  <a:pt x="434" y="366"/>
                  <a:pt x="434" y="366"/>
                  <a:pt x="434" y="366"/>
                </a:cubicBezTo>
                <a:close/>
                <a:moveTo>
                  <a:pt x="437" y="404"/>
                </a:moveTo>
                <a:cubicBezTo>
                  <a:pt x="436" y="403"/>
                  <a:pt x="436" y="402"/>
                  <a:pt x="435" y="402"/>
                </a:cubicBezTo>
                <a:cubicBezTo>
                  <a:pt x="435" y="400"/>
                  <a:pt x="435" y="400"/>
                  <a:pt x="435" y="400"/>
                </a:cubicBezTo>
                <a:cubicBezTo>
                  <a:pt x="435" y="400"/>
                  <a:pt x="435" y="400"/>
                  <a:pt x="435" y="400"/>
                </a:cubicBezTo>
                <a:cubicBezTo>
                  <a:pt x="435" y="396"/>
                  <a:pt x="435" y="392"/>
                  <a:pt x="434" y="388"/>
                </a:cubicBezTo>
                <a:cubicBezTo>
                  <a:pt x="434" y="388"/>
                  <a:pt x="434" y="388"/>
                  <a:pt x="434" y="388"/>
                </a:cubicBezTo>
                <a:cubicBezTo>
                  <a:pt x="434" y="388"/>
                  <a:pt x="434" y="388"/>
                  <a:pt x="434" y="388"/>
                </a:cubicBezTo>
                <a:cubicBezTo>
                  <a:pt x="434" y="388"/>
                  <a:pt x="434" y="388"/>
                  <a:pt x="434" y="387"/>
                </a:cubicBezTo>
                <a:cubicBezTo>
                  <a:pt x="435" y="379"/>
                  <a:pt x="453" y="381"/>
                  <a:pt x="458" y="381"/>
                </a:cubicBezTo>
                <a:cubicBezTo>
                  <a:pt x="465" y="381"/>
                  <a:pt x="477" y="380"/>
                  <a:pt x="481" y="386"/>
                </a:cubicBezTo>
                <a:cubicBezTo>
                  <a:pt x="481" y="387"/>
                  <a:pt x="482" y="387"/>
                  <a:pt x="482" y="388"/>
                </a:cubicBezTo>
                <a:cubicBezTo>
                  <a:pt x="482" y="389"/>
                  <a:pt x="482" y="389"/>
                  <a:pt x="482" y="389"/>
                </a:cubicBezTo>
                <a:cubicBezTo>
                  <a:pt x="482" y="389"/>
                  <a:pt x="482" y="389"/>
                  <a:pt x="482" y="389"/>
                </a:cubicBezTo>
                <a:cubicBezTo>
                  <a:pt x="483" y="391"/>
                  <a:pt x="483" y="392"/>
                  <a:pt x="484" y="395"/>
                </a:cubicBezTo>
                <a:cubicBezTo>
                  <a:pt x="485" y="401"/>
                  <a:pt x="485" y="401"/>
                  <a:pt x="485" y="401"/>
                </a:cubicBezTo>
                <a:cubicBezTo>
                  <a:pt x="485" y="402"/>
                  <a:pt x="485" y="403"/>
                  <a:pt x="484" y="404"/>
                </a:cubicBezTo>
                <a:cubicBezTo>
                  <a:pt x="484" y="405"/>
                  <a:pt x="484" y="405"/>
                  <a:pt x="483" y="406"/>
                </a:cubicBezTo>
                <a:cubicBezTo>
                  <a:pt x="483" y="406"/>
                  <a:pt x="483" y="406"/>
                  <a:pt x="482" y="407"/>
                </a:cubicBezTo>
                <a:cubicBezTo>
                  <a:pt x="482" y="407"/>
                  <a:pt x="482" y="407"/>
                  <a:pt x="482" y="407"/>
                </a:cubicBezTo>
                <a:cubicBezTo>
                  <a:pt x="482" y="407"/>
                  <a:pt x="482" y="407"/>
                  <a:pt x="482" y="407"/>
                </a:cubicBezTo>
                <a:cubicBezTo>
                  <a:pt x="481" y="407"/>
                  <a:pt x="481" y="407"/>
                  <a:pt x="481" y="407"/>
                </a:cubicBezTo>
                <a:cubicBezTo>
                  <a:pt x="480" y="408"/>
                  <a:pt x="480" y="408"/>
                  <a:pt x="480" y="408"/>
                </a:cubicBezTo>
                <a:cubicBezTo>
                  <a:pt x="479" y="408"/>
                  <a:pt x="479" y="408"/>
                  <a:pt x="479" y="408"/>
                </a:cubicBezTo>
                <a:cubicBezTo>
                  <a:pt x="479" y="408"/>
                  <a:pt x="479" y="408"/>
                  <a:pt x="478" y="408"/>
                </a:cubicBezTo>
                <a:cubicBezTo>
                  <a:pt x="478" y="408"/>
                  <a:pt x="478" y="409"/>
                  <a:pt x="477" y="409"/>
                </a:cubicBezTo>
                <a:cubicBezTo>
                  <a:pt x="477" y="409"/>
                  <a:pt x="477" y="409"/>
                  <a:pt x="477" y="409"/>
                </a:cubicBezTo>
                <a:cubicBezTo>
                  <a:pt x="477" y="409"/>
                  <a:pt x="476" y="409"/>
                  <a:pt x="475" y="409"/>
                </a:cubicBezTo>
                <a:cubicBezTo>
                  <a:pt x="474" y="409"/>
                  <a:pt x="474" y="409"/>
                  <a:pt x="473" y="409"/>
                </a:cubicBezTo>
                <a:cubicBezTo>
                  <a:pt x="473" y="409"/>
                  <a:pt x="473" y="409"/>
                  <a:pt x="473" y="409"/>
                </a:cubicBezTo>
                <a:cubicBezTo>
                  <a:pt x="473" y="409"/>
                  <a:pt x="473" y="409"/>
                  <a:pt x="473" y="409"/>
                </a:cubicBezTo>
                <a:cubicBezTo>
                  <a:pt x="473" y="409"/>
                  <a:pt x="473" y="409"/>
                  <a:pt x="473" y="409"/>
                </a:cubicBezTo>
                <a:cubicBezTo>
                  <a:pt x="465" y="409"/>
                  <a:pt x="457" y="409"/>
                  <a:pt x="449" y="409"/>
                </a:cubicBezTo>
                <a:cubicBezTo>
                  <a:pt x="448" y="409"/>
                  <a:pt x="447" y="409"/>
                  <a:pt x="447" y="409"/>
                </a:cubicBezTo>
                <a:cubicBezTo>
                  <a:pt x="446" y="409"/>
                  <a:pt x="446" y="409"/>
                  <a:pt x="446" y="409"/>
                </a:cubicBezTo>
                <a:cubicBezTo>
                  <a:pt x="445" y="409"/>
                  <a:pt x="445" y="409"/>
                  <a:pt x="444" y="409"/>
                </a:cubicBezTo>
                <a:cubicBezTo>
                  <a:pt x="444" y="409"/>
                  <a:pt x="444" y="409"/>
                  <a:pt x="444" y="409"/>
                </a:cubicBezTo>
                <a:cubicBezTo>
                  <a:pt x="444" y="408"/>
                  <a:pt x="444" y="408"/>
                  <a:pt x="444" y="408"/>
                </a:cubicBezTo>
                <a:cubicBezTo>
                  <a:pt x="443" y="408"/>
                  <a:pt x="442" y="408"/>
                  <a:pt x="442" y="408"/>
                </a:cubicBezTo>
                <a:cubicBezTo>
                  <a:pt x="441" y="408"/>
                  <a:pt x="441" y="407"/>
                  <a:pt x="441" y="407"/>
                </a:cubicBezTo>
                <a:cubicBezTo>
                  <a:pt x="441" y="407"/>
                  <a:pt x="440" y="407"/>
                  <a:pt x="440" y="407"/>
                </a:cubicBezTo>
                <a:cubicBezTo>
                  <a:pt x="440" y="407"/>
                  <a:pt x="440" y="407"/>
                  <a:pt x="440" y="407"/>
                </a:cubicBezTo>
                <a:cubicBezTo>
                  <a:pt x="439" y="406"/>
                  <a:pt x="437" y="405"/>
                  <a:pt x="437" y="404"/>
                </a:cubicBezTo>
                <a:close/>
                <a:moveTo>
                  <a:pt x="494" y="451"/>
                </a:moveTo>
                <a:cubicBezTo>
                  <a:pt x="493" y="453"/>
                  <a:pt x="492" y="453"/>
                  <a:pt x="491" y="454"/>
                </a:cubicBezTo>
                <a:cubicBezTo>
                  <a:pt x="490" y="455"/>
                  <a:pt x="489" y="456"/>
                  <a:pt x="487" y="456"/>
                </a:cubicBezTo>
                <a:cubicBezTo>
                  <a:pt x="485" y="457"/>
                  <a:pt x="484" y="457"/>
                  <a:pt x="481" y="457"/>
                </a:cubicBezTo>
                <a:cubicBezTo>
                  <a:pt x="476" y="457"/>
                  <a:pt x="476" y="457"/>
                  <a:pt x="476" y="457"/>
                </a:cubicBezTo>
                <a:cubicBezTo>
                  <a:pt x="476" y="457"/>
                  <a:pt x="476" y="457"/>
                  <a:pt x="476" y="457"/>
                </a:cubicBezTo>
                <a:cubicBezTo>
                  <a:pt x="469" y="457"/>
                  <a:pt x="462" y="457"/>
                  <a:pt x="454" y="457"/>
                </a:cubicBezTo>
                <a:cubicBezTo>
                  <a:pt x="453" y="457"/>
                  <a:pt x="453" y="457"/>
                  <a:pt x="452" y="457"/>
                </a:cubicBezTo>
                <a:cubicBezTo>
                  <a:pt x="451" y="457"/>
                  <a:pt x="451" y="457"/>
                  <a:pt x="451" y="457"/>
                </a:cubicBezTo>
                <a:cubicBezTo>
                  <a:pt x="450" y="457"/>
                  <a:pt x="450" y="457"/>
                  <a:pt x="449" y="457"/>
                </a:cubicBezTo>
                <a:cubicBezTo>
                  <a:pt x="449" y="457"/>
                  <a:pt x="449" y="457"/>
                  <a:pt x="448" y="457"/>
                </a:cubicBezTo>
                <a:cubicBezTo>
                  <a:pt x="448" y="457"/>
                  <a:pt x="448" y="457"/>
                  <a:pt x="448" y="457"/>
                </a:cubicBezTo>
                <a:cubicBezTo>
                  <a:pt x="445" y="456"/>
                  <a:pt x="442" y="454"/>
                  <a:pt x="440" y="451"/>
                </a:cubicBezTo>
                <a:cubicBezTo>
                  <a:pt x="440" y="451"/>
                  <a:pt x="440" y="451"/>
                  <a:pt x="440" y="451"/>
                </a:cubicBezTo>
                <a:cubicBezTo>
                  <a:pt x="440" y="451"/>
                  <a:pt x="440" y="451"/>
                  <a:pt x="440" y="451"/>
                </a:cubicBezTo>
                <a:cubicBezTo>
                  <a:pt x="440" y="451"/>
                  <a:pt x="440" y="451"/>
                  <a:pt x="440" y="450"/>
                </a:cubicBezTo>
                <a:cubicBezTo>
                  <a:pt x="439" y="450"/>
                  <a:pt x="439" y="449"/>
                  <a:pt x="439" y="449"/>
                </a:cubicBezTo>
                <a:cubicBezTo>
                  <a:pt x="439" y="449"/>
                  <a:pt x="439" y="449"/>
                  <a:pt x="439" y="448"/>
                </a:cubicBezTo>
                <a:cubicBezTo>
                  <a:pt x="439" y="448"/>
                  <a:pt x="439" y="448"/>
                  <a:pt x="439" y="448"/>
                </a:cubicBezTo>
                <a:cubicBezTo>
                  <a:pt x="439" y="447"/>
                  <a:pt x="439" y="447"/>
                  <a:pt x="439" y="447"/>
                </a:cubicBezTo>
                <a:cubicBezTo>
                  <a:pt x="439" y="447"/>
                  <a:pt x="439" y="447"/>
                  <a:pt x="439" y="447"/>
                </a:cubicBezTo>
                <a:cubicBezTo>
                  <a:pt x="439" y="444"/>
                  <a:pt x="438" y="439"/>
                  <a:pt x="438" y="435"/>
                </a:cubicBezTo>
                <a:cubicBezTo>
                  <a:pt x="438" y="435"/>
                  <a:pt x="438" y="434"/>
                  <a:pt x="438" y="433"/>
                </a:cubicBezTo>
                <a:cubicBezTo>
                  <a:pt x="438" y="431"/>
                  <a:pt x="438" y="431"/>
                  <a:pt x="438" y="431"/>
                </a:cubicBezTo>
                <a:cubicBezTo>
                  <a:pt x="438" y="431"/>
                  <a:pt x="438" y="431"/>
                  <a:pt x="438" y="431"/>
                </a:cubicBezTo>
                <a:cubicBezTo>
                  <a:pt x="438" y="430"/>
                  <a:pt x="438" y="430"/>
                  <a:pt x="438" y="430"/>
                </a:cubicBezTo>
                <a:cubicBezTo>
                  <a:pt x="438" y="430"/>
                  <a:pt x="438" y="429"/>
                  <a:pt x="438" y="429"/>
                </a:cubicBezTo>
                <a:cubicBezTo>
                  <a:pt x="438" y="429"/>
                  <a:pt x="438" y="429"/>
                  <a:pt x="438" y="428"/>
                </a:cubicBezTo>
                <a:cubicBezTo>
                  <a:pt x="439" y="428"/>
                  <a:pt x="439" y="428"/>
                  <a:pt x="439" y="428"/>
                </a:cubicBezTo>
                <a:cubicBezTo>
                  <a:pt x="439" y="428"/>
                  <a:pt x="439" y="428"/>
                  <a:pt x="439" y="428"/>
                </a:cubicBezTo>
                <a:cubicBezTo>
                  <a:pt x="439" y="427"/>
                  <a:pt x="439" y="427"/>
                  <a:pt x="439" y="427"/>
                </a:cubicBezTo>
                <a:cubicBezTo>
                  <a:pt x="440" y="426"/>
                  <a:pt x="440" y="426"/>
                  <a:pt x="440" y="426"/>
                </a:cubicBezTo>
                <a:cubicBezTo>
                  <a:pt x="440" y="426"/>
                  <a:pt x="441" y="426"/>
                  <a:pt x="441" y="425"/>
                </a:cubicBezTo>
                <a:cubicBezTo>
                  <a:pt x="441" y="425"/>
                  <a:pt x="441" y="425"/>
                  <a:pt x="441" y="425"/>
                </a:cubicBezTo>
                <a:cubicBezTo>
                  <a:pt x="441" y="425"/>
                  <a:pt x="441" y="425"/>
                  <a:pt x="441" y="425"/>
                </a:cubicBezTo>
                <a:cubicBezTo>
                  <a:pt x="442" y="425"/>
                  <a:pt x="442" y="425"/>
                  <a:pt x="443" y="424"/>
                </a:cubicBezTo>
                <a:cubicBezTo>
                  <a:pt x="443" y="424"/>
                  <a:pt x="443" y="424"/>
                  <a:pt x="443" y="424"/>
                </a:cubicBezTo>
                <a:cubicBezTo>
                  <a:pt x="444" y="424"/>
                  <a:pt x="444" y="424"/>
                  <a:pt x="444" y="424"/>
                </a:cubicBezTo>
                <a:cubicBezTo>
                  <a:pt x="444" y="424"/>
                  <a:pt x="444" y="424"/>
                  <a:pt x="444" y="424"/>
                </a:cubicBezTo>
                <a:cubicBezTo>
                  <a:pt x="444" y="424"/>
                  <a:pt x="445" y="423"/>
                  <a:pt x="445" y="423"/>
                </a:cubicBezTo>
                <a:cubicBezTo>
                  <a:pt x="446" y="423"/>
                  <a:pt x="446" y="423"/>
                  <a:pt x="446" y="423"/>
                </a:cubicBezTo>
                <a:cubicBezTo>
                  <a:pt x="446" y="423"/>
                  <a:pt x="447" y="423"/>
                  <a:pt x="447" y="423"/>
                </a:cubicBezTo>
                <a:cubicBezTo>
                  <a:pt x="448" y="423"/>
                  <a:pt x="448" y="423"/>
                  <a:pt x="449" y="423"/>
                </a:cubicBezTo>
                <a:cubicBezTo>
                  <a:pt x="450" y="423"/>
                  <a:pt x="450" y="423"/>
                  <a:pt x="450" y="423"/>
                </a:cubicBezTo>
                <a:cubicBezTo>
                  <a:pt x="450" y="423"/>
                  <a:pt x="450" y="423"/>
                  <a:pt x="451" y="423"/>
                </a:cubicBezTo>
                <a:cubicBezTo>
                  <a:pt x="452" y="423"/>
                  <a:pt x="452" y="423"/>
                  <a:pt x="452" y="423"/>
                </a:cubicBezTo>
                <a:cubicBezTo>
                  <a:pt x="453" y="423"/>
                  <a:pt x="454" y="423"/>
                  <a:pt x="455" y="423"/>
                </a:cubicBezTo>
                <a:cubicBezTo>
                  <a:pt x="457" y="423"/>
                  <a:pt x="458" y="423"/>
                  <a:pt x="459" y="423"/>
                </a:cubicBezTo>
                <a:cubicBezTo>
                  <a:pt x="469" y="423"/>
                  <a:pt x="469" y="423"/>
                  <a:pt x="469" y="423"/>
                </a:cubicBezTo>
                <a:cubicBezTo>
                  <a:pt x="472" y="423"/>
                  <a:pt x="475" y="423"/>
                  <a:pt x="478" y="423"/>
                </a:cubicBezTo>
                <a:cubicBezTo>
                  <a:pt x="478" y="423"/>
                  <a:pt x="479" y="423"/>
                  <a:pt x="479" y="423"/>
                </a:cubicBezTo>
                <a:cubicBezTo>
                  <a:pt x="479" y="423"/>
                  <a:pt x="480" y="423"/>
                  <a:pt x="480" y="423"/>
                </a:cubicBezTo>
                <a:cubicBezTo>
                  <a:pt x="480" y="423"/>
                  <a:pt x="480" y="423"/>
                  <a:pt x="481" y="423"/>
                </a:cubicBezTo>
                <a:cubicBezTo>
                  <a:pt x="481" y="423"/>
                  <a:pt x="481" y="423"/>
                  <a:pt x="481" y="423"/>
                </a:cubicBezTo>
                <a:cubicBezTo>
                  <a:pt x="481" y="423"/>
                  <a:pt x="481" y="423"/>
                  <a:pt x="481" y="423"/>
                </a:cubicBezTo>
                <a:cubicBezTo>
                  <a:pt x="482" y="423"/>
                  <a:pt x="482" y="424"/>
                  <a:pt x="483" y="424"/>
                </a:cubicBezTo>
                <a:cubicBezTo>
                  <a:pt x="483" y="424"/>
                  <a:pt x="484" y="424"/>
                  <a:pt x="484" y="424"/>
                </a:cubicBezTo>
                <a:cubicBezTo>
                  <a:pt x="484" y="424"/>
                  <a:pt x="484" y="424"/>
                  <a:pt x="484" y="425"/>
                </a:cubicBezTo>
                <a:cubicBezTo>
                  <a:pt x="485" y="425"/>
                  <a:pt x="485" y="425"/>
                  <a:pt x="486" y="425"/>
                </a:cubicBezTo>
                <a:cubicBezTo>
                  <a:pt x="487" y="426"/>
                  <a:pt x="488" y="427"/>
                  <a:pt x="489" y="428"/>
                </a:cubicBezTo>
                <a:cubicBezTo>
                  <a:pt x="490" y="429"/>
                  <a:pt x="491" y="430"/>
                  <a:pt x="491" y="431"/>
                </a:cubicBezTo>
                <a:cubicBezTo>
                  <a:pt x="492" y="438"/>
                  <a:pt x="492" y="438"/>
                  <a:pt x="492" y="438"/>
                </a:cubicBezTo>
                <a:cubicBezTo>
                  <a:pt x="493" y="441"/>
                  <a:pt x="493" y="443"/>
                  <a:pt x="494" y="446"/>
                </a:cubicBezTo>
                <a:cubicBezTo>
                  <a:pt x="494" y="446"/>
                  <a:pt x="494" y="446"/>
                  <a:pt x="494" y="446"/>
                </a:cubicBezTo>
                <a:cubicBezTo>
                  <a:pt x="494" y="448"/>
                  <a:pt x="494" y="448"/>
                  <a:pt x="494" y="448"/>
                </a:cubicBezTo>
                <a:cubicBezTo>
                  <a:pt x="494" y="449"/>
                  <a:pt x="494" y="450"/>
                  <a:pt x="494" y="451"/>
                </a:cubicBezTo>
                <a:close/>
                <a:moveTo>
                  <a:pt x="508" y="369"/>
                </a:moveTo>
                <a:cubicBezTo>
                  <a:pt x="507" y="368"/>
                  <a:pt x="505" y="368"/>
                  <a:pt x="505" y="367"/>
                </a:cubicBezTo>
                <a:cubicBezTo>
                  <a:pt x="504" y="366"/>
                  <a:pt x="503" y="365"/>
                  <a:pt x="503" y="365"/>
                </a:cubicBezTo>
                <a:cubicBezTo>
                  <a:pt x="502" y="363"/>
                  <a:pt x="502" y="363"/>
                  <a:pt x="502" y="363"/>
                </a:cubicBezTo>
                <a:cubicBezTo>
                  <a:pt x="502" y="361"/>
                  <a:pt x="501" y="359"/>
                  <a:pt x="500" y="357"/>
                </a:cubicBezTo>
                <a:cubicBezTo>
                  <a:pt x="500" y="356"/>
                  <a:pt x="499" y="355"/>
                  <a:pt x="499" y="353"/>
                </a:cubicBezTo>
                <a:cubicBezTo>
                  <a:pt x="499" y="353"/>
                  <a:pt x="499" y="353"/>
                  <a:pt x="499" y="353"/>
                </a:cubicBezTo>
                <a:cubicBezTo>
                  <a:pt x="499" y="353"/>
                  <a:pt x="499" y="353"/>
                  <a:pt x="499" y="353"/>
                </a:cubicBezTo>
                <a:cubicBezTo>
                  <a:pt x="499" y="352"/>
                  <a:pt x="499" y="352"/>
                  <a:pt x="499" y="352"/>
                </a:cubicBezTo>
                <a:cubicBezTo>
                  <a:pt x="499" y="352"/>
                  <a:pt x="499" y="352"/>
                  <a:pt x="499" y="352"/>
                </a:cubicBezTo>
                <a:cubicBezTo>
                  <a:pt x="499" y="352"/>
                  <a:pt x="499" y="352"/>
                  <a:pt x="499" y="352"/>
                </a:cubicBezTo>
                <a:cubicBezTo>
                  <a:pt x="501" y="348"/>
                  <a:pt x="508" y="348"/>
                  <a:pt x="511" y="348"/>
                </a:cubicBezTo>
                <a:cubicBezTo>
                  <a:pt x="528" y="348"/>
                  <a:pt x="528" y="348"/>
                  <a:pt x="528" y="348"/>
                </a:cubicBezTo>
                <a:cubicBezTo>
                  <a:pt x="529" y="348"/>
                  <a:pt x="531" y="348"/>
                  <a:pt x="532" y="349"/>
                </a:cubicBezTo>
                <a:cubicBezTo>
                  <a:pt x="532" y="349"/>
                  <a:pt x="533" y="349"/>
                  <a:pt x="533" y="349"/>
                </a:cubicBezTo>
                <a:cubicBezTo>
                  <a:pt x="533" y="349"/>
                  <a:pt x="534" y="349"/>
                  <a:pt x="534" y="349"/>
                </a:cubicBezTo>
                <a:cubicBezTo>
                  <a:pt x="534" y="349"/>
                  <a:pt x="534" y="349"/>
                  <a:pt x="534" y="349"/>
                </a:cubicBezTo>
                <a:cubicBezTo>
                  <a:pt x="535" y="349"/>
                  <a:pt x="536" y="350"/>
                  <a:pt x="536" y="350"/>
                </a:cubicBezTo>
                <a:cubicBezTo>
                  <a:pt x="536" y="350"/>
                  <a:pt x="536" y="350"/>
                  <a:pt x="536" y="350"/>
                </a:cubicBezTo>
                <a:cubicBezTo>
                  <a:pt x="536" y="350"/>
                  <a:pt x="536" y="350"/>
                  <a:pt x="536" y="350"/>
                </a:cubicBezTo>
                <a:cubicBezTo>
                  <a:pt x="537" y="350"/>
                  <a:pt x="537" y="350"/>
                  <a:pt x="538" y="350"/>
                </a:cubicBezTo>
                <a:cubicBezTo>
                  <a:pt x="538" y="351"/>
                  <a:pt x="538" y="351"/>
                  <a:pt x="538" y="351"/>
                </a:cubicBezTo>
                <a:cubicBezTo>
                  <a:pt x="538" y="351"/>
                  <a:pt x="538" y="351"/>
                  <a:pt x="539" y="351"/>
                </a:cubicBezTo>
                <a:cubicBezTo>
                  <a:pt x="539" y="351"/>
                  <a:pt x="539" y="351"/>
                  <a:pt x="539" y="351"/>
                </a:cubicBezTo>
                <a:cubicBezTo>
                  <a:pt x="539" y="352"/>
                  <a:pt x="539" y="352"/>
                  <a:pt x="539" y="352"/>
                </a:cubicBezTo>
                <a:cubicBezTo>
                  <a:pt x="540" y="352"/>
                  <a:pt x="541" y="353"/>
                  <a:pt x="541" y="354"/>
                </a:cubicBezTo>
                <a:cubicBezTo>
                  <a:pt x="541" y="354"/>
                  <a:pt x="541" y="354"/>
                  <a:pt x="541" y="354"/>
                </a:cubicBezTo>
                <a:cubicBezTo>
                  <a:pt x="543" y="356"/>
                  <a:pt x="544" y="359"/>
                  <a:pt x="545" y="361"/>
                </a:cubicBezTo>
                <a:cubicBezTo>
                  <a:pt x="545" y="361"/>
                  <a:pt x="545" y="361"/>
                  <a:pt x="545" y="361"/>
                </a:cubicBezTo>
                <a:cubicBezTo>
                  <a:pt x="546" y="363"/>
                  <a:pt x="547" y="364"/>
                  <a:pt x="547" y="365"/>
                </a:cubicBezTo>
                <a:cubicBezTo>
                  <a:pt x="547" y="366"/>
                  <a:pt x="547" y="366"/>
                  <a:pt x="547" y="366"/>
                </a:cubicBezTo>
                <a:cubicBezTo>
                  <a:pt x="547" y="366"/>
                  <a:pt x="547" y="366"/>
                  <a:pt x="547" y="366"/>
                </a:cubicBezTo>
                <a:cubicBezTo>
                  <a:pt x="547" y="368"/>
                  <a:pt x="545" y="369"/>
                  <a:pt x="543" y="370"/>
                </a:cubicBezTo>
                <a:cubicBezTo>
                  <a:pt x="542" y="370"/>
                  <a:pt x="542" y="370"/>
                  <a:pt x="542" y="370"/>
                </a:cubicBezTo>
                <a:cubicBezTo>
                  <a:pt x="542" y="370"/>
                  <a:pt x="542" y="370"/>
                  <a:pt x="542" y="370"/>
                </a:cubicBezTo>
                <a:cubicBezTo>
                  <a:pt x="542" y="370"/>
                  <a:pt x="541" y="370"/>
                  <a:pt x="541" y="371"/>
                </a:cubicBezTo>
                <a:cubicBezTo>
                  <a:pt x="540" y="371"/>
                  <a:pt x="540" y="371"/>
                  <a:pt x="540" y="371"/>
                </a:cubicBezTo>
                <a:cubicBezTo>
                  <a:pt x="540" y="371"/>
                  <a:pt x="539" y="371"/>
                  <a:pt x="539" y="371"/>
                </a:cubicBezTo>
                <a:cubicBezTo>
                  <a:pt x="539" y="371"/>
                  <a:pt x="538" y="371"/>
                  <a:pt x="538" y="371"/>
                </a:cubicBezTo>
                <a:cubicBezTo>
                  <a:pt x="538" y="371"/>
                  <a:pt x="538" y="371"/>
                  <a:pt x="538" y="371"/>
                </a:cubicBezTo>
                <a:cubicBezTo>
                  <a:pt x="538" y="371"/>
                  <a:pt x="538" y="371"/>
                  <a:pt x="538" y="371"/>
                </a:cubicBezTo>
                <a:cubicBezTo>
                  <a:pt x="535" y="371"/>
                  <a:pt x="532" y="371"/>
                  <a:pt x="530" y="371"/>
                </a:cubicBezTo>
                <a:cubicBezTo>
                  <a:pt x="526" y="371"/>
                  <a:pt x="521" y="371"/>
                  <a:pt x="517" y="371"/>
                </a:cubicBezTo>
                <a:cubicBezTo>
                  <a:pt x="514" y="371"/>
                  <a:pt x="511" y="370"/>
                  <a:pt x="508" y="369"/>
                </a:cubicBezTo>
                <a:cubicBezTo>
                  <a:pt x="508" y="369"/>
                  <a:pt x="508" y="369"/>
                  <a:pt x="508" y="369"/>
                </a:cubicBezTo>
                <a:close/>
                <a:moveTo>
                  <a:pt x="519" y="405"/>
                </a:moveTo>
                <a:cubicBezTo>
                  <a:pt x="518" y="404"/>
                  <a:pt x="517" y="403"/>
                  <a:pt x="517" y="402"/>
                </a:cubicBezTo>
                <a:cubicBezTo>
                  <a:pt x="515" y="396"/>
                  <a:pt x="515" y="396"/>
                  <a:pt x="515" y="396"/>
                </a:cubicBezTo>
                <a:cubicBezTo>
                  <a:pt x="514" y="394"/>
                  <a:pt x="513" y="392"/>
                  <a:pt x="512" y="390"/>
                </a:cubicBezTo>
                <a:cubicBezTo>
                  <a:pt x="512" y="390"/>
                  <a:pt x="512" y="390"/>
                  <a:pt x="512" y="390"/>
                </a:cubicBezTo>
                <a:cubicBezTo>
                  <a:pt x="512" y="389"/>
                  <a:pt x="512" y="389"/>
                  <a:pt x="512" y="389"/>
                </a:cubicBezTo>
                <a:cubicBezTo>
                  <a:pt x="512" y="388"/>
                  <a:pt x="512" y="387"/>
                  <a:pt x="512" y="386"/>
                </a:cubicBezTo>
                <a:cubicBezTo>
                  <a:pt x="512" y="386"/>
                  <a:pt x="513" y="385"/>
                  <a:pt x="513" y="385"/>
                </a:cubicBezTo>
                <a:cubicBezTo>
                  <a:pt x="513" y="385"/>
                  <a:pt x="513" y="385"/>
                  <a:pt x="514" y="385"/>
                </a:cubicBezTo>
                <a:cubicBezTo>
                  <a:pt x="514" y="384"/>
                  <a:pt x="514" y="384"/>
                  <a:pt x="514" y="384"/>
                </a:cubicBezTo>
                <a:cubicBezTo>
                  <a:pt x="515" y="384"/>
                  <a:pt x="516" y="383"/>
                  <a:pt x="517" y="383"/>
                </a:cubicBezTo>
                <a:cubicBezTo>
                  <a:pt x="518" y="383"/>
                  <a:pt x="519" y="383"/>
                  <a:pt x="520" y="382"/>
                </a:cubicBezTo>
                <a:cubicBezTo>
                  <a:pt x="525" y="382"/>
                  <a:pt x="530" y="382"/>
                  <a:pt x="532" y="382"/>
                </a:cubicBezTo>
                <a:cubicBezTo>
                  <a:pt x="540" y="382"/>
                  <a:pt x="554" y="381"/>
                  <a:pt x="559" y="389"/>
                </a:cubicBezTo>
                <a:cubicBezTo>
                  <a:pt x="559" y="389"/>
                  <a:pt x="559" y="389"/>
                  <a:pt x="559" y="389"/>
                </a:cubicBezTo>
                <a:cubicBezTo>
                  <a:pt x="559" y="389"/>
                  <a:pt x="559" y="389"/>
                  <a:pt x="559" y="389"/>
                </a:cubicBezTo>
                <a:cubicBezTo>
                  <a:pt x="559" y="389"/>
                  <a:pt x="559" y="389"/>
                  <a:pt x="559" y="389"/>
                </a:cubicBezTo>
                <a:cubicBezTo>
                  <a:pt x="561" y="393"/>
                  <a:pt x="562" y="396"/>
                  <a:pt x="564" y="400"/>
                </a:cubicBezTo>
                <a:cubicBezTo>
                  <a:pt x="565" y="401"/>
                  <a:pt x="565" y="402"/>
                  <a:pt x="566" y="403"/>
                </a:cubicBezTo>
                <a:cubicBezTo>
                  <a:pt x="566" y="403"/>
                  <a:pt x="566" y="403"/>
                  <a:pt x="566" y="403"/>
                </a:cubicBezTo>
                <a:cubicBezTo>
                  <a:pt x="566" y="404"/>
                  <a:pt x="566" y="404"/>
                  <a:pt x="566" y="404"/>
                </a:cubicBezTo>
                <a:cubicBezTo>
                  <a:pt x="566" y="404"/>
                  <a:pt x="566" y="405"/>
                  <a:pt x="566" y="405"/>
                </a:cubicBezTo>
                <a:cubicBezTo>
                  <a:pt x="566" y="405"/>
                  <a:pt x="566" y="405"/>
                  <a:pt x="566" y="405"/>
                </a:cubicBezTo>
                <a:cubicBezTo>
                  <a:pt x="566" y="405"/>
                  <a:pt x="566" y="405"/>
                  <a:pt x="566" y="405"/>
                </a:cubicBezTo>
                <a:cubicBezTo>
                  <a:pt x="566" y="406"/>
                  <a:pt x="565" y="406"/>
                  <a:pt x="565" y="406"/>
                </a:cubicBezTo>
                <a:cubicBezTo>
                  <a:pt x="565" y="406"/>
                  <a:pt x="565" y="406"/>
                  <a:pt x="565" y="406"/>
                </a:cubicBezTo>
                <a:cubicBezTo>
                  <a:pt x="565" y="407"/>
                  <a:pt x="565" y="407"/>
                  <a:pt x="564" y="407"/>
                </a:cubicBezTo>
                <a:cubicBezTo>
                  <a:pt x="564" y="407"/>
                  <a:pt x="564" y="407"/>
                  <a:pt x="564" y="407"/>
                </a:cubicBezTo>
                <a:cubicBezTo>
                  <a:pt x="564" y="408"/>
                  <a:pt x="564" y="408"/>
                  <a:pt x="564" y="408"/>
                </a:cubicBezTo>
                <a:cubicBezTo>
                  <a:pt x="564" y="408"/>
                  <a:pt x="563" y="408"/>
                  <a:pt x="563" y="408"/>
                </a:cubicBezTo>
                <a:cubicBezTo>
                  <a:pt x="563" y="408"/>
                  <a:pt x="562" y="409"/>
                  <a:pt x="561" y="409"/>
                </a:cubicBezTo>
                <a:cubicBezTo>
                  <a:pt x="561" y="409"/>
                  <a:pt x="561" y="409"/>
                  <a:pt x="560" y="409"/>
                </a:cubicBezTo>
                <a:cubicBezTo>
                  <a:pt x="560" y="409"/>
                  <a:pt x="559" y="409"/>
                  <a:pt x="559" y="410"/>
                </a:cubicBezTo>
                <a:cubicBezTo>
                  <a:pt x="559" y="410"/>
                  <a:pt x="559" y="410"/>
                  <a:pt x="559" y="410"/>
                </a:cubicBezTo>
                <a:cubicBezTo>
                  <a:pt x="558" y="410"/>
                  <a:pt x="558" y="410"/>
                  <a:pt x="558" y="410"/>
                </a:cubicBezTo>
                <a:cubicBezTo>
                  <a:pt x="550" y="410"/>
                  <a:pt x="541" y="410"/>
                  <a:pt x="532" y="410"/>
                </a:cubicBezTo>
                <a:cubicBezTo>
                  <a:pt x="532" y="410"/>
                  <a:pt x="531" y="410"/>
                  <a:pt x="530" y="410"/>
                </a:cubicBezTo>
                <a:cubicBezTo>
                  <a:pt x="530" y="410"/>
                  <a:pt x="530" y="410"/>
                  <a:pt x="530" y="410"/>
                </a:cubicBezTo>
                <a:cubicBezTo>
                  <a:pt x="527" y="409"/>
                  <a:pt x="524" y="408"/>
                  <a:pt x="521" y="406"/>
                </a:cubicBezTo>
                <a:cubicBezTo>
                  <a:pt x="520" y="406"/>
                  <a:pt x="520" y="406"/>
                  <a:pt x="519" y="405"/>
                </a:cubicBezTo>
                <a:close/>
                <a:moveTo>
                  <a:pt x="589" y="451"/>
                </a:moveTo>
                <a:cubicBezTo>
                  <a:pt x="589" y="452"/>
                  <a:pt x="588" y="452"/>
                  <a:pt x="588" y="452"/>
                </a:cubicBezTo>
                <a:cubicBezTo>
                  <a:pt x="588" y="452"/>
                  <a:pt x="588" y="452"/>
                  <a:pt x="588" y="453"/>
                </a:cubicBezTo>
                <a:cubicBezTo>
                  <a:pt x="588" y="453"/>
                  <a:pt x="588" y="453"/>
                  <a:pt x="588" y="453"/>
                </a:cubicBezTo>
                <a:cubicBezTo>
                  <a:pt x="588" y="453"/>
                  <a:pt x="588" y="453"/>
                  <a:pt x="588" y="454"/>
                </a:cubicBezTo>
                <a:cubicBezTo>
                  <a:pt x="588" y="454"/>
                  <a:pt x="588" y="454"/>
                  <a:pt x="587" y="454"/>
                </a:cubicBezTo>
                <a:cubicBezTo>
                  <a:pt x="587" y="454"/>
                  <a:pt x="587" y="454"/>
                  <a:pt x="587" y="454"/>
                </a:cubicBezTo>
                <a:cubicBezTo>
                  <a:pt x="587" y="454"/>
                  <a:pt x="587" y="454"/>
                  <a:pt x="587" y="455"/>
                </a:cubicBezTo>
                <a:cubicBezTo>
                  <a:pt x="585" y="456"/>
                  <a:pt x="583" y="457"/>
                  <a:pt x="581" y="457"/>
                </a:cubicBezTo>
                <a:cubicBezTo>
                  <a:pt x="581" y="457"/>
                  <a:pt x="581" y="457"/>
                  <a:pt x="581" y="457"/>
                </a:cubicBezTo>
                <a:cubicBezTo>
                  <a:pt x="580" y="457"/>
                  <a:pt x="579" y="457"/>
                  <a:pt x="578" y="457"/>
                </a:cubicBezTo>
                <a:cubicBezTo>
                  <a:pt x="578" y="457"/>
                  <a:pt x="578" y="457"/>
                  <a:pt x="578" y="457"/>
                </a:cubicBezTo>
                <a:cubicBezTo>
                  <a:pt x="577" y="457"/>
                  <a:pt x="577" y="457"/>
                  <a:pt x="577" y="457"/>
                </a:cubicBezTo>
                <a:cubicBezTo>
                  <a:pt x="577" y="457"/>
                  <a:pt x="576" y="457"/>
                  <a:pt x="575" y="457"/>
                </a:cubicBezTo>
                <a:cubicBezTo>
                  <a:pt x="552" y="457"/>
                  <a:pt x="552" y="457"/>
                  <a:pt x="552" y="457"/>
                </a:cubicBezTo>
                <a:cubicBezTo>
                  <a:pt x="551" y="457"/>
                  <a:pt x="550" y="457"/>
                  <a:pt x="549" y="457"/>
                </a:cubicBezTo>
                <a:cubicBezTo>
                  <a:pt x="549" y="457"/>
                  <a:pt x="549" y="457"/>
                  <a:pt x="548" y="457"/>
                </a:cubicBezTo>
                <a:cubicBezTo>
                  <a:pt x="543" y="456"/>
                  <a:pt x="538" y="454"/>
                  <a:pt x="535" y="450"/>
                </a:cubicBezTo>
                <a:cubicBezTo>
                  <a:pt x="534" y="449"/>
                  <a:pt x="534" y="449"/>
                  <a:pt x="534" y="448"/>
                </a:cubicBezTo>
                <a:cubicBezTo>
                  <a:pt x="534" y="448"/>
                  <a:pt x="534" y="448"/>
                  <a:pt x="534" y="448"/>
                </a:cubicBezTo>
                <a:cubicBezTo>
                  <a:pt x="534" y="448"/>
                  <a:pt x="534" y="448"/>
                  <a:pt x="534" y="448"/>
                </a:cubicBezTo>
                <a:cubicBezTo>
                  <a:pt x="533" y="444"/>
                  <a:pt x="531" y="441"/>
                  <a:pt x="530" y="438"/>
                </a:cubicBezTo>
                <a:cubicBezTo>
                  <a:pt x="530" y="436"/>
                  <a:pt x="528" y="434"/>
                  <a:pt x="528" y="432"/>
                </a:cubicBezTo>
                <a:cubicBezTo>
                  <a:pt x="528" y="432"/>
                  <a:pt x="528" y="432"/>
                  <a:pt x="528" y="432"/>
                </a:cubicBezTo>
                <a:cubicBezTo>
                  <a:pt x="528" y="431"/>
                  <a:pt x="528" y="431"/>
                  <a:pt x="528" y="431"/>
                </a:cubicBezTo>
                <a:cubicBezTo>
                  <a:pt x="528" y="431"/>
                  <a:pt x="528" y="431"/>
                  <a:pt x="528" y="431"/>
                </a:cubicBezTo>
                <a:cubicBezTo>
                  <a:pt x="528" y="430"/>
                  <a:pt x="528" y="429"/>
                  <a:pt x="528" y="428"/>
                </a:cubicBezTo>
                <a:cubicBezTo>
                  <a:pt x="528" y="428"/>
                  <a:pt x="528" y="427"/>
                  <a:pt x="528" y="427"/>
                </a:cubicBezTo>
                <a:cubicBezTo>
                  <a:pt x="528" y="427"/>
                  <a:pt x="528" y="427"/>
                  <a:pt x="528" y="427"/>
                </a:cubicBezTo>
                <a:cubicBezTo>
                  <a:pt x="530" y="425"/>
                  <a:pt x="532" y="424"/>
                  <a:pt x="535" y="423"/>
                </a:cubicBezTo>
                <a:cubicBezTo>
                  <a:pt x="535" y="423"/>
                  <a:pt x="535" y="423"/>
                  <a:pt x="536" y="423"/>
                </a:cubicBezTo>
                <a:cubicBezTo>
                  <a:pt x="536" y="423"/>
                  <a:pt x="537" y="423"/>
                  <a:pt x="538" y="423"/>
                </a:cubicBezTo>
                <a:cubicBezTo>
                  <a:pt x="538" y="423"/>
                  <a:pt x="538" y="423"/>
                  <a:pt x="538" y="423"/>
                </a:cubicBezTo>
                <a:cubicBezTo>
                  <a:pt x="540" y="423"/>
                  <a:pt x="540" y="423"/>
                  <a:pt x="540" y="423"/>
                </a:cubicBezTo>
                <a:cubicBezTo>
                  <a:pt x="540" y="423"/>
                  <a:pt x="540" y="423"/>
                  <a:pt x="541" y="423"/>
                </a:cubicBezTo>
                <a:cubicBezTo>
                  <a:pt x="548" y="423"/>
                  <a:pt x="555" y="423"/>
                  <a:pt x="563" y="423"/>
                </a:cubicBezTo>
                <a:cubicBezTo>
                  <a:pt x="563" y="423"/>
                  <a:pt x="563" y="423"/>
                  <a:pt x="563" y="423"/>
                </a:cubicBezTo>
                <a:cubicBezTo>
                  <a:pt x="563" y="423"/>
                  <a:pt x="563" y="423"/>
                  <a:pt x="563" y="423"/>
                </a:cubicBezTo>
                <a:cubicBezTo>
                  <a:pt x="563" y="423"/>
                  <a:pt x="564" y="423"/>
                  <a:pt x="565" y="423"/>
                </a:cubicBezTo>
                <a:cubicBezTo>
                  <a:pt x="565" y="423"/>
                  <a:pt x="565" y="423"/>
                  <a:pt x="565" y="423"/>
                </a:cubicBezTo>
                <a:cubicBezTo>
                  <a:pt x="570" y="424"/>
                  <a:pt x="576" y="426"/>
                  <a:pt x="579" y="430"/>
                </a:cubicBezTo>
                <a:cubicBezTo>
                  <a:pt x="579" y="430"/>
                  <a:pt x="579" y="431"/>
                  <a:pt x="580" y="431"/>
                </a:cubicBezTo>
                <a:cubicBezTo>
                  <a:pt x="581" y="433"/>
                  <a:pt x="581" y="433"/>
                  <a:pt x="581" y="433"/>
                </a:cubicBezTo>
                <a:cubicBezTo>
                  <a:pt x="582" y="436"/>
                  <a:pt x="584" y="439"/>
                  <a:pt x="585" y="442"/>
                </a:cubicBezTo>
                <a:cubicBezTo>
                  <a:pt x="586" y="443"/>
                  <a:pt x="588" y="446"/>
                  <a:pt x="588" y="448"/>
                </a:cubicBezTo>
                <a:cubicBezTo>
                  <a:pt x="589" y="449"/>
                  <a:pt x="589" y="450"/>
                  <a:pt x="589" y="451"/>
                </a:cubicBezTo>
                <a:close/>
                <a:moveTo>
                  <a:pt x="594" y="406"/>
                </a:moveTo>
                <a:cubicBezTo>
                  <a:pt x="593" y="406"/>
                  <a:pt x="593" y="405"/>
                  <a:pt x="592" y="405"/>
                </a:cubicBezTo>
                <a:cubicBezTo>
                  <a:pt x="591" y="404"/>
                  <a:pt x="590" y="403"/>
                  <a:pt x="590" y="402"/>
                </a:cubicBezTo>
                <a:cubicBezTo>
                  <a:pt x="589" y="401"/>
                  <a:pt x="589" y="401"/>
                  <a:pt x="589" y="401"/>
                </a:cubicBezTo>
                <a:cubicBezTo>
                  <a:pt x="589" y="401"/>
                  <a:pt x="589" y="401"/>
                  <a:pt x="589" y="401"/>
                </a:cubicBezTo>
                <a:cubicBezTo>
                  <a:pt x="587" y="398"/>
                  <a:pt x="585" y="394"/>
                  <a:pt x="583" y="390"/>
                </a:cubicBezTo>
                <a:cubicBezTo>
                  <a:pt x="583" y="390"/>
                  <a:pt x="583" y="390"/>
                  <a:pt x="583" y="390"/>
                </a:cubicBezTo>
                <a:cubicBezTo>
                  <a:pt x="582" y="389"/>
                  <a:pt x="582" y="389"/>
                  <a:pt x="582" y="389"/>
                </a:cubicBezTo>
                <a:cubicBezTo>
                  <a:pt x="582" y="388"/>
                  <a:pt x="582" y="387"/>
                  <a:pt x="582" y="386"/>
                </a:cubicBezTo>
                <a:cubicBezTo>
                  <a:pt x="582" y="385"/>
                  <a:pt x="582" y="385"/>
                  <a:pt x="583" y="384"/>
                </a:cubicBezTo>
                <a:cubicBezTo>
                  <a:pt x="584" y="383"/>
                  <a:pt x="585" y="383"/>
                  <a:pt x="586" y="383"/>
                </a:cubicBezTo>
                <a:cubicBezTo>
                  <a:pt x="588" y="382"/>
                  <a:pt x="589" y="382"/>
                  <a:pt x="591" y="382"/>
                </a:cubicBezTo>
                <a:cubicBezTo>
                  <a:pt x="591" y="382"/>
                  <a:pt x="591" y="382"/>
                  <a:pt x="591" y="382"/>
                </a:cubicBezTo>
                <a:cubicBezTo>
                  <a:pt x="594" y="382"/>
                  <a:pt x="598" y="382"/>
                  <a:pt x="600" y="382"/>
                </a:cubicBezTo>
                <a:cubicBezTo>
                  <a:pt x="609" y="382"/>
                  <a:pt x="623" y="380"/>
                  <a:pt x="629" y="389"/>
                </a:cubicBezTo>
                <a:cubicBezTo>
                  <a:pt x="631" y="392"/>
                  <a:pt x="633" y="394"/>
                  <a:pt x="635" y="397"/>
                </a:cubicBezTo>
                <a:cubicBezTo>
                  <a:pt x="636" y="399"/>
                  <a:pt x="637" y="401"/>
                  <a:pt x="638" y="402"/>
                </a:cubicBezTo>
                <a:cubicBezTo>
                  <a:pt x="639" y="403"/>
                  <a:pt x="639" y="404"/>
                  <a:pt x="639" y="405"/>
                </a:cubicBezTo>
                <a:cubicBezTo>
                  <a:pt x="639" y="405"/>
                  <a:pt x="639" y="406"/>
                  <a:pt x="639" y="406"/>
                </a:cubicBezTo>
                <a:cubicBezTo>
                  <a:pt x="639" y="407"/>
                  <a:pt x="638" y="407"/>
                  <a:pt x="638" y="407"/>
                </a:cubicBezTo>
                <a:cubicBezTo>
                  <a:pt x="638" y="407"/>
                  <a:pt x="638" y="407"/>
                  <a:pt x="638" y="407"/>
                </a:cubicBezTo>
                <a:cubicBezTo>
                  <a:pt x="638" y="407"/>
                  <a:pt x="638" y="407"/>
                  <a:pt x="638" y="407"/>
                </a:cubicBezTo>
                <a:cubicBezTo>
                  <a:pt x="638" y="408"/>
                  <a:pt x="638" y="408"/>
                  <a:pt x="637" y="408"/>
                </a:cubicBezTo>
                <a:cubicBezTo>
                  <a:pt x="637" y="408"/>
                  <a:pt x="637" y="408"/>
                  <a:pt x="637" y="408"/>
                </a:cubicBezTo>
                <a:cubicBezTo>
                  <a:pt x="637" y="408"/>
                  <a:pt x="637" y="408"/>
                  <a:pt x="636" y="408"/>
                </a:cubicBezTo>
                <a:cubicBezTo>
                  <a:pt x="636" y="408"/>
                  <a:pt x="635" y="409"/>
                  <a:pt x="635" y="409"/>
                </a:cubicBezTo>
                <a:cubicBezTo>
                  <a:pt x="635" y="409"/>
                  <a:pt x="635" y="409"/>
                  <a:pt x="635" y="409"/>
                </a:cubicBezTo>
                <a:cubicBezTo>
                  <a:pt x="635" y="409"/>
                  <a:pt x="635" y="409"/>
                  <a:pt x="635" y="409"/>
                </a:cubicBezTo>
                <a:cubicBezTo>
                  <a:pt x="631" y="410"/>
                  <a:pt x="625" y="410"/>
                  <a:pt x="621" y="410"/>
                </a:cubicBezTo>
                <a:cubicBezTo>
                  <a:pt x="616" y="410"/>
                  <a:pt x="611" y="410"/>
                  <a:pt x="607" y="410"/>
                </a:cubicBezTo>
                <a:cubicBezTo>
                  <a:pt x="602" y="410"/>
                  <a:pt x="598" y="408"/>
                  <a:pt x="594" y="406"/>
                </a:cubicBezTo>
                <a:close/>
                <a:moveTo>
                  <a:pt x="670" y="454"/>
                </a:moveTo>
                <a:cubicBezTo>
                  <a:pt x="670" y="454"/>
                  <a:pt x="670" y="454"/>
                  <a:pt x="670" y="454"/>
                </a:cubicBezTo>
                <a:cubicBezTo>
                  <a:pt x="669" y="455"/>
                  <a:pt x="668" y="456"/>
                  <a:pt x="666" y="456"/>
                </a:cubicBezTo>
                <a:cubicBezTo>
                  <a:pt x="665" y="457"/>
                  <a:pt x="664" y="457"/>
                  <a:pt x="662" y="457"/>
                </a:cubicBezTo>
                <a:cubicBezTo>
                  <a:pt x="660" y="457"/>
                  <a:pt x="660" y="457"/>
                  <a:pt x="660" y="457"/>
                </a:cubicBezTo>
                <a:cubicBezTo>
                  <a:pt x="660" y="457"/>
                  <a:pt x="660" y="457"/>
                  <a:pt x="660" y="457"/>
                </a:cubicBezTo>
                <a:cubicBezTo>
                  <a:pt x="651" y="457"/>
                  <a:pt x="643" y="457"/>
                  <a:pt x="635" y="457"/>
                </a:cubicBezTo>
                <a:cubicBezTo>
                  <a:pt x="634" y="457"/>
                  <a:pt x="633" y="457"/>
                  <a:pt x="632" y="457"/>
                </a:cubicBezTo>
                <a:cubicBezTo>
                  <a:pt x="632" y="457"/>
                  <a:pt x="632" y="457"/>
                  <a:pt x="632" y="457"/>
                </a:cubicBezTo>
                <a:cubicBezTo>
                  <a:pt x="626" y="456"/>
                  <a:pt x="620" y="454"/>
                  <a:pt x="616" y="449"/>
                </a:cubicBezTo>
                <a:cubicBezTo>
                  <a:pt x="616" y="449"/>
                  <a:pt x="616" y="448"/>
                  <a:pt x="615" y="448"/>
                </a:cubicBezTo>
                <a:cubicBezTo>
                  <a:pt x="615" y="448"/>
                  <a:pt x="615" y="448"/>
                  <a:pt x="615" y="448"/>
                </a:cubicBezTo>
                <a:cubicBezTo>
                  <a:pt x="615" y="448"/>
                  <a:pt x="615" y="448"/>
                  <a:pt x="615" y="448"/>
                </a:cubicBezTo>
                <a:cubicBezTo>
                  <a:pt x="614" y="445"/>
                  <a:pt x="612" y="441"/>
                  <a:pt x="610" y="438"/>
                </a:cubicBezTo>
                <a:cubicBezTo>
                  <a:pt x="609" y="436"/>
                  <a:pt x="606" y="433"/>
                  <a:pt x="606" y="430"/>
                </a:cubicBezTo>
                <a:cubicBezTo>
                  <a:pt x="606" y="430"/>
                  <a:pt x="606" y="430"/>
                  <a:pt x="606" y="430"/>
                </a:cubicBezTo>
                <a:cubicBezTo>
                  <a:pt x="605" y="429"/>
                  <a:pt x="605" y="429"/>
                  <a:pt x="605" y="429"/>
                </a:cubicBezTo>
                <a:cubicBezTo>
                  <a:pt x="605" y="426"/>
                  <a:pt x="607" y="425"/>
                  <a:pt x="610" y="424"/>
                </a:cubicBezTo>
                <a:cubicBezTo>
                  <a:pt x="610" y="424"/>
                  <a:pt x="610" y="424"/>
                  <a:pt x="610" y="424"/>
                </a:cubicBezTo>
                <a:cubicBezTo>
                  <a:pt x="610" y="424"/>
                  <a:pt x="610" y="424"/>
                  <a:pt x="610" y="424"/>
                </a:cubicBezTo>
                <a:cubicBezTo>
                  <a:pt x="610" y="424"/>
                  <a:pt x="610" y="424"/>
                  <a:pt x="611" y="423"/>
                </a:cubicBezTo>
                <a:cubicBezTo>
                  <a:pt x="612" y="423"/>
                  <a:pt x="613" y="423"/>
                  <a:pt x="615" y="423"/>
                </a:cubicBezTo>
                <a:cubicBezTo>
                  <a:pt x="631" y="423"/>
                  <a:pt x="631" y="423"/>
                  <a:pt x="631" y="423"/>
                </a:cubicBezTo>
                <a:cubicBezTo>
                  <a:pt x="634" y="423"/>
                  <a:pt x="637" y="423"/>
                  <a:pt x="639" y="423"/>
                </a:cubicBezTo>
                <a:cubicBezTo>
                  <a:pt x="639" y="423"/>
                  <a:pt x="639" y="423"/>
                  <a:pt x="639" y="423"/>
                </a:cubicBezTo>
                <a:cubicBezTo>
                  <a:pt x="639" y="423"/>
                  <a:pt x="639" y="423"/>
                  <a:pt x="640" y="423"/>
                </a:cubicBezTo>
                <a:cubicBezTo>
                  <a:pt x="640" y="423"/>
                  <a:pt x="641" y="423"/>
                  <a:pt x="642" y="423"/>
                </a:cubicBezTo>
                <a:cubicBezTo>
                  <a:pt x="642" y="423"/>
                  <a:pt x="642" y="423"/>
                  <a:pt x="642" y="423"/>
                </a:cubicBezTo>
                <a:cubicBezTo>
                  <a:pt x="647" y="424"/>
                  <a:pt x="653" y="426"/>
                  <a:pt x="656" y="429"/>
                </a:cubicBezTo>
                <a:cubicBezTo>
                  <a:pt x="657" y="429"/>
                  <a:pt x="657" y="430"/>
                  <a:pt x="657" y="430"/>
                </a:cubicBezTo>
                <a:cubicBezTo>
                  <a:pt x="657" y="430"/>
                  <a:pt x="657" y="430"/>
                  <a:pt x="657" y="431"/>
                </a:cubicBezTo>
                <a:cubicBezTo>
                  <a:pt x="658" y="431"/>
                  <a:pt x="658" y="431"/>
                  <a:pt x="658" y="431"/>
                </a:cubicBezTo>
                <a:cubicBezTo>
                  <a:pt x="658" y="431"/>
                  <a:pt x="658" y="431"/>
                  <a:pt x="658" y="431"/>
                </a:cubicBezTo>
                <a:cubicBezTo>
                  <a:pt x="659" y="432"/>
                  <a:pt x="659" y="432"/>
                  <a:pt x="659" y="432"/>
                </a:cubicBezTo>
                <a:cubicBezTo>
                  <a:pt x="660" y="434"/>
                  <a:pt x="662" y="436"/>
                  <a:pt x="663" y="439"/>
                </a:cubicBezTo>
                <a:cubicBezTo>
                  <a:pt x="663" y="439"/>
                  <a:pt x="663" y="439"/>
                  <a:pt x="663" y="439"/>
                </a:cubicBezTo>
                <a:cubicBezTo>
                  <a:pt x="665" y="442"/>
                  <a:pt x="668" y="445"/>
                  <a:pt x="670" y="449"/>
                </a:cubicBezTo>
                <a:cubicBezTo>
                  <a:pt x="670" y="449"/>
                  <a:pt x="670" y="449"/>
                  <a:pt x="670" y="449"/>
                </a:cubicBezTo>
                <a:cubicBezTo>
                  <a:pt x="670" y="449"/>
                  <a:pt x="670" y="449"/>
                  <a:pt x="670" y="449"/>
                </a:cubicBezTo>
                <a:cubicBezTo>
                  <a:pt x="671" y="451"/>
                  <a:pt x="671" y="453"/>
                  <a:pt x="670" y="454"/>
                </a:cubicBezTo>
                <a:close/>
                <a:moveTo>
                  <a:pt x="729" y="79"/>
                </a:moveTo>
                <a:cubicBezTo>
                  <a:pt x="753" y="103"/>
                  <a:pt x="766" y="136"/>
                  <a:pt x="766" y="170"/>
                </a:cubicBezTo>
                <a:cubicBezTo>
                  <a:pt x="766" y="204"/>
                  <a:pt x="753" y="237"/>
                  <a:pt x="729" y="261"/>
                </a:cubicBezTo>
                <a:cubicBezTo>
                  <a:pt x="757" y="248"/>
                  <a:pt x="782" y="212"/>
                  <a:pt x="782" y="170"/>
                </a:cubicBezTo>
                <a:cubicBezTo>
                  <a:pt x="782" y="127"/>
                  <a:pt x="757" y="92"/>
                  <a:pt x="729" y="79"/>
                </a:cubicBezTo>
                <a:close/>
                <a:moveTo>
                  <a:pt x="53" y="79"/>
                </a:moveTo>
                <a:cubicBezTo>
                  <a:pt x="26" y="92"/>
                  <a:pt x="0" y="127"/>
                  <a:pt x="0" y="170"/>
                </a:cubicBezTo>
                <a:cubicBezTo>
                  <a:pt x="0" y="212"/>
                  <a:pt x="26" y="248"/>
                  <a:pt x="53" y="261"/>
                </a:cubicBezTo>
                <a:cubicBezTo>
                  <a:pt x="30" y="237"/>
                  <a:pt x="16" y="204"/>
                  <a:pt x="16" y="170"/>
                </a:cubicBezTo>
                <a:cubicBezTo>
                  <a:pt x="16" y="136"/>
                  <a:pt x="30" y="103"/>
                  <a:pt x="53" y="79"/>
                </a:cubicBezTo>
                <a:close/>
              </a:path>
            </a:pathLst>
          </a:custGeom>
          <a:solidFill>
            <a:srgbClr val="FFFFFF"/>
          </a:solidFill>
          <a:ln w="9525">
            <a:noFill/>
            <a:round/>
          </a:ln>
        </p:spPr>
        <p:txBody>
          <a:bodyPr vert="horz" wrap="square" lIns="91427" tIns="45713" rIns="91427" bIns="45713" numCol="1" anchor="t" anchorCtr="0" compatLnSpc="1"/>
          <a:lstStyle/>
          <a:p>
            <a:pPr defTabSz="932180"/>
            <a:endParaRPr lang="en-GB">
              <a:solidFill>
                <a:srgbClr val="FFFFFF"/>
              </a:solidFill>
            </a:endParaRPr>
          </a:p>
        </p:txBody>
      </p:sp>
      <p:grpSp>
        <p:nvGrpSpPr>
          <p:cNvPr id="29" name="组合 28"/>
          <p:cNvGrpSpPr/>
          <p:nvPr/>
        </p:nvGrpSpPr>
        <p:grpSpPr>
          <a:xfrm>
            <a:off x="966172" y="4456158"/>
            <a:ext cx="370834" cy="500500"/>
            <a:chOff x="3260005" y="1560934"/>
            <a:chExt cx="370834" cy="500500"/>
          </a:xfrm>
        </p:grpSpPr>
        <p:sp>
          <p:nvSpPr>
            <p:cNvPr id="30" name="Freeform 41"/>
            <p:cNvSpPr/>
            <p:nvPr/>
          </p:nvSpPr>
          <p:spPr bwMode="auto">
            <a:xfrm>
              <a:off x="3320003" y="1560934"/>
              <a:ext cx="310836" cy="403323"/>
            </a:xfrm>
            <a:custGeom>
              <a:avLst/>
              <a:gdLst>
                <a:gd name="T0" fmla="*/ 533 w 594"/>
                <a:gd name="T1" fmla="*/ 0 h 771"/>
                <a:gd name="T2" fmla="*/ 63 w 594"/>
                <a:gd name="T3" fmla="*/ 0 h 771"/>
                <a:gd name="T4" fmla="*/ 0 w 594"/>
                <a:gd name="T5" fmla="*/ 61 h 771"/>
                <a:gd name="T6" fmla="*/ 0 w 594"/>
                <a:gd name="T7" fmla="*/ 554 h 771"/>
                <a:gd name="T8" fmla="*/ 10 w 594"/>
                <a:gd name="T9" fmla="*/ 536 h 771"/>
                <a:gd name="T10" fmla="*/ 57 w 594"/>
                <a:gd name="T11" fmla="*/ 445 h 771"/>
                <a:gd name="T12" fmla="*/ 57 w 594"/>
                <a:gd name="T13" fmla="*/ 61 h 771"/>
                <a:gd name="T14" fmla="*/ 63 w 594"/>
                <a:gd name="T15" fmla="*/ 56 h 771"/>
                <a:gd name="T16" fmla="*/ 533 w 594"/>
                <a:gd name="T17" fmla="*/ 56 h 771"/>
                <a:gd name="T18" fmla="*/ 537 w 594"/>
                <a:gd name="T19" fmla="*/ 61 h 771"/>
                <a:gd name="T20" fmla="*/ 537 w 594"/>
                <a:gd name="T21" fmla="*/ 708 h 771"/>
                <a:gd name="T22" fmla="*/ 533 w 594"/>
                <a:gd name="T23" fmla="*/ 714 h 771"/>
                <a:gd name="T24" fmla="*/ 255 w 594"/>
                <a:gd name="T25" fmla="*/ 714 h 771"/>
                <a:gd name="T26" fmla="*/ 258 w 594"/>
                <a:gd name="T27" fmla="*/ 771 h 771"/>
                <a:gd name="T28" fmla="*/ 533 w 594"/>
                <a:gd name="T29" fmla="*/ 771 h 771"/>
                <a:gd name="T30" fmla="*/ 594 w 594"/>
                <a:gd name="T31" fmla="*/ 708 h 771"/>
                <a:gd name="T32" fmla="*/ 594 w 594"/>
                <a:gd name="T33" fmla="*/ 61 h 771"/>
                <a:gd name="T34" fmla="*/ 533 w 594"/>
                <a:gd name="T35" fmla="*/ 0 h 7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94" h="771">
                  <a:moveTo>
                    <a:pt x="533" y="0"/>
                  </a:moveTo>
                  <a:cubicBezTo>
                    <a:pt x="63" y="0"/>
                    <a:pt x="63" y="0"/>
                    <a:pt x="63" y="0"/>
                  </a:cubicBezTo>
                  <a:cubicBezTo>
                    <a:pt x="28" y="0"/>
                    <a:pt x="0" y="28"/>
                    <a:pt x="0" y="61"/>
                  </a:cubicBezTo>
                  <a:cubicBezTo>
                    <a:pt x="0" y="554"/>
                    <a:pt x="0" y="554"/>
                    <a:pt x="0" y="554"/>
                  </a:cubicBezTo>
                  <a:cubicBezTo>
                    <a:pt x="10" y="536"/>
                    <a:pt x="10" y="536"/>
                    <a:pt x="10" y="536"/>
                  </a:cubicBezTo>
                  <a:cubicBezTo>
                    <a:pt x="57" y="445"/>
                    <a:pt x="57" y="445"/>
                    <a:pt x="57" y="445"/>
                  </a:cubicBezTo>
                  <a:cubicBezTo>
                    <a:pt x="57" y="61"/>
                    <a:pt x="57" y="61"/>
                    <a:pt x="57" y="61"/>
                  </a:cubicBezTo>
                  <a:cubicBezTo>
                    <a:pt x="57" y="58"/>
                    <a:pt x="59" y="56"/>
                    <a:pt x="63" y="56"/>
                  </a:cubicBezTo>
                  <a:cubicBezTo>
                    <a:pt x="533" y="56"/>
                    <a:pt x="533" y="56"/>
                    <a:pt x="533" y="56"/>
                  </a:cubicBezTo>
                  <a:cubicBezTo>
                    <a:pt x="535" y="56"/>
                    <a:pt x="537" y="58"/>
                    <a:pt x="537" y="61"/>
                  </a:cubicBezTo>
                  <a:cubicBezTo>
                    <a:pt x="537" y="708"/>
                    <a:pt x="537" y="708"/>
                    <a:pt x="537" y="708"/>
                  </a:cubicBezTo>
                  <a:cubicBezTo>
                    <a:pt x="537" y="712"/>
                    <a:pt x="535" y="714"/>
                    <a:pt x="533" y="714"/>
                  </a:cubicBezTo>
                  <a:cubicBezTo>
                    <a:pt x="255" y="714"/>
                    <a:pt x="255" y="714"/>
                    <a:pt x="255" y="714"/>
                  </a:cubicBezTo>
                  <a:cubicBezTo>
                    <a:pt x="266" y="734"/>
                    <a:pt x="266" y="755"/>
                    <a:pt x="258" y="771"/>
                  </a:cubicBezTo>
                  <a:cubicBezTo>
                    <a:pt x="533" y="771"/>
                    <a:pt x="533" y="771"/>
                    <a:pt x="533" y="771"/>
                  </a:cubicBezTo>
                  <a:cubicBezTo>
                    <a:pt x="568" y="771"/>
                    <a:pt x="594" y="742"/>
                    <a:pt x="594" y="708"/>
                  </a:cubicBezTo>
                  <a:cubicBezTo>
                    <a:pt x="594" y="61"/>
                    <a:pt x="594" y="61"/>
                    <a:pt x="594" y="61"/>
                  </a:cubicBezTo>
                  <a:cubicBezTo>
                    <a:pt x="594" y="28"/>
                    <a:pt x="568" y="0"/>
                    <a:pt x="533" y="0"/>
                  </a:cubicBezTo>
                  <a:close/>
                </a:path>
              </a:pathLst>
            </a:custGeom>
            <a:solidFill>
              <a:srgbClr val="FFFFFF"/>
            </a:solidFill>
            <a:ln>
              <a:noFill/>
            </a:ln>
          </p:spPr>
          <p:txBody>
            <a:bodyPr vert="horz" wrap="square" lIns="91427" tIns="45713" rIns="91427" bIns="45713" numCol="1" anchor="t" anchorCtr="0" compatLnSpc="1"/>
            <a:lstStyle/>
            <a:p>
              <a:pPr>
                <a:defRPr/>
              </a:pPr>
              <a:endParaRPr lang="en-US" kern="0" dirty="0">
                <a:solidFill>
                  <a:srgbClr val="FFFFFF"/>
                </a:solidFill>
              </a:endParaRPr>
            </a:p>
          </p:txBody>
        </p:sp>
        <p:sp>
          <p:nvSpPr>
            <p:cNvPr id="31" name="Freeform 42"/>
            <p:cNvSpPr/>
            <p:nvPr/>
          </p:nvSpPr>
          <p:spPr bwMode="auto">
            <a:xfrm>
              <a:off x="3260005" y="1772335"/>
              <a:ext cx="178886" cy="289099"/>
            </a:xfrm>
            <a:custGeom>
              <a:avLst/>
              <a:gdLst>
                <a:gd name="T0" fmla="*/ 306 w 342"/>
                <a:gd name="T1" fmla="*/ 296 h 553"/>
                <a:gd name="T2" fmla="*/ 196 w 342"/>
                <a:gd name="T3" fmla="*/ 225 h 553"/>
                <a:gd name="T4" fmla="*/ 277 w 342"/>
                <a:gd name="T5" fmla="*/ 56 h 553"/>
                <a:gd name="T6" fmla="*/ 263 w 342"/>
                <a:gd name="T7" fmla="*/ 10 h 553"/>
                <a:gd name="T8" fmla="*/ 223 w 342"/>
                <a:gd name="T9" fmla="*/ 29 h 553"/>
                <a:gd name="T10" fmla="*/ 102 w 342"/>
                <a:gd name="T11" fmla="*/ 261 h 553"/>
                <a:gd name="T12" fmla="*/ 85 w 342"/>
                <a:gd name="T13" fmla="*/ 186 h 553"/>
                <a:gd name="T14" fmla="*/ 20 w 342"/>
                <a:gd name="T15" fmla="*/ 135 h 553"/>
                <a:gd name="T16" fmla="*/ 20 w 342"/>
                <a:gd name="T17" fmla="*/ 196 h 553"/>
                <a:gd name="T18" fmla="*/ 50 w 342"/>
                <a:gd name="T19" fmla="*/ 434 h 553"/>
                <a:gd name="T20" fmla="*/ 56 w 342"/>
                <a:gd name="T21" fmla="*/ 471 h 553"/>
                <a:gd name="T22" fmla="*/ 64 w 342"/>
                <a:gd name="T23" fmla="*/ 488 h 553"/>
                <a:gd name="T24" fmla="*/ 106 w 342"/>
                <a:gd name="T25" fmla="*/ 528 h 553"/>
                <a:gd name="T26" fmla="*/ 244 w 342"/>
                <a:gd name="T27" fmla="*/ 490 h 553"/>
                <a:gd name="T28" fmla="*/ 246 w 342"/>
                <a:gd name="T29" fmla="*/ 486 h 553"/>
                <a:gd name="T30" fmla="*/ 335 w 342"/>
                <a:gd name="T31" fmla="*/ 357 h 553"/>
                <a:gd name="T32" fmla="*/ 306 w 342"/>
                <a:gd name="T33" fmla="*/ 296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42" h="553">
                  <a:moveTo>
                    <a:pt x="306" y="296"/>
                  </a:moveTo>
                  <a:cubicBezTo>
                    <a:pt x="196" y="225"/>
                    <a:pt x="196" y="225"/>
                    <a:pt x="196" y="225"/>
                  </a:cubicBezTo>
                  <a:cubicBezTo>
                    <a:pt x="225" y="169"/>
                    <a:pt x="248" y="111"/>
                    <a:pt x="277" y="56"/>
                  </a:cubicBezTo>
                  <a:cubicBezTo>
                    <a:pt x="287" y="40"/>
                    <a:pt x="279" y="17"/>
                    <a:pt x="263" y="10"/>
                  </a:cubicBezTo>
                  <a:cubicBezTo>
                    <a:pt x="246" y="0"/>
                    <a:pt x="233" y="12"/>
                    <a:pt x="223" y="29"/>
                  </a:cubicBezTo>
                  <a:cubicBezTo>
                    <a:pt x="187" y="102"/>
                    <a:pt x="141" y="188"/>
                    <a:pt x="102" y="261"/>
                  </a:cubicBezTo>
                  <a:cubicBezTo>
                    <a:pt x="100" y="244"/>
                    <a:pt x="85" y="186"/>
                    <a:pt x="85" y="186"/>
                  </a:cubicBezTo>
                  <a:cubicBezTo>
                    <a:pt x="81" y="165"/>
                    <a:pt x="45" y="133"/>
                    <a:pt x="20" y="135"/>
                  </a:cubicBezTo>
                  <a:cubicBezTo>
                    <a:pt x="0" y="135"/>
                    <a:pt x="16" y="173"/>
                    <a:pt x="20" y="196"/>
                  </a:cubicBezTo>
                  <a:cubicBezTo>
                    <a:pt x="33" y="277"/>
                    <a:pt x="37" y="354"/>
                    <a:pt x="50" y="434"/>
                  </a:cubicBezTo>
                  <a:cubicBezTo>
                    <a:pt x="50" y="448"/>
                    <a:pt x="52" y="459"/>
                    <a:pt x="56" y="471"/>
                  </a:cubicBezTo>
                  <a:cubicBezTo>
                    <a:pt x="58" y="477"/>
                    <a:pt x="62" y="484"/>
                    <a:pt x="64" y="488"/>
                  </a:cubicBezTo>
                  <a:cubicBezTo>
                    <a:pt x="75" y="503"/>
                    <a:pt x="89" y="519"/>
                    <a:pt x="106" y="528"/>
                  </a:cubicBezTo>
                  <a:cubicBezTo>
                    <a:pt x="156" y="553"/>
                    <a:pt x="216" y="536"/>
                    <a:pt x="244" y="490"/>
                  </a:cubicBezTo>
                  <a:cubicBezTo>
                    <a:pt x="244" y="490"/>
                    <a:pt x="246" y="488"/>
                    <a:pt x="246" y="486"/>
                  </a:cubicBezTo>
                  <a:cubicBezTo>
                    <a:pt x="335" y="357"/>
                    <a:pt x="335" y="357"/>
                    <a:pt x="335" y="357"/>
                  </a:cubicBezTo>
                  <a:cubicBezTo>
                    <a:pt x="342" y="340"/>
                    <a:pt x="323" y="306"/>
                    <a:pt x="306" y="296"/>
                  </a:cubicBezTo>
                  <a:close/>
                </a:path>
              </a:pathLst>
            </a:custGeom>
            <a:solidFill>
              <a:srgbClr val="FFFFFF"/>
            </a:solidFill>
            <a:ln>
              <a:noFill/>
            </a:ln>
          </p:spPr>
          <p:txBody>
            <a:bodyPr vert="horz" wrap="square" lIns="91427" tIns="45713" rIns="91427" bIns="45713" numCol="1" anchor="t" anchorCtr="0" compatLnSpc="1"/>
            <a:lstStyle/>
            <a:p>
              <a:pPr>
                <a:defRPr/>
              </a:pPr>
              <a:endParaRPr lang="en-US" kern="0" dirty="0">
                <a:solidFill>
                  <a:srgbClr val="FFFFFF"/>
                </a:solidFill>
              </a:endParaRPr>
            </a:p>
          </p:txBody>
        </p:sp>
      </p:grpSp>
      <p:sp>
        <p:nvSpPr>
          <p:cNvPr id="32" name="文本框 165"/>
          <p:cNvSpPr txBox="1"/>
          <p:nvPr/>
        </p:nvSpPr>
        <p:spPr>
          <a:xfrm>
            <a:off x="1599534" y="1253006"/>
            <a:ext cx="413896" cy="461665"/>
          </a:xfrm>
          <a:prstGeom prst="rect">
            <a:avLst/>
          </a:prstGeom>
          <a:noFill/>
        </p:spPr>
        <p:txBody>
          <a:bodyPr wrap="none" rtlCol="0">
            <a:spAutoFit/>
          </a:bodyPr>
          <a:lstStyle/>
          <a:p>
            <a:r>
              <a:rPr lang="en-US" altLang="zh-CN" sz="2400" dirty="0">
                <a:solidFill>
                  <a:schemeClr val="bg1"/>
                </a:solidFill>
                <a:latin typeface="Impact" panose="020B0806030902050204" pitchFamily="34" charset="0"/>
              </a:rPr>
              <a:t> </a:t>
            </a:r>
            <a:r>
              <a:rPr lang="en-US" altLang="zh-CN" sz="2400" dirty="0" smtClean="0">
                <a:solidFill>
                  <a:schemeClr val="bg1"/>
                </a:solidFill>
                <a:latin typeface="Impact" panose="020B0806030902050204" pitchFamily="34" charset="0"/>
              </a:rPr>
              <a:t> 7</a:t>
            </a:r>
            <a:endParaRPr lang="zh-CN" altLang="en-US" sz="2400" dirty="0">
              <a:solidFill>
                <a:schemeClr val="bg1"/>
              </a:solidFill>
              <a:latin typeface="Impact" panose="020B0806030902050204" pitchFamily="34" charset="0"/>
            </a:endParaRPr>
          </a:p>
        </p:txBody>
      </p:sp>
      <p:sp>
        <p:nvSpPr>
          <p:cNvPr id="33" name="文本框 166"/>
          <p:cNvSpPr txBox="1"/>
          <p:nvPr/>
        </p:nvSpPr>
        <p:spPr>
          <a:xfrm>
            <a:off x="1599534" y="2877503"/>
            <a:ext cx="458780" cy="461665"/>
          </a:xfrm>
          <a:prstGeom prst="rect">
            <a:avLst/>
          </a:prstGeom>
          <a:noFill/>
        </p:spPr>
        <p:txBody>
          <a:bodyPr wrap="none" rtlCol="0">
            <a:spAutoFit/>
          </a:bodyPr>
          <a:lstStyle/>
          <a:p>
            <a:r>
              <a:rPr lang="en-US" altLang="zh-CN" sz="2400" dirty="0">
                <a:solidFill>
                  <a:schemeClr val="bg1"/>
                </a:solidFill>
                <a:latin typeface="Impact" panose="020B0806030902050204" pitchFamily="34" charset="0"/>
              </a:rPr>
              <a:t> </a:t>
            </a:r>
            <a:r>
              <a:rPr lang="en-US" altLang="zh-CN" sz="2400" dirty="0" smtClean="0">
                <a:solidFill>
                  <a:schemeClr val="bg1"/>
                </a:solidFill>
                <a:latin typeface="Impact" panose="020B0806030902050204" pitchFamily="34" charset="0"/>
              </a:rPr>
              <a:t> 8</a:t>
            </a:r>
            <a:endParaRPr lang="zh-CN" altLang="en-US" sz="2400" dirty="0">
              <a:solidFill>
                <a:schemeClr val="bg1"/>
              </a:solidFill>
              <a:latin typeface="Impact" panose="020B0806030902050204" pitchFamily="34" charset="0"/>
            </a:endParaRPr>
          </a:p>
        </p:txBody>
      </p:sp>
      <p:sp>
        <p:nvSpPr>
          <p:cNvPr id="34" name="文本框 167"/>
          <p:cNvSpPr txBox="1"/>
          <p:nvPr/>
        </p:nvSpPr>
        <p:spPr>
          <a:xfrm>
            <a:off x="1599534" y="4502001"/>
            <a:ext cx="460382" cy="461665"/>
          </a:xfrm>
          <a:prstGeom prst="rect">
            <a:avLst/>
          </a:prstGeom>
          <a:noFill/>
        </p:spPr>
        <p:txBody>
          <a:bodyPr wrap="none" rtlCol="0">
            <a:spAutoFit/>
          </a:bodyPr>
          <a:lstStyle/>
          <a:p>
            <a:r>
              <a:rPr lang="en-US" altLang="zh-CN" sz="2400" dirty="0">
                <a:solidFill>
                  <a:schemeClr val="bg1"/>
                </a:solidFill>
                <a:latin typeface="Impact" panose="020B0806030902050204" pitchFamily="34" charset="0"/>
              </a:rPr>
              <a:t> </a:t>
            </a:r>
            <a:r>
              <a:rPr lang="en-US" altLang="zh-CN" sz="2400" dirty="0" smtClean="0">
                <a:solidFill>
                  <a:schemeClr val="bg1"/>
                </a:solidFill>
                <a:latin typeface="Impact" panose="020B0806030902050204" pitchFamily="34" charset="0"/>
              </a:rPr>
              <a:t> 9</a:t>
            </a:r>
            <a:endParaRPr lang="zh-CN" altLang="en-US" sz="2400" dirty="0">
              <a:solidFill>
                <a:schemeClr val="bg1"/>
              </a:solidFill>
              <a:latin typeface="Impact" panose="020B0806030902050204" pitchFamily="34" charset="0"/>
            </a:endParaRPr>
          </a:p>
        </p:txBody>
      </p:sp>
      <p:sp>
        <p:nvSpPr>
          <p:cNvPr id="2" name="矩形 1"/>
          <p:cNvSpPr/>
          <p:nvPr/>
        </p:nvSpPr>
        <p:spPr>
          <a:xfrm>
            <a:off x="3048000" y="945229"/>
            <a:ext cx="8940800" cy="1077218"/>
          </a:xfrm>
          <a:prstGeom prst="rect">
            <a:avLst/>
          </a:prstGeom>
        </p:spPr>
        <p:txBody>
          <a:bodyPr wrap="square">
            <a:spAutoFit/>
          </a:bodyPr>
          <a:lstStyle/>
          <a:p>
            <a:r>
              <a:rPr lang="zh-CN" altLang="en-US" sz="3200" b="1" dirty="0">
                <a:solidFill>
                  <a:srgbClr val="FF0000"/>
                </a:solidFill>
              </a:rPr>
              <a:t>对样品无损害</a:t>
            </a:r>
            <a:r>
              <a:rPr lang="zh-CN" altLang="en-US" sz="3200" b="1" dirty="0"/>
              <a:t>，可在活体分析和医药临床领域广泛应用。</a:t>
            </a:r>
          </a:p>
        </p:txBody>
      </p:sp>
      <p:sp>
        <p:nvSpPr>
          <p:cNvPr id="3" name="矩形 2"/>
          <p:cNvSpPr/>
          <p:nvPr/>
        </p:nvSpPr>
        <p:spPr>
          <a:xfrm>
            <a:off x="3098800" y="2450250"/>
            <a:ext cx="8824686" cy="1077218"/>
          </a:xfrm>
          <a:prstGeom prst="rect">
            <a:avLst/>
          </a:prstGeom>
        </p:spPr>
        <p:txBody>
          <a:bodyPr wrap="square">
            <a:spAutoFit/>
          </a:bodyPr>
          <a:lstStyle/>
          <a:p>
            <a:r>
              <a:rPr lang="zh-CN" altLang="en-US" sz="3200" b="1" dirty="0"/>
              <a:t>近红外光在普通光纤中具有良好的传输特性，</a:t>
            </a:r>
            <a:r>
              <a:rPr lang="zh-CN" altLang="en-US" sz="3200" b="1" dirty="0">
                <a:solidFill>
                  <a:srgbClr val="FF0000"/>
                </a:solidFill>
              </a:rPr>
              <a:t>便于实现在线</a:t>
            </a:r>
            <a:r>
              <a:rPr lang="zh-CN" altLang="en-US" sz="3200" b="1" dirty="0" smtClean="0">
                <a:solidFill>
                  <a:srgbClr val="FF0000"/>
                </a:solidFill>
              </a:rPr>
              <a:t>分析</a:t>
            </a:r>
            <a:endParaRPr lang="zh-CN" altLang="en-US" sz="3200" b="1" dirty="0"/>
          </a:p>
        </p:txBody>
      </p:sp>
      <p:sp>
        <p:nvSpPr>
          <p:cNvPr id="7168" name="矩形 7167"/>
          <p:cNvSpPr/>
          <p:nvPr/>
        </p:nvSpPr>
        <p:spPr>
          <a:xfrm>
            <a:off x="3098800" y="4165197"/>
            <a:ext cx="8723086" cy="1077218"/>
          </a:xfrm>
          <a:prstGeom prst="rect">
            <a:avLst/>
          </a:prstGeom>
        </p:spPr>
        <p:txBody>
          <a:bodyPr wrap="square">
            <a:spAutoFit/>
          </a:bodyPr>
          <a:lstStyle/>
          <a:p>
            <a:r>
              <a:rPr lang="zh-CN" altLang="en-US" sz="3200" b="1" dirty="0">
                <a:solidFill>
                  <a:srgbClr val="FF0000"/>
                </a:solidFill>
              </a:rPr>
              <a:t>对操作人员的要求不苛刻</a:t>
            </a:r>
            <a:r>
              <a:rPr lang="zh-CN" altLang="en-US" sz="3200" b="1" dirty="0"/>
              <a:t>，进过简单的培训就可以胜任。</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0" y="6334579"/>
            <a:ext cx="12193588" cy="530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1266"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0" y="0"/>
            <a:ext cx="8686800" cy="914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 name="矩形 1"/>
          <p:cNvSpPr/>
          <p:nvPr/>
        </p:nvSpPr>
        <p:spPr>
          <a:xfrm>
            <a:off x="0" y="0"/>
            <a:ext cx="7571303" cy="646331"/>
          </a:xfrm>
          <a:prstGeom prst="rect">
            <a:avLst/>
          </a:prstGeom>
        </p:spPr>
        <p:txBody>
          <a:bodyPr wrap="none">
            <a:spAutoFit/>
          </a:bodyPr>
          <a:lstStyle/>
          <a:p>
            <a:r>
              <a:rPr lang="zh-CN" altLang="en-US" sz="3600" b="1" dirty="0">
                <a:latin typeface="微软雅黑" panose="020B0503020204020204" pitchFamily="34" charset="-122"/>
                <a:ea typeface="微软雅黑" panose="020B0503020204020204" pitchFamily="34" charset="-122"/>
              </a:rPr>
              <a:t>六、近红外光谱分析技术存在的难点</a:t>
            </a:r>
          </a:p>
        </p:txBody>
      </p:sp>
      <p:sp>
        <p:nvSpPr>
          <p:cNvPr id="5" name="Oval 5"/>
          <p:cNvSpPr>
            <a:spLocks noChangeArrowheads="1"/>
          </p:cNvSpPr>
          <p:nvPr/>
        </p:nvSpPr>
        <p:spPr bwMode="auto">
          <a:xfrm>
            <a:off x="1289502" y="1266826"/>
            <a:ext cx="1109663" cy="1098550"/>
          </a:xfrm>
          <a:prstGeom prst="ellipse">
            <a:avLst/>
          </a:prstGeom>
          <a:solidFill>
            <a:srgbClr val="F9CBB1"/>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 name="Freeform 6"/>
          <p:cNvSpPr>
            <a:spLocks noEditPoints="1"/>
          </p:cNvSpPr>
          <p:nvPr/>
        </p:nvSpPr>
        <p:spPr bwMode="auto">
          <a:xfrm>
            <a:off x="1005340" y="984251"/>
            <a:ext cx="1679575" cy="1663700"/>
          </a:xfrm>
          <a:custGeom>
            <a:avLst/>
            <a:gdLst>
              <a:gd name="T0" fmla="*/ 107 w 165"/>
              <a:gd name="T1" fmla="*/ 4 h 165"/>
              <a:gd name="T2" fmla="*/ 113 w 165"/>
              <a:gd name="T3" fmla="*/ 29 h 165"/>
              <a:gd name="T4" fmla="*/ 135 w 165"/>
              <a:gd name="T5" fmla="*/ 19 h 165"/>
              <a:gd name="T6" fmla="*/ 131 w 165"/>
              <a:gd name="T7" fmla="*/ 45 h 165"/>
              <a:gd name="T8" fmla="*/ 156 w 165"/>
              <a:gd name="T9" fmla="*/ 44 h 165"/>
              <a:gd name="T10" fmla="*/ 142 w 165"/>
              <a:gd name="T11" fmla="*/ 66 h 165"/>
              <a:gd name="T12" fmla="*/ 165 w 165"/>
              <a:gd name="T13" fmla="*/ 75 h 165"/>
              <a:gd name="T14" fmla="*/ 144 w 165"/>
              <a:gd name="T15" fmla="*/ 90 h 165"/>
              <a:gd name="T16" fmla="*/ 161 w 165"/>
              <a:gd name="T17" fmla="*/ 107 h 165"/>
              <a:gd name="T18" fmla="*/ 136 w 165"/>
              <a:gd name="T19" fmla="*/ 113 h 165"/>
              <a:gd name="T20" fmla="*/ 146 w 165"/>
              <a:gd name="T21" fmla="*/ 135 h 165"/>
              <a:gd name="T22" fmla="*/ 120 w 165"/>
              <a:gd name="T23" fmla="*/ 131 h 165"/>
              <a:gd name="T24" fmla="*/ 120 w 165"/>
              <a:gd name="T25" fmla="*/ 156 h 165"/>
              <a:gd name="T26" fmla="*/ 99 w 165"/>
              <a:gd name="T27" fmla="*/ 142 h 165"/>
              <a:gd name="T28" fmla="*/ 90 w 165"/>
              <a:gd name="T29" fmla="*/ 165 h 165"/>
              <a:gd name="T30" fmla="*/ 75 w 165"/>
              <a:gd name="T31" fmla="*/ 144 h 165"/>
              <a:gd name="T32" fmla="*/ 58 w 165"/>
              <a:gd name="T33" fmla="*/ 161 h 165"/>
              <a:gd name="T34" fmla="*/ 52 w 165"/>
              <a:gd name="T35" fmla="*/ 136 h 165"/>
              <a:gd name="T36" fmla="*/ 29 w 165"/>
              <a:gd name="T37" fmla="*/ 146 h 165"/>
              <a:gd name="T38" fmla="*/ 33 w 165"/>
              <a:gd name="T39" fmla="*/ 120 h 165"/>
              <a:gd name="T40" fmla="*/ 9 w 165"/>
              <a:gd name="T41" fmla="*/ 120 h 165"/>
              <a:gd name="T42" fmla="*/ 23 w 165"/>
              <a:gd name="T43" fmla="*/ 99 h 165"/>
              <a:gd name="T44" fmla="*/ 0 w 165"/>
              <a:gd name="T45" fmla="*/ 90 h 165"/>
              <a:gd name="T46" fmla="*/ 21 w 165"/>
              <a:gd name="T47" fmla="*/ 74 h 165"/>
              <a:gd name="T48" fmla="*/ 4 w 165"/>
              <a:gd name="T49" fmla="*/ 58 h 165"/>
              <a:gd name="T50" fmla="*/ 29 w 165"/>
              <a:gd name="T51" fmla="*/ 52 h 165"/>
              <a:gd name="T52" fmla="*/ 19 w 165"/>
              <a:gd name="T53" fmla="*/ 29 h 165"/>
              <a:gd name="T54" fmla="*/ 45 w 165"/>
              <a:gd name="T55" fmla="*/ 33 h 165"/>
              <a:gd name="T56" fmla="*/ 44 w 165"/>
              <a:gd name="T57" fmla="*/ 9 h 165"/>
              <a:gd name="T58" fmla="*/ 66 w 165"/>
              <a:gd name="T59" fmla="*/ 23 h 165"/>
              <a:gd name="T60" fmla="*/ 75 w 165"/>
              <a:gd name="T61" fmla="*/ 0 h 165"/>
              <a:gd name="T62" fmla="*/ 90 w 165"/>
              <a:gd name="T63" fmla="*/ 21 h 165"/>
              <a:gd name="T64" fmla="*/ 95 w 165"/>
              <a:gd name="T65" fmla="*/ 35 h 165"/>
              <a:gd name="T66" fmla="*/ 70 w 165"/>
              <a:gd name="T67" fmla="*/ 130 h 165"/>
              <a:gd name="T68" fmla="*/ 95 w 165"/>
              <a:gd name="T69" fmla="*/ 35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5" h="165">
                <a:moveTo>
                  <a:pt x="100" y="2"/>
                </a:moveTo>
                <a:cubicBezTo>
                  <a:pt x="107" y="4"/>
                  <a:pt x="107" y="4"/>
                  <a:pt x="107" y="4"/>
                </a:cubicBezTo>
                <a:cubicBezTo>
                  <a:pt x="106" y="25"/>
                  <a:pt x="106" y="25"/>
                  <a:pt x="106" y="25"/>
                </a:cubicBezTo>
                <a:cubicBezTo>
                  <a:pt x="109" y="26"/>
                  <a:pt x="111" y="27"/>
                  <a:pt x="113" y="29"/>
                </a:cubicBezTo>
                <a:cubicBezTo>
                  <a:pt x="130" y="15"/>
                  <a:pt x="130" y="15"/>
                  <a:pt x="130" y="15"/>
                </a:cubicBezTo>
                <a:cubicBezTo>
                  <a:pt x="135" y="19"/>
                  <a:pt x="135" y="19"/>
                  <a:pt x="135" y="19"/>
                </a:cubicBezTo>
                <a:cubicBezTo>
                  <a:pt x="126" y="39"/>
                  <a:pt x="126" y="39"/>
                  <a:pt x="126" y="39"/>
                </a:cubicBezTo>
                <a:cubicBezTo>
                  <a:pt x="128" y="41"/>
                  <a:pt x="130" y="43"/>
                  <a:pt x="131" y="45"/>
                </a:cubicBezTo>
                <a:cubicBezTo>
                  <a:pt x="152" y="38"/>
                  <a:pt x="152" y="38"/>
                  <a:pt x="152" y="38"/>
                </a:cubicBezTo>
                <a:cubicBezTo>
                  <a:pt x="156" y="44"/>
                  <a:pt x="156" y="44"/>
                  <a:pt x="156" y="44"/>
                </a:cubicBezTo>
                <a:cubicBezTo>
                  <a:pt x="140" y="59"/>
                  <a:pt x="140" y="59"/>
                  <a:pt x="140" y="59"/>
                </a:cubicBezTo>
                <a:cubicBezTo>
                  <a:pt x="141" y="61"/>
                  <a:pt x="142" y="64"/>
                  <a:pt x="142" y="66"/>
                </a:cubicBezTo>
                <a:cubicBezTo>
                  <a:pt x="164" y="68"/>
                  <a:pt x="164" y="68"/>
                  <a:pt x="164" y="68"/>
                </a:cubicBezTo>
                <a:cubicBezTo>
                  <a:pt x="165" y="75"/>
                  <a:pt x="165" y="75"/>
                  <a:pt x="165" y="75"/>
                </a:cubicBezTo>
                <a:cubicBezTo>
                  <a:pt x="144" y="83"/>
                  <a:pt x="144" y="83"/>
                  <a:pt x="144" y="83"/>
                </a:cubicBezTo>
                <a:cubicBezTo>
                  <a:pt x="144" y="85"/>
                  <a:pt x="144" y="88"/>
                  <a:pt x="144" y="90"/>
                </a:cubicBezTo>
                <a:cubicBezTo>
                  <a:pt x="163" y="100"/>
                  <a:pt x="163" y="100"/>
                  <a:pt x="163" y="100"/>
                </a:cubicBezTo>
                <a:cubicBezTo>
                  <a:pt x="161" y="107"/>
                  <a:pt x="161" y="107"/>
                  <a:pt x="161" y="107"/>
                </a:cubicBezTo>
                <a:cubicBezTo>
                  <a:pt x="140" y="106"/>
                  <a:pt x="140" y="106"/>
                  <a:pt x="140" y="106"/>
                </a:cubicBezTo>
                <a:cubicBezTo>
                  <a:pt x="139" y="109"/>
                  <a:pt x="138" y="111"/>
                  <a:pt x="136" y="113"/>
                </a:cubicBezTo>
                <a:cubicBezTo>
                  <a:pt x="150" y="130"/>
                  <a:pt x="150" y="130"/>
                  <a:pt x="150" y="130"/>
                </a:cubicBezTo>
                <a:cubicBezTo>
                  <a:pt x="146" y="135"/>
                  <a:pt x="146" y="135"/>
                  <a:pt x="146" y="135"/>
                </a:cubicBezTo>
                <a:cubicBezTo>
                  <a:pt x="126" y="126"/>
                  <a:pt x="126" y="126"/>
                  <a:pt x="126" y="126"/>
                </a:cubicBezTo>
                <a:cubicBezTo>
                  <a:pt x="124" y="128"/>
                  <a:pt x="122" y="130"/>
                  <a:pt x="120" y="131"/>
                </a:cubicBezTo>
                <a:cubicBezTo>
                  <a:pt x="127" y="152"/>
                  <a:pt x="127" y="152"/>
                  <a:pt x="127" y="152"/>
                </a:cubicBezTo>
                <a:cubicBezTo>
                  <a:pt x="120" y="156"/>
                  <a:pt x="120" y="156"/>
                  <a:pt x="120" y="156"/>
                </a:cubicBezTo>
                <a:cubicBezTo>
                  <a:pt x="106" y="140"/>
                  <a:pt x="106" y="140"/>
                  <a:pt x="106" y="140"/>
                </a:cubicBezTo>
                <a:cubicBezTo>
                  <a:pt x="104" y="141"/>
                  <a:pt x="101" y="142"/>
                  <a:pt x="99" y="142"/>
                </a:cubicBezTo>
                <a:cubicBezTo>
                  <a:pt x="97" y="164"/>
                  <a:pt x="97" y="164"/>
                  <a:pt x="97" y="164"/>
                </a:cubicBezTo>
                <a:cubicBezTo>
                  <a:pt x="90" y="165"/>
                  <a:pt x="90" y="165"/>
                  <a:pt x="90" y="165"/>
                </a:cubicBezTo>
                <a:cubicBezTo>
                  <a:pt x="82" y="144"/>
                  <a:pt x="82" y="144"/>
                  <a:pt x="82" y="144"/>
                </a:cubicBezTo>
                <a:cubicBezTo>
                  <a:pt x="80" y="144"/>
                  <a:pt x="77" y="144"/>
                  <a:pt x="75" y="144"/>
                </a:cubicBezTo>
                <a:cubicBezTo>
                  <a:pt x="65" y="163"/>
                  <a:pt x="65" y="163"/>
                  <a:pt x="65" y="163"/>
                </a:cubicBezTo>
                <a:cubicBezTo>
                  <a:pt x="58" y="161"/>
                  <a:pt x="58" y="161"/>
                  <a:pt x="58" y="161"/>
                </a:cubicBezTo>
                <a:cubicBezTo>
                  <a:pt x="59" y="140"/>
                  <a:pt x="59" y="140"/>
                  <a:pt x="59" y="140"/>
                </a:cubicBezTo>
                <a:cubicBezTo>
                  <a:pt x="56" y="139"/>
                  <a:pt x="54" y="137"/>
                  <a:pt x="52" y="136"/>
                </a:cubicBezTo>
                <a:cubicBezTo>
                  <a:pt x="35" y="150"/>
                  <a:pt x="35" y="150"/>
                  <a:pt x="35" y="150"/>
                </a:cubicBezTo>
                <a:cubicBezTo>
                  <a:pt x="29" y="146"/>
                  <a:pt x="29" y="146"/>
                  <a:pt x="29" y="146"/>
                </a:cubicBezTo>
                <a:cubicBezTo>
                  <a:pt x="39" y="126"/>
                  <a:pt x="39" y="126"/>
                  <a:pt x="39" y="126"/>
                </a:cubicBezTo>
                <a:cubicBezTo>
                  <a:pt x="37" y="124"/>
                  <a:pt x="35" y="122"/>
                  <a:pt x="33" y="120"/>
                </a:cubicBezTo>
                <a:cubicBezTo>
                  <a:pt x="13" y="127"/>
                  <a:pt x="13" y="127"/>
                  <a:pt x="13" y="127"/>
                </a:cubicBezTo>
                <a:cubicBezTo>
                  <a:pt x="9" y="120"/>
                  <a:pt x="9" y="120"/>
                  <a:pt x="9" y="120"/>
                </a:cubicBezTo>
                <a:cubicBezTo>
                  <a:pt x="25" y="106"/>
                  <a:pt x="25" y="106"/>
                  <a:pt x="25" y="106"/>
                </a:cubicBezTo>
                <a:cubicBezTo>
                  <a:pt x="24" y="104"/>
                  <a:pt x="23" y="101"/>
                  <a:pt x="23" y="99"/>
                </a:cubicBezTo>
                <a:cubicBezTo>
                  <a:pt x="1" y="97"/>
                  <a:pt x="1" y="97"/>
                  <a:pt x="1" y="97"/>
                </a:cubicBezTo>
                <a:cubicBezTo>
                  <a:pt x="0" y="90"/>
                  <a:pt x="0" y="90"/>
                  <a:pt x="0" y="90"/>
                </a:cubicBezTo>
                <a:cubicBezTo>
                  <a:pt x="21" y="82"/>
                  <a:pt x="21" y="82"/>
                  <a:pt x="21" y="82"/>
                </a:cubicBezTo>
                <a:cubicBezTo>
                  <a:pt x="20" y="80"/>
                  <a:pt x="21" y="77"/>
                  <a:pt x="21" y="74"/>
                </a:cubicBezTo>
                <a:cubicBezTo>
                  <a:pt x="2" y="65"/>
                  <a:pt x="2" y="65"/>
                  <a:pt x="2" y="65"/>
                </a:cubicBezTo>
                <a:cubicBezTo>
                  <a:pt x="4" y="58"/>
                  <a:pt x="4" y="58"/>
                  <a:pt x="4" y="58"/>
                </a:cubicBezTo>
                <a:cubicBezTo>
                  <a:pt x="25" y="59"/>
                  <a:pt x="25" y="59"/>
                  <a:pt x="25" y="59"/>
                </a:cubicBezTo>
                <a:cubicBezTo>
                  <a:pt x="26" y="56"/>
                  <a:pt x="27" y="54"/>
                  <a:pt x="29" y="52"/>
                </a:cubicBezTo>
                <a:cubicBezTo>
                  <a:pt x="15" y="35"/>
                  <a:pt x="15" y="35"/>
                  <a:pt x="15" y="35"/>
                </a:cubicBezTo>
                <a:cubicBezTo>
                  <a:pt x="19" y="29"/>
                  <a:pt x="19" y="29"/>
                  <a:pt x="19" y="29"/>
                </a:cubicBezTo>
                <a:cubicBezTo>
                  <a:pt x="39" y="39"/>
                  <a:pt x="39" y="39"/>
                  <a:pt x="39" y="39"/>
                </a:cubicBezTo>
                <a:cubicBezTo>
                  <a:pt x="41" y="37"/>
                  <a:pt x="43" y="35"/>
                  <a:pt x="45" y="33"/>
                </a:cubicBezTo>
                <a:cubicBezTo>
                  <a:pt x="38" y="13"/>
                  <a:pt x="38" y="13"/>
                  <a:pt x="38" y="13"/>
                </a:cubicBezTo>
                <a:cubicBezTo>
                  <a:pt x="44" y="9"/>
                  <a:pt x="44" y="9"/>
                  <a:pt x="44" y="9"/>
                </a:cubicBezTo>
                <a:cubicBezTo>
                  <a:pt x="59" y="25"/>
                  <a:pt x="59" y="25"/>
                  <a:pt x="59" y="25"/>
                </a:cubicBezTo>
                <a:cubicBezTo>
                  <a:pt x="61" y="24"/>
                  <a:pt x="64" y="23"/>
                  <a:pt x="66" y="23"/>
                </a:cubicBezTo>
                <a:cubicBezTo>
                  <a:pt x="68" y="1"/>
                  <a:pt x="68" y="1"/>
                  <a:pt x="68" y="1"/>
                </a:cubicBezTo>
                <a:cubicBezTo>
                  <a:pt x="75" y="0"/>
                  <a:pt x="75" y="0"/>
                  <a:pt x="75" y="0"/>
                </a:cubicBezTo>
                <a:cubicBezTo>
                  <a:pt x="83" y="21"/>
                  <a:pt x="83" y="21"/>
                  <a:pt x="83" y="21"/>
                </a:cubicBezTo>
                <a:cubicBezTo>
                  <a:pt x="85" y="20"/>
                  <a:pt x="88" y="21"/>
                  <a:pt x="90" y="21"/>
                </a:cubicBezTo>
                <a:cubicBezTo>
                  <a:pt x="100" y="2"/>
                  <a:pt x="100" y="2"/>
                  <a:pt x="100" y="2"/>
                </a:cubicBezTo>
                <a:close/>
                <a:moveTo>
                  <a:pt x="95" y="35"/>
                </a:moveTo>
                <a:cubicBezTo>
                  <a:pt x="121" y="42"/>
                  <a:pt x="137" y="69"/>
                  <a:pt x="130" y="95"/>
                </a:cubicBezTo>
                <a:cubicBezTo>
                  <a:pt x="123" y="121"/>
                  <a:pt x="96" y="137"/>
                  <a:pt x="70" y="130"/>
                </a:cubicBezTo>
                <a:cubicBezTo>
                  <a:pt x="44" y="123"/>
                  <a:pt x="28" y="96"/>
                  <a:pt x="35" y="69"/>
                </a:cubicBezTo>
                <a:cubicBezTo>
                  <a:pt x="42" y="43"/>
                  <a:pt x="69" y="28"/>
                  <a:pt x="95" y="35"/>
                </a:cubicBezTo>
                <a:close/>
              </a:path>
            </a:pathLst>
          </a:custGeom>
          <a:solidFill>
            <a:srgbClr val="E84A1F"/>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 name="Freeform 7"/>
          <p:cNvSpPr>
            <a:spLocks noEditPoints="1"/>
          </p:cNvSpPr>
          <p:nvPr/>
        </p:nvSpPr>
        <p:spPr bwMode="auto">
          <a:xfrm>
            <a:off x="638627" y="2527301"/>
            <a:ext cx="1679575" cy="1652588"/>
          </a:xfrm>
          <a:custGeom>
            <a:avLst/>
            <a:gdLst>
              <a:gd name="T0" fmla="*/ 86 w 165"/>
              <a:gd name="T1" fmla="*/ 0 h 164"/>
              <a:gd name="T2" fmla="*/ 98 w 165"/>
              <a:gd name="T3" fmla="*/ 22 h 164"/>
              <a:gd name="T4" fmla="*/ 117 w 165"/>
              <a:gd name="T5" fmla="*/ 7 h 164"/>
              <a:gd name="T6" fmla="*/ 120 w 165"/>
              <a:gd name="T7" fmla="*/ 33 h 164"/>
              <a:gd name="T8" fmla="*/ 143 w 165"/>
              <a:gd name="T9" fmla="*/ 26 h 164"/>
              <a:gd name="T10" fmla="*/ 136 w 165"/>
              <a:gd name="T11" fmla="*/ 51 h 164"/>
              <a:gd name="T12" fmla="*/ 160 w 165"/>
              <a:gd name="T13" fmla="*/ 54 h 164"/>
              <a:gd name="T14" fmla="*/ 144 w 165"/>
              <a:gd name="T15" fmla="*/ 74 h 164"/>
              <a:gd name="T16" fmla="*/ 165 w 165"/>
              <a:gd name="T17" fmla="*/ 86 h 164"/>
              <a:gd name="T18" fmla="*/ 142 w 165"/>
              <a:gd name="T19" fmla="*/ 98 h 164"/>
              <a:gd name="T20" fmla="*/ 157 w 165"/>
              <a:gd name="T21" fmla="*/ 117 h 164"/>
              <a:gd name="T22" fmla="*/ 132 w 165"/>
              <a:gd name="T23" fmla="*/ 119 h 164"/>
              <a:gd name="T24" fmla="*/ 138 w 165"/>
              <a:gd name="T25" fmla="*/ 143 h 164"/>
              <a:gd name="T26" fmla="*/ 114 w 165"/>
              <a:gd name="T27" fmla="*/ 135 h 164"/>
              <a:gd name="T28" fmla="*/ 111 w 165"/>
              <a:gd name="T29" fmla="*/ 159 h 164"/>
              <a:gd name="T30" fmla="*/ 91 w 165"/>
              <a:gd name="T31" fmla="*/ 143 h 164"/>
              <a:gd name="T32" fmla="*/ 79 w 165"/>
              <a:gd name="T33" fmla="*/ 164 h 164"/>
              <a:gd name="T34" fmla="*/ 67 w 165"/>
              <a:gd name="T35" fmla="*/ 142 h 164"/>
              <a:gd name="T36" fmla="*/ 48 w 165"/>
              <a:gd name="T37" fmla="*/ 157 h 164"/>
              <a:gd name="T38" fmla="*/ 45 w 165"/>
              <a:gd name="T39" fmla="*/ 131 h 164"/>
              <a:gd name="T40" fmla="*/ 22 w 165"/>
              <a:gd name="T41" fmla="*/ 138 h 164"/>
              <a:gd name="T42" fmla="*/ 29 w 165"/>
              <a:gd name="T43" fmla="*/ 113 h 164"/>
              <a:gd name="T44" fmla="*/ 5 w 165"/>
              <a:gd name="T45" fmla="*/ 110 h 164"/>
              <a:gd name="T46" fmla="*/ 21 w 165"/>
              <a:gd name="T47" fmla="*/ 90 h 164"/>
              <a:gd name="T48" fmla="*/ 0 w 165"/>
              <a:gd name="T49" fmla="*/ 78 h 164"/>
              <a:gd name="T50" fmla="*/ 23 w 165"/>
              <a:gd name="T51" fmla="*/ 66 h 164"/>
              <a:gd name="T52" fmla="*/ 8 w 165"/>
              <a:gd name="T53" fmla="*/ 47 h 164"/>
              <a:gd name="T54" fmla="*/ 33 w 165"/>
              <a:gd name="T55" fmla="*/ 44 h 164"/>
              <a:gd name="T56" fmla="*/ 27 w 165"/>
              <a:gd name="T57" fmla="*/ 21 h 164"/>
              <a:gd name="T58" fmla="*/ 51 w 165"/>
              <a:gd name="T59" fmla="*/ 28 h 164"/>
              <a:gd name="T60" fmla="*/ 54 w 165"/>
              <a:gd name="T61" fmla="*/ 4 h 164"/>
              <a:gd name="T62" fmla="*/ 74 w 165"/>
              <a:gd name="T63" fmla="*/ 21 h 164"/>
              <a:gd name="T64" fmla="*/ 83 w 165"/>
              <a:gd name="T65" fmla="*/ 32 h 164"/>
              <a:gd name="T66" fmla="*/ 83 w 165"/>
              <a:gd name="T67" fmla="*/ 131 h 164"/>
              <a:gd name="T68" fmla="*/ 83 w 165"/>
              <a:gd name="T69" fmla="*/ 32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5" h="164">
                <a:moveTo>
                  <a:pt x="79" y="0"/>
                </a:moveTo>
                <a:cubicBezTo>
                  <a:pt x="86" y="0"/>
                  <a:pt x="86" y="0"/>
                  <a:pt x="86" y="0"/>
                </a:cubicBezTo>
                <a:cubicBezTo>
                  <a:pt x="91" y="21"/>
                  <a:pt x="91" y="21"/>
                  <a:pt x="91" y="21"/>
                </a:cubicBezTo>
                <a:cubicBezTo>
                  <a:pt x="93" y="21"/>
                  <a:pt x="96" y="21"/>
                  <a:pt x="98" y="22"/>
                </a:cubicBezTo>
                <a:cubicBezTo>
                  <a:pt x="111" y="4"/>
                  <a:pt x="111" y="4"/>
                  <a:pt x="111" y="4"/>
                </a:cubicBezTo>
                <a:cubicBezTo>
                  <a:pt x="117" y="7"/>
                  <a:pt x="117" y="7"/>
                  <a:pt x="117" y="7"/>
                </a:cubicBezTo>
                <a:cubicBezTo>
                  <a:pt x="114" y="28"/>
                  <a:pt x="114" y="28"/>
                  <a:pt x="114" y="28"/>
                </a:cubicBezTo>
                <a:cubicBezTo>
                  <a:pt x="116" y="30"/>
                  <a:pt x="118" y="31"/>
                  <a:pt x="120" y="33"/>
                </a:cubicBezTo>
                <a:cubicBezTo>
                  <a:pt x="138" y="21"/>
                  <a:pt x="138" y="21"/>
                  <a:pt x="138" y="21"/>
                </a:cubicBezTo>
                <a:cubicBezTo>
                  <a:pt x="143" y="26"/>
                  <a:pt x="143" y="26"/>
                  <a:pt x="143" y="26"/>
                </a:cubicBezTo>
                <a:cubicBezTo>
                  <a:pt x="132" y="44"/>
                  <a:pt x="132" y="44"/>
                  <a:pt x="132" y="44"/>
                </a:cubicBezTo>
                <a:cubicBezTo>
                  <a:pt x="133" y="46"/>
                  <a:pt x="135" y="49"/>
                  <a:pt x="136" y="51"/>
                </a:cubicBezTo>
                <a:cubicBezTo>
                  <a:pt x="157" y="47"/>
                  <a:pt x="157" y="47"/>
                  <a:pt x="157" y="47"/>
                </a:cubicBezTo>
                <a:cubicBezTo>
                  <a:pt x="160" y="54"/>
                  <a:pt x="160" y="54"/>
                  <a:pt x="160" y="54"/>
                </a:cubicBezTo>
                <a:cubicBezTo>
                  <a:pt x="142" y="66"/>
                  <a:pt x="142" y="66"/>
                  <a:pt x="142" y="66"/>
                </a:cubicBezTo>
                <a:cubicBezTo>
                  <a:pt x="143" y="69"/>
                  <a:pt x="144" y="71"/>
                  <a:pt x="144" y="74"/>
                </a:cubicBezTo>
                <a:cubicBezTo>
                  <a:pt x="165" y="78"/>
                  <a:pt x="165" y="78"/>
                  <a:pt x="165" y="78"/>
                </a:cubicBezTo>
                <a:cubicBezTo>
                  <a:pt x="165" y="86"/>
                  <a:pt x="165" y="86"/>
                  <a:pt x="165" y="86"/>
                </a:cubicBezTo>
                <a:cubicBezTo>
                  <a:pt x="144" y="90"/>
                  <a:pt x="144" y="90"/>
                  <a:pt x="144" y="90"/>
                </a:cubicBezTo>
                <a:cubicBezTo>
                  <a:pt x="144" y="93"/>
                  <a:pt x="143" y="95"/>
                  <a:pt x="142" y="98"/>
                </a:cubicBezTo>
                <a:cubicBezTo>
                  <a:pt x="160" y="110"/>
                  <a:pt x="160" y="110"/>
                  <a:pt x="160" y="110"/>
                </a:cubicBezTo>
                <a:cubicBezTo>
                  <a:pt x="157" y="117"/>
                  <a:pt x="157" y="117"/>
                  <a:pt x="157" y="117"/>
                </a:cubicBezTo>
                <a:cubicBezTo>
                  <a:pt x="136" y="113"/>
                  <a:pt x="136" y="113"/>
                  <a:pt x="136" y="113"/>
                </a:cubicBezTo>
                <a:cubicBezTo>
                  <a:pt x="135" y="115"/>
                  <a:pt x="133" y="117"/>
                  <a:pt x="132" y="119"/>
                </a:cubicBezTo>
                <a:cubicBezTo>
                  <a:pt x="143" y="138"/>
                  <a:pt x="143" y="138"/>
                  <a:pt x="143" y="138"/>
                </a:cubicBezTo>
                <a:cubicBezTo>
                  <a:pt x="138" y="143"/>
                  <a:pt x="138" y="143"/>
                  <a:pt x="138" y="143"/>
                </a:cubicBezTo>
                <a:cubicBezTo>
                  <a:pt x="120" y="131"/>
                  <a:pt x="120" y="131"/>
                  <a:pt x="120" y="131"/>
                </a:cubicBezTo>
                <a:cubicBezTo>
                  <a:pt x="118" y="133"/>
                  <a:pt x="116" y="134"/>
                  <a:pt x="114" y="135"/>
                </a:cubicBezTo>
                <a:cubicBezTo>
                  <a:pt x="117" y="157"/>
                  <a:pt x="117" y="157"/>
                  <a:pt x="117" y="157"/>
                </a:cubicBezTo>
                <a:cubicBezTo>
                  <a:pt x="111" y="159"/>
                  <a:pt x="111" y="159"/>
                  <a:pt x="111" y="159"/>
                </a:cubicBezTo>
                <a:cubicBezTo>
                  <a:pt x="98" y="142"/>
                  <a:pt x="98" y="142"/>
                  <a:pt x="98" y="142"/>
                </a:cubicBezTo>
                <a:cubicBezTo>
                  <a:pt x="96" y="142"/>
                  <a:pt x="93" y="143"/>
                  <a:pt x="91" y="143"/>
                </a:cubicBezTo>
                <a:cubicBezTo>
                  <a:pt x="86" y="164"/>
                  <a:pt x="86" y="164"/>
                  <a:pt x="86" y="164"/>
                </a:cubicBezTo>
                <a:cubicBezTo>
                  <a:pt x="79" y="164"/>
                  <a:pt x="79" y="164"/>
                  <a:pt x="79" y="164"/>
                </a:cubicBezTo>
                <a:cubicBezTo>
                  <a:pt x="74" y="143"/>
                  <a:pt x="74" y="143"/>
                  <a:pt x="74" y="143"/>
                </a:cubicBezTo>
                <a:cubicBezTo>
                  <a:pt x="72" y="143"/>
                  <a:pt x="69" y="142"/>
                  <a:pt x="67" y="142"/>
                </a:cubicBezTo>
                <a:cubicBezTo>
                  <a:pt x="54" y="159"/>
                  <a:pt x="54" y="159"/>
                  <a:pt x="54" y="159"/>
                </a:cubicBezTo>
                <a:cubicBezTo>
                  <a:pt x="48" y="157"/>
                  <a:pt x="48" y="157"/>
                  <a:pt x="48" y="157"/>
                </a:cubicBezTo>
                <a:cubicBezTo>
                  <a:pt x="52" y="135"/>
                  <a:pt x="52" y="135"/>
                  <a:pt x="52" y="135"/>
                </a:cubicBezTo>
                <a:cubicBezTo>
                  <a:pt x="49" y="134"/>
                  <a:pt x="47" y="133"/>
                  <a:pt x="45" y="131"/>
                </a:cubicBezTo>
                <a:cubicBezTo>
                  <a:pt x="27" y="143"/>
                  <a:pt x="27" y="143"/>
                  <a:pt x="27" y="143"/>
                </a:cubicBezTo>
                <a:cubicBezTo>
                  <a:pt x="22" y="138"/>
                  <a:pt x="22" y="138"/>
                  <a:pt x="22" y="138"/>
                </a:cubicBezTo>
                <a:cubicBezTo>
                  <a:pt x="33" y="119"/>
                  <a:pt x="33" y="119"/>
                  <a:pt x="33" y="119"/>
                </a:cubicBezTo>
                <a:cubicBezTo>
                  <a:pt x="32" y="117"/>
                  <a:pt x="30" y="115"/>
                  <a:pt x="29" y="113"/>
                </a:cubicBezTo>
                <a:cubicBezTo>
                  <a:pt x="8" y="117"/>
                  <a:pt x="8" y="117"/>
                  <a:pt x="8" y="117"/>
                </a:cubicBezTo>
                <a:cubicBezTo>
                  <a:pt x="5" y="110"/>
                  <a:pt x="5" y="110"/>
                  <a:pt x="5" y="110"/>
                </a:cubicBezTo>
                <a:cubicBezTo>
                  <a:pt x="23" y="98"/>
                  <a:pt x="23" y="98"/>
                  <a:pt x="23" y="98"/>
                </a:cubicBezTo>
                <a:cubicBezTo>
                  <a:pt x="22" y="95"/>
                  <a:pt x="21" y="93"/>
                  <a:pt x="21" y="90"/>
                </a:cubicBezTo>
                <a:cubicBezTo>
                  <a:pt x="0" y="86"/>
                  <a:pt x="0" y="86"/>
                  <a:pt x="0" y="86"/>
                </a:cubicBezTo>
                <a:cubicBezTo>
                  <a:pt x="0" y="78"/>
                  <a:pt x="0" y="78"/>
                  <a:pt x="0" y="78"/>
                </a:cubicBezTo>
                <a:cubicBezTo>
                  <a:pt x="21" y="74"/>
                  <a:pt x="21" y="74"/>
                  <a:pt x="21" y="74"/>
                </a:cubicBezTo>
                <a:cubicBezTo>
                  <a:pt x="21" y="71"/>
                  <a:pt x="22" y="69"/>
                  <a:pt x="23" y="66"/>
                </a:cubicBezTo>
                <a:cubicBezTo>
                  <a:pt x="5" y="54"/>
                  <a:pt x="5" y="54"/>
                  <a:pt x="5" y="54"/>
                </a:cubicBezTo>
                <a:cubicBezTo>
                  <a:pt x="8" y="47"/>
                  <a:pt x="8" y="47"/>
                  <a:pt x="8" y="47"/>
                </a:cubicBezTo>
                <a:cubicBezTo>
                  <a:pt x="29" y="51"/>
                  <a:pt x="29" y="51"/>
                  <a:pt x="29" y="51"/>
                </a:cubicBezTo>
                <a:cubicBezTo>
                  <a:pt x="30" y="49"/>
                  <a:pt x="32" y="46"/>
                  <a:pt x="33" y="44"/>
                </a:cubicBezTo>
                <a:cubicBezTo>
                  <a:pt x="22" y="26"/>
                  <a:pt x="22" y="26"/>
                  <a:pt x="22" y="26"/>
                </a:cubicBezTo>
                <a:cubicBezTo>
                  <a:pt x="27" y="21"/>
                  <a:pt x="27" y="21"/>
                  <a:pt x="27" y="21"/>
                </a:cubicBezTo>
                <a:cubicBezTo>
                  <a:pt x="45" y="33"/>
                  <a:pt x="45" y="33"/>
                  <a:pt x="45" y="33"/>
                </a:cubicBezTo>
                <a:cubicBezTo>
                  <a:pt x="47" y="31"/>
                  <a:pt x="49" y="30"/>
                  <a:pt x="51" y="28"/>
                </a:cubicBezTo>
                <a:cubicBezTo>
                  <a:pt x="48" y="7"/>
                  <a:pt x="48" y="7"/>
                  <a:pt x="48" y="7"/>
                </a:cubicBezTo>
                <a:cubicBezTo>
                  <a:pt x="54" y="4"/>
                  <a:pt x="54" y="4"/>
                  <a:pt x="54" y="4"/>
                </a:cubicBezTo>
                <a:cubicBezTo>
                  <a:pt x="67" y="22"/>
                  <a:pt x="67" y="22"/>
                  <a:pt x="67" y="22"/>
                </a:cubicBezTo>
                <a:cubicBezTo>
                  <a:pt x="69" y="21"/>
                  <a:pt x="72" y="21"/>
                  <a:pt x="74" y="21"/>
                </a:cubicBezTo>
                <a:cubicBezTo>
                  <a:pt x="79" y="0"/>
                  <a:pt x="79" y="0"/>
                  <a:pt x="79" y="0"/>
                </a:cubicBezTo>
                <a:close/>
                <a:moveTo>
                  <a:pt x="83" y="32"/>
                </a:moveTo>
                <a:cubicBezTo>
                  <a:pt x="110" y="32"/>
                  <a:pt x="132" y="55"/>
                  <a:pt x="132" y="82"/>
                </a:cubicBezTo>
                <a:cubicBezTo>
                  <a:pt x="132" y="109"/>
                  <a:pt x="110" y="131"/>
                  <a:pt x="83" y="131"/>
                </a:cubicBezTo>
                <a:cubicBezTo>
                  <a:pt x="55" y="131"/>
                  <a:pt x="33" y="109"/>
                  <a:pt x="33" y="82"/>
                </a:cubicBezTo>
                <a:cubicBezTo>
                  <a:pt x="33" y="55"/>
                  <a:pt x="55" y="32"/>
                  <a:pt x="83" y="32"/>
                </a:cubicBezTo>
                <a:close/>
              </a:path>
            </a:pathLst>
          </a:custGeom>
          <a:solidFill>
            <a:srgbClr val="DED46E"/>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 name="Oval 8"/>
          <p:cNvSpPr>
            <a:spLocks noChangeArrowheads="1"/>
          </p:cNvSpPr>
          <p:nvPr/>
        </p:nvSpPr>
        <p:spPr bwMode="auto">
          <a:xfrm>
            <a:off x="922790" y="2798764"/>
            <a:ext cx="1109663" cy="1098550"/>
          </a:xfrm>
          <a:prstGeom prst="ellipse">
            <a:avLst/>
          </a:prstGeom>
          <a:solidFill>
            <a:srgbClr val="CCCDCA"/>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 name="Freeform 9"/>
          <p:cNvSpPr>
            <a:spLocks noEditPoints="1"/>
          </p:cNvSpPr>
          <p:nvPr/>
        </p:nvSpPr>
        <p:spPr bwMode="auto">
          <a:xfrm>
            <a:off x="638627" y="2527301"/>
            <a:ext cx="1679575" cy="1652588"/>
          </a:xfrm>
          <a:custGeom>
            <a:avLst/>
            <a:gdLst>
              <a:gd name="T0" fmla="*/ 86 w 165"/>
              <a:gd name="T1" fmla="*/ 0 h 164"/>
              <a:gd name="T2" fmla="*/ 98 w 165"/>
              <a:gd name="T3" fmla="*/ 22 h 164"/>
              <a:gd name="T4" fmla="*/ 117 w 165"/>
              <a:gd name="T5" fmla="*/ 7 h 164"/>
              <a:gd name="T6" fmla="*/ 120 w 165"/>
              <a:gd name="T7" fmla="*/ 33 h 164"/>
              <a:gd name="T8" fmla="*/ 143 w 165"/>
              <a:gd name="T9" fmla="*/ 26 h 164"/>
              <a:gd name="T10" fmla="*/ 136 w 165"/>
              <a:gd name="T11" fmla="*/ 51 h 164"/>
              <a:gd name="T12" fmla="*/ 160 w 165"/>
              <a:gd name="T13" fmla="*/ 54 h 164"/>
              <a:gd name="T14" fmla="*/ 144 w 165"/>
              <a:gd name="T15" fmla="*/ 74 h 164"/>
              <a:gd name="T16" fmla="*/ 165 w 165"/>
              <a:gd name="T17" fmla="*/ 86 h 164"/>
              <a:gd name="T18" fmla="*/ 142 w 165"/>
              <a:gd name="T19" fmla="*/ 98 h 164"/>
              <a:gd name="T20" fmla="*/ 157 w 165"/>
              <a:gd name="T21" fmla="*/ 117 h 164"/>
              <a:gd name="T22" fmla="*/ 132 w 165"/>
              <a:gd name="T23" fmla="*/ 119 h 164"/>
              <a:gd name="T24" fmla="*/ 138 w 165"/>
              <a:gd name="T25" fmla="*/ 143 h 164"/>
              <a:gd name="T26" fmla="*/ 114 w 165"/>
              <a:gd name="T27" fmla="*/ 135 h 164"/>
              <a:gd name="T28" fmla="*/ 111 w 165"/>
              <a:gd name="T29" fmla="*/ 159 h 164"/>
              <a:gd name="T30" fmla="*/ 91 w 165"/>
              <a:gd name="T31" fmla="*/ 143 h 164"/>
              <a:gd name="T32" fmla="*/ 79 w 165"/>
              <a:gd name="T33" fmla="*/ 164 h 164"/>
              <a:gd name="T34" fmla="*/ 67 w 165"/>
              <a:gd name="T35" fmla="*/ 142 h 164"/>
              <a:gd name="T36" fmla="*/ 48 w 165"/>
              <a:gd name="T37" fmla="*/ 157 h 164"/>
              <a:gd name="T38" fmla="*/ 45 w 165"/>
              <a:gd name="T39" fmla="*/ 131 h 164"/>
              <a:gd name="T40" fmla="*/ 22 w 165"/>
              <a:gd name="T41" fmla="*/ 138 h 164"/>
              <a:gd name="T42" fmla="*/ 29 w 165"/>
              <a:gd name="T43" fmla="*/ 113 h 164"/>
              <a:gd name="T44" fmla="*/ 5 w 165"/>
              <a:gd name="T45" fmla="*/ 110 h 164"/>
              <a:gd name="T46" fmla="*/ 21 w 165"/>
              <a:gd name="T47" fmla="*/ 90 h 164"/>
              <a:gd name="T48" fmla="*/ 0 w 165"/>
              <a:gd name="T49" fmla="*/ 78 h 164"/>
              <a:gd name="T50" fmla="*/ 23 w 165"/>
              <a:gd name="T51" fmla="*/ 66 h 164"/>
              <a:gd name="T52" fmla="*/ 8 w 165"/>
              <a:gd name="T53" fmla="*/ 47 h 164"/>
              <a:gd name="T54" fmla="*/ 33 w 165"/>
              <a:gd name="T55" fmla="*/ 44 h 164"/>
              <a:gd name="T56" fmla="*/ 27 w 165"/>
              <a:gd name="T57" fmla="*/ 21 h 164"/>
              <a:gd name="T58" fmla="*/ 51 w 165"/>
              <a:gd name="T59" fmla="*/ 28 h 164"/>
              <a:gd name="T60" fmla="*/ 54 w 165"/>
              <a:gd name="T61" fmla="*/ 4 h 164"/>
              <a:gd name="T62" fmla="*/ 74 w 165"/>
              <a:gd name="T63" fmla="*/ 21 h 164"/>
              <a:gd name="T64" fmla="*/ 83 w 165"/>
              <a:gd name="T65" fmla="*/ 32 h 164"/>
              <a:gd name="T66" fmla="*/ 83 w 165"/>
              <a:gd name="T67" fmla="*/ 131 h 164"/>
              <a:gd name="T68" fmla="*/ 83 w 165"/>
              <a:gd name="T69" fmla="*/ 32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5" h="164">
                <a:moveTo>
                  <a:pt x="79" y="0"/>
                </a:moveTo>
                <a:cubicBezTo>
                  <a:pt x="86" y="0"/>
                  <a:pt x="86" y="0"/>
                  <a:pt x="86" y="0"/>
                </a:cubicBezTo>
                <a:cubicBezTo>
                  <a:pt x="91" y="21"/>
                  <a:pt x="91" y="21"/>
                  <a:pt x="91" y="21"/>
                </a:cubicBezTo>
                <a:cubicBezTo>
                  <a:pt x="93" y="21"/>
                  <a:pt x="96" y="21"/>
                  <a:pt x="98" y="22"/>
                </a:cubicBezTo>
                <a:cubicBezTo>
                  <a:pt x="111" y="4"/>
                  <a:pt x="111" y="4"/>
                  <a:pt x="111" y="4"/>
                </a:cubicBezTo>
                <a:cubicBezTo>
                  <a:pt x="117" y="7"/>
                  <a:pt x="117" y="7"/>
                  <a:pt x="117" y="7"/>
                </a:cubicBezTo>
                <a:cubicBezTo>
                  <a:pt x="114" y="28"/>
                  <a:pt x="114" y="28"/>
                  <a:pt x="114" y="28"/>
                </a:cubicBezTo>
                <a:cubicBezTo>
                  <a:pt x="116" y="30"/>
                  <a:pt x="118" y="31"/>
                  <a:pt x="120" y="33"/>
                </a:cubicBezTo>
                <a:cubicBezTo>
                  <a:pt x="138" y="21"/>
                  <a:pt x="138" y="21"/>
                  <a:pt x="138" y="21"/>
                </a:cubicBezTo>
                <a:cubicBezTo>
                  <a:pt x="143" y="26"/>
                  <a:pt x="143" y="26"/>
                  <a:pt x="143" y="26"/>
                </a:cubicBezTo>
                <a:cubicBezTo>
                  <a:pt x="132" y="44"/>
                  <a:pt x="132" y="44"/>
                  <a:pt x="132" y="44"/>
                </a:cubicBezTo>
                <a:cubicBezTo>
                  <a:pt x="133" y="46"/>
                  <a:pt x="135" y="49"/>
                  <a:pt x="136" y="51"/>
                </a:cubicBezTo>
                <a:cubicBezTo>
                  <a:pt x="157" y="47"/>
                  <a:pt x="157" y="47"/>
                  <a:pt x="157" y="47"/>
                </a:cubicBezTo>
                <a:cubicBezTo>
                  <a:pt x="160" y="54"/>
                  <a:pt x="160" y="54"/>
                  <a:pt x="160" y="54"/>
                </a:cubicBezTo>
                <a:cubicBezTo>
                  <a:pt x="142" y="66"/>
                  <a:pt x="142" y="66"/>
                  <a:pt x="142" y="66"/>
                </a:cubicBezTo>
                <a:cubicBezTo>
                  <a:pt x="143" y="69"/>
                  <a:pt x="144" y="71"/>
                  <a:pt x="144" y="74"/>
                </a:cubicBezTo>
                <a:cubicBezTo>
                  <a:pt x="165" y="78"/>
                  <a:pt x="165" y="78"/>
                  <a:pt x="165" y="78"/>
                </a:cubicBezTo>
                <a:cubicBezTo>
                  <a:pt x="165" y="86"/>
                  <a:pt x="165" y="86"/>
                  <a:pt x="165" y="86"/>
                </a:cubicBezTo>
                <a:cubicBezTo>
                  <a:pt x="144" y="90"/>
                  <a:pt x="144" y="90"/>
                  <a:pt x="144" y="90"/>
                </a:cubicBezTo>
                <a:cubicBezTo>
                  <a:pt x="144" y="93"/>
                  <a:pt x="143" y="95"/>
                  <a:pt x="142" y="98"/>
                </a:cubicBezTo>
                <a:cubicBezTo>
                  <a:pt x="160" y="110"/>
                  <a:pt x="160" y="110"/>
                  <a:pt x="160" y="110"/>
                </a:cubicBezTo>
                <a:cubicBezTo>
                  <a:pt x="157" y="117"/>
                  <a:pt x="157" y="117"/>
                  <a:pt x="157" y="117"/>
                </a:cubicBezTo>
                <a:cubicBezTo>
                  <a:pt x="136" y="113"/>
                  <a:pt x="136" y="113"/>
                  <a:pt x="136" y="113"/>
                </a:cubicBezTo>
                <a:cubicBezTo>
                  <a:pt x="135" y="115"/>
                  <a:pt x="133" y="117"/>
                  <a:pt x="132" y="119"/>
                </a:cubicBezTo>
                <a:cubicBezTo>
                  <a:pt x="143" y="138"/>
                  <a:pt x="143" y="138"/>
                  <a:pt x="143" y="138"/>
                </a:cubicBezTo>
                <a:cubicBezTo>
                  <a:pt x="138" y="143"/>
                  <a:pt x="138" y="143"/>
                  <a:pt x="138" y="143"/>
                </a:cubicBezTo>
                <a:cubicBezTo>
                  <a:pt x="120" y="131"/>
                  <a:pt x="120" y="131"/>
                  <a:pt x="120" y="131"/>
                </a:cubicBezTo>
                <a:cubicBezTo>
                  <a:pt x="118" y="133"/>
                  <a:pt x="116" y="134"/>
                  <a:pt x="114" y="135"/>
                </a:cubicBezTo>
                <a:cubicBezTo>
                  <a:pt x="117" y="157"/>
                  <a:pt x="117" y="157"/>
                  <a:pt x="117" y="157"/>
                </a:cubicBezTo>
                <a:cubicBezTo>
                  <a:pt x="111" y="159"/>
                  <a:pt x="111" y="159"/>
                  <a:pt x="111" y="159"/>
                </a:cubicBezTo>
                <a:cubicBezTo>
                  <a:pt x="98" y="142"/>
                  <a:pt x="98" y="142"/>
                  <a:pt x="98" y="142"/>
                </a:cubicBezTo>
                <a:cubicBezTo>
                  <a:pt x="96" y="142"/>
                  <a:pt x="93" y="143"/>
                  <a:pt x="91" y="143"/>
                </a:cubicBezTo>
                <a:cubicBezTo>
                  <a:pt x="86" y="164"/>
                  <a:pt x="86" y="164"/>
                  <a:pt x="86" y="164"/>
                </a:cubicBezTo>
                <a:cubicBezTo>
                  <a:pt x="79" y="164"/>
                  <a:pt x="79" y="164"/>
                  <a:pt x="79" y="164"/>
                </a:cubicBezTo>
                <a:cubicBezTo>
                  <a:pt x="74" y="143"/>
                  <a:pt x="74" y="143"/>
                  <a:pt x="74" y="143"/>
                </a:cubicBezTo>
                <a:cubicBezTo>
                  <a:pt x="72" y="143"/>
                  <a:pt x="69" y="142"/>
                  <a:pt x="67" y="142"/>
                </a:cubicBezTo>
                <a:cubicBezTo>
                  <a:pt x="54" y="159"/>
                  <a:pt x="54" y="159"/>
                  <a:pt x="54" y="159"/>
                </a:cubicBezTo>
                <a:cubicBezTo>
                  <a:pt x="48" y="157"/>
                  <a:pt x="48" y="157"/>
                  <a:pt x="48" y="157"/>
                </a:cubicBezTo>
                <a:cubicBezTo>
                  <a:pt x="52" y="135"/>
                  <a:pt x="52" y="135"/>
                  <a:pt x="52" y="135"/>
                </a:cubicBezTo>
                <a:cubicBezTo>
                  <a:pt x="49" y="134"/>
                  <a:pt x="47" y="133"/>
                  <a:pt x="45" y="131"/>
                </a:cubicBezTo>
                <a:cubicBezTo>
                  <a:pt x="27" y="143"/>
                  <a:pt x="27" y="143"/>
                  <a:pt x="27" y="143"/>
                </a:cubicBezTo>
                <a:cubicBezTo>
                  <a:pt x="22" y="138"/>
                  <a:pt x="22" y="138"/>
                  <a:pt x="22" y="138"/>
                </a:cubicBezTo>
                <a:cubicBezTo>
                  <a:pt x="33" y="119"/>
                  <a:pt x="33" y="119"/>
                  <a:pt x="33" y="119"/>
                </a:cubicBezTo>
                <a:cubicBezTo>
                  <a:pt x="32" y="117"/>
                  <a:pt x="30" y="115"/>
                  <a:pt x="29" y="113"/>
                </a:cubicBezTo>
                <a:cubicBezTo>
                  <a:pt x="8" y="117"/>
                  <a:pt x="8" y="117"/>
                  <a:pt x="8" y="117"/>
                </a:cubicBezTo>
                <a:cubicBezTo>
                  <a:pt x="5" y="110"/>
                  <a:pt x="5" y="110"/>
                  <a:pt x="5" y="110"/>
                </a:cubicBezTo>
                <a:cubicBezTo>
                  <a:pt x="23" y="98"/>
                  <a:pt x="23" y="98"/>
                  <a:pt x="23" y="98"/>
                </a:cubicBezTo>
                <a:cubicBezTo>
                  <a:pt x="22" y="95"/>
                  <a:pt x="21" y="93"/>
                  <a:pt x="21" y="90"/>
                </a:cubicBezTo>
                <a:cubicBezTo>
                  <a:pt x="0" y="86"/>
                  <a:pt x="0" y="86"/>
                  <a:pt x="0" y="86"/>
                </a:cubicBezTo>
                <a:cubicBezTo>
                  <a:pt x="0" y="78"/>
                  <a:pt x="0" y="78"/>
                  <a:pt x="0" y="78"/>
                </a:cubicBezTo>
                <a:cubicBezTo>
                  <a:pt x="21" y="74"/>
                  <a:pt x="21" y="74"/>
                  <a:pt x="21" y="74"/>
                </a:cubicBezTo>
                <a:cubicBezTo>
                  <a:pt x="21" y="71"/>
                  <a:pt x="22" y="69"/>
                  <a:pt x="23" y="66"/>
                </a:cubicBezTo>
                <a:cubicBezTo>
                  <a:pt x="5" y="54"/>
                  <a:pt x="5" y="54"/>
                  <a:pt x="5" y="54"/>
                </a:cubicBezTo>
                <a:cubicBezTo>
                  <a:pt x="8" y="47"/>
                  <a:pt x="8" y="47"/>
                  <a:pt x="8" y="47"/>
                </a:cubicBezTo>
                <a:cubicBezTo>
                  <a:pt x="29" y="51"/>
                  <a:pt x="29" y="51"/>
                  <a:pt x="29" y="51"/>
                </a:cubicBezTo>
                <a:cubicBezTo>
                  <a:pt x="30" y="49"/>
                  <a:pt x="32" y="46"/>
                  <a:pt x="33" y="44"/>
                </a:cubicBezTo>
                <a:cubicBezTo>
                  <a:pt x="22" y="26"/>
                  <a:pt x="22" y="26"/>
                  <a:pt x="22" y="26"/>
                </a:cubicBezTo>
                <a:cubicBezTo>
                  <a:pt x="27" y="21"/>
                  <a:pt x="27" y="21"/>
                  <a:pt x="27" y="21"/>
                </a:cubicBezTo>
                <a:cubicBezTo>
                  <a:pt x="45" y="33"/>
                  <a:pt x="45" y="33"/>
                  <a:pt x="45" y="33"/>
                </a:cubicBezTo>
                <a:cubicBezTo>
                  <a:pt x="47" y="31"/>
                  <a:pt x="49" y="30"/>
                  <a:pt x="51" y="28"/>
                </a:cubicBezTo>
                <a:cubicBezTo>
                  <a:pt x="48" y="7"/>
                  <a:pt x="48" y="7"/>
                  <a:pt x="48" y="7"/>
                </a:cubicBezTo>
                <a:cubicBezTo>
                  <a:pt x="54" y="4"/>
                  <a:pt x="54" y="4"/>
                  <a:pt x="54" y="4"/>
                </a:cubicBezTo>
                <a:cubicBezTo>
                  <a:pt x="67" y="22"/>
                  <a:pt x="67" y="22"/>
                  <a:pt x="67" y="22"/>
                </a:cubicBezTo>
                <a:cubicBezTo>
                  <a:pt x="69" y="21"/>
                  <a:pt x="72" y="21"/>
                  <a:pt x="74" y="21"/>
                </a:cubicBezTo>
                <a:cubicBezTo>
                  <a:pt x="79" y="0"/>
                  <a:pt x="79" y="0"/>
                  <a:pt x="79" y="0"/>
                </a:cubicBezTo>
                <a:close/>
                <a:moveTo>
                  <a:pt x="83" y="32"/>
                </a:moveTo>
                <a:cubicBezTo>
                  <a:pt x="110" y="32"/>
                  <a:pt x="132" y="55"/>
                  <a:pt x="132" y="82"/>
                </a:cubicBezTo>
                <a:cubicBezTo>
                  <a:pt x="132" y="109"/>
                  <a:pt x="110" y="131"/>
                  <a:pt x="83" y="131"/>
                </a:cubicBezTo>
                <a:cubicBezTo>
                  <a:pt x="55" y="131"/>
                  <a:pt x="33" y="109"/>
                  <a:pt x="33" y="82"/>
                </a:cubicBezTo>
                <a:cubicBezTo>
                  <a:pt x="33" y="55"/>
                  <a:pt x="55" y="32"/>
                  <a:pt x="83" y="32"/>
                </a:cubicBezTo>
                <a:close/>
              </a:path>
            </a:pathLst>
          </a:custGeom>
          <a:solidFill>
            <a:srgbClr val="4B5754"/>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 name="Oval 10"/>
          <p:cNvSpPr>
            <a:spLocks noChangeArrowheads="1"/>
          </p:cNvSpPr>
          <p:nvPr/>
        </p:nvSpPr>
        <p:spPr bwMode="auto">
          <a:xfrm>
            <a:off x="1289502" y="4351339"/>
            <a:ext cx="1109663" cy="1098550"/>
          </a:xfrm>
          <a:prstGeom prst="ellipse">
            <a:avLst/>
          </a:prstGeom>
          <a:solidFill>
            <a:srgbClr val="FEE78E"/>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 name="Freeform 11"/>
          <p:cNvSpPr>
            <a:spLocks noEditPoints="1"/>
          </p:cNvSpPr>
          <p:nvPr/>
        </p:nvSpPr>
        <p:spPr bwMode="auto">
          <a:xfrm>
            <a:off x="1014865" y="4068764"/>
            <a:ext cx="1670050" cy="1663700"/>
          </a:xfrm>
          <a:custGeom>
            <a:avLst/>
            <a:gdLst>
              <a:gd name="T0" fmla="*/ 57 w 164"/>
              <a:gd name="T1" fmla="*/ 4 h 165"/>
              <a:gd name="T2" fmla="*/ 51 w 164"/>
              <a:gd name="T3" fmla="*/ 29 h 165"/>
              <a:gd name="T4" fmla="*/ 29 w 164"/>
              <a:gd name="T5" fmla="*/ 19 h 165"/>
              <a:gd name="T6" fmla="*/ 33 w 164"/>
              <a:gd name="T7" fmla="*/ 45 h 165"/>
              <a:gd name="T8" fmla="*/ 9 w 164"/>
              <a:gd name="T9" fmla="*/ 45 h 165"/>
              <a:gd name="T10" fmla="*/ 22 w 164"/>
              <a:gd name="T11" fmla="*/ 66 h 165"/>
              <a:gd name="T12" fmla="*/ 0 w 164"/>
              <a:gd name="T13" fmla="*/ 75 h 165"/>
              <a:gd name="T14" fmla="*/ 21 w 164"/>
              <a:gd name="T15" fmla="*/ 91 h 165"/>
              <a:gd name="T16" fmla="*/ 3 w 164"/>
              <a:gd name="T17" fmla="*/ 107 h 165"/>
              <a:gd name="T18" fmla="*/ 28 w 164"/>
              <a:gd name="T19" fmla="*/ 113 h 165"/>
              <a:gd name="T20" fmla="*/ 19 w 164"/>
              <a:gd name="T21" fmla="*/ 136 h 165"/>
              <a:gd name="T22" fmla="*/ 44 w 164"/>
              <a:gd name="T23" fmla="*/ 132 h 165"/>
              <a:gd name="T24" fmla="*/ 44 w 164"/>
              <a:gd name="T25" fmla="*/ 156 h 165"/>
              <a:gd name="T26" fmla="*/ 66 w 164"/>
              <a:gd name="T27" fmla="*/ 142 h 165"/>
              <a:gd name="T28" fmla="*/ 75 w 164"/>
              <a:gd name="T29" fmla="*/ 165 h 165"/>
              <a:gd name="T30" fmla="*/ 90 w 164"/>
              <a:gd name="T31" fmla="*/ 144 h 165"/>
              <a:gd name="T32" fmla="*/ 107 w 164"/>
              <a:gd name="T33" fmla="*/ 161 h 165"/>
              <a:gd name="T34" fmla="*/ 113 w 164"/>
              <a:gd name="T35" fmla="*/ 136 h 165"/>
              <a:gd name="T36" fmla="*/ 135 w 164"/>
              <a:gd name="T37" fmla="*/ 146 h 165"/>
              <a:gd name="T38" fmla="*/ 131 w 164"/>
              <a:gd name="T39" fmla="*/ 120 h 165"/>
              <a:gd name="T40" fmla="*/ 155 w 164"/>
              <a:gd name="T41" fmla="*/ 121 h 165"/>
              <a:gd name="T42" fmla="*/ 142 w 164"/>
              <a:gd name="T43" fmla="*/ 99 h 165"/>
              <a:gd name="T44" fmla="*/ 164 w 164"/>
              <a:gd name="T45" fmla="*/ 90 h 165"/>
              <a:gd name="T46" fmla="*/ 143 w 164"/>
              <a:gd name="T47" fmla="*/ 75 h 165"/>
              <a:gd name="T48" fmla="*/ 161 w 164"/>
              <a:gd name="T49" fmla="*/ 58 h 165"/>
              <a:gd name="T50" fmla="*/ 136 w 164"/>
              <a:gd name="T51" fmla="*/ 52 h 165"/>
              <a:gd name="T52" fmla="*/ 145 w 164"/>
              <a:gd name="T53" fmla="*/ 30 h 165"/>
              <a:gd name="T54" fmla="*/ 120 w 164"/>
              <a:gd name="T55" fmla="*/ 34 h 165"/>
              <a:gd name="T56" fmla="*/ 120 w 164"/>
              <a:gd name="T57" fmla="*/ 9 h 165"/>
              <a:gd name="T58" fmla="*/ 98 w 164"/>
              <a:gd name="T59" fmla="*/ 23 h 165"/>
              <a:gd name="T60" fmla="*/ 89 w 164"/>
              <a:gd name="T61" fmla="*/ 0 h 165"/>
              <a:gd name="T62" fmla="*/ 74 w 164"/>
              <a:gd name="T63" fmla="*/ 21 h 165"/>
              <a:gd name="T64" fmla="*/ 69 w 164"/>
              <a:gd name="T65" fmla="*/ 35 h 165"/>
              <a:gd name="T66" fmla="*/ 95 w 164"/>
              <a:gd name="T67" fmla="*/ 130 h 165"/>
              <a:gd name="T68" fmla="*/ 69 w 164"/>
              <a:gd name="T69" fmla="*/ 35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4" h="165">
                <a:moveTo>
                  <a:pt x="64" y="2"/>
                </a:moveTo>
                <a:cubicBezTo>
                  <a:pt x="57" y="4"/>
                  <a:pt x="57" y="4"/>
                  <a:pt x="57" y="4"/>
                </a:cubicBezTo>
                <a:cubicBezTo>
                  <a:pt x="58" y="25"/>
                  <a:pt x="58" y="25"/>
                  <a:pt x="58" y="25"/>
                </a:cubicBezTo>
                <a:cubicBezTo>
                  <a:pt x="56" y="26"/>
                  <a:pt x="53" y="28"/>
                  <a:pt x="51" y="29"/>
                </a:cubicBezTo>
                <a:cubicBezTo>
                  <a:pt x="35" y="15"/>
                  <a:pt x="35" y="15"/>
                  <a:pt x="35" y="15"/>
                </a:cubicBezTo>
                <a:cubicBezTo>
                  <a:pt x="29" y="19"/>
                  <a:pt x="29" y="19"/>
                  <a:pt x="29" y="19"/>
                </a:cubicBezTo>
                <a:cubicBezTo>
                  <a:pt x="38" y="39"/>
                  <a:pt x="38" y="39"/>
                  <a:pt x="38" y="39"/>
                </a:cubicBezTo>
                <a:cubicBezTo>
                  <a:pt x="36" y="41"/>
                  <a:pt x="34" y="43"/>
                  <a:pt x="33" y="45"/>
                </a:cubicBezTo>
                <a:cubicBezTo>
                  <a:pt x="12" y="38"/>
                  <a:pt x="12" y="38"/>
                  <a:pt x="12" y="38"/>
                </a:cubicBezTo>
                <a:cubicBezTo>
                  <a:pt x="9" y="45"/>
                  <a:pt x="9" y="45"/>
                  <a:pt x="9" y="45"/>
                </a:cubicBezTo>
                <a:cubicBezTo>
                  <a:pt x="25" y="59"/>
                  <a:pt x="25" y="59"/>
                  <a:pt x="25" y="59"/>
                </a:cubicBezTo>
                <a:cubicBezTo>
                  <a:pt x="24" y="61"/>
                  <a:pt x="23" y="64"/>
                  <a:pt x="22" y="66"/>
                </a:cubicBezTo>
                <a:cubicBezTo>
                  <a:pt x="1" y="68"/>
                  <a:pt x="1" y="68"/>
                  <a:pt x="1" y="68"/>
                </a:cubicBezTo>
                <a:cubicBezTo>
                  <a:pt x="0" y="75"/>
                  <a:pt x="0" y="75"/>
                  <a:pt x="0" y="75"/>
                </a:cubicBezTo>
                <a:cubicBezTo>
                  <a:pt x="20" y="83"/>
                  <a:pt x="20" y="83"/>
                  <a:pt x="20" y="83"/>
                </a:cubicBezTo>
                <a:cubicBezTo>
                  <a:pt x="20" y="85"/>
                  <a:pt x="20" y="88"/>
                  <a:pt x="21" y="91"/>
                </a:cubicBezTo>
                <a:cubicBezTo>
                  <a:pt x="1" y="100"/>
                  <a:pt x="1" y="100"/>
                  <a:pt x="1" y="100"/>
                </a:cubicBezTo>
                <a:cubicBezTo>
                  <a:pt x="3" y="107"/>
                  <a:pt x="3" y="107"/>
                  <a:pt x="3" y="107"/>
                </a:cubicBezTo>
                <a:cubicBezTo>
                  <a:pt x="25" y="106"/>
                  <a:pt x="25" y="106"/>
                  <a:pt x="25" y="106"/>
                </a:cubicBezTo>
                <a:cubicBezTo>
                  <a:pt x="26" y="109"/>
                  <a:pt x="27" y="111"/>
                  <a:pt x="28" y="113"/>
                </a:cubicBezTo>
                <a:cubicBezTo>
                  <a:pt x="14" y="130"/>
                  <a:pt x="14" y="130"/>
                  <a:pt x="14" y="130"/>
                </a:cubicBezTo>
                <a:cubicBezTo>
                  <a:pt x="19" y="136"/>
                  <a:pt x="19" y="136"/>
                  <a:pt x="19" y="136"/>
                </a:cubicBezTo>
                <a:cubicBezTo>
                  <a:pt x="38" y="126"/>
                  <a:pt x="38" y="126"/>
                  <a:pt x="38" y="126"/>
                </a:cubicBezTo>
                <a:cubicBezTo>
                  <a:pt x="40" y="128"/>
                  <a:pt x="42" y="130"/>
                  <a:pt x="44" y="132"/>
                </a:cubicBezTo>
                <a:cubicBezTo>
                  <a:pt x="38" y="152"/>
                  <a:pt x="38" y="152"/>
                  <a:pt x="38" y="152"/>
                </a:cubicBezTo>
                <a:cubicBezTo>
                  <a:pt x="44" y="156"/>
                  <a:pt x="44" y="156"/>
                  <a:pt x="44" y="156"/>
                </a:cubicBezTo>
                <a:cubicBezTo>
                  <a:pt x="58" y="140"/>
                  <a:pt x="58" y="140"/>
                  <a:pt x="58" y="140"/>
                </a:cubicBezTo>
                <a:cubicBezTo>
                  <a:pt x="61" y="141"/>
                  <a:pt x="63" y="142"/>
                  <a:pt x="66" y="142"/>
                </a:cubicBezTo>
                <a:cubicBezTo>
                  <a:pt x="68" y="164"/>
                  <a:pt x="68" y="164"/>
                  <a:pt x="68" y="164"/>
                </a:cubicBezTo>
                <a:cubicBezTo>
                  <a:pt x="75" y="165"/>
                  <a:pt x="75" y="165"/>
                  <a:pt x="75" y="165"/>
                </a:cubicBezTo>
                <a:cubicBezTo>
                  <a:pt x="82" y="144"/>
                  <a:pt x="82" y="144"/>
                  <a:pt x="82" y="144"/>
                </a:cubicBezTo>
                <a:cubicBezTo>
                  <a:pt x="85" y="145"/>
                  <a:pt x="87" y="144"/>
                  <a:pt x="90" y="144"/>
                </a:cubicBezTo>
                <a:cubicBezTo>
                  <a:pt x="100" y="163"/>
                  <a:pt x="100" y="163"/>
                  <a:pt x="100" y="163"/>
                </a:cubicBezTo>
                <a:cubicBezTo>
                  <a:pt x="107" y="161"/>
                  <a:pt x="107" y="161"/>
                  <a:pt x="107" y="161"/>
                </a:cubicBezTo>
                <a:cubicBezTo>
                  <a:pt x="106" y="140"/>
                  <a:pt x="106" y="140"/>
                  <a:pt x="106" y="140"/>
                </a:cubicBezTo>
                <a:cubicBezTo>
                  <a:pt x="108" y="139"/>
                  <a:pt x="111" y="138"/>
                  <a:pt x="113" y="136"/>
                </a:cubicBezTo>
                <a:cubicBezTo>
                  <a:pt x="129" y="150"/>
                  <a:pt x="129" y="150"/>
                  <a:pt x="129" y="150"/>
                </a:cubicBezTo>
                <a:cubicBezTo>
                  <a:pt x="135" y="146"/>
                  <a:pt x="135" y="146"/>
                  <a:pt x="135" y="146"/>
                </a:cubicBezTo>
                <a:cubicBezTo>
                  <a:pt x="126" y="126"/>
                  <a:pt x="126" y="126"/>
                  <a:pt x="126" y="126"/>
                </a:cubicBezTo>
                <a:cubicBezTo>
                  <a:pt x="128" y="124"/>
                  <a:pt x="129" y="123"/>
                  <a:pt x="131" y="120"/>
                </a:cubicBezTo>
                <a:cubicBezTo>
                  <a:pt x="151" y="127"/>
                  <a:pt x="151" y="127"/>
                  <a:pt x="151" y="127"/>
                </a:cubicBezTo>
                <a:cubicBezTo>
                  <a:pt x="155" y="121"/>
                  <a:pt x="155" y="121"/>
                  <a:pt x="155" y="121"/>
                </a:cubicBezTo>
                <a:cubicBezTo>
                  <a:pt x="139" y="106"/>
                  <a:pt x="139" y="106"/>
                  <a:pt x="139" y="106"/>
                </a:cubicBezTo>
                <a:cubicBezTo>
                  <a:pt x="140" y="104"/>
                  <a:pt x="141" y="101"/>
                  <a:pt x="142" y="99"/>
                </a:cubicBezTo>
                <a:cubicBezTo>
                  <a:pt x="163" y="97"/>
                  <a:pt x="163" y="97"/>
                  <a:pt x="163" y="97"/>
                </a:cubicBezTo>
                <a:cubicBezTo>
                  <a:pt x="164" y="90"/>
                  <a:pt x="164" y="90"/>
                  <a:pt x="164" y="90"/>
                </a:cubicBezTo>
                <a:cubicBezTo>
                  <a:pt x="144" y="82"/>
                  <a:pt x="144" y="82"/>
                  <a:pt x="144" y="82"/>
                </a:cubicBezTo>
                <a:cubicBezTo>
                  <a:pt x="144" y="80"/>
                  <a:pt x="144" y="77"/>
                  <a:pt x="143" y="75"/>
                </a:cubicBezTo>
                <a:cubicBezTo>
                  <a:pt x="162" y="65"/>
                  <a:pt x="162" y="65"/>
                  <a:pt x="162" y="65"/>
                </a:cubicBezTo>
                <a:cubicBezTo>
                  <a:pt x="161" y="58"/>
                  <a:pt x="161" y="58"/>
                  <a:pt x="161" y="58"/>
                </a:cubicBezTo>
                <a:cubicBezTo>
                  <a:pt x="139" y="59"/>
                  <a:pt x="139" y="59"/>
                  <a:pt x="139" y="59"/>
                </a:cubicBezTo>
                <a:cubicBezTo>
                  <a:pt x="138" y="56"/>
                  <a:pt x="137" y="54"/>
                  <a:pt x="136" y="52"/>
                </a:cubicBezTo>
                <a:cubicBezTo>
                  <a:pt x="150" y="35"/>
                  <a:pt x="150" y="35"/>
                  <a:pt x="150" y="35"/>
                </a:cubicBezTo>
                <a:cubicBezTo>
                  <a:pt x="145" y="30"/>
                  <a:pt x="145" y="30"/>
                  <a:pt x="145" y="30"/>
                </a:cubicBezTo>
                <a:cubicBezTo>
                  <a:pt x="126" y="39"/>
                  <a:pt x="126" y="39"/>
                  <a:pt x="126" y="39"/>
                </a:cubicBezTo>
                <a:cubicBezTo>
                  <a:pt x="124" y="37"/>
                  <a:pt x="122" y="35"/>
                  <a:pt x="120" y="34"/>
                </a:cubicBezTo>
                <a:cubicBezTo>
                  <a:pt x="126" y="13"/>
                  <a:pt x="126" y="13"/>
                  <a:pt x="126" y="13"/>
                </a:cubicBezTo>
                <a:cubicBezTo>
                  <a:pt x="120" y="9"/>
                  <a:pt x="120" y="9"/>
                  <a:pt x="120" y="9"/>
                </a:cubicBezTo>
                <a:cubicBezTo>
                  <a:pt x="106" y="25"/>
                  <a:pt x="106" y="25"/>
                  <a:pt x="106" y="25"/>
                </a:cubicBezTo>
                <a:cubicBezTo>
                  <a:pt x="103" y="24"/>
                  <a:pt x="101" y="23"/>
                  <a:pt x="98" y="23"/>
                </a:cubicBezTo>
                <a:cubicBezTo>
                  <a:pt x="96" y="1"/>
                  <a:pt x="96" y="1"/>
                  <a:pt x="96" y="1"/>
                </a:cubicBezTo>
                <a:cubicBezTo>
                  <a:pt x="89" y="0"/>
                  <a:pt x="89" y="0"/>
                  <a:pt x="89" y="0"/>
                </a:cubicBezTo>
                <a:cubicBezTo>
                  <a:pt x="82" y="21"/>
                  <a:pt x="82" y="21"/>
                  <a:pt x="82" y="21"/>
                </a:cubicBezTo>
                <a:cubicBezTo>
                  <a:pt x="79" y="21"/>
                  <a:pt x="77" y="21"/>
                  <a:pt x="74" y="21"/>
                </a:cubicBezTo>
                <a:cubicBezTo>
                  <a:pt x="64" y="2"/>
                  <a:pt x="64" y="2"/>
                  <a:pt x="64" y="2"/>
                </a:cubicBezTo>
                <a:close/>
                <a:moveTo>
                  <a:pt x="69" y="35"/>
                </a:moveTo>
                <a:cubicBezTo>
                  <a:pt x="43" y="42"/>
                  <a:pt x="27" y="69"/>
                  <a:pt x="34" y="95"/>
                </a:cubicBezTo>
                <a:cubicBezTo>
                  <a:pt x="41" y="121"/>
                  <a:pt x="68" y="137"/>
                  <a:pt x="95" y="130"/>
                </a:cubicBezTo>
                <a:cubicBezTo>
                  <a:pt x="121" y="123"/>
                  <a:pt x="137" y="96"/>
                  <a:pt x="130" y="70"/>
                </a:cubicBezTo>
                <a:cubicBezTo>
                  <a:pt x="122" y="43"/>
                  <a:pt x="95" y="28"/>
                  <a:pt x="69" y="35"/>
                </a:cubicBezTo>
                <a:close/>
              </a:path>
            </a:pathLst>
          </a:custGeom>
          <a:solidFill>
            <a:srgbClr val="F4B400"/>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 name="文本框 74"/>
          <p:cNvSpPr txBox="1"/>
          <p:nvPr/>
        </p:nvSpPr>
        <p:spPr>
          <a:xfrm>
            <a:off x="1477621" y="1586062"/>
            <a:ext cx="465192" cy="461665"/>
          </a:xfrm>
          <a:prstGeom prst="rect">
            <a:avLst/>
          </a:prstGeom>
          <a:noFill/>
        </p:spPr>
        <p:txBody>
          <a:bodyPr wrap="none" rtlCol="0">
            <a:spAutoFit/>
          </a:bodyPr>
          <a:lstStyle/>
          <a:p>
            <a:r>
              <a:rPr lang="en-US" altLang="zh-CN" sz="2400" dirty="0" smtClean="0">
                <a:solidFill>
                  <a:schemeClr val="tx1">
                    <a:lumMod val="65000"/>
                    <a:lumOff val="35000"/>
                  </a:schemeClr>
                </a:solidFill>
                <a:latin typeface="Impact" panose="020B0806030902050204" pitchFamily="34" charset="0"/>
              </a:rPr>
              <a:t>   1</a:t>
            </a:r>
            <a:endParaRPr lang="zh-CN" altLang="en-US" sz="2400" dirty="0">
              <a:solidFill>
                <a:schemeClr val="tx1">
                  <a:lumMod val="65000"/>
                  <a:lumOff val="35000"/>
                </a:schemeClr>
              </a:solidFill>
              <a:latin typeface="Impact" panose="020B0806030902050204" pitchFamily="34" charset="0"/>
            </a:endParaRPr>
          </a:p>
        </p:txBody>
      </p:sp>
      <p:sp>
        <p:nvSpPr>
          <p:cNvPr id="13" name="文本框 75"/>
          <p:cNvSpPr txBox="1"/>
          <p:nvPr/>
        </p:nvSpPr>
        <p:spPr>
          <a:xfrm>
            <a:off x="1477621" y="4661199"/>
            <a:ext cx="566181" cy="461665"/>
          </a:xfrm>
          <a:prstGeom prst="rect">
            <a:avLst/>
          </a:prstGeom>
          <a:noFill/>
        </p:spPr>
        <p:txBody>
          <a:bodyPr wrap="none" rtlCol="0">
            <a:spAutoFit/>
          </a:bodyPr>
          <a:lstStyle/>
          <a:p>
            <a:r>
              <a:rPr lang="en-US" altLang="zh-CN" sz="2400" dirty="0" smtClean="0">
                <a:solidFill>
                  <a:schemeClr val="tx1">
                    <a:lumMod val="65000"/>
                    <a:lumOff val="35000"/>
                  </a:schemeClr>
                </a:solidFill>
                <a:latin typeface="Impact" panose="020B0806030902050204" pitchFamily="34" charset="0"/>
              </a:rPr>
              <a:t>    3</a:t>
            </a:r>
            <a:endParaRPr lang="zh-CN" altLang="en-US" sz="2400" dirty="0">
              <a:solidFill>
                <a:schemeClr val="tx1">
                  <a:lumMod val="65000"/>
                  <a:lumOff val="35000"/>
                </a:schemeClr>
              </a:solidFill>
              <a:latin typeface="Impact" panose="020B0806030902050204" pitchFamily="34" charset="0"/>
            </a:endParaRPr>
          </a:p>
        </p:txBody>
      </p:sp>
      <p:sp>
        <p:nvSpPr>
          <p:cNvPr id="14" name="文本框 76"/>
          <p:cNvSpPr txBox="1"/>
          <p:nvPr/>
        </p:nvSpPr>
        <p:spPr>
          <a:xfrm>
            <a:off x="1110908" y="3136976"/>
            <a:ext cx="556563" cy="461665"/>
          </a:xfrm>
          <a:prstGeom prst="rect">
            <a:avLst/>
          </a:prstGeom>
          <a:noFill/>
        </p:spPr>
        <p:txBody>
          <a:bodyPr wrap="none" rtlCol="0">
            <a:spAutoFit/>
          </a:bodyPr>
          <a:lstStyle/>
          <a:p>
            <a:r>
              <a:rPr lang="en-US" altLang="zh-CN" sz="2400" dirty="0" smtClean="0">
                <a:solidFill>
                  <a:schemeClr val="tx1">
                    <a:lumMod val="65000"/>
                    <a:lumOff val="35000"/>
                  </a:schemeClr>
                </a:solidFill>
                <a:latin typeface="Impact" panose="020B0806030902050204" pitchFamily="34" charset="0"/>
              </a:rPr>
              <a:t>    2</a:t>
            </a:r>
            <a:endParaRPr lang="zh-CN" altLang="en-US" sz="2400" dirty="0">
              <a:solidFill>
                <a:schemeClr val="tx1">
                  <a:lumMod val="65000"/>
                  <a:lumOff val="35000"/>
                </a:schemeClr>
              </a:solidFill>
              <a:latin typeface="Impact" panose="020B0806030902050204" pitchFamily="34" charset="0"/>
            </a:endParaRPr>
          </a:p>
        </p:txBody>
      </p:sp>
      <p:sp>
        <p:nvSpPr>
          <p:cNvPr id="3" name="矩形 2"/>
          <p:cNvSpPr/>
          <p:nvPr/>
        </p:nvSpPr>
        <p:spPr>
          <a:xfrm>
            <a:off x="2844572" y="984251"/>
            <a:ext cx="8882743" cy="4524315"/>
          </a:xfrm>
          <a:prstGeom prst="rect">
            <a:avLst/>
          </a:prstGeom>
        </p:spPr>
        <p:txBody>
          <a:bodyPr wrap="square">
            <a:spAutoFit/>
          </a:bodyPr>
          <a:lstStyle/>
          <a:p>
            <a:r>
              <a:rPr lang="zh-CN" altLang="en-US" sz="3200" b="1" dirty="0"/>
              <a:t>测试</a:t>
            </a:r>
            <a:r>
              <a:rPr lang="zh-CN" altLang="en-US" sz="3200" b="1" dirty="0">
                <a:solidFill>
                  <a:srgbClr val="FF0000"/>
                </a:solidFill>
              </a:rPr>
              <a:t>灵敏度相对较低</a:t>
            </a:r>
            <a:r>
              <a:rPr lang="zh-CN" altLang="en-US" sz="3200" b="1" dirty="0"/>
              <a:t>，被测组分含量一般大于</a:t>
            </a:r>
            <a:r>
              <a:rPr lang="en-US" altLang="zh-CN" sz="3200" b="1" dirty="0"/>
              <a:t>0.1%</a:t>
            </a:r>
            <a:r>
              <a:rPr lang="zh-CN" altLang="en-US" sz="3200" b="1" dirty="0"/>
              <a:t>。</a:t>
            </a:r>
          </a:p>
          <a:p>
            <a:endParaRPr lang="en-US" altLang="zh-CN" sz="3200" b="1" dirty="0" smtClean="0"/>
          </a:p>
          <a:p>
            <a:r>
              <a:rPr lang="zh-CN" altLang="en-US" sz="3200" b="1" dirty="0" smtClean="0"/>
              <a:t>需要</a:t>
            </a:r>
            <a:r>
              <a:rPr lang="zh-CN" altLang="en-US" sz="3200" b="1" dirty="0"/>
              <a:t>用</a:t>
            </a:r>
            <a:r>
              <a:rPr lang="zh-CN" altLang="en-US" sz="3200" b="1" dirty="0">
                <a:solidFill>
                  <a:srgbClr val="FF0000"/>
                </a:solidFill>
              </a:rPr>
              <a:t>标样进行校正对比</a:t>
            </a:r>
            <a:r>
              <a:rPr lang="zh-CN" altLang="en-US" sz="3200" b="1" dirty="0"/>
              <a:t>，很多情况下仅是一种间接分析技术。</a:t>
            </a:r>
          </a:p>
          <a:p>
            <a:endParaRPr lang="en-US" altLang="zh-CN" sz="3200" b="1" dirty="0"/>
          </a:p>
          <a:p>
            <a:r>
              <a:rPr lang="zh-CN" altLang="en-US" sz="3200" b="1" dirty="0" smtClean="0"/>
              <a:t>由于</a:t>
            </a:r>
            <a:r>
              <a:rPr lang="zh-CN" altLang="en-US" sz="3200" b="1" dirty="0"/>
              <a:t>近红外光谱中信息强度低，因此组分在近红外光谱中谱峰强度较弱，</a:t>
            </a:r>
            <a:r>
              <a:rPr lang="zh-CN" altLang="en-US" sz="3200" b="1" dirty="0">
                <a:solidFill>
                  <a:srgbClr val="FF0000"/>
                </a:solidFill>
              </a:rPr>
              <a:t>影响近红外测量的检测限</a:t>
            </a:r>
            <a:r>
              <a:rPr lang="zh-CN" altLang="en-US" sz="3200" b="1" dirty="0"/>
              <a:t>。</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0" y="6334579"/>
            <a:ext cx="12193588" cy="530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Freeform 7"/>
          <p:cNvSpPr>
            <a:spLocks noEditPoints="1"/>
          </p:cNvSpPr>
          <p:nvPr/>
        </p:nvSpPr>
        <p:spPr bwMode="auto">
          <a:xfrm>
            <a:off x="271120" y="779761"/>
            <a:ext cx="1679575" cy="1652588"/>
          </a:xfrm>
          <a:custGeom>
            <a:avLst/>
            <a:gdLst>
              <a:gd name="T0" fmla="*/ 86 w 165"/>
              <a:gd name="T1" fmla="*/ 0 h 164"/>
              <a:gd name="T2" fmla="*/ 98 w 165"/>
              <a:gd name="T3" fmla="*/ 22 h 164"/>
              <a:gd name="T4" fmla="*/ 117 w 165"/>
              <a:gd name="T5" fmla="*/ 7 h 164"/>
              <a:gd name="T6" fmla="*/ 120 w 165"/>
              <a:gd name="T7" fmla="*/ 33 h 164"/>
              <a:gd name="T8" fmla="*/ 143 w 165"/>
              <a:gd name="T9" fmla="*/ 26 h 164"/>
              <a:gd name="T10" fmla="*/ 136 w 165"/>
              <a:gd name="T11" fmla="*/ 51 h 164"/>
              <a:gd name="T12" fmla="*/ 160 w 165"/>
              <a:gd name="T13" fmla="*/ 54 h 164"/>
              <a:gd name="T14" fmla="*/ 144 w 165"/>
              <a:gd name="T15" fmla="*/ 74 h 164"/>
              <a:gd name="T16" fmla="*/ 165 w 165"/>
              <a:gd name="T17" fmla="*/ 86 h 164"/>
              <a:gd name="T18" fmla="*/ 142 w 165"/>
              <a:gd name="T19" fmla="*/ 98 h 164"/>
              <a:gd name="T20" fmla="*/ 157 w 165"/>
              <a:gd name="T21" fmla="*/ 117 h 164"/>
              <a:gd name="T22" fmla="*/ 132 w 165"/>
              <a:gd name="T23" fmla="*/ 119 h 164"/>
              <a:gd name="T24" fmla="*/ 138 w 165"/>
              <a:gd name="T25" fmla="*/ 143 h 164"/>
              <a:gd name="T26" fmla="*/ 114 w 165"/>
              <a:gd name="T27" fmla="*/ 135 h 164"/>
              <a:gd name="T28" fmla="*/ 111 w 165"/>
              <a:gd name="T29" fmla="*/ 159 h 164"/>
              <a:gd name="T30" fmla="*/ 91 w 165"/>
              <a:gd name="T31" fmla="*/ 143 h 164"/>
              <a:gd name="T32" fmla="*/ 79 w 165"/>
              <a:gd name="T33" fmla="*/ 164 h 164"/>
              <a:gd name="T34" fmla="*/ 67 w 165"/>
              <a:gd name="T35" fmla="*/ 142 h 164"/>
              <a:gd name="T36" fmla="*/ 48 w 165"/>
              <a:gd name="T37" fmla="*/ 157 h 164"/>
              <a:gd name="T38" fmla="*/ 45 w 165"/>
              <a:gd name="T39" fmla="*/ 131 h 164"/>
              <a:gd name="T40" fmla="*/ 22 w 165"/>
              <a:gd name="T41" fmla="*/ 138 h 164"/>
              <a:gd name="T42" fmla="*/ 29 w 165"/>
              <a:gd name="T43" fmla="*/ 113 h 164"/>
              <a:gd name="T44" fmla="*/ 5 w 165"/>
              <a:gd name="T45" fmla="*/ 110 h 164"/>
              <a:gd name="T46" fmla="*/ 21 w 165"/>
              <a:gd name="T47" fmla="*/ 90 h 164"/>
              <a:gd name="T48" fmla="*/ 0 w 165"/>
              <a:gd name="T49" fmla="*/ 78 h 164"/>
              <a:gd name="T50" fmla="*/ 23 w 165"/>
              <a:gd name="T51" fmla="*/ 66 h 164"/>
              <a:gd name="T52" fmla="*/ 8 w 165"/>
              <a:gd name="T53" fmla="*/ 47 h 164"/>
              <a:gd name="T54" fmla="*/ 33 w 165"/>
              <a:gd name="T55" fmla="*/ 44 h 164"/>
              <a:gd name="T56" fmla="*/ 27 w 165"/>
              <a:gd name="T57" fmla="*/ 21 h 164"/>
              <a:gd name="T58" fmla="*/ 51 w 165"/>
              <a:gd name="T59" fmla="*/ 28 h 164"/>
              <a:gd name="T60" fmla="*/ 54 w 165"/>
              <a:gd name="T61" fmla="*/ 4 h 164"/>
              <a:gd name="T62" fmla="*/ 74 w 165"/>
              <a:gd name="T63" fmla="*/ 21 h 164"/>
              <a:gd name="T64" fmla="*/ 83 w 165"/>
              <a:gd name="T65" fmla="*/ 32 h 164"/>
              <a:gd name="T66" fmla="*/ 83 w 165"/>
              <a:gd name="T67" fmla="*/ 131 h 164"/>
              <a:gd name="T68" fmla="*/ 83 w 165"/>
              <a:gd name="T69" fmla="*/ 32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5" h="164">
                <a:moveTo>
                  <a:pt x="79" y="0"/>
                </a:moveTo>
                <a:cubicBezTo>
                  <a:pt x="86" y="0"/>
                  <a:pt x="86" y="0"/>
                  <a:pt x="86" y="0"/>
                </a:cubicBezTo>
                <a:cubicBezTo>
                  <a:pt x="91" y="21"/>
                  <a:pt x="91" y="21"/>
                  <a:pt x="91" y="21"/>
                </a:cubicBezTo>
                <a:cubicBezTo>
                  <a:pt x="93" y="21"/>
                  <a:pt x="96" y="21"/>
                  <a:pt x="98" y="22"/>
                </a:cubicBezTo>
                <a:cubicBezTo>
                  <a:pt x="111" y="4"/>
                  <a:pt x="111" y="4"/>
                  <a:pt x="111" y="4"/>
                </a:cubicBezTo>
                <a:cubicBezTo>
                  <a:pt x="117" y="7"/>
                  <a:pt x="117" y="7"/>
                  <a:pt x="117" y="7"/>
                </a:cubicBezTo>
                <a:cubicBezTo>
                  <a:pt x="114" y="28"/>
                  <a:pt x="114" y="28"/>
                  <a:pt x="114" y="28"/>
                </a:cubicBezTo>
                <a:cubicBezTo>
                  <a:pt x="116" y="30"/>
                  <a:pt x="118" y="31"/>
                  <a:pt x="120" y="33"/>
                </a:cubicBezTo>
                <a:cubicBezTo>
                  <a:pt x="138" y="21"/>
                  <a:pt x="138" y="21"/>
                  <a:pt x="138" y="21"/>
                </a:cubicBezTo>
                <a:cubicBezTo>
                  <a:pt x="143" y="26"/>
                  <a:pt x="143" y="26"/>
                  <a:pt x="143" y="26"/>
                </a:cubicBezTo>
                <a:cubicBezTo>
                  <a:pt x="132" y="44"/>
                  <a:pt x="132" y="44"/>
                  <a:pt x="132" y="44"/>
                </a:cubicBezTo>
                <a:cubicBezTo>
                  <a:pt x="133" y="46"/>
                  <a:pt x="135" y="49"/>
                  <a:pt x="136" y="51"/>
                </a:cubicBezTo>
                <a:cubicBezTo>
                  <a:pt x="157" y="47"/>
                  <a:pt x="157" y="47"/>
                  <a:pt x="157" y="47"/>
                </a:cubicBezTo>
                <a:cubicBezTo>
                  <a:pt x="160" y="54"/>
                  <a:pt x="160" y="54"/>
                  <a:pt x="160" y="54"/>
                </a:cubicBezTo>
                <a:cubicBezTo>
                  <a:pt x="142" y="66"/>
                  <a:pt x="142" y="66"/>
                  <a:pt x="142" y="66"/>
                </a:cubicBezTo>
                <a:cubicBezTo>
                  <a:pt x="143" y="69"/>
                  <a:pt x="144" y="71"/>
                  <a:pt x="144" y="74"/>
                </a:cubicBezTo>
                <a:cubicBezTo>
                  <a:pt x="165" y="78"/>
                  <a:pt x="165" y="78"/>
                  <a:pt x="165" y="78"/>
                </a:cubicBezTo>
                <a:cubicBezTo>
                  <a:pt x="165" y="86"/>
                  <a:pt x="165" y="86"/>
                  <a:pt x="165" y="86"/>
                </a:cubicBezTo>
                <a:cubicBezTo>
                  <a:pt x="144" y="90"/>
                  <a:pt x="144" y="90"/>
                  <a:pt x="144" y="90"/>
                </a:cubicBezTo>
                <a:cubicBezTo>
                  <a:pt x="144" y="93"/>
                  <a:pt x="143" y="95"/>
                  <a:pt x="142" y="98"/>
                </a:cubicBezTo>
                <a:cubicBezTo>
                  <a:pt x="160" y="110"/>
                  <a:pt x="160" y="110"/>
                  <a:pt x="160" y="110"/>
                </a:cubicBezTo>
                <a:cubicBezTo>
                  <a:pt x="157" y="117"/>
                  <a:pt x="157" y="117"/>
                  <a:pt x="157" y="117"/>
                </a:cubicBezTo>
                <a:cubicBezTo>
                  <a:pt x="136" y="113"/>
                  <a:pt x="136" y="113"/>
                  <a:pt x="136" y="113"/>
                </a:cubicBezTo>
                <a:cubicBezTo>
                  <a:pt x="135" y="115"/>
                  <a:pt x="133" y="117"/>
                  <a:pt x="132" y="119"/>
                </a:cubicBezTo>
                <a:cubicBezTo>
                  <a:pt x="143" y="138"/>
                  <a:pt x="143" y="138"/>
                  <a:pt x="143" y="138"/>
                </a:cubicBezTo>
                <a:cubicBezTo>
                  <a:pt x="138" y="143"/>
                  <a:pt x="138" y="143"/>
                  <a:pt x="138" y="143"/>
                </a:cubicBezTo>
                <a:cubicBezTo>
                  <a:pt x="120" y="131"/>
                  <a:pt x="120" y="131"/>
                  <a:pt x="120" y="131"/>
                </a:cubicBezTo>
                <a:cubicBezTo>
                  <a:pt x="118" y="133"/>
                  <a:pt x="116" y="134"/>
                  <a:pt x="114" y="135"/>
                </a:cubicBezTo>
                <a:cubicBezTo>
                  <a:pt x="117" y="157"/>
                  <a:pt x="117" y="157"/>
                  <a:pt x="117" y="157"/>
                </a:cubicBezTo>
                <a:cubicBezTo>
                  <a:pt x="111" y="159"/>
                  <a:pt x="111" y="159"/>
                  <a:pt x="111" y="159"/>
                </a:cubicBezTo>
                <a:cubicBezTo>
                  <a:pt x="98" y="142"/>
                  <a:pt x="98" y="142"/>
                  <a:pt x="98" y="142"/>
                </a:cubicBezTo>
                <a:cubicBezTo>
                  <a:pt x="96" y="142"/>
                  <a:pt x="93" y="143"/>
                  <a:pt x="91" y="143"/>
                </a:cubicBezTo>
                <a:cubicBezTo>
                  <a:pt x="86" y="164"/>
                  <a:pt x="86" y="164"/>
                  <a:pt x="86" y="164"/>
                </a:cubicBezTo>
                <a:cubicBezTo>
                  <a:pt x="79" y="164"/>
                  <a:pt x="79" y="164"/>
                  <a:pt x="79" y="164"/>
                </a:cubicBezTo>
                <a:cubicBezTo>
                  <a:pt x="74" y="143"/>
                  <a:pt x="74" y="143"/>
                  <a:pt x="74" y="143"/>
                </a:cubicBezTo>
                <a:cubicBezTo>
                  <a:pt x="72" y="143"/>
                  <a:pt x="69" y="142"/>
                  <a:pt x="67" y="142"/>
                </a:cubicBezTo>
                <a:cubicBezTo>
                  <a:pt x="54" y="159"/>
                  <a:pt x="54" y="159"/>
                  <a:pt x="54" y="159"/>
                </a:cubicBezTo>
                <a:cubicBezTo>
                  <a:pt x="48" y="157"/>
                  <a:pt x="48" y="157"/>
                  <a:pt x="48" y="157"/>
                </a:cubicBezTo>
                <a:cubicBezTo>
                  <a:pt x="52" y="135"/>
                  <a:pt x="52" y="135"/>
                  <a:pt x="52" y="135"/>
                </a:cubicBezTo>
                <a:cubicBezTo>
                  <a:pt x="49" y="134"/>
                  <a:pt x="47" y="133"/>
                  <a:pt x="45" y="131"/>
                </a:cubicBezTo>
                <a:cubicBezTo>
                  <a:pt x="27" y="143"/>
                  <a:pt x="27" y="143"/>
                  <a:pt x="27" y="143"/>
                </a:cubicBezTo>
                <a:cubicBezTo>
                  <a:pt x="22" y="138"/>
                  <a:pt x="22" y="138"/>
                  <a:pt x="22" y="138"/>
                </a:cubicBezTo>
                <a:cubicBezTo>
                  <a:pt x="33" y="119"/>
                  <a:pt x="33" y="119"/>
                  <a:pt x="33" y="119"/>
                </a:cubicBezTo>
                <a:cubicBezTo>
                  <a:pt x="32" y="117"/>
                  <a:pt x="30" y="115"/>
                  <a:pt x="29" y="113"/>
                </a:cubicBezTo>
                <a:cubicBezTo>
                  <a:pt x="8" y="117"/>
                  <a:pt x="8" y="117"/>
                  <a:pt x="8" y="117"/>
                </a:cubicBezTo>
                <a:cubicBezTo>
                  <a:pt x="5" y="110"/>
                  <a:pt x="5" y="110"/>
                  <a:pt x="5" y="110"/>
                </a:cubicBezTo>
                <a:cubicBezTo>
                  <a:pt x="23" y="98"/>
                  <a:pt x="23" y="98"/>
                  <a:pt x="23" y="98"/>
                </a:cubicBezTo>
                <a:cubicBezTo>
                  <a:pt x="22" y="95"/>
                  <a:pt x="21" y="93"/>
                  <a:pt x="21" y="90"/>
                </a:cubicBezTo>
                <a:cubicBezTo>
                  <a:pt x="0" y="86"/>
                  <a:pt x="0" y="86"/>
                  <a:pt x="0" y="86"/>
                </a:cubicBezTo>
                <a:cubicBezTo>
                  <a:pt x="0" y="78"/>
                  <a:pt x="0" y="78"/>
                  <a:pt x="0" y="78"/>
                </a:cubicBezTo>
                <a:cubicBezTo>
                  <a:pt x="21" y="74"/>
                  <a:pt x="21" y="74"/>
                  <a:pt x="21" y="74"/>
                </a:cubicBezTo>
                <a:cubicBezTo>
                  <a:pt x="21" y="71"/>
                  <a:pt x="22" y="69"/>
                  <a:pt x="23" y="66"/>
                </a:cubicBezTo>
                <a:cubicBezTo>
                  <a:pt x="5" y="54"/>
                  <a:pt x="5" y="54"/>
                  <a:pt x="5" y="54"/>
                </a:cubicBezTo>
                <a:cubicBezTo>
                  <a:pt x="8" y="47"/>
                  <a:pt x="8" y="47"/>
                  <a:pt x="8" y="47"/>
                </a:cubicBezTo>
                <a:cubicBezTo>
                  <a:pt x="29" y="51"/>
                  <a:pt x="29" y="51"/>
                  <a:pt x="29" y="51"/>
                </a:cubicBezTo>
                <a:cubicBezTo>
                  <a:pt x="30" y="49"/>
                  <a:pt x="32" y="46"/>
                  <a:pt x="33" y="44"/>
                </a:cubicBezTo>
                <a:cubicBezTo>
                  <a:pt x="22" y="26"/>
                  <a:pt x="22" y="26"/>
                  <a:pt x="22" y="26"/>
                </a:cubicBezTo>
                <a:cubicBezTo>
                  <a:pt x="27" y="21"/>
                  <a:pt x="27" y="21"/>
                  <a:pt x="27" y="21"/>
                </a:cubicBezTo>
                <a:cubicBezTo>
                  <a:pt x="45" y="33"/>
                  <a:pt x="45" y="33"/>
                  <a:pt x="45" y="33"/>
                </a:cubicBezTo>
                <a:cubicBezTo>
                  <a:pt x="47" y="31"/>
                  <a:pt x="49" y="30"/>
                  <a:pt x="51" y="28"/>
                </a:cubicBezTo>
                <a:cubicBezTo>
                  <a:pt x="48" y="7"/>
                  <a:pt x="48" y="7"/>
                  <a:pt x="48" y="7"/>
                </a:cubicBezTo>
                <a:cubicBezTo>
                  <a:pt x="54" y="4"/>
                  <a:pt x="54" y="4"/>
                  <a:pt x="54" y="4"/>
                </a:cubicBezTo>
                <a:cubicBezTo>
                  <a:pt x="67" y="22"/>
                  <a:pt x="67" y="22"/>
                  <a:pt x="67" y="22"/>
                </a:cubicBezTo>
                <a:cubicBezTo>
                  <a:pt x="69" y="21"/>
                  <a:pt x="72" y="21"/>
                  <a:pt x="74" y="21"/>
                </a:cubicBezTo>
                <a:cubicBezTo>
                  <a:pt x="79" y="0"/>
                  <a:pt x="79" y="0"/>
                  <a:pt x="79" y="0"/>
                </a:cubicBezTo>
                <a:close/>
                <a:moveTo>
                  <a:pt x="83" y="32"/>
                </a:moveTo>
                <a:cubicBezTo>
                  <a:pt x="110" y="32"/>
                  <a:pt x="132" y="55"/>
                  <a:pt x="132" y="82"/>
                </a:cubicBezTo>
                <a:cubicBezTo>
                  <a:pt x="132" y="109"/>
                  <a:pt x="110" y="131"/>
                  <a:pt x="83" y="131"/>
                </a:cubicBezTo>
                <a:cubicBezTo>
                  <a:pt x="55" y="131"/>
                  <a:pt x="33" y="109"/>
                  <a:pt x="33" y="82"/>
                </a:cubicBezTo>
                <a:cubicBezTo>
                  <a:pt x="33" y="55"/>
                  <a:pt x="55" y="32"/>
                  <a:pt x="83" y="32"/>
                </a:cubicBezTo>
                <a:close/>
              </a:path>
            </a:pathLst>
          </a:custGeom>
          <a:solidFill>
            <a:srgbClr val="DED46E"/>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 name="Oval 8"/>
          <p:cNvSpPr>
            <a:spLocks noChangeArrowheads="1"/>
          </p:cNvSpPr>
          <p:nvPr/>
        </p:nvSpPr>
        <p:spPr bwMode="auto">
          <a:xfrm>
            <a:off x="555283" y="1051224"/>
            <a:ext cx="1109663" cy="1098550"/>
          </a:xfrm>
          <a:prstGeom prst="ellipse">
            <a:avLst/>
          </a:prstGeom>
          <a:solidFill>
            <a:srgbClr val="CCCDCA"/>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en-US" altLang="zh-CN" dirty="0">
              <a:solidFill>
                <a:schemeClr val="tx1">
                  <a:lumMod val="65000"/>
                  <a:lumOff val="35000"/>
                </a:schemeClr>
              </a:solidFill>
              <a:latin typeface="Impact" panose="020B0806030902050204" pitchFamily="34" charset="0"/>
            </a:endParaRPr>
          </a:p>
          <a:p>
            <a:r>
              <a:rPr lang="en-US" altLang="zh-CN" sz="2400" dirty="0" smtClean="0">
                <a:solidFill>
                  <a:schemeClr val="tx1">
                    <a:lumMod val="65000"/>
                    <a:lumOff val="35000"/>
                  </a:schemeClr>
                </a:solidFill>
                <a:latin typeface="Impact" panose="020B0806030902050204" pitchFamily="34" charset="0"/>
              </a:rPr>
              <a:t>    4</a:t>
            </a:r>
            <a:endParaRPr lang="zh-CN" altLang="en-US" sz="2400" dirty="0">
              <a:solidFill>
                <a:schemeClr val="tx1">
                  <a:lumMod val="65000"/>
                  <a:lumOff val="35000"/>
                </a:schemeClr>
              </a:solidFill>
              <a:latin typeface="Impact" panose="020B0806030902050204" pitchFamily="34" charset="0"/>
            </a:endParaRPr>
          </a:p>
          <a:p>
            <a:endParaRPr lang="zh-CN" altLang="en-US" dirty="0"/>
          </a:p>
        </p:txBody>
      </p:sp>
      <p:sp>
        <p:nvSpPr>
          <p:cNvPr id="6" name="Freeform 9"/>
          <p:cNvSpPr>
            <a:spLocks noEditPoints="1"/>
          </p:cNvSpPr>
          <p:nvPr/>
        </p:nvSpPr>
        <p:spPr bwMode="auto">
          <a:xfrm>
            <a:off x="271120" y="779761"/>
            <a:ext cx="1679575" cy="1652588"/>
          </a:xfrm>
          <a:custGeom>
            <a:avLst/>
            <a:gdLst>
              <a:gd name="T0" fmla="*/ 86 w 165"/>
              <a:gd name="T1" fmla="*/ 0 h 164"/>
              <a:gd name="T2" fmla="*/ 98 w 165"/>
              <a:gd name="T3" fmla="*/ 22 h 164"/>
              <a:gd name="T4" fmla="*/ 117 w 165"/>
              <a:gd name="T5" fmla="*/ 7 h 164"/>
              <a:gd name="T6" fmla="*/ 120 w 165"/>
              <a:gd name="T7" fmla="*/ 33 h 164"/>
              <a:gd name="T8" fmla="*/ 143 w 165"/>
              <a:gd name="T9" fmla="*/ 26 h 164"/>
              <a:gd name="T10" fmla="*/ 136 w 165"/>
              <a:gd name="T11" fmla="*/ 51 h 164"/>
              <a:gd name="T12" fmla="*/ 160 w 165"/>
              <a:gd name="T13" fmla="*/ 54 h 164"/>
              <a:gd name="T14" fmla="*/ 144 w 165"/>
              <a:gd name="T15" fmla="*/ 74 h 164"/>
              <a:gd name="T16" fmla="*/ 165 w 165"/>
              <a:gd name="T17" fmla="*/ 86 h 164"/>
              <a:gd name="T18" fmla="*/ 142 w 165"/>
              <a:gd name="T19" fmla="*/ 98 h 164"/>
              <a:gd name="T20" fmla="*/ 157 w 165"/>
              <a:gd name="T21" fmla="*/ 117 h 164"/>
              <a:gd name="T22" fmla="*/ 132 w 165"/>
              <a:gd name="T23" fmla="*/ 119 h 164"/>
              <a:gd name="T24" fmla="*/ 138 w 165"/>
              <a:gd name="T25" fmla="*/ 143 h 164"/>
              <a:gd name="T26" fmla="*/ 114 w 165"/>
              <a:gd name="T27" fmla="*/ 135 h 164"/>
              <a:gd name="T28" fmla="*/ 111 w 165"/>
              <a:gd name="T29" fmla="*/ 159 h 164"/>
              <a:gd name="T30" fmla="*/ 91 w 165"/>
              <a:gd name="T31" fmla="*/ 143 h 164"/>
              <a:gd name="T32" fmla="*/ 79 w 165"/>
              <a:gd name="T33" fmla="*/ 164 h 164"/>
              <a:gd name="T34" fmla="*/ 67 w 165"/>
              <a:gd name="T35" fmla="*/ 142 h 164"/>
              <a:gd name="T36" fmla="*/ 48 w 165"/>
              <a:gd name="T37" fmla="*/ 157 h 164"/>
              <a:gd name="T38" fmla="*/ 45 w 165"/>
              <a:gd name="T39" fmla="*/ 131 h 164"/>
              <a:gd name="T40" fmla="*/ 22 w 165"/>
              <a:gd name="T41" fmla="*/ 138 h 164"/>
              <a:gd name="T42" fmla="*/ 29 w 165"/>
              <a:gd name="T43" fmla="*/ 113 h 164"/>
              <a:gd name="T44" fmla="*/ 5 w 165"/>
              <a:gd name="T45" fmla="*/ 110 h 164"/>
              <a:gd name="T46" fmla="*/ 21 w 165"/>
              <a:gd name="T47" fmla="*/ 90 h 164"/>
              <a:gd name="T48" fmla="*/ 0 w 165"/>
              <a:gd name="T49" fmla="*/ 78 h 164"/>
              <a:gd name="T50" fmla="*/ 23 w 165"/>
              <a:gd name="T51" fmla="*/ 66 h 164"/>
              <a:gd name="T52" fmla="*/ 8 w 165"/>
              <a:gd name="T53" fmla="*/ 47 h 164"/>
              <a:gd name="T54" fmla="*/ 33 w 165"/>
              <a:gd name="T55" fmla="*/ 44 h 164"/>
              <a:gd name="T56" fmla="*/ 27 w 165"/>
              <a:gd name="T57" fmla="*/ 21 h 164"/>
              <a:gd name="T58" fmla="*/ 51 w 165"/>
              <a:gd name="T59" fmla="*/ 28 h 164"/>
              <a:gd name="T60" fmla="*/ 54 w 165"/>
              <a:gd name="T61" fmla="*/ 4 h 164"/>
              <a:gd name="T62" fmla="*/ 74 w 165"/>
              <a:gd name="T63" fmla="*/ 21 h 164"/>
              <a:gd name="T64" fmla="*/ 83 w 165"/>
              <a:gd name="T65" fmla="*/ 32 h 164"/>
              <a:gd name="T66" fmla="*/ 83 w 165"/>
              <a:gd name="T67" fmla="*/ 131 h 164"/>
              <a:gd name="T68" fmla="*/ 83 w 165"/>
              <a:gd name="T69" fmla="*/ 32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5" h="164">
                <a:moveTo>
                  <a:pt x="79" y="0"/>
                </a:moveTo>
                <a:cubicBezTo>
                  <a:pt x="86" y="0"/>
                  <a:pt x="86" y="0"/>
                  <a:pt x="86" y="0"/>
                </a:cubicBezTo>
                <a:cubicBezTo>
                  <a:pt x="91" y="21"/>
                  <a:pt x="91" y="21"/>
                  <a:pt x="91" y="21"/>
                </a:cubicBezTo>
                <a:cubicBezTo>
                  <a:pt x="93" y="21"/>
                  <a:pt x="96" y="21"/>
                  <a:pt x="98" y="22"/>
                </a:cubicBezTo>
                <a:cubicBezTo>
                  <a:pt x="111" y="4"/>
                  <a:pt x="111" y="4"/>
                  <a:pt x="111" y="4"/>
                </a:cubicBezTo>
                <a:cubicBezTo>
                  <a:pt x="117" y="7"/>
                  <a:pt x="117" y="7"/>
                  <a:pt x="117" y="7"/>
                </a:cubicBezTo>
                <a:cubicBezTo>
                  <a:pt x="114" y="28"/>
                  <a:pt x="114" y="28"/>
                  <a:pt x="114" y="28"/>
                </a:cubicBezTo>
                <a:cubicBezTo>
                  <a:pt x="116" y="30"/>
                  <a:pt x="118" y="31"/>
                  <a:pt x="120" y="33"/>
                </a:cubicBezTo>
                <a:cubicBezTo>
                  <a:pt x="138" y="21"/>
                  <a:pt x="138" y="21"/>
                  <a:pt x="138" y="21"/>
                </a:cubicBezTo>
                <a:cubicBezTo>
                  <a:pt x="143" y="26"/>
                  <a:pt x="143" y="26"/>
                  <a:pt x="143" y="26"/>
                </a:cubicBezTo>
                <a:cubicBezTo>
                  <a:pt x="132" y="44"/>
                  <a:pt x="132" y="44"/>
                  <a:pt x="132" y="44"/>
                </a:cubicBezTo>
                <a:cubicBezTo>
                  <a:pt x="133" y="46"/>
                  <a:pt x="135" y="49"/>
                  <a:pt x="136" y="51"/>
                </a:cubicBezTo>
                <a:cubicBezTo>
                  <a:pt x="157" y="47"/>
                  <a:pt x="157" y="47"/>
                  <a:pt x="157" y="47"/>
                </a:cubicBezTo>
                <a:cubicBezTo>
                  <a:pt x="160" y="54"/>
                  <a:pt x="160" y="54"/>
                  <a:pt x="160" y="54"/>
                </a:cubicBezTo>
                <a:cubicBezTo>
                  <a:pt x="142" y="66"/>
                  <a:pt x="142" y="66"/>
                  <a:pt x="142" y="66"/>
                </a:cubicBezTo>
                <a:cubicBezTo>
                  <a:pt x="143" y="69"/>
                  <a:pt x="144" y="71"/>
                  <a:pt x="144" y="74"/>
                </a:cubicBezTo>
                <a:cubicBezTo>
                  <a:pt x="165" y="78"/>
                  <a:pt x="165" y="78"/>
                  <a:pt x="165" y="78"/>
                </a:cubicBezTo>
                <a:cubicBezTo>
                  <a:pt x="165" y="86"/>
                  <a:pt x="165" y="86"/>
                  <a:pt x="165" y="86"/>
                </a:cubicBezTo>
                <a:cubicBezTo>
                  <a:pt x="144" y="90"/>
                  <a:pt x="144" y="90"/>
                  <a:pt x="144" y="90"/>
                </a:cubicBezTo>
                <a:cubicBezTo>
                  <a:pt x="144" y="93"/>
                  <a:pt x="143" y="95"/>
                  <a:pt x="142" y="98"/>
                </a:cubicBezTo>
                <a:cubicBezTo>
                  <a:pt x="160" y="110"/>
                  <a:pt x="160" y="110"/>
                  <a:pt x="160" y="110"/>
                </a:cubicBezTo>
                <a:cubicBezTo>
                  <a:pt x="157" y="117"/>
                  <a:pt x="157" y="117"/>
                  <a:pt x="157" y="117"/>
                </a:cubicBezTo>
                <a:cubicBezTo>
                  <a:pt x="136" y="113"/>
                  <a:pt x="136" y="113"/>
                  <a:pt x="136" y="113"/>
                </a:cubicBezTo>
                <a:cubicBezTo>
                  <a:pt x="135" y="115"/>
                  <a:pt x="133" y="117"/>
                  <a:pt x="132" y="119"/>
                </a:cubicBezTo>
                <a:cubicBezTo>
                  <a:pt x="143" y="138"/>
                  <a:pt x="143" y="138"/>
                  <a:pt x="143" y="138"/>
                </a:cubicBezTo>
                <a:cubicBezTo>
                  <a:pt x="138" y="143"/>
                  <a:pt x="138" y="143"/>
                  <a:pt x="138" y="143"/>
                </a:cubicBezTo>
                <a:cubicBezTo>
                  <a:pt x="120" y="131"/>
                  <a:pt x="120" y="131"/>
                  <a:pt x="120" y="131"/>
                </a:cubicBezTo>
                <a:cubicBezTo>
                  <a:pt x="118" y="133"/>
                  <a:pt x="116" y="134"/>
                  <a:pt x="114" y="135"/>
                </a:cubicBezTo>
                <a:cubicBezTo>
                  <a:pt x="117" y="157"/>
                  <a:pt x="117" y="157"/>
                  <a:pt x="117" y="157"/>
                </a:cubicBezTo>
                <a:cubicBezTo>
                  <a:pt x="111" y="159"/>
                  <a:pt x="111" y="159"/>
                  <a:pt x="111" y="159"/>
                </a:cubicBezTo>
                <a:cubicBezTo>
                  <a:pt x="98" y="142"/>
                  <a:pt x="98" y="142"/>
                  <a:pt x="98" y="142"/>
                </a:cubicBezTo>
                <a:cubicBezTo>
                  <a:pt x="96" y="142"/>
                  <a:pt x="93" y="143"/>
                  <a:pt x="91" y="143"/>
                </a:cubicBezTo>
                <a:cubicBezTo>
                  <a:pt x="86" y="164"/>
                  <a:pt x="86" y="164"/>
                  <a:pt x="86" y="164"/>
                </a:cubicBezTo>
                <a:cubicBezTo>
                  <a:pt x="79" y="164"/>
                  <a:pt x="79" y="164"/>
                  <a:pt x="79" y="164"/>
                </a:cubicBezTo>
                <a:cubicBezTo>
                  <a:pt x="74" y="143"/>
                  <a:pt x="74" y="143"/>
                  <a:pt x="74" y="143"/>
                </a:cubicBezTo>
                <a:cubicBezTo>
                  <a:pt x="72" y="143"/>
                  <a:pt x="69" y="142"/>
                  <a:pt x="67" y="142"/>
                </a:cubicBezTo>
                <a:cubicBezTo>
                  <a:pt x="54" y="159"/>
                  <a:pt x="54" y="159"/>
                  <a:pt x="54" y="159"/>
                </a:cubicBezTo>
                <a:cubicBezTo>
                  <a:pt x="48" y="157"/>
                  <a:pt x="48" y="157"/>
                  <a:pt x="48" y="157"/>
                </a:cubicBezTo>
                <a:cubicBezTo>
                  <a:pt x="52" y="135"/>
                  <a:pt x="52" y="135"/>
                  <a:pt x="52" y="135"/>
                </a:cubicBezTo>
                <a:cubicBezTo>
                  <a:pt x="49" y="134"/>
                  <a:pt x="47" y="133"/>
                  <a:pt x="45" y="131"/>
                </a:cubicBezTo>
                <a:cubicBezTo>
                  <a:pt x="27" y="143"/>
                  <a:pt x="27" y="143"/>
                  <a:pt x="27" y="143"/>
                </a:cubicBezTo>
                <a:cubicBezTo>
                  <a:pt x="22" y="138"/>
                  <a:pt x="22" y="138"/>
                  <a:pt x="22" y="138"/>
                </a:cubicBezTo>
                <a:cubicBezTo>
                  <a:pt x="33" y="119"/>
                  <a:pt x="33" y="119"/>
                  <a:pt x="33" y="119"/>
                </a:cubicBezTo>
                <a:cubicBezTo>
                  <a:pt x="32" y="117"/>
                  <a:pt x="30" y="115"/>
                  <a:pt x="29" y="113"/>
                </a:cubicBezTo>
                <a:cubicBezTo>
                  <a:pt x="8" y="117"/>
                  <a:pt x="8" y="117"/>
                  <a:pt x="8" y="117"/>
                </a:cubicBezTo>
                <a:cubicBezTo>
                  <a:pt x="5" y="110"/>
                  <a:pt x="5" y="110"/>
                  <a:pt x="5" y="110"/>
                </a:cubicBezTo>
                <a:cubicBezTo>
                  <a:pt x="23" y="98"/>
                  <a:pt x="23" y="98"/>
                  <a:pt x="23" y="98"/>
                </a:cubicBezTo>
                <a:cubicBezTo>
                  <a:pt x="22" y="95"/>
                  <a:pt x="21" y="93"/>
                  <a:pt x="21" y="90"/>
                </a:cubicBezTo>
                <a:cubicBezTo>
                  <a:pt x="0" y="86"/>
                  <a:pt x="0" y="86"/>
                  <a:pt x="0" y="86"/>
                </a:cubicBezTo>
                <a:cubicBezTo>
                  <a:pt x="0" y="78"/>
                  <a:pt x="0" y="78"/>
                  <a:pt x="0" y="78"/>
                </a:cubicBezTo>
                <a:cubicBezTo>
                  <a:pt x="21" y="74"/>
                  <a:pt x="21" y="74"/>
                  <a:pt x="21" y="74"/>
                </a:cubicBezTo>
                <a:cubicBezTo>
                  <a:pt x="21" y="71"/>
                  <a:pt x="22" y="69"/>
                  <a:pt x="23" y="66"/>
                </a:cubicBezTo>
                <a:cubicBezTo>
                  <a:pt x="5" y="54"/>
                  <a:pt x="5" y="54"/>
                  <a:pt x="5" y="54"/>
                </a:cubicBezTo>
                <a:cubicBezTo>
                  <a:pt x="8" y="47"/>
                  <a:pt x="8" y="47"/>
                  <a:pt x="8" y="47"/>
                </a:cubicBezTo>
                <a:cubicBezTo>
                  <a:pt x="29" y="51"/>
                  <a:pt x="29" y="51"/>
                  <a:pt x="29" y="51"/>
                </a:cubicBezTo>
                <a:cubicBezTo>
                  <a:pt x="30" y="49"/>
                  <a:pt x="32" y="46"/>
                  <a:pt x="33" y="44"/>
                </a:cubicBezTo>
                <a:cubicBezTo>
                  <a:pt x="22" y="26"/>
                  <a:pt x="22" y="26"/>
                  <a:pt x="22" y="26"/>
                </a:cubicBezTo>
                <a:cubicBezTo>
                  <a:pt x="27" y="21"/>
                  <a:pt x="27" y="21"/>
                  <a:pt x="27" y="21"/>
                </a:cubicBezTo>
                <a:cubicBezTo>
                  <a:pt x="45" y="33"/>
                  <a:pt x="45" y="33"/>
                  <a:pt x="45" y="33"/>
                </a:cubicBezTo>
                <a:cubicBezTo>
                  <a:pt x="47" y="31"/>
                  <a:pt x="49" y="30"/>
                  <a:pt x="51" y="28"/>
                </a:cubicBezTo>
                <a:cubicBezTo>
                  <a:pt x="48" y="7"/>
                  <a:pt x="48" y="7"/>
                  <a:pt x="48" y="7"/>
                </a:cubicBezTo>
                <a:cubicBezTo>
                  <a:pt x="54" y="4"/>
                  <a:pt x="54" y="4"/>
                  <a:pt x="54" y="4"/>
                </a:cubicBezTo>
                <a:cubicBezTo>
                  <a:pt x="67" y="22"/>
                  <a:pt x="67" y="22"/>
                  <a:pt x="67" y="22"/>
                </a:cubicBezTo>
                <a:cubicBezTo>
                  <a:pt x="69" y="21"/>
                  <a:pt x="72" y="21"/>
                  <a:pt x="74" y="21"/>
                </a:cubicBezTo>
                <a:cubicBezTo>
                  <a:pt x="79" y="0"/>
                  <a:pt x="79" y="0"/>
                  <a:pt x="79" y="0"/>
                </a:cubicBezTo>
                <a:close/>
                <a:moveTo>
                  <a:pt x="83" y="32"/>
                </a:moveTo>
                <a:cubicBezTo>
                  <a:pt x="110" y="32"/>
                  <a:pt x="132" y="55"/>
                  <a:pt x="132" y="82"/>
                </a:cubicBezTo>
                <a:cubicBezTo>
                  <a:pt x="132" y="109"/>
                  <a:pt x="110" y="131"/>
                  <a:pt x="83" y="131"/>
                </a:cubicBezTo>
                <a:cubicBezTo>
                  <a:pt x="55" y="131"/>
                  <a:pt x="33" y="109"/>
                  <a:pt x="33" y="82"/>
                </a:cubicBezTo>
                <a:cubicBezTo>
                  <a:pt x="33" y="55"/>
                  <a:pt x="55" y="32"/>
                  <a:pt x="83" y="32"/>
                </a:cubicBezTo>
                <a:close/>
              </a:path>
            </a:pathLst>
          </a:custGeom>
          <a:solidFill>
            <a:srgbClr val="4B5754"/>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 name="Oval 10"/>
          <p:cNvSpPr>
            <a:spLocks noChangeArrowheads="1"/>
          </p:cNvSpPr>
          <p:nvPr/>
        </p:nvSpPr>
        <p:spPr bwMode="auto">
          <a:xfrm>
            <a:off x="921995" y="2603799"/>
            <a:ext cx="1109663" cy="1098550"/>
          </a:xfrm>
          <a:prstGeom prst="ellipse">
            <a:avLst/>
          </a:prstGeom>
          <a:solidFill>
            <a:srgbClr val="FEE78E"/>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 name="Freeform 11"/>
          <p:cNvSpPr>
            <a:spLocks noEditPoints="1"/>
          </p:cNvSpPr>
          <p:nvPr/>
        </p:nvSpPr>
        <p:spPr bwMode="auto">
          <a:xfrm>
            <a:off x="647358" y="2321224"/>
            <a:ext cx="1670050" cy="1663700"/>
          </a:xfrm>
          <a:custGeom>
            <a:avLst/>
            <a:gdLst>
              <a:gd name="T0" fmla="*/ 57 w 164"/>
              <a:gd name="T1" fmla="*/ 4 h 165"/>
              <a:gd name="T2" fmla="*/ 51 w 164"/>
              <a:gd name="T3" fmla="*/ 29 h 165"/>
              <a:gd name="T4" fmla="*/ 29 w 164"/>
              <a:gd name="T5" fmla="*/ 19 h 165"/>
              <a:gd name="T6" fmla="*/ 33 w 164"/>
              <a:gd name="T7" fmla="*/ 45 h 165"/>
              <a:gd name="T8" fmla="*/ 9 w 164"/>
              <a:gd name="T9" fmla="*/ 45 h 165"/>
              <a:gd name="T10" fmla="*/ 22 w 164"/>
              <a:gd name="T11" fmla="*/ 66 h 165"/>
              <a:gd name="T12" fmla="*/ 0 w 164"/>
              <a:gd name="T13" fmla="*/ 75 h 165"/>
              <a:gd name="T14" fmla="*/ 21 w 164"/>
              <a:gd name="T15" fmla="*/ 91 h 165"/>
              <a:gd name="T16" fmla="*/ 3 w 164"/>
              <a:gd name="T17" fmla="*/ 107 h 165"/>
              <a:gd name="T18" fmla="*/ 28 w 164"/>
              <a:gd name="T19" fmla="*/ 113 h 165"/>
              <a:gd name="T20" fmla="*/ 19 w 164"/>
              <a:gd name="T21" fmla="*/ 136 h 165"/>
              <a:gd name="T22" fmla="*/ 44 w 164"/>
              <a:gd name="T23" fmla="*/ 132 h 165"/>
              <a:gd name="T24" fmla="*/ 44 w 164"/>
              <a:gd name="T25" fmla="*/ 156 h 165"/>
              <a:gd name="T26" fmla="*/ 66 w 164"/>
              <a:gd name="T27" fmla="*/ 142 h 165"/>
              <a:gd name="T28" fmla="*/ 75 w 164"/>
              <a:gd name="T29" fmla="*/ 165 h 165"/>
              <a:gd name="T30" fmla="*/ 90 w 164"/>
              <a:gd name="T31" fmla="*/ 144 h 165"/>
              <a:gd name="T32" fmla="*/ 107 w 164"/>
              <a:gd name="T33" fmla="*/ 161 h 165"/>
              <a:gd name="T34" fmla="*/ 113 w 164"/>
              <a:gd name="T35" fmla="*/ 136 h 165"/>
              <a:gd name="T36" fmla="*/ 135 w 164"/>
              <a:gd name="T37" fmla="*/ 146 h 165"/>
              <a:gd name="T38" fmla="*/ 131 w 164"/>
              <a:gd name="T39" fmla="*/ 120 h 165"/>
              <a:gd name="T40" fmla="*/ 155 w 164"/>
              <a:gd name="T41" fmla="*/ 121 h 165"/>
              <a:gd name="T42" fmla="*/ 142 w 164"/>
              <a:gd name="T43" fmla="*/ 99 h 165"/>
              <a:gd name="T44" fmla="*/ 164 w 164"/>
              <a:gd name="T45" fmla="*/ 90 h 165"/>
              <a:gd name="T46" fmla="*/ 143 w 164"/>
              <a:gd name="T47" fmla="*/ 75 h 165"/>
              <a:gd name="T48" fmla="*/ 161 w 164"/>
              <a:gd name="T49" fmla="*/ 58 h 165"/>
              <a:gd name="T50" fmla="*/ 136 w 164"/>
              <a:gd name="T51" fmla="*/ 52 h 165"/>
              <a:gd name="T52" fmla="*/ 145 w 164"/>
              <a:gd name="T53" fmla="*/ 30 h 165"/>
              <a:gd name="T54" fmla="*/ 120 w 164"/>
              <a:gd name="T55" fmla="*/ 34 h 165"/>
              <a:gd name="T56" fmla="*/ 120 w 164"/>
              <a:gd name="T57" fmla="*/ 9 h 165"/>
              <a:gd name="T58" fmla="*/ 98 w 164"/>
              <a:gd name="T59" fmla="*/ 23 h 165"/>
              <a:gd name="T60" fmla="*/ 89 w 164"/>
              <a:gd name="T61" fmla="*/ 0 h 165"/>
              <a:gd name="T62" fmla="*/ 74 w 164"/>
              <a:gd name="T63" fmla="*/ 21 h 165"/>
              <a:gd name="T64" fmla="*/ 69 w 164"/>
              <a:gd name="T65" fmla="*/ 35 h 165"/>
              <a:gd name="T66" fmla="*/ 95 w 164"/>
              <a:gd name="T67" fmla="*/ 130 h 165"/>
              <a:gd name="T68" fmla="*/ 69 w 164"/>
              <a:gd name="T69" fmla="*/ 35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4" h="165">
                <a:moveTo>
                  <a:pt x="64" y="2"/>
                </a:moveTo>
                <a:cubicBezTo>
                  <a:pt x="57" y="4"/>
                  <a:pt x="57" y="4"/>
                  <a:pt x="57" y="4"/>
                </a:cubicBezTo>
                <a:cubicBezTo>
                  <a:pt x="58" y="25"/>
                  <a:pt x="58" y="25"/>
                  <a:pt x="58" y="25"/>
                </a:cubicBezTo>
                <a:cubicBezTo>
                  <a:pt x="56" y="26"/>
                  <a:pt x="53" y="28"/>
                  <a:pt x="51" y="29"/>
                </a:cubicBezTo>
                <a:cubicBezTo>
                  <a:pt x="35" y="15"/>
                  <a:pt x="35" y="15"/>
                  <a:pt x="35" y="15"/>
                </a:cubicBezTo>
                <a:cubicBezTo>
                  <a:pt x="29" y="19"/>
                  <a:pt x="29" y="19"/>
                  <a:pt x="29" y="19"/>
                </a:cubicBezTo>
                <a:cubicBezTo>
                  <a:pt x="38" y="39"/>
                  <a:pt x="38" y="39"/>
                  <a:pt x="38" y="39"/>
                </a:cubicBezTo>
                <a:cubicBezTo>
                  <a:pt x="36" y="41"/>
                  <a:pt x="34" y="43"/>
                  <a:pt x="33" y="45"/>
                </a:cubicBezTo>
                <a:cubicBezTo>
                  <a:pt x="12" y="38"/>
                  <a:pt x="12" y="38"/>
                  <a:pt x="12" y="38"/>
                </a:cubicBezTo>
                <a:cubicBezTo>
                  <a:pt x="9" y="45"/>
                  <a:pt x="9" y="45"/>
                  <a:pt x="9" y="45"/>
                </a:cubicBezTo>
                <a:cubicBezTo>
                  <a:pt x="25" y="59"/>
                  <a:pt x="25" y="59"/>
                  <a:pt x="25" y="59"/>
                </a:cubicBezTo>
                <a:cubicBezTo>
                  <a:pt x="24" y="61"/>
                  <a:pt x="23" y="64"/>
                  <a:pt x="22" y="66"/>
                </a:cubicBezTo>
                <a:cubicBezTo>
                  <a:pt x="1" y="68"/>
                  <a:pt x="1" y="68"/>
                  <a:pt x="1" y="68"/>
                </a:cubicBezTo>
                <a:cubicBezTo>
                  <a:pt x="0" y="75"/>
                  <a:pt x="0" y="75"/>
                  <a:pt x="0" y="75"/>
                </a:cubicBezTo>
                <a:cubicBezTo>
                  <a:pt x="20" y="83"/>
                  <a:pt x="20" y="83"/>
                  <a:pt x="20" y="83"/>
                </a:cubicBezTo>
                <a:cubicBezTo>
                  <a:pt x="20" y="85"/>
                  <a:pt x="20" y="88"/>
                  <a:pt x="21" y="91"/>
                </a:cubicBezTo>
                <a:cubicBezTo>
                  <a:pt x="1" y="100"/>
                  <a:pt x="1" y="100"/>
                  <a:pt x="1" y="100"/>
                </a:cubicBezTo>
                <a:cubicBezTo>
                  <a:pt x="3" y="107"/>
                  <a:pt x="3" y="107"/>
                  <a:pt x="3" y="107"/>
                </a:cubicBezTo>
                <a:cubicBezTo>
                  <a:pt x="25" y="106"/>
                  <a:pt x="25" y="106"/>
                  <a:pt x="25" y="106"/>
                </a:cubicBezTo>
                <a:cubicBezTo>
                  <a:pt x="26" y="109"/>
                  <a:pt x="27" y="111"/>
                  <a:pt x="28" y="113"/>
                </a:cubicBezTo>
                <a:cubicBezTo>
                  <a:pt x="14" y="130"/>
                  <a:pt x="14" y="130"/>
                  <a:pt x="14" y="130"/>
                </a:cubicBezTo>
                <a:cubicBezTo>
                  <a:pt x="19" y="136"/>
                  <a:pt x="19" y="136"/>
                  <a:pt x="19" y="136"/>
                </a:cubicBezTo>
                <a:cubicBezTo>
                  <a:pt x="38" y="126"/>
                  <a:pt x="38" y="126"/>
                  <a:pt x="38" y="126"/>
                </a:cubicBezTo>
                <a:cubicBezTo>
                  <a:pt x="40" y="128"/>
                  <a:pt x="42" y="130"/>
                  <a:pt x="44" y="132"/>
                </a:cubicBezTo>
                <a:cubicBezTo>
                  <a:pt x="38" y="152"/>
                  <a:pt x="38" y="152"/>
                  <a:pt x="38" y="152"/>
                </a:cubicBezTo>
                <a:cubicBezTo>
                  <a:pt x="44" y="156"/>
                  <a:pt x="44" y="156"/>
                  <a:pt x="44" y="156"/>
                </a:cubicBezTo>
                <a:cubicBezTo>
                  <a:pt x="58" y="140"/>
                  <a:pt x="58" y="140"/>
                  <a:pt x="58" y="140"/>
                </a:cubicBezTo>
                <a:cubicBezTo>
                  <a:pt x="61" y="141"/>
                  <a:pt x="63" y="142"/>
                  <a:pt x="66" y="142"/>
                </a:cubicBezTo>
                <a:cubicBezTo>
                  <a:pt x="68" y="164"/>
                  <a:pt x="68" y="164"/>
                  <a:pt x="68" y="164"/>
                </a:cubicBezTo>
                <a:cubicBezTo>
                  <a:pt x="75" y="165"/>
                  <a:pt x="75" y="165"/>
                  <a:pt x="75" y="165"/>
                </a:cubicBezTo>
                <a:cubicBezTo>
                  <a:pt x="82" y="144"/>
                  <a:pt x="82" y="144"/>
                  <a:pt x="82" y="144"/>
                </a:cubicBezTo>
                <a:cubicBezTo>
                  <a:pt x="85" y="145"/>
                  <a:pt x="87" y="144"/>
                  <a:pt x="90" y="144"/>
                </a:cubicBezTo>
                <a:cubicBezTo>
                  <a:pt x="100" y="163"/>
                  <a:pt x="100" y="163"/>
                  <a:pt x="100" y="163"/>
                </a:cubicBezTo>
                <a:cubicBezTo>
                  <a:pt x="107" y="161"/>
                  <a:pt x="107" y="161"/>
                  <a:pt x="107" y="161"/>
                </a:cubicBezTo>
                <a:cubicBezTo>
                  <a:pt x="106" y="140"/>
                  <a:pt x="106" y="140"/>
                  <a:pt x="106" y="140"/>
                </a:cubicBezTo>
                <a:cubicBezTo>
                  <a:pt x="108" y="139"/>
                  <a:pt x="111" y="138"/>
                  <a:pt x="113" y="136"/>
                </a:cubicBezTo>
                <a:cubicBezTo>
                  <a:pt x="129" y="150"/>
                  <a:pt x="129" y="150"/>
                  <a:pt x="129" y="150"/>
                </a:cubicBezTo>
                <a:cubicBezTo>
                  <a:pt x="135" y="146"/>
                  <a:pt x="135" y="146"/>
                  <a:pt x="135" y="146"/>
                </a:cubicBezTo>
                <a:cubicBezTo>
                  <a:pt x="126" y="126"/>
                  <a:pt x="126" y="126"/>
                  <a:pt x="126" y="126"/>
                </a:cubicBezTo>
                <a:cubicBezTo>
                  <a:pt x="128" y="124"/>
                  <a:pt x="129" y="123"/>
                  <a:pt x="131" y="120"/>
                </a:cubicBezTo>
                <a:cubicBezTo>
                  <a:pt x="151" y="127"/>
                  <a:pt x="151" y="127"/>
                  <a:pt x="151" y="127"/>
                </a:cubicBezTo>
                <a:cubicBezTo>
                  <a:pt x="155" y="121"/>
                  <a:pt x="155" y="121"/>
                  <a:pt x="155" y="121"/>
                </a:cubicBezTo>
                <a:cubicBezTo>
                  <a:pt x="139" y="106"/>
                  <a:pt x="139" y="106"/>
                  <a:pt x="139" y="106"/>
                </a:cubicBezTo>
                <a:cubicBezTo>
                  <a:pt x="140" y="104"/>
                  <a:pt x="141" y="101"/>
                  <a:pt x="142" y="99"/>
                </a:cubicBezTo>
                <a:cubicBezTo>
                  <a:pt x="163" y="97"/>
                  <a:pt x="163" y="97"/>
                  <a:pt x="163" y="97"/>
                </a:cubicBezTo>
                <a:cubicBezTo>
                  <a:pt x="164" y="90"/>
                  <a:pt x="164" y="90"/>
                  <a:pt x="164" y="90"/>
                </a:cubicBezTo>
                <a:cubicBezTo>
                  <a:pt x="144" y="82"/>
                  <a:pt x="144" y="82"/>
                  <a:pt x="144" y="82"/>
                </a:cubicBezTo>
                <a:cubicBezTo>
                  <a:pt x="144" y="80"/>
                  <a:pt x="144" y="77"/>
                  <a:pt x="143" y="75"/>
                </a:cubicBezTo>
                <a:cubicBezTo>
                  <a:pt x="162" y="65"/>
                  <a:pt x="162" y="65"/>
                  <a:pt x="162" y="65"/>
                </a:cubicBezTo>
                <a:cubicBezTo>
                  <a:pt x="161" y="58"/>
                  <a:pt x="161" y="58"/>
                  <a:pt x="161" y="58"/>
                </a:cubicBezTo>
                <a:cubicBezTo>
                  <a:pt x="139" y="59"/>
                  <a:pt x="139" y="59"/>
                  <a:pt x="139" y="59"/>
                </a:cubicBezTo>
                <a:cubicBezTo>
                  <a:pt x="138" y="56"/>
                  <a:pt x="137" y="54"/>
                  <a:pt x="136" y="52"/>
                </a:cubicBezTo>
                <a:cubicBezTo>
                  <a:pt x="150" y="35"/>
                  <a:pt x="150" y="35"/>
                  <a:pt x="150" y="35"/>
                </a:cubicBezTo>
                <a:cubicBezTo>
                  <a:pt x="145" y="30"/>
                  <a:pt x="145" y="30"/>
                  <a:pt x="145" y="30"/>
                </a:cubicBezTo>
                <a:cubicBezTo>
                  <a:pt x="126" y="39"/>
                  <a:pt x="126" y="39"/>
                  <a:pt x="126" y="39"/>
                </a:cubicBezTo>
                <a:cubicBezTo>
                  <a:pt x="124" y="37"/>
                  <a:pt x="122" y="35"/>
                  <a:pt x="120" y="34"/>
                </a:cubicBezTo>
                <a:cubicBezTo>
                  <a:pt x="126" y="13"/>
                  <a:pt x="126" y="13"/>
                  <a:pt x="126" y="13"/>
                </a:cubicBezTo>
                <a:cubicBezTo>
                  <a:pt x="120" y="9"/>
                  <a:pt x="120" y="9"/>
                  <a:pt x="120" y="9"/>
                </a:cubicBezTo>
                <a:cubicBezTo>
                  <a:pt x="106" y="25"/>
                  <a:pt x="106" y="25"/>
                  <a:pt x="106" y="25"/>
                </a:cubicBezTo>
                <a:cubicBezTo>
                  <a:pt x="103" y="24"/>
                  <a:pt x="101" y="23"/>
                  <a:pt x="98" y="23"/>
                </a:cubicBezTo>
                <a:cubicBezTo>
                  <a:pt x="96" y="1"/>
                  <a:pt x="96" y="1"/>
                  <a:pt x="96" y="1"/>
                </a:cubicBezTo>
                <a:cubicBezTo>
                  <a:pt x="89" y="0"/>
                  <a:pt x="89" y="0"/>
                  <a:pt x="89" y="0"/>
                </a:cubicBezTo>
                <a:cubicBezTo>
                  <a:pt x="82" y="21"/>
                  <a:pt x="82" y="21"/>
                  <a:pt x="82" y="21"/>
                </a:cubicBezTo>
                <a:cubicBezTo>
                  <a:pt x="79" y="21"/>
                  <a:pt x="77" y="21"/>
                  <a:pt x="74" y="21"/>
                </a:cubicBezTo>
                <a:cubicBezTo>
                  <a:pt x="64" y="2"/>
                  <a:pt x="64" y="2"/>
                  <a:pt x="64" y="2"/>
                </a:cubicBezTo>
                <a:close/>
                <a:moveTo>
                  <a:pt x="69" y="35"/>
                </a:moveTo>
                <a:cubicBezTo>
                  <a:pt x="43" y="42"/>
                  <a:pt x="27" y="69"/>
                  <a:pt x="34" y="95"/>
                </a:cubicBezTo>
                <a:cubicBezTo>
                  <a:pt x="41" y="121"/>
                  <a:pt x="68" y="137"/>
                  <a:pt x="95" y="130"/>
                </a:cubicBezTo>
                <a:cubicBezTo>
                  <a:pt x="121" y="123"/>
                  <a:pt x="137" y="96"/>
                  <a:pt x="130" y="70"/>
                </a:cubicBezTo>
                <a:cubicBezTo>
                  <a:pt x="122" y="43"/>
                  <a:pt x="95" y="28"/>
                  <a:pt x="69" y="35"/>
                </a:cubicBezTo>
                <a:close/>
              </a:path>
            </a:pathLst>
          </a:custGeom>
          <a:solidFill>
            <a:srgbClr val="F4B400"/>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 name="Freeform 12"/>
          <p:cNvSpPr>
            <a:spLocks noEditPoints="1"/>
          </p:cNvSpPr>
          <p:nvPr/>
        </p:nvSpPr>
        <p:spPr bwMode="auto">
          <a:xfrm>
            <a:off x="271120" y="3883324"/>
            <a:ext cx="1679575" cy="1654175"/>
          </a:xfrm>
          <a:custGeom>
            <a:avLst/>
            <a:gdLst>
              <a:gd name="T0" fmla="*/ 65 w 165"/>
              <a:gd name="T1" fmla="*/ 2 h 164"/>
              <a:gd name="T2" fmla="*/ 82 w 165"/>
              <a:gd name="T3" fmla="*/ 20 h 164"/>
              <a:gd name="T4" fmla="*/ 97 w 165"/>
              <a:gd name="T5" fmla="*/ 1 h 164"/>
              <a:gd name="T6" fmla="*/ 106 w 165"/>
              <a:gd name="T7" fmla="*/ 25 h 164"/>
              <a:gd name="T8" fmla="*/ 127 w 165"/>
              <a:gd name="T9" fmla="*/ 13 h 164"/>
              <a:gd name="T10" fmla="*/ 126 w 165"/>
              <a:gd name="T11" fmla="*/ 38 h 164"/>
              <a:gd name="T12" fmla="*/ 150 w 165"/>
              <a:gd name="T13" fmla="*/ 35 h 164"/>
              <a:gd name="T14" fmla="*/ 140 w 165"/>
              <a:gd name="T15" fmla="*/ 58 h 164"/>
              <a:gd name="T16" fmla="*/ 163 w 165"/>
              <a:gd name="T17" fmla="*/ 64 h 164"/>
              <a:gd name="T18" fmla="*/ 144 w 165"/>
              <a:gd name="T19" fmla="*/ 82 h 164"/>
              <a:gd name="T20" fmla="*/ 164 w 165"/>
              <a:gd name="T21" fmla="*/ 97 h 164"/>
              <a:gd name="T22" fmla="*/ 140 w 165"/>
              <a:gd name="T23" fmla="*/ 106 h 164"/>
              <a:gd name="T24" fmla="*/ 152 w 165"/>
              <a:gd name="T25" fmla="*/ 126 h 164"/>
              <a:gd name="T26" fmla="*/ 126 w 165"/>
              <a:gd name="T27" fmla="*/ 126 h 164"/>
              <a:gd name="T28" fmla="*/ 130 w 165"/>
              <a:gd name="T29" fmla="*/ 150 h 164"/>
              <a:gd name="T30" fmla="*/ 106 w 165"/>
              <a:gd name="T31" fmla="*/ 139 h 164"/>
              <a:gd name="T32" fmla="*/ 100 w 165"/>
              <a:gd name="T33" fmla="*/ 163 h 164"/>
              <a:gd name="T34" fmla="*/ 83 w 165"/>
              <a:gd name="T35" fmla="*/ 144 h 164"/>
              <a:gd name="T36" fmla="*/ 68 w 165"/>
              <a:gd name="T37" fmla="*/ 163 h 164"/>
              <a:gd name="T38" fmla="*/ 59 w 165"/>
              <a:gd name="T39" fmla="*/ 139 h 164"/>
              <a:gd name="T40" fmla="*/ 38 w 165"/>
              <a:gd name="T41" fmla="*/ 152 h 164"/>
              <a:gd name="T42" fmla="*/ 39 w 165"/>
              <a:gd name="T43" fmla="*/ 126 h 164"/>
              <a:gd name="T44" fmla="*/ 15 w 165"/>
              <a:gd name="T45" fmla="*/ 129 h 164"/>
              <a:gd name="T46" fmla="*/ 25 w 165"/>
              <a:gd name="T47" fmla="*/ 106 h 164"/>
              <a:gd name="T48" fmla="*/ 2 w 165"/>
              <a:gd name="T49" fmla="*/ 100 h 164"/>
              <a:gd name="T50" fmla="*/ 21 w 165"/>
              <a:gd name="T51" fmla="*/ 82 h 164"/>
              <a:gd name="T52" fmla="*/ 1 w 165"/>
              <a:gd name="T53" fmla="*/ 68 h 164"/>
              <a:gd name="T54" fmla="*/ 25 w 165"/>
              <a:gd name="T55" fmla="*/ 59 h 164"/>
              <a:gd name="T56" fmla="*/ 13 w 165"/>
              <a:gd name="T57" fmla="*/ 38 h 164"/>
              <a:gd name="T58" fmla="*/ 39 w 165"/>
              <a:gd name="T59" fmla="*/ 38 h 164"/>
              <a:gd name="T60" fmla="*/ 35 w 165"/>
              <a:gd name="T61" fmla="*/ 15 h 164"/>
              <a:gd name="T62" fmla="*/ 59 w 165"/>
              <a:gd name="T63" fmla="*/ 25 h 164"/>
              <a:gd name="T64" fmla="*/ 70 w 165"/>
              <a:gd name="T65" fmla="*/ 34 h 164"/>
              <a:gd name="T66" fmla="*/ 95 w 165"/>
              <a:gd name="T67" fmla="*/ 130 h 164"/>
              <a:gd name="T68" fmla="*/ 70 w 165"/>
              <a:gd name="T69" fmla="*/ 3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5" h="164">
                <a:moveTo>
                  <a:pt x="58" y="4"/>
                </a:moveTo>
                <a:cubicBezTo>
                  <a:pt x="65" y="2"/>
                  <a:pt x="65" y="2"/>
                  <a:pt x="65" y="2"/>
                </a:cubicBezTo>
                <a:cubicBezTo>
                  <a:pt x="75" y="21"/>
                  <a:pt x="75" y="21"/>
                  <a:pt x="75" y="21"/>
                </a:cubicBezTo>
                <a:cubicBezTo>
                  <a:pt x="77" y="20"/>
                  <a:pt x="80" y="20"/>
                  <a:pt x="82" y="20"/>
                </a:cubicBezTo>
                <a:cubicBezTo>
                  <a:pt x="90" y="0"/>
                  <a:pt x="90" y="0"/>
                  <a:pt x="90" y="0"/>
                </a:cubicBezTo>
                <a:cubicBezTo>
                  <a:pt x="97" y="1"/>
                  <a:pt x="97" y="1"/>
                  <a:pt x="97" y="1"/>
                </a:cubicBezTo>
                <a:cubicBezTo>
                  <a:pt x="99" y="22"/>
                  <a:pt x="99" y="22"/>
                  <a:pt x="99" y="22"/>
                </a:cubicBezTo>
                <a:cubicBezTo>
                  <a:pt x="101" y="23"/>
                  <a:pt x="104" y="24"/>
                  <a:pt x="106" y="25"/>
                </a:cubicBezTo>
                <a:cubicBezTo>
                  <a:pt x="121" y="9"/>
                  <a:pt x="121" y="9"/>
                  <a:pt x="121" y="9"/>
                </a:cubicBezTo>
                <a:cubicBezTo>
                  <a:pt x="127" y="13"/>
                  <a:pt x="127" y="13"/>
                  <a:pt x="127" y="13"/>
                </a:cubicBezTo>
                <a:cubicBezTo>
                  <a:pt x="120" y="33"/>
                  <a:pt x="120" y="33"/>
                  <a:pt x="120" y="33"/>
                </a:cubicBezTo>
                <a:cubicBezTo>
                  <a:pt x="122" y="35"/>
                  <a:pt x="124" y="36"/>
                  <a:pt x="126" y="38"/>
                </a:cubicBezTo>
                <a:cubicBezTo>
                  <a:pt x="146" y="29"/>
                  <a:pt x="146" y="29"/>
                  <a:pt x="146" y="29"/>
                </a:cubicBezTo>
                <a:cubicBezTo>
                  <a:pt x="150" y="35"/>
                  <a:pt x="150" y="35"/>
                  <a:pt x="150" y="35"/>
                </a:cubicBezTo>
                <a:cubicBezTo>
                  <a:pt x="136" y="51"/>
                  <a:pt x="136" y="51"/>
                  <a:pt x="136" y="51"/>
                </a:cubicBezTo>
                <a:cubicBezTo>
                  <a:pt x="138" y="54"/>
                  <a:pt x="139" y="56"/>
                  <a:pt x="140" y="58"/>
                </a:cubicBezTo>
                <a:cubicBezTo>
                  <a:pt x="161" y="57"/>
                  <a:pt x="161" y="57"/>
                  <a:pt x="161" y="57"/>
                </a:cubicBezTo>
                <a:cubicBezTo>
                  <a:pt x="163" y="64"/>
                  <a:pt x="163" y="64"/>
                  <a:pt x="163" y="64"/>
                </a:cubicBezTo>
                <a:cubicBezTo>
                  <a:pt x="144" y="74"/>
                  <a:pt x="144" y="74"/>
                  <a:pt x="144" y="74"/>
                </a:cubicBezTo>
                <a:cubicBezTo>
                  <a:pt x="144" y="77"/>
                  <a:pt x="145" y="79"/>
                  <a:pt x="144" y="82"/>
                </a:cubicBezTo>
                <a:cubicBezTo>
                  <a:pt x="165" y="89"/>
                  <a:pt x="165" y="89"/>
                  <a:pt x="165" y="89"/>
                </a:cubicBezTo>
                <a:cubicBezTo>
                  <a:pt x="164" y="97"/>
                  <a:pt x="164" y="97"/>
                  <a:pt x="164" y="97"/>
                </a:cubicBezTo>
                <a:cubicBezTo>
                  <a:pt x="142" y="98"/>
                  <a:pt x="142" y="98"/>
                  <a:pt x="142" y="98"/>
                </a:cubicBezTo>
                <a:cubicBezTo>
                  <a:pt x="142" y="101"/>
                  <a:pt x="141" y="103"/>
                  <a:pt x="140" y="106"/>
                </a:cubicBezTo>
                <a:cubicBezTo>
                  <a:pt x="156" y="120"/>
                  <a:pt x="156" y="120"/>
                  <a:pt x="156" y="120"/>
                </a:cubicBezTo>
                <a:cubicBezTo>
                  <a:pt x="152" y="126"/>
                  <a:pt x="152" y="126"/>
                  <a:pt x="152" y="126"/>
                </a:cubicBezTo>
                <a:cubicBezTo>
                  <a:pt x="132" y="120"/>
                  <a:pt x="132" y="120"/>
                  <a:pt x="132" y="120"/>
                </a:cubicBezTo>
                <a:cubicBezTo>
                  <a:pt x="130" y="122"/>
                  <a:pt x="128" y="124"/>
                  <a:pt x="126" y="126"/>
                </a:cubicBezTo>
                <a:cubicBezTo>
                  <a:pt x="136" y="145"/>
                  <a:pt x="136" y="145"/>
                  <a:pt x="136" y="145"/>
                </a:cubicBezTo>
                <a:cubicBezTo>
                  <a:pt x="130" y="150"/>
                  <a:pt x="130" y="150"/>
                  <a:pt x="130" y="150"/>
                </a:cubicBezTo>
                <a:cubicBezTo>
                  <a:pt x="113" y="136"/>
                  <a:pt x="113" y="136"/>
                  <a:pt x="113" y="136"/>
                </a:cubicBezTo>
                <a:cubicBezTo>
                  <a:pt x="111" y="137"/>
                  <a:pt x="109" y="138"/>
                  <a:pt x="106" y="139"/>
                </a:cubicBezTo>
                <a:cubicBezTo>
                  <a:pt x="107" y="161"/>
                  <a:pt x="107" y="161"/>
                  <a:pt x="107" y="161"/>
                </a:cubicBezTo>
                <a:cubicBezTo>
                  <a:pt x="100" y="163"/>
                  <a:pt x="100" y="163"/>
                  <a:pt x="100" y="163"/>
                </a:cubicBezTo>
                <a:cubicBezTo>
                  <a:pt x="91" y="144"/>
                  <a:pt x="91" y="144"/>
                  <a:pt x="91" y="144"/>
                </a:cubicBezTo>
                <a:cubicBezTo>
                  <a:pt x="88" y="144"/>
                  <a:pt x="85" y="144"/>
                  <a:pt x="83" y="144"/>
                </a:cubicBezTo>
                <a:cubicBezTo>
                  <a:pt x="75" y="164"/>
                  <a:pt x="75" y="164"/>
                  <a:pt x="75" y="164"/>
                </a:cubicBezTo>
                <a:cubicBezTo>
                  <a:pt x="68" y="163"/>
                  <a:pt x="68" y="163"/>
                  <a:pt x="68" y="163"/>
                </a:cubicBezTo>
                <a:cubicBezTo>
                  <a:pt x="66" y="142"/>
                  <a:pt x="66" y="142"/>
                  <a:pt x="66" y="142"/>
                </a:cubicBezTo>
                <a:cubicBezTo>
                  <a:pt x="64" y="141"/>
                  <a:pt x="61" y="140"/>
                  <a:pt x="59" y="139"/>
                </a:cubicBezTo>
                <a:cubicBezTo>
                  <a:pt x="45" y="155"/>
                  <a:pt x="45" y="155"/>
                  <a:pt x="45" y="155"/>
                </a:cubicBezTo>
                <a:cubicBezTo>
                  <a:pt x="38" y="152"/>
                  <a:pt x="38" y="152"/>
                  <a:pt x="38" y="152"/>
                </a:cubicBezTo>
                <a:cubicBezTo>
                  <a:pt x="45" y="131"/>
                  <a:pt x="45" y="131"/>
                  <a:pt x="45" y="131"/>
                </a:cubicBezTo>
                <a:cubicBezTo>
                  <a:pt x="43" y="130"/>
                  <a:pt x="41" y="128"/>
                  <a:pt x="39" y="126"/>
                </a:cubicBezTo>
                <a:cubicBezTo>
                  <a:pt x="19" y="135"/>
                  <a:pt x="19" y="135"/>
                  <a:pt x="19" y="135"/>
                </a:cubicBezTo>
                <a:cubicBezTo>
                  <a:pt x="15" y="129"/>
                  <a:pt x="15" y="129"/>
                  <a:pt x="15" y="129"/>
                </a:cubicBezTo>
                <a:cubicBezTo>
                  <a:pt x="29" y="113"/>
                  <a:pt x="29" y="113"/>
                  <a:pt x="29" y="113"/>
                </a:cubicBezTo>
                <a:cubicBezTo>
                  <a:pt x="27" y="111"/>
                  <a:pt x="26" y="108"/>
                  <a:pt x="25" y="106"/>
                </a:cubicBezTo>
                <a:cubicBezTo>
                  <a:pt x="4" y="107"/>
                  <a:pt x="4" y="107"/>
                  <a:pt x="4" y="107"/>
                </a:cubicBezTo>
                <a:cubicBezTo>
                  <a:pt x="2" y="100"/>
                  <a:pt x="2" y="100"/>
                  <a:pt x="2" y="100"/>
                </a:cubicBezTo>
                <a:cubicBezTo>
                  <a:pt x="21" y="90"/>
                  <a:pt x="21" y="90"/>
                  <a:pt x="21" y="90"/>
                </a:cubicBezTo>
                <a:cubicBezTo>
                  <a:pt x="21" y="87"/>
                  <a:pt x="21" y="85"/>
                  <a:pt x="21" y="82"/>
                </a:cubicBezTo>
                <a:cubicBezTo>
                  <a:pt x="0" y="75"/>
                  <a:pt x="0" y="75"/>
                  <a:pt x="0" y="75"/>
                </a:cubicBezTo>
                <a:cubicBezTo>
                  <a:pt x="1" y="68"/>
                  <a:pt x="1" y="68"/>
                  <a:pt x="1" y="68"/>
                </a:cubicBezTo>
                <a:cubicBezTo>
                  <a:pt x="23" y="66"/>
                  <a:pt x="23" y="66"/>
                  <a:pt x="23" y="66"/>
                </a:cubicBezTo>
                <a:cubicBezTo>
                  <a:pt x="23" y="63"/>
                  <a:pt x="24" y="61"/>
                  <a:pt x="25" y="59"/>
                </a:cubicBezTo>
                <a:cubicBezTo>
                  <a:pt x="9" y="44"/>
                  <a:pt x="9" y="44"/>
                  <a:pt x="9" y="44"/>
                </a:cubicBezTo>
                <a:cubicBezTo>
                  <a:pt x="13" y="38"/>
                  <a:pt x="13" y="38"/>
                  <a:pt x="13" y="38"/>
                </a:cubicBezTo>
                <a:cubicBezTo>
                  <a:pt x="34" y="44"/>
                  <a:pt x="34" y="44"/>
                  <a:pt x="34" y="44"/>
                </a:cubicBezTo>
                <a:cubicBezTo>
                  <a:pt x="35" y="42"/>
                  <a:pt x="37" y="40"/>
                  <a:pt x="39" y="38"/>
                </a:cubicBezTo>
                <a:cubicBezTo>
                  <a:pt x="29" y="19"/>
                  <a:pt x="29" y="19"/>
                  <a:pt x="29" y="19"/>
                </a:cubicBezTo>
                <a:cubicBezTo>
                  <a:pt x="35" y="15"/>
                  <a:pt x="35" y="15"/>
                  <a:pt x="35" y="15"/>
                </a:cubicBezTo>
                <a:cubicBezTo>
                  <a:pt x="52" y="28"/>
                  <a:pt x="52" y="28"/>
                  <a:pt x="52" y="28"/>
                </a:cubicBezTo>
                <a:cubicBezTo>
                  <a:pt x="54" y="27"/>
                  <a:pt x="56" y="26"/>
                  <a:pt x="59" y="25"/>
                </a:cubicBezTo>
                <a:cubicBezTo>
                  <a:pt x="58" y="4"/>
                  <a:pt x="58" y="4"/>
                  <a:pt x="58" y="4"/>
                </a:cubicBezTo>
                <a:close/>
                <a:moveTo>
                  <a:pt x="70" y="34"/>
                </a:moveTo>
                <a:cubicBezTo>
                  <a:pt x="96" y="27"/>
                  <a:pt x="123" y="43"/>
                  <a:pt x="130" y="69"/>
                </a:cubicBezTo>
                <a:cubicBezTo>
                  <a:pt x="137" y="95"/>
                  <a:pt x="121" y="122"/>
                  <a:pt x="95" y="130"/>
                </a:cubicBezTo>
                <a:cubicBezTo>
                  <a:pt x="69" y="137"/>
                  <a:pt x="42" y="121"/>
                  <a:pt x="35" y="95"/>
                </a:cubicBezTo>
                <a:cubicBezTo>
                  <a:pt x="28" y="68"/>
                  <a:pt x="43" y="41"/>
                  <a:pt x="70" y="34"/>
                </a:cubicBezTo>
                <a:close/>
              </a:path>
            </a:pathLst>
          </a:custGeom>
          <a:solidFill>
            <a:srgbClr val="DED46E"/>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 name="Oval 13"/>
          <p:cNvSpPr>
            <a:spLocks noChangeArrowheads="1"/>
          </p:cNvSpPr>
          <p:nvPr/>
        </p:nvSpPr>
        <p:spPr bwMode="auto">
          <a:xfrm>
            <a:off x="555283" y="4165899"/>
            <a:ext cx="1109663" cy="1098550"/>
          </a:xfrm>
          <a:prstGeom prst="ellipse">
            <a:avLst/>
          </a:prstGeom>
          <a:solidFill>
            <a:srgbClr val="D9EEED"/>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 name="Freeform 14"/>
          <p:cNvSpPr>
            <a:spLocks noEditPoints="1"/>
          </p:cNvSpPr>
          <p:nvPr/>
        </p:nvSpPr>
        <p:spPr bwMode="auto">
          <a:xfrm>
            <a:off x="271120" y="3883324"/>
            <a:ext cx="1679575" cy="1654175"/>
          </a:xfrm>
          <a:custGeom>
            <a:avLst/>
            <a:gdLst>
              <a:gd name="T0" fmla="*/ 65 w 165"/>
              <a:gd name="T1" fmla="*/ 2 h 164"/>
              <a:gd name="T2" fmla="*/ 82 w 165"/>
              <a:gd name="T3" fmla="*/ 20 h 164"/>
              <a:gd name="T4" fmla="*/ 97 w 165"/>
              <a:gd name="T5" fmla="*/ 1 h 164"/>
              <a:gd name="T6" fmla="*/ 106 w 165"/>
              <a:gd name="T7" fmla="*/ 25 h 164"/>
              <a:gd name="T8" fmla="*/ 127 w 165"/>
              <a:gd name="T9" fmla="*/ 13 h 164"/>
              <a:gd name="T10" fmla="*/ 126 w 165"/>
              <a:gd name="T11" fmla="*/ 38 h 164"/>
              <a:gd name="T12" fmla="*/ 150 w 165"/>
              <a:gd name="T13" fmla="*/ 35 h 164"/>
              <a:gd name="T14" fmla="*/ 140 w 165"/>
              <a:gd name="T15" fmla="*/ 58 h 164"/>
              <a:gd name="T16" fmla="*/ 163 w 165"/>
              <a:gd name="T17" fmla="*/ 64 h 164"/>
              <a:gd name="T18" fmla="*/ 144 w 165"/>
              <a:gd name="T19" fmla="*/ 82 h 164"/>
              <a:gd name="T20" fmla="*/ 164 w 165"/>
              <a:gd name="T21" fmla="*/ 97 h 164"/>
              <a:gd name="T22" fmla="*/ 140 w 165"/>
              <a:gd name="T23" fmla="*/ 106 h 164"/>
              <a:gd name="T24" fmla="*/ 152 w 165"/>
              <a:gd name="T25" fmla="*/ 126 h 164"/>
              <a:gd name="T26" fmla="*/ 126 w 165"/>
              <a:gd name="T27" fmla="*/ 126 h 164"/>
              <a:gd name="T28" fmla="*/ 130 w 165"/>
              <a:gd name="T29" fmla="*/ 150 h 164"/>
              <a:gd name="T30" fmla="*/ 106 w 165"/>
              <a:gd name="T31" fmla="*/ 139 h 164"/>
              <a:gd name="T32" fmla="*/ 100 w 165"/>
              <a:gd name="T33" fmla="*/ 163 h 164"/>
              <a:gd name="T34" fmla="*/ 83 w 165"/>
              <a:gd name="T35" fmla="*/ 144 h 164"/>
              <a:gd name="T36" fmla="*/ 68 w 165"/>
              <a:gd name="T37" fmla="*/ 163 h 164"/>
              <a:gd name="T38" fmla="*/ 59 w 165"/>
              <a:gd name="T39" fmla="*/ 139 h 164"/>
              <a:gd name="T40" fmla="*/ 38 w 165"/>
              <a:gd name="T41" fmla="*/ 152 h 164"/>
              <a:gd name="T42" fmla="*/ 39 w 165"/>
              <a:gd name="T43" fmla="*/ 126 h 164"/>
              <a:gd name="T44" fmla="*/ 15 w 165"/>
              <a:gd name="T45" fmla="*/ 129 h 164"/>
              <a:gd name="T46" fmla="*/ 25 w 165"/>
              <a:gd name="T47" fmla="*/ 106 h 164"/>
              <a:gd name="T48" fmla="*/ 2 w 165"/>
              <a:gd name="T49" fmla="*/ 100 h 164"/>
              <a:gd name="T50" fmla="*/ 21 w 165"/>
              <a:gd name="T51" fmla="*/ 82 h 164"/>
              <a:gd name="T52" fmla="*/ 1 w 165"/>
              <a:gd name="T53" fmla="*/ 68 h 164"/>
              <a:gd name="T54" fmla="*/ 25 w 165"/>
              <a:gd name="T55" fmla="*/ 59 h 164"/>
              <a:gd name="T56" fmla="*/ 13 w 165"/>
              <a:gd name="T57" fmla="*/ 38 h 164"/>
              <a:gd name="T58" fmla="*/ 39 w 165"/>
              <a:gd name="T59" fmla="*/ 38 h 164"/>
              <a:gd name="T60" fmla="*/ 35 w 165"/>
              <a:gd name="T61" fmla="*/ 15 h 164"/>
              <a:gd name="T62" fmla="*/ 59 w 165"/>
              <a:gd name="T63" fmla="*/ 25 h 164"/>
              <a:gd name="T64" fmla="*/ 70 w 165"/>
              <a:gd name="T65" fmla="*/ 34 h 164"/>
              <a:gd name="T66" fmla="*/ 95 w 165"/>
              <a:gd name="T67" fmla="*/ 130 h 164"/>
              <a:gd name="T68" fmla="*/ 70 w 165"/>
              <a:gd name="T69" fmla="*/ 3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5" h="164">
                <a:moveTo>
                  <a:pt x="58" y="4"/>
                </a:moveTo>
                <a:cubicBezTo>
                  <a:pt x="65" y="2"/>
                  <a:pt x="65" y="2"/>
                  <a:pt x="65" y="2"/>
                </a:cubicBezTo>
                <a:cubicBezTo>
                  <a:pt x="75" y="21"/>
                  <a:pt x="75" y="21"/>
                  <a:pt x="75" y="21"/>
                </a:cubicBezTo>
                <a:cubicBezTo>
                  <a:pt x="77" y="20"/>
                  <a:pt x="80" y="20"/>
                  <a:pt x="82" y="20"/>
                </a:cubicBezTo>
                <a:cubicBezTo>
                  <a:pt x="90" y="0"/>
                  <a:pt x="90" y="0"/>
                  <a:pt x="90" y="0"/>
                </a:cubicBezTo>
                <a:cubicBezTo>
                  <a:pt x="97" y="1"/>
                  <a:pt x="97" y="1"/>
                  <a:pt x="97" y="1"/>
                </a:cubicBezTo>
                <a:cubicBezTo>
                  <a:pt x="99" y="22"/>
                  <a:pt x="99" y="22"/>
                  <a:pt x="99" y="22"/>
                </a:cubicBezTo>
                <a:cubicBezTo>
                  <a:pt x="101" y="23"/>
                  <a:pt x="104" y="24"/>
                  <a:pt x="106" y="25"/>
                </a:cubicBezTo>
                <a:cubicBezTo>
                  <a:pt x="121" y="9"/>
                  <a:pt x="121" y="9"/>
                  <a:pt x="121" y="9"/>
                </a:cubicBezTo>
                <a:cubicBezTo>
                  <a:pt x="127" y="13"/>
                  <a:pt x="127" y="13"/>
                  <a:pt x="127" y="13"/>
                </a:cubicBezTo>
                <a:cubicBezTo>
                  <a:pt x="120" y="33"/>
                  <a:pt x="120" y="33"/>
                  <a:pt x="120" y="33"/>
                </a:cubicBezTo>
                <a:cubicBezTo>
                  <a:pt x="122" y="35"/>
                  <a:pt x="124" y="36"/>
                  <a:pt x="126" y="38"/>
                </a:cubicBezTo>
                <a:cubicBezTo>
                  <a:pt x="146" y="29"/>
                  <a:pt x="146" y="29"/>
                  <a:pt x="146" y="29"/>
                </a:cubicBezTo>
                <a:cubicBezTo>
                  <a:pt x="150" y="35"/>
                  <a:pt x="150" y="35"/>
                  <a:pt x="150" y="35"/>
                </a:cubicBezTo>
                <a:cubicBezTo>
                  <a:pt x="136" y="51"/>
                  <a:pt x="136" y="51"/>
                  <a:pt x="136" y="51"/>
                </a:cubicBezTo>
                <a:cubicBezTo>
                  <a:pt x="138" y="54"/>
                  <a:pt x="139" y="56"/>
                  <a:pt x="140" y="58"/>
                </a:cubicBezTo>
                <a:cubicBezTo>
                  <a:pt x="161" y="57"/>
                  <a:pt x="161" y="57"/>
                  <a:pt x="161" y="57"/>
                </a:cubicBezTo>
                <a:cubicBezTo>
                  <a:pt x="163" y="64"/>
                  <a:pt x="163" y="64"/>
                  <a:pt x="163" y="64"/>
                </a:cubicBezTo>
                <a:cubicBezTo>
                  <a:pt x="144" y="74"/>
                  <a:pt x="144" y="74"/>
                  <a:pt x="144" y="74"/>
                </a:cubicBezTo>
                <a:cubicBezTo>
                  <a:pt x="144" y="77"/>
                  <a:pt x="145" y="79"/>
                  <a:pt x="144" y="82"/>
                </a:cubicBezTo>
                <a:cubicBezTo>
                  <a:pt x="165" y="89"/>
                  <a:pt x="165" y="89"/>
                  <a:pt x="165" y="89"/>
                </a:cubicBezTo>
                <a:cubicBezTo>
                  <a:pt x="164" y="97"/>
                  <a:pt x="164" y="97"/>
                  <a:pt x="164" y="97"/>
                </a:cubicBezTo>
                <a:cubicBezTo>
                  <a:pt x="142" y="98"/>
                  <a:pt x="142" y="98"/>
                  <a:pt x="142" y="98"/>
                </a:cubicBezTo>
                <a:cubicBezTo>
                  <a:pt x="142" y="101"/>
                  <a:pt x="141" y="103"/>
                  <a:pt x="140" y="106"/>
                </a:cubicBezTo>
                <a:cubicBezTo>
                  <a:pt x="156" y="120"/>
                  <a:pt x="156" y="120"/>
                  <a:pt x="156" y="120"/>
                </a:cubicBezTo>
                <a:cubicBezTo>
                  <a:pt x="152" y="126"/>
                  <a:pt x="152" y="126"/>
                  <a:pt x="152" y="126"/>
                </a:cubicBezTo>
                <a:cubicBezTo>
                  <a:pt x="132" y="120"/>
                  <a:pt x="132" y="120"/>
                  <a:pt x="132" y="120"/>
                </a:cubicBezTo>
                <a:cubicBezTo>
                  <a:pt x="130" y="122"/>
                  <a:pt x="128" y="124"/>
                  <a:pt x="126" y="126"/>
                </a:cubicBezTo>
                <a:cubicBezTo>
                  <a:pt x="136" y="145"/>
                  <a:pt x="136" y="145"/>
                  <a:pt x="136" y="145"/>
                </a:cubicBezTo>
                <a:cubicBezTo>
                  <a:pt x="130" y="150"/>
                  <a:pt x="130" y="150"/>
                  <a:pt x="130" y="150"/>
                </a:cubicBezTo>
                <a:cubicBezTo>
                  <a:pt x="113" y="136"/>
                  <a:pt x="113" y="136"/>
                  <a:pt x="113" y="136"/>
                </a:cubicBezTo>
                <a:cubicBezTo>
                  <a:pt x="111" y="137"/>
                  <a:pt x="109" y="138"/>
                  <a:pt x="106" y="139"/>
                </a:cubicBezTo>
                <a:cubicBezTo>
                  <a:pt x="107" y="161"/>
                  <a:pt x="107" y="161"/>
                  <a:pt x="107" y="161"/>
                </a:cubicBezTo>
                <a:cubicBezTo>
                  <a:pt x="100" y="163"/>
                  <a:pt x="100" y="163"/>
                  <a:pt x="100" y="163"/>
                </a:cubicBezTo>
                <a:cubicBezTo>
                  <a:pt x="91" y="144"/>
                  <a:pt x="91" y="144"/>
                  <a:pt x="91" y="144"/>
                </a:cubicBezTo>
                <a:cubicBezTo>
                  <a:pt x="88" y="144"/>
                  <a:pt x="85" y="144"/>
                  <a:pt x="83" y="144"/>
                </a:cubicBezTo>
                <a:cubicBezTo>
                  <a:pt x="75" y="164"/>
                  <a:pt x="75" y="164"/>
                  <a:pt x="75" y="164"/>
                </a:cubicBezTo>
                <a:cubicBezTo>
                  <a:pt x="68" y="163"/>
                  <a:pt x="68" y="163"/>
                  <a:pt x="68" y="163"/>
                </a:cubicBezTo>
                <a:cubicBezTo>
                  <a:pt x="66" y="142"/>
                  <a:pt x="66" y="142"/>
                  <a:pt x="66" y="142"/>
                </a:cubicBezTo>
                <a:cubicBezTo>
                  <a:pt x="64" y="141"/>
                  <a:pt x="61" y="140"/>
                  <a:pt x="59" y="139"/>
                </a:cubicBezTo>
                <a:cubicBezTo>
                  <a:pt x="45" y="155"/>
                  <a:pt x="45" y="155"/>
                  <a:pt x="45" y="155"/>
                </a:cubicBezTo>
                <a:cubicBezTo>
                  <a:pt x="38" y="152"/>
                  <a:pt x="38" y="152"/>
                  <a:pt x="38" y="152"/>
                </a:cubicBezTo>
                <a:cubicBezTo>
                  <a:pt x="45" y="131"/>
                  <a:pt x="45" y="131"/>
                  <a:pt x="45" y="131"/>
                </a:cubicBezTo>
                <a:cubicBezTo>
                  <a:pt x="43" y="130"/>
                  <a:pt x="41" y="128"/>
                  <a:pt x="39" y="126"/>
                </a:cubicBezTo>
                <a:cubicBezTo>
                  <a:pt x="19" y="135"/>
                  <a:pt x="19" y="135"/>
                  <a:pt x="19" y="135"/>
                </a:cubicBezTo>
                <a:cubicBezTo>
                  <a:pt x="15" y="129"/>
                  <a:pt x="15" y="129"/>
                  <a:pt x="15" y="129"/>
                </a:cubicBezTo>
                <a:cubicBezTo>
                  <a:pt x="29" y="113"/>
                  <a:pt x="29" y="113"/>
                  <a:pt x="29" y="113"/>
                </a:cubicBezTo>
                <a:cubicBezTo>
                  <a:pt x="27" y="111"/>
                  <a:pt x="26" y="108"/>
                  <a:pt x="25" y="106"/>
                </a:cubicBezTo>
                <a:cubicBezTo>
                  <a:pt x="4" y="107"/>
                  <a:pt x="4" y="107"/>
                  <a:pt x="4" y="107"/>
                </a:cubicBezTo>
                <a:cubicBezTo>
                  <a:pt x="2" y="100"/>
                  <a:pt x="2" y="100"/>
                  <a:pt x="2" y="100"/>
                </a:cubicBezTo>
                <a:cubicBezTo>
                  <a:pt x="21" y="90"/>
                  <a:pt x="21" y="90"/>
                  <a:pt x="21" y="90"/>
                </a:cubicBezTo>
                <a:cubicBezTo>
                  <a:pt x="21" y="87"/>
                  <a:pt x="21" y="85"/>
                  <a:pt x="21" y="82"/>
                </a:cubicBezTo>
                <a:cubicBezTo>
                  <a:pt x="0" y="75"/>
                  <a:pt x="0" y="75"/>
                  <a:pt x="0" y="75"/>
                </a:cubicBezTo>
                <a:cubicBezTo>
                  <a:pt x="1" y="68"/>
                  <a:pt x="1" y="68"/>
                  <a:pt x="1" y="68"/>
                </a:cubicBezTo>
                <a:cubicBezTo>
                  <a:pt x="23" y="66"/>
                  <a:pt x="23" y="66"/>
                  <a:pt x="23" y="66"/>
                </a:cubicBezTo>
                <a:cubicBezTo>
                  <a:pt x="23" y="63"/>
                  <a:pt x="24" y="61"/>
                  <a:pt x="25" y="59"/>
                </a:cubicBezTo>
                <a:cubicBezTo>
                  <a:pt x="9" y="44"/>
                  <a:pt x="9" y="44"/>
                  <a:pt x="9" y="44"/>
                </a:cubicBezTo>
                <a:cubicBezTo>
                  <a:pt x="13" y="38"/>
                  <a:pt x="13" y="38"/>
                  <a:pt x="13" y="38"/>
                </a:cubicBezTo>
                <a:cubicBezTo>
                  <a:pt x="34" y="44"/>
                  <a:pt x="34" y="44"/>
                  <a:pt x="34" y="44"/>
                </a:cubicBezTo>
                <a:cubicBezTo>
                  <a:pt x="35" y="42"/>
                  <a:pt x="37" y="40"/>
                  <a:pt x="39" y="38"/>
                </a:cubicBezTo>
                <a:cubicBezTo>
                  <a:pt x="29" y="19"/>
                  <a:pt x="29" y="19"/>
                  <a:pt x="29" y="19"/>
                </a:cubicBezTo>
                <a:cubicBezTo>
                  <a:pt x="35" y="15"/>
                  <a:pt x="35" y="15"/>
                  <a:pt x="35" y="15"/>
                </a:cubicBezTo>
                <a:cubicBezTo>
                  <a:pt x="52" y="28"/>
                  <a:pt x="52" y="28"/>
                  <a:pt x="52" y="28"/>
                </a:cubicBezTo>
                <a:cubicBezTo>
                  <a:pt x="54" y="27"/>
                  <a:pt x="56" y="26"/>
                  <a:pt x="59" y="25"/>
                </a:cubicBezTo>
                <a:cubicBezTo>
                  <a:pt x="58" y="4"/>
                  <a:pt x="58" y="4"/>
                  <a:pt x="58" y="4"/>
                </a:cubicBezTo>
                <a:close/>
                <a:moveTo>
                  <a:pt x="70" y="34"/>
                </a:moveTo>
                <a:cubicBezTo>
                  <a:pt x="96" y="27"/>
                  <a:pt x="123" y="43"/>
                  <a:pt x="130" y="69"/>
                </a:cubicBezTo>
                <a:cubicBezTo>
                  <a:pt x="137" y="95"/>
                  <a:pt x="121" y="122"/>
                  <a:pt x="95" y="130"/>
                </a:cubicBezTo>
                <a:cubicBezTo>
                  <a:pt x="69" y="137"/>
                  <a:pt x="42" y="121"/>
                  <a:pt x="35" y="95"/>
                </a:cubicBezTo>
                <a:cubicBezTo>
                  <a:pt x="28" y="68"/>
                  <a:pt x="43" y="41"/>
                  <a:pt x="70" y="34"/>
                </a:cubicBezTo>
                <a:close/>
              </a:path>
            </a:pathLst>
          </a:custGeom>
          <a:solidFill>
            <a:srgbClr val="369CAB"/>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 name="文本框 75"/>
          <p:cNvSpPr txBox="1"/>
          <p:nvPr/>
        </p:nvSpPr>
        <p:spPr>
          <a:xfrm>
            <a:off x="1110114" y="2913659"/>
            <a:ext cx="567784" cy="461665"/>
          </a:xfrm>
          <a:prstGeom prst="rect">
            <a:avLst/>
          </a:prstGeom>
          <a:noFill/>
        </p:spPr>
        <p:txBody>
          <a:bodyPr wrap="none" rtlCol="0">
            <a:spAutoFit/>
          </a:bodyPr>
          <a:lstStyle/>
          <a:p>
            <a:r>
              <a:rPr lang="en-US" altLang="zh-CN" sz="2400" dirty="0" smtClean="0">
                <a:solidFill>
                  <a:schemeClr val="tx1">
                    <a:lumMod val="65000"/>
                    <a:lumOff val="35000"/>
                  </a:schemeClr>
                </a:solidFill>
                <a:latin typeface="Impact" panose="020B0806030902050204" pitchFamily="34" charset="0"/>
              </a:rPr>
              <a:t>    5</a:t>
            </a:r>
            <a:endParaRPr lang="zh-CN" altLang="en-US" sz="2400" dirty="0">
              <a:solidFill>
                <a:schemeClr val="tx1">
                  <a:lumMod val="65000"/>
                  <a:lumOff val="35000"/>
                </a:schemeClr>
              </a:solidFill>
              <a:latin typeface="Impact" panose="020B0806030902050204" pitchFamily="34" charset="0"/>
            </a:endParaRPr>
          </a:p>
        </p:txBody>
      </p:sp>
      <p:sp>
        <p:nvSpPr>
          <p:cNvPr id="13" name="文本框 76"/>
          <p:cNvSpPr txBox="1"/>
          <p:nvPr/>
        </p:nvSpPr>
        <p:spPr>
          <a:xfrm>
            <a:off x="2317408" y="779761"/>
            <a:ext cx="9719695" cy="5262979"/>
          </a:xfrm>
          <a:prstGeom prst="rect">
            <a:avLst/>
          </a:prstGeom>
          <a:noFill/>
        </p:spPr>
        <p:txBody>
          <a:bodyPr wrap="square" rtlCol="0">
            <a:spAutoFit/>
          </a:bodyPr>
          <a:lstStyle/>
          <a:p>
            <a:r>
              <a:rPr lang="zh-CN" altLang="en-US" sz="2800" dirty="0" smtClean="0"/>
              <a:t>由于</a:t>
            </a:r>
            <a:r>
              <a:rPr lang="zh-CN" altLang="en-US" sz="2800" dirty="0"/>
              <a:t>样品未经预处理，因此样品的状态、测定的方式以及测定的条件都会影响测量的结果，</a:t>
            </a:r>
            <a:r>
              <a:rPr lang="zh-CN" altLang="en-US" sz="2800" dirty="0">
                <a:solidFill>
                  <a:srgbClr val="FF0000"/>
                </a:solidFill>
              </a:rPr>
              <a:t>使近红外光谱的变动性大</a:t>
            </a:r>
            <a:r>
              <a:rPr lang="zh-CN" altLang="en-US" sz="2800" dirty="0"/>
              <a:t>。</a:t>
            </a:r>
          </a:p>
          <a:p>
            <a:endParaRPr lang="en-US" altLang="zh-CN" dirty="0" smtClean="0"/>
          </a:p>
          <a:p>
            <a:endParaRPr lang="en-US" altLang="zh-CN" dirty="0" smtClean="0"/>
          </a:p>
          <a:p>
            <a:r>
              <a:rPr lang="zh-CN" altLang="en-US" sz="2800" dirty="0" smtClean="0"/>
              <a:t>由于</a:t>
            </a:r>
            <a:r>
              <a:rPr lang="zh-CN" altLang="en-US" sz="2800" dirty="0"/>
              <a:t>近红外光谱测定的样品经常是不经过提纯等预处理的复杂样品，因此样品中出待测成分外还存在着复杂的高强度背景，造成了</a:t>
            </a:r>
            <a:r>
              <a:rPr lang="en-US" altLang="zh-CN" sz="2800" dirty="0"/>
              <a:t>NIR</a:t>
            </a:r>
            <a:r>
              <a:rPr lang="zh-CN" altLang="en-US" sz="2800" dirty="0"/>
              <a:t>分析图谱的背景复杂和谱峰重叠，</a:t>
            </a:r>
            <a:r>
              <a:rPr lang="zh-CN" altLang="en-US" sz="2800" dirty="0">
                <a:solidFill>
                  <a:srgbClr val="FF0000"/>
                </a:solidFill>
              </a:rPr>
              <a:t>难以用常规方法解析图谱</a:t>
            </a:r>
            <a:r>
              <a:rPr lang="zh-CN" altLang="en-US" sz="2800" dirty="0"/>
              <a:t>。</a:t>
            </a:r>
          </a:p>
          <a:p>
            <a:endParaRPr lang="en-US" altLang="zh-CN" sz="1200" dirty="0" smtClean="0"/>
          </a:p>
          <a:p>
            <a:endParaRPr lang="en-US" altLang="zh-CN" sz="1200" dirty="0" smtClean="0"/>
          </a:p>
          <a:p>
            <a:r>
              <a:rPr lang="zh-CN" altLang="en-US" sz="2800" dirty="0" smtClean="0"/>
              <a:t>由于</a:t>
            </a:r>
            <a:r>
              <a:rPr lang="zh-CN" altLang="en-US" sz="2800" dirty="0"/>
              <a:t>一种基团在近红外光谱区的多个波长处有吸收，且近红外光谱谱峰较宽，致使</a:t>
            </a:r>
            <a:r>
              <a:rPr lang="zh-CN" altLang="en-US" sz="2800" dirty="0">
                <a:solidFill>
                  <a:srgbClr val="FF0000"/>
                </a:solidFill>
              </a:rPr>
              <a:t>多组分样品的近红外光谱在一个波长处有多个谱峰的重叠</a:t>
            </a:r>
            <a:r>
              <a:rPr lang="zh-CN" altLang="en-US" sz="2800" dirty="0"/>
              <a:t>。</a:t>
            </a:r>
          </a:p>
          <a:p>
            <a:endParaRPr lang="zh-CN" altLang="en-US" sz="2400" dirty="0">
              <a:solidFill>
                <a:schemeClr val="tx1">
                  <a:lumMod val="65000"/>
                  <a:lumOff val="35000"/>
                </a:schemeClr>
              </a:solidFill>
              <a:latin typeface="Impact" panose="020B0806030902050204" pitchFamily="34" charset="0"/>
            </a:endParaRPr>
          </a:p>
        </p:txBody>
      </p:sp>
      <p:sp>
        <p:nvSpPr>
          <p:cNvPr id="14" name="文本框 77"/>
          <p:cNvSpPr txBox="1"/>
          <p:nvPr/>
        </p:nvSpPr>
        <p:spPr>
          <a:xfrm>
            <a:off x="743401" y="4464573"/>
            <a:ext cx="569387" cy="461665"/>
          </a:xfrm>
          <a:prstGeom prst="rect">
            <a:avLst/>
          </a:prstGeom>
          <a:noFill/>
        </p:spPr>
        <p:txBody>
          <a:bodyPr wrap="none" rtlCol="0">
            <a:spAutoFit/>
          </a:bodyPr>
          <a:lstStyle/>
          <a:p>
            <a:r>
              <a:rPr lang="en-US" altLang="zh-CN" sz="2400" dirty="0" smtClean="0">
                <a:solidFill>
                  <a:schemeClr val="tx1">
                    <a:lumMod val="65000"/>
                    <a:lumOff val="35000"/>
                  </a:schemeClr>
                </a:solidFill>
                <a:latin typeface="Impact" panose="020B0806030902050204" pitchFamily="34" charset="0"/>
              </a:rPr>
              <a:t>    6</a:t>
            </a:r>
            <a:endParaRPr lang="zh-CN" altLang="en-US" sz="2400" dirty="0">
              <a:solidFill>
                <a:schemeClr val="tx1">
                  <a:lumMod val="65000"/>
                  <a:lumOff val="35000"/>
                </a:schemeClr>
              </a:solidFill>
              <a:latin typeface="Impact" panose="020B0806030902050204" pitchFamily="34"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0" y="0"/>
            <a:ext cx="12192000" cy="6858000"/>
          </a:xfrm>
          <a:prstGeom prst="rect">
            <a:avLst/>
          </a:prstGeom>
        </p:spPr>
      </p:pic>
      <p:sp>
        <p:nvSpPr>
          <p:cNvPr id="5" name="文本框 4"/>
          <p:cNvSpPr txBox="1"/>
          <p:nvPr/>
        </p:nvSpPr>
        <p:spPr>
          <a:xfrm>
            <a:off x="3730170" y="1877625"/>
            <a:ext cx="7663543" cy="1015663"/>
          </a:xfrm>
          <a:prstGeom prst="rect">
            <a:avLst/>
          </a:prstGeom>
          <a:noFill/>
        </p:spPr>
        <p:txBody>
          <a:bodyPr wrap="square" rtlCol="0">
            <a:spAutoFit/>
          </a:bodyPr>
          <a:lstStyle/>
          <a:p>
            <a:r>
              <a:rPr lang="zh-CN" altLang="en-US" sz="6000" dirty="0" smtClean="0">
                <a:solidFill>
                  <a:srgbClr val="5B9BD5">
                    <a:lumMod val="75000"/>
                  </a:srgbClr>
                </a:solidFill>
                <a:latin typeface="微软雅黑" panose="020B0503020204020204" pitchFamily="34" charset="-122"/>
                <a:ea typeface="微软雅黑" panose="020B0503020204020204" pitchFamily="34" charset="-122"/>
              </a:rPr>
              <a:t>        仪器结构</a:t>
            </a:r>
            <a:endParaRPr lang="zh-CN" altLang="en-US" sz="6000" b="1" dirty="0">
              <a:solidFill>
                <a:srgbClr val="FFC000">
                  <a:lumMod val="75000"/>
                </a:srgb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4" name="矩形 3"/>
          <p:cNvSpPr/>
          <p:nvPr/>
        </p:nvSpPr>
        <p:spPr>
          <a:xfrm>
            <a:off x="623392" y="2204864"/>
            <a:ext cx="2304256" cy="504056"/>
          </a:xfrm>
          <a:prstGeom prst="rect">
            <a:avLst/>
          </a:prstGeom>
          <a:solidFill>
            <a:schemeClr val="accent6">
              <a:lumMod val="40000"/>
              <a:lumOff val="60000"/>
            </a:schemeClr>
          </a:solidFill>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sz="2800" b="1" dirty="0" smtClean="0">
                <a:solidFill>
                  <a:schemeClr val="accent5">
                    <a:lumMod val="75000"/>
                  </a:schemeClr>
                </a:solidFill>
              </a:rPr>
              <a:t>光源系统</a:t>
            </a:r>
            <a:endParaRPr lang="zh-CN" altLang="en-US" sz="2800" b="1" dirty="0">
              <a:solidFill>
                <a:schemeClr val="accent5">
                  <a:lumMod val="75000"/>
                </a:schemeClr>
              </a:solidFill>
            </a:endParaRPr>
          </a:p>
        </p:txBody>
      </p:sp>
      <p:sp>
        <p:nvSpPr>
          <p:cNvPr id="6" name="矩形 5"/>
          <p:cNvSpPr/>
          <p:nvPr/>
        </p:nvSpPr>
        <p:spPr>
          <a:xfrm>
            <a:off x="9168341" y="2204864"/>
            <a:ext cx="2304256" cy="504056"/>
          </a:xfrm>
          <a:prstGeom prst="rect">
            <a:avLst/>
          </a:prstGeom>
          <a:solidFill>
            <a:schemeClr val="accent6">
              <a:lumMod val="40000"/>
              <a:lumOff val="60000"/>
            </a:schemeClr>
          </a:solidFill>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sz="2800" b="1" dirty="0" smtClean="0">
                <a:solidFill>
                  <a:schemeClr val="accent5">
                    <a:lumMod val="75000"/>
                  </a:schemeClr>
                </a:solidFill>
              </a:rPr>
              <a:t>检测器</a:t>
            </a:r>
            <a:endParaRPr lang="zh-CN" altLang="en-US" sz="2800" b="1" dirty="0">
              <a:solidFill>
                <a:schemeClr val="accent5">
                  <a:lumMod val="75000"/>
                </a:schemeClr>
              </a:solidFill>
            </a:endParaRPr>
          </a:p>
        </p:txBody>
      </p:sp>
      <p:sp>
        <p:nvSpPr>
          <p:cNvPr id="7" name="矩形 6"/>
          <p:cNvSpPr/>
          <p:nvPr/>
        </p:nvSpPr>
        <p:spPr>
          <a:xfrm>
            <a:off x="6384032" y="2204864"/>
            <a:ext cx="2304256" cy="504056"/>
          </a:xfrm>
          <a:prstGeom prst="rect">
            <a:avLst/>
          </a:prstGeom>
          <a:solidFill>
            <a:schemeClr val="accent6">
              <a:lumMod val="40000"/>
              <a:lumOff val="60000"/>
            </a:schemeClr>
          </a:solidFill>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sz="2800" b="1" dirty="0" smtClean="0">
                <a:solidFill>
                  <a:schemeClr val="accent5">
                    <a:lumMod val="75000"/>
                  </a:schemeClr>
                </a:solidFill>
              </a:rPr>
              <a:t>样品室</a:t>
            </a:r>
            <a:endParaRPr lang="zh-CN" altLang="en-US" sz="2800" b="1" dirty="0">
              <a:solidFill>
                <a:schemeClr val="accent5">
                  <a:lumMod val="75000"/>
                </a:schemeClr>
              </a:solidFill>
            </a:endParaRPr>
          </a:p>
        </p:txBody>
      </p:sp>
      <p:sp>
        <p:nvSpPr>
          <p:cNvPr id="8" name="矩形 7"/>
          <p:cNvSpPr/>
          <p:nvPr/>
        </p:nvSpPr>
        <p:spPr>
          <a:xfrm>
            <a:off x="3503712" y="2204864"/>
            <a:ext cx="2304256" cy="504056"/>
          </a:xfrm>
          <a:prstGeom prst="rect">
            <a:avLst/>
          </a:prstGeom>
          <a:solidFill>
            <a:schemeClr val="accent6">
              <a:lumMod val="40000"/>
              <a:lumOff val="60000"/>
            </a:schemeClr>
          </a:solidFill>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sz="2800" b="1" dirty="0" smtClean="0">
                <a:solidFill>
                  <a:schemeClr val="accent5">
                    <a:lumMod val="75000"/>
                  </a:schemeClr>
                </a:solidFill>
              </a:rPr>
              <a:t>分光系统</a:t>
            </a:r>
            <a:endParaRPr lang="zh-CN" altLang="en-US" sz="2800" b="1" dirty="0">
              <a:solidFill>
                <a:schemeClr val="accent5">
                  <a:lumMod val="75000"/>
                </a:schemeClr>
              </a:solidFill>
            </a:endParaRPr>
          </a:p>
        </p:txBody>
      </p:sp>
      <p:sp>
        <p:nvSpPr>
          <p:cNvPr id="9" name="矩形 8"/>
          <p:cNvSpPr/>
          <p:nvPr/>
        </p:nvSpPr>
        <p:spPr>
          <a:xfrm>
            <a:off x="9527773" y="3900703"/>
            <a:ext cx="2304256" cy="504056"/>
          </a:xfrm>
          <a:prstGeom prst="rect">
            <a:avLst/>
          </a:prstGeom>
          <a:solidFill>
            <a:schemeClr val="accent6">
              <a:lumMod val="40000"/>
              <a:lumOff val="60000"/>
            </a:schemeClr>
          </a:solidFill>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sz="2400" b="1" dirty="0" smtClean="0">
                <a:solidFill>
                  <a:schemeClr val="accent5">
                    <a:lumMod val="75000"/>
                  </a:schemeClr>
                </a:solidFill>
              </a:rPr>
              <a:t>记录显示系统</a:t>
            </a:r>
            <a:endParaRPr lang="zh-CN" altLang="en-US" sz="2400" b="1" dirty="0">
              <a:solidFill>
                <a:schemeClr val="accent5">
                  <a:lumMod val="75000"/>
                </a:schemeClr>
              </a:solidFill>
            </a:endParaRPr>
          </a:p>
        </p:txBody>
      </p:sp>
      <p:sp>
        <p:nvSpPr>
          <p:cNvPr id="10" name="矩形 9"/>
          <p:cNvSpPr/>
          <p:nvPr/>
        </p:nvSpPr>
        <p:spPr>
          <a:xfrm>
            <a:off x="623392" y="3900703"/>
            <a:ext cx="7200800" cy="504056"/>
          </a:xfrm>
          <a:prstGeom prst="rect">
            <a:avLst/>
          </a:prstGeom>
          <a:solidFill>
            <a:schemeClr val="accent6">
              <a:lumMod val="40000"/>
              <a:lumOff val="60000"/>
            </a:schemeClr>
          </a:solidFill>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sz="2800" b="1" dirty="0" smtClean="0">
                <a:solidFill>
                  <a:schemeClr val="accent5">
                    <a:lumMod val="75000"/>
                  </a:schemeClr>
                </a:solidFill>
              </a:rPr>
              <a:t>控制和数据处理系统</a:t>
            </a:r>
            <a:endParaRPr lang="zh-CN" altLang="en-US" sz="2800" b="1" dirty="0">
              <a:solidFill>
                <a:schemeClr val="accent5">
                  <a:lumMod val="75000"/>
                </a:schemeClr>
              </a:solidFill>
            </a:endParaRPr>
          </a:p>
        </p:txBody>
      </p:sp>
      <p:cxnSp>
        <p:nvCxnSpPr>
          <p:cNvPr id="12" name="直接箭头连接符 11"/>
          <p:cNvCxnSpPr/>
          <p:nvPr/>
        </p:nvCxnSpPr>
        <p:spPr>
          <a:xfrm>
            <a:off x="2927648" y="2456892"/>
            <a:ext cx="576064" cy="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14" name="直接箭头连接符 13"/>
          <p:cNvCxnSpPr>
            <a:stCxn id="8" idx="3"/>
          </p:cNvCxnSpPr>
          <p:nvPr/>
        </p:nvCxnSpPr>
        <p:spPr>
          <a:xfrm>
            <a:off x="5807968" y="2456892"/>
            <a:ext cx="576064" cy="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16" name="直接箭头连接符 15"/>
          <p:cNvCxnSpPr>
            <a:stCxn id="7" idx="3"/>
          </p:cNvCxnSpPr>
          <p:nvPr/>
        </p:nvCxnSpPr>
        <p:spPr>
          <a:xfrm>
            <a:off x="8688288" y="2456892"/>
            <a:ext cx="480053" cy="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18" name="直接箭头连接符 17"/>
          <p:cNvCxnSpPr/>
          <p:nvPr/>
        </p:nvCxnSpPr>
        <p:spPr>
          <a:xfrm>
            <a:off x="1775520" y="2708923"/>
            <a:ext cx="0" cy="1191783"/>
          </a:xfrm>
          <a:prstGeom prst="straightConnector1">
            <a:avLst/>
          </a:prstGeom>
          <a:ln>
            <a:headEnd type="arrow"/>
            <a:tailEnd type="arrow"/>
          </a:ln>
        </p:spPr>
        <p:style>
          <a:lnRef idx="2">
            <a:schemeClr val="accent2"/>
          </a:lnRef>
          <a:fillRef idx="0">
            <a:schemeClr val="accent2"/>
          </a:fillRef>
          <a:effectRef idx="1">
            <a:schemeClr val="accent2"/>
          </a:effectRef>
          <a:fontRef idx="minor">
            <a:schemeClr val="tx1"/>
          </a:fontRef>
        </p:style>
      </p:cxnSp>
      <p:cxnSp>
        <p:nvCxnSpPr>
          <p:cNvPr id="20" name="直接箭头连接符 19"/>
          <p:cNvCxnSpPr>
            <a:stCxn id="8" idx="2"/>
          </p:cNvCxnSpPr>
          <p:nvPr/>
        </p:nvCxnSpPr>
        <p:spPr>
          <a:xfrm>
            <a:off x="4655840" y="2708923"/>
            <a:ext cx="0" cy="1191783"/>
          </a:xfrm>
          <a:prstGeom prst="straightConnector1">
            <a:avLst/>
          </a:prstGeom>
          <a:ln>
            <a:headEnd type="arrow"/>
            <a:tailEnd type="arrow"/>
          </a:ln>
        </p:spPr>
        <p:style>
          <a:lnRef idx="2">
            <a:schemeClr val="accent2"/>
          </a:lnRef>
          <a:fillRef idx="0">
            <a:schemeClr val="accent2"/>
          </a:fillRef>
          <a:effectRef idx="1">
            <a:schemeClr val="accent2"/>
          </a:effectRef>
          <a:fontRef idx="minor">
            <a:schemeClr val="tx1"/>
          </a:fontRef>
        </p:style>
      </p:cxnSp>
      <p:cxnSp>
        <p:nvCxnSpPr>
          <p:cNvPr id="22" name="直接箭头连接符 21"/>
          <p:cNvCxnSpPr>
            <a:stCxn id="7" idx="2"/>
          </p:cNvCxnSpPr>
          <p:nvPr/>
        </p:nvCxnSpPr>
        <p:spPr>
          <a:xfrm>
            <a:off x="7536160" y="2708923"/>
            <a:ext cx="0" cy="1191783"/>
          </a:xfrm>
          <a:prstGeom prst="straightConnector1">
            <a:avLst/>
          </a:prstGeom>
          <a:ln>
            <a:headEnd type="arrow"/>
            <a:tailEnd type="arrow"/>
          </a:ln>
        </p:spPr>
        <p:style>
          <a:lnRef idx="2">
            <a:schemeClr val="accent2"/>
          </a:lnRef>
          <a:fillRef idx="0">
            <a:schemeClr val="accent2"/>
          </a:fillRef>
          <a:effectRef idx="1">
            <a:schemeClr val="accent2"/>
          </a:effectRef>
          <a:fontRef idx="minor">
            <a:schemeClr val="tx1"/>
          </a:fontRef>
        </p:style>
      </p:cxnSp>
      <p:cxnSp>
        <p:nvCxnSpPr>
          <p:cNvPr id="26" name="直接箭头连接符 25"/>
          <p:cNvCxnSpPr>
            <a:stCxn id="10" idx="3"/>
          </p:cNvCxnSpPr>
          <p:nvPr/>
        </p:nvCxnSpPr>
        <p:spPr>
          <a:xfrm>
            <a:off x="7824192" y="4152731"/>
            <a:ext cx="1703581" cy="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28" name="直接箭头连接符 27"/>
          <p:cNvCxnSpPr/>
          <p:nvPr/>
        </p:nvCxnSpPr>
        <p:spPr>
          <a:xfrm flipV="1">
            <a:off x="7824193" y="2708923"/>
            <a:ext cx="2400267" cy="1191783"/>
          </a:xfrm>
          <a:prstGeom prst="straightConnector1">
            <a:avLst/>
          </a:prstGeom>
          <a:ln>
            <a:headEnd type="arrow"/>
            <a:tailEnd type="arrow"/>
          </a:ln>
        </p:spPr>
        <p:style>
          <a:lnRef idx="2">
            <a:schemeClr val="accent2"/>
          </a:lnRef>
          <a:fillRef idx="0">
            <a:schemeClr val="accent2"/>
          </a:fillRef>
          <a:effectRef idx="1">
            <a:schemeClr val="accent2"/>
          </a:effectRef>
          <a:fontRef idx="minor">
            <a:schemeClr val="tx1"/>
          </a:fontRef>
        </p:style>
      </p:cxnSp>
      <p:sp>
        <p:nvSpPr>
          <p:cNvPr id="30" name="椭圆形标注 29"/>
          <p:cNvSpPr/>
          <p:nvPr/>
        </p:nvSpPr>
        <p:spPr>
          <a:xfrm>
            <a:off x="308314" y="620690"/>
            <a:ext cx="6075717" cy="1584174"/>
          </a:xfrm>
          <a:prstGeom prst="wedgeEllipseCallout">
            <a:avLst>
              <a:gd name="adj1" fmla="val -37462"/>
              <a:gd name="adj2" fmla="val 73412"/>
            </a:avLst>
          </a:prstGeom>
        </p:spPr>
        <p:style>
          <a:lnRef idx="2">
            <a:schemeClr val="accent5"/>
          </a:lnRef>
          <a:fillRef idx="1">
            <a:schemeClr val="lt1"/>
          </a:fillRef>
          <a:effectRef idx="0">
            <a:schemeClr val="accent5"/>
          </a:effectRef>
          <a:fontRef idx="minor">
            <a:schemeClr val="dk1"/>
          </a:fontRef>
        </p:style>
        <p:txBody>
          <a:bodyPr rtlCol="0" anchor="ctr"/>
          <a:lstStyle/>
          <a:p>
            <a:r>
              <a:rPr lang="zh-CN" altLang="en-US" sz="2400" b="1" cap="all" dirty="0" smtClean="0">
                <a:ln w="9000" cmpd="sng">
                  <a:solidFill>
                    <a:srgbClr val="8064A2">
                      <a:shade val="50000"/>
                      <a:satMod val="120000"/>
                    </a:srgbClr>
                  </a:solidFill>
                  <a:prstDash val="solid"/>
                </a:ln>
                <a:gradFill>
                  <a:gsLst>
                    <a:gs pos="0">
                      <a:srgbClr val="8064A2">
                        <a:shade val="20000"/>
                        <a:satMod val="245000"/>
                      </a:srgbClr>
                    </a:gs>
                    <a:gs pos="43000">
                      <a:srgbClr val="8064A2">
                        <a:satMod val="255000"/>
                      </a:srgbClr>
                    </a:gs>
                    <a:gs pos="48000">
                      <a:srgbClr val="8064A2">
                        <a:shade val="85000"/>
                        <a:satMod val="255000"/>
                      </a:srgbClr>
                    </a:gs>
                    <a:gs pos="100000">
                      <a:srgbClr val="8064A2">
                        <a:shade val="20000"/>
                        <a:satMod val="245000"/>
                      </a:srgbClr>
                    </a:gs>
                  </a:gsLst>
                  <a:lin ang="5400000"/>
                </a:gradFill>
                <a:effectLst>
                  <a:reflection blurRad="12700" stA="28000" endPos="45000" dist="1000" dir="5400000" sy="-100000" algn="bl" rotWithShape="0"/>
                </a:effectLst>
              </a:rPr>
              <a:t>组成：光源，光源稳压电路</a:t>
            </a:r>
            <a:endParaRPr lang="en-US" altLang="zh-CN" sz="2400" b="1" cap="all" dirty="0" smtClean="0">
              <a:ln w="9000" cmpd="sng">
                <a:solidFill>
                  <a:srgbClr val="8064A2">
                    <a:shade val="50000"/>
                    <a:satMod val="120000"/>
                  </a:srgbClr>
                </a:solidFill>
                <a:prstDash val="solid"/>
              </a:ln>
              <a:gradFill>
                <a:gsLst>
                  <a:gs pos="0">
                    <a:srgbClr val="8064A2">
                      <a:shade val="20000"/>
                      <a:satMod val="245000"/>
                    </a:srgbClr>
                  </a:gs>
                  <a:gs pos="43000">
                    <a:srgbClr val="8064A2">
                      <a:satMod val="255000"/>
                    </a:srgbClr>
                  </a:gs>
                  <a:gs pos="48000">
                    <a:srgbClr val="8064A2">
                      <a:shade val="85000"/>
                      <a:satMod val="255000"/>
                    </a:srgbClr>
                  </a:gs>
                  <a:gs pos="100000">
                    <a:srgbClr val="8064A2">
                      <a:shade val="20000"/>
                      <a:satMod val="245000"/>
                    </a:srgbClr>
                  </a:gs>
                </a:gsLst>
                <a:lin ang="5400000"/>
              </a:gradFill>
              <a:effectLst>
                <a:reflection blurRad="12700" stA="28000" endPos="45000" dist="1000" dir="5400000" sy="-100000" algn="bl" rotWithShape="0"/>
              </a:effectLst>
            </a:endParaRPr>
          </a:p>
          <a:p>
            <a:r>
              <a:rPr lang="zh-CN" altLang="en-US" sz="2400" b="1" cap="all" dirty="0" smtClean="0">
                <a:ln w="9000" cmpd="sng">
                  <a:solidFill>
                    <a:srgbClr val="8064A2">
                      <a:shade val="50000"/>
                      <a:satMod val="120000"/>
                    </a:srgbClr>
                  </a:solidFill>
                  <a:prstDash val="solid"/>
                </a:ln>
                <a:gradFill>
                  <a:gsLst>
                    <a:gs pos="0">
                      <a:srgbClr val="8064A2">
                        <a:shade val="20000"/>
                        <a:satMod val="245000"/>
                      </a:srgbClr>
                    </a:gs>
                    <a:gs pos="43000">
                      <a:srgbClr val="8064A2">
                        <a:satMod val="255000"/>
                      </a:srgbClr>
                    </a:gs>
                    <a:gs pos="48000">
                      <a:srgbClr val="8064A2">
                        <a:shade val="85000"/>
                        <a:satMod val="255000"/>
                      </a:srgbClr>
                    </a:gs>
                    <a:gs pos="100000">
                      <a:srgbClr val="8064A2">
                        <a:shade val="20000"/>
                        <a:satMod val="245000"/>
                      </a:srgbClr>
                    </a:gs>
                  </a:gsLst>
                  <a:lin ang="5400000"/>
                </a:gradFill>
                <a:effectLst>
                  <a:reflection blurRad="12700" stA="28000" endPos="45000" dist="1000" dir="5400000" sy="-100000" algn="bl" rotWithShape="0"/>
                </a:effectLst>
              </a:rPr>
              <a:t>常用光源：钨灯和溴钨灯</a:t>
            </a:r>
            <a:endParaRPr lang="en-US" altLang="zh-CN" sz="2400" b="1" cap="all" dirty="0" smtClean="0">
              <a:ln w="9000" cmpd="sng">
                <a:solidFill>
                  <a:srgbClr val="8064A2">
                    <a:shade val="50000"/>
                    <a:satMod val="120000"/>
                  </a:srgbClr>
                </a:solidFill>
                <a:prstDash val="solid"/>
              </a:ln>
              <a:gradFill>
                <a:gsLst>
                  <a:gs pos="0">
                    <a:srgbClr val="8064A2">
                      <a:shade val="20000"/>
                      <a:satMod val="245000"/>
                    </a:srgbClr>
                  </a:gs>
                  <a:gs pos="43000">
                    <a:srgbClr val="8064A2">
                      <a:satMod val="255000"/>
                    </a:srgbClr>
                  </a:gs>
                  <a:gs pos="48000">
                    <a:srgbClr val="8064A2">
                      <a:shade val="85000"/>
                      <a:satMod val="255000"/>
                    </a:srgbClr>
                  </a:gs>
                  <a:gs pos="100000">
                    <a:srgbClr val="8064A2">
                      <a:shade val="20000"/>
                      <a:satMod val="245000"/>
                    </a:srgbClr>
                  </a:gs>
                </a:gsLst>
                <a:lin ang="5400000"/>
              </a:gradFill>
              <a:effectLst>
                <a:reflection blurRad="12700" stA="28000" endPos="45000" dist="1000" dir="5400000" sy="-100000" algn="bl" rotWithShape="0"/>
              </a:effectLst>
            </a:endParaRPr>
          </a:p>
          <a:p>
            <a:r>
              <a:rPr lang="zh-CN" altLang="en-US" sz="2400" b="1" cap="all" dirty="0" smtClean="0">
                <a:ln w="9000" cmpd="sng">
                  <a:solidFill>
                    <a:srgbClr val="8064A2">
                      <a:shade val="50000"/>
                      <a:satMod val="120000"/>
                    </a:srgbClr>
                  </a:solidFill>
                  <a:prstDash val="solid"/>
                </a:ln>
                <a:gradFill>
                  <a:gsLst>
                    <a:gs pos="0">
                      <a:srgbClr val="8064A2">
                        <a:shade val="20000"/>
                        <a:satMod val="245000"/>
                      </a:srgbClr>
                    </a:gs>
                    <a:gs pos="43000">
                      <a:srgbClr val="8064A2">
                        <a:satMod val="255000"/>
                      </a:srgbClr>
                    </a:gs>
                    <a:gs pos="48000">
                      <a:srgbClr val="8064A2">
                        <a:shade val="85000"/>
                        <a:satMod val="255000"/>
                      </a:srgbClr>
                    </a:gs>
                    <a:gs pos="100000">
                      <a:srgbClr val="8064A2">
                        <a:shade val="20000"/>
                        <a:satMod val="245000"/>
                      </a:srgbClr>
                    </a:gs>
                  </a:gsLst>
                  <a:lin ang="5400000"/>
                </a:gradFill>
                <a:effectLst>
                  <a:reflection blurRad="12700" stA="28000" endPos="45000" dist="1000" dir="5400000" sy="-100000" algn="bl" rotWithShape="0"/>
                </a:effectLst>
              </a:rPr>
              <a:t>光谱覆盖整个近红外谱区</a:t>
            </a:r>
            <a:endParaRPr lang="en-US" altLang="zh-CN" sz="2400" b="1" cap="all" dirty="0" smtClean="0">
              <a:ln w="9000" cmpd="sng">
                <a:solidFill>
                  <a:srgbClr val="8064A2">
                    <a:shade val="50000"/>
                    <a:satMod val="120000"/>
                  </a:srgbClr>
                </a:solidFill>
                <a:prstDash val="solid"/>
              </a:ln>
              <a:gradFill>
                <a:gsLst>
                  <a:gs pos="0">
                    <a:srgbClr val="8064A2">
                      <a:shade val="20000"/>
                      <a:satMod val="245000"/>
                    </a:srgbClr>
                  </a:gs>
                  <a:gs pos="43000">
                    <a:srgbClr val="8064A2">
                      <a:satMod val="255000"/>
                    </a:srgbClr>
                  </a:gs>
                  <a:gs pos="48000">
                    <a:srgbClr val="8064A2">
                      <a:shade val="85000"/>
                      <a:satMod val="255000"/>
                    </a:srgbClr>
                  </a:gs>
                  <a:gs pos="100000">
                    <a:srgbClr val="8064A2">
                      <a:shade val="20000"/>
                      <a:satMod val="245000"/>
                    </a:srgbClr>
                  </a:gs>
                </a:gsLst>
                <a:lin ang="5400000"/>
              </a:gradFill>
              <a:effectLst>
                <a:reflection blurRad="12700" stA="28000" endPos="45000" dist="1000" dir="5400000" sy="-100000" algn="bl" rotWithShape="0"/>
              </a:effectLst>
            </a:endParaRPr>
          </a:p>
          <a:p>
            <a:pPr algn="ctr"/>
            <a:endParaRPr lang="zh-CN" altLang="en-US" dirty="0">
              <a:solidFill>
                <a:prstClr val="black"/>
              </a:solidFill>
            </a:endParaRPr>
          </a:p>
        </p:txBody>
      </p:sp>
      <p:sp>
        <p:nvSpPr>
          <p:cNvPr id="31" name="椭圆形标注 30"/>
          <p:cNvSpPr/>
          <p:nvPr/>
        </p:nvSpPr>
        <p:spPr>
          <a:xfrm>
            <a:off x="4943872" y="2604562"/>
            <a:ext cx="4080453" cy="1112473"/>
          </a:xfrm>
          <a:prstGeom prst="wedgeEllipseCallout">
            <a:avLst>
              <a:gd name="adj1" fmla="val -58062"/>
              <a:gd name="adj2" fmla="val -55416"/>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zh-CN" altLang="en-US" sz="2400" b="1" cap="all" dirty="0" smtClean="0">
                <a:ln w="9000" cmpd="sng">
                  <a:solidFill>
                    <a:srgbClr val="8064A2">
                      <a:shade val="50000"/>
                      <a:satMod val="120000"/>
                    </a:srgbClr>
                  </a:solidFill>
                  <a:prstDash val="solid"/>
                </a:ln>
                <a:gradFill>
                  <a:gsLst>
                    <a:gs pos="0">
                      <a:srgbClr val="8064A2">
                        <a:shade val="20000"/>
                        <a:satMod val="245000"/>
                      </a:srgbClr>
                    </a:gs>
                    <a:gs pos="43000">
                      <a:srgbClr val="8064A2">
                        <a:satMod val="255000"/>
                      </a:srgbClr>
                    </a:gs>
                    <a:gs pos="48000">
                      <a:srgbClr val="8064A2">
                        <a:shade val="85000"/>
                        <a:satMod val="255000"/>
                      </a:srgbClr>
                    </a:gs>
                    <a:gs pos="100000">
                      <a:srgbClr val="8064A2">
                        <a:shade val="20000"/>
                        <a:satMod val="245000"/>
                      </a:srgbClr>
                    </a:gs>
                  </a:gsLst>
                  <a:lin ang="5400000"/>
                </a:gradFill>
                <a:effectLst>
                  <a:reflection blurRad="12700" stA="28000" endPos="45000" dist="1000" dir="5400000" sy="-100000" algn="bl" rotWithShape="0"/>
                </a:effectLst>
              </a:rPr>
              <a:t>将光源发射的连续性光转化为单色光</a:t>
            </a:r>
            <a:endParaRPr lang="zh-CN" altLang="en-US" sz="2400" b="1" cap="all" dirty="0">
              <a:ln w="9000" cmpd="sng">
                <a:solidFill>
                  <a:srgbClr val="8064A2">
                    <a:shade val="50000"/>
                    <a:satMod val="120000"/>
                  </a:srgbClr>
                </a:solidFill>
                <a:prstDash val="solid"/>
              </a:ln>
              <a:gradFill>
                <a:gsLst>
                  <a:gs pos="0">
                    <a:srgbClr val="8064A2">
                      <a:shade val="20000"/>
                      <a:satMod val="245000"/>
                    </a:srgbClr>
                  </a:gs>
                  <a:gs pos="43000">
                    <a:srgbClr val="8064A2">
                      <a:satMod val="255000"/>
                    </a:srgbClr>
                  </a:gs>
                  <a:gs pos="48000">
                    <a:srgbClr val="8064A2">
                      <a:shade val="85000"/>
                      <a:satMod val="255000"/>
                    </a:srgbClr>
                  </a:gs>
                  <a:gs pos="100000">
                    <a:srgbClr val="8064A2">
                      <a:shade val="20000"/>
                      <a:satMod val="245000"/>
                    </a:srgbClr>
                  </a:gs>
                </a:gsLst>
                <a:lin ang="5400000"/>
              </a:gradFill>
              <a:effectLst>
                <a:reflection blurRad="12700" stA="28000" endPos="45000" dist="1000" dir="5400000" sy="-100000" algn="bl" rotWithShape="0"/>
              </a:effectLst>
            </a:endParaRPr>
          </a:p>
        </p:txBody>
      </p:sp>
      <p:sp>
        <p:nvSpPr>
          <p:cNvPr id="32" name="椭圆形标注 31"/>
          <p:cNvSpPr/>
          <p:nvPr/>
        </p:nvSpPr>
        <p:spPr>
          <a:xfrm>
            <a:off x="6984098" y="620690"/>
            <a:ext cx="4488499" cy="1385391"/>
          </a:xfrm>
          <a:prstGeom prst="wedgeEllipseCallout">
            <a:avLst>
              <a:gd name="adj1" fmla="val 23156"/>
              <a:gd name="adj2" fmla="val 91193"/>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zh-CN" altLang="en-US" sz="2400" b="1" cap="all" dirty="0" smtClean="0">
                <a:ln w="9000" cmpd="sng">
                  <a:solidFill>
                    <a:srgbClr val="8064A2">
                      <a:shade val="50000"/>
                      <a:satMod val="120000"/>
                    </a:srgbClr>
                  </a:solidFill>
                  <a:prstDash val="solid"/>
                </a:ln>
                <a:gradFill>
                  <a:gsLst>
                    <a:gs pos="0">
                      <a:srgbClr val="8064A2">
                        <a:shade val="20000"/>
                        <a:satMod val="245000"/>
                      </a:srgbClr>
                    </a:gs>
                    <a:gs pos="43000">
                      <a:srgbClr val="8064A2">
                        <a:satMod val="255000"/>
                      </a:srgbClr>
                    </a:gs>
                    <a:gs pos="48000">
                      <a:srgbClr val="8064A2">
                        <a:shade val="85000"/>
                        <a:satMod val="255000"/>
                      </a:srgbClr>
                    </a:gs>
                    <a:gs pos="100000">
                      <a:srgbClr val="8064A2">
                        <a:shade val="20000"/>
                        <a:satMod val="245000"/>
                      </a:srgbClr>
                    </a:gs>
                  </a:gsLst>
                  <a:lin ang="5400000"/>
                </a:gradFill>
                <a:effectLst>
                  <a:reflection blurRad="12700" stA="28000" endPos="45000" dist="1000" dir="5400000" sy="-100000" algn="bl" rotWithShape="0"/>
                </a:effectLst>
              </a:rPr>
              <a:t>一般由光敏元件构成，作用是把光信号转变为电信号</a:t>
            </a:r>
            <a:endParaRPr lang="zh-CN" altLang="en-US" sz="2400" b="1" cap="all" dirty="0">
              <a:ln w="9000" cmpd="sng">
                <a:solidFill>
                  <a:srgbClr val="8064A2">
                    <a:shade val="50000"/>
                    <a:satMod val="120000"/>
                  </a:srgbClr>
                </a:solidFill>
                <a:prstDash val="solid"/>
              </a:ln>
              <a:gradFill>
                <a:gsLst>
                  <a:gs pos="0">
                    <a:srgbClr val="8064A2">
                      <a:shade val="20000"/>
                      <a:satMod val="245000"/>
                    </a:srgbClr>
                  </a:gs>
                  <a:gs pos="43000">
                    <a:srgbClr val="8064A2">
                      <a:satMod val="255000"/>
                    </a:srgbClr>
                  </a:gs>
                  <a:gs pos="48000">
                    <a:srgbClr val="8064A2">
                      <a:shade val="85000"/>
                      <a:satMod val="255000"/>
                    </a:srgbClr>
                  </a:gs>
                  <a:gs pos="100000">
                    <a:srgbClr val="8064A2">
                      <a:shade val="20000"/>
                      <a:satMod val="245000"/>
                    </a:srgbClr>
                  </a:gs>
                </a:gsLst>
                <a:lin ang="5400000"/>
              </a:gradFill>
              <a:effectLst>
                <a:reflection blurRad="12700" stA="28000" endPos="45000" dist="1000" dir="5400000" sy="-100000" algn="bl" rotWithShape="0"/>
              </a:effectLst>
            </a:endParaRPr>
          </a:p>
        </p:txBody>
      </p:sp>
      <p:sp>
        <p:nvSpPr>
          <p:cNvPr id="33" name="椭圆形标注 32"/>
          <p:cNvSpPr/>
          <p:nvPr/>
        </p:nvSpPr>
        <p:spPr>
          <a:xfrm>
            <a:off x="308316" y="4671999"/>
            <a:ext cx="6675782" cy="1815887"/>
          </a:xfrm>
          <a:prstGeom prst="wedgeEllipseCallout">
            <a:avLst>
              <a:gd name="adj1" fmla="val 29229"/>
              <a:gd name="adj2" fmla="val -74482"/>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zh-CN" altLang="en-US" sz="2400" b="1" cap="all" dirty="0" smtClean="0">
                <a:ln w="9000" cmpd="sng">
                  <a:solidFill>
                    <a:srgbClr val="8064A2">
                      <a:shade val="50000"/>
                      <a:satMod val="120000"/>
                    </a:srgbClr>
                  </a:solidFill>
                  <a:prstDash val="solid"/>
                </a:ln>
                <a:gradFill>
                  <a:gsLst>
                    <a:gs pos="0">
                      <a:srgbClr val="8064A2">
                        <a:shade val="20000"/>
                        <a:satMod val="245000"/>
                      </a:srgbClr>
                    </a:gs>
                    <a:gs pos="43000">
                      <a:srgbClr val="8064A2">
                        <a:satMod val="255000"/>
                      </a:srgbClr>
                    </a:gs>
                    <a:gs pos="48000">
                      <a:srgbClr val="8064A2">
                        <a:shade val="85000"/>
                        <a:satMod val="255000"/>
                      </a:srgbClr>
                    </a:gs>
                    <a:gs pos="100000">
                      <a:srgbClr val="8064A2">
                        <a:shade val="20000"/>
                        <a:satMod val="245000"/>
                      </a:srgbClr>
                    </a:gs>
                  </a:gsLst>
                  <a:lin ang="5400000"/>
                </a:gradFill>
                <a:effectLst>
                  <a:reflection blurRad="12700" stA="28000" endPos="45000" dist="1000" dir="5400000" sy="-100000" algn="bl" rotWithShape="0"/>
                </a:effectLst>
              </a:rPr>
              <a:t>前者控制仪器各个部分的工作状态，后者主要对所采集的光谱进行分析处理，实现定性或定量分析</a:t>
            </a:r>
            <a:endParaRPr lang="zh-CN" altLang="en-US" sz="2400" b="1" cap="all" dirty="0">
              <a:ln w="9000" cmpd="sng">
                <a:solidFill>
                  <a:srgbClr val="8064A2">
                    <a:shade val="50000"/>
                    <a:satMod val="120000"/>
                  </a:srgbClr>
                </a:solidFill>
                <a:prstDash val="solid"/>
              </a:ln>
              <a:gradFill>
                <a:gsLst>
                  <a:gs pos="0">
                    <a:srgbClr val="8064A2">
                      <a:shade val="20000"/>
                      <a:satMod val="245000"/>
                    </a:srgbClr>
                  </a:gs>
                  <a:gs pos="43000">
                    <a:srgbClr val="8064A2">
                      <a:satMod val="255000"/>
                    </a:srgbClr>
                  </a:gs>
                  <a:gs pos="48000">
                    <a:srgbClr val="8064A2">
                      <a:shade val="85000"/>
                      <a:satMod val="255000"/>
                    </a:srgbClr>
                  </a:gs>
                  <a:gs pos="100000">
                    <a:srgbClr val="8064A2">
                      <a:shade val="20000"/>
                      <a:satMod val="245000"/>
                    </a:srgbClr>
                  </a:gs>
                </a:gsLst>
                <a:lin ang="5400000"/>
              </a:gradFill>
              <a:effectLst>
                <a:reflection blurRad="12700" stA="28000" endPos="45000" dist="1000" dir="5400000" sy="-100000" algn="bl" rotWithShape="0"/>
              </a:effectLst>
            </a:endParaRPr>
          </a:p>
        </p:txBody>
      </p:sp>
      <p:sp>
        <p:nvSpPr>
          <p:cNvPr id="34" name="椭圆形标注 33"/>
          <p:cNvSpPr/>
          <p:nvPr/>
        </p:nvSpPr>
        <p:spPr>
          <a:xfrm>
            <a:off x="7536160" y="4664296"/>
            <a:ext cx="3919669" cy="1519875"/>
          </a:xfrm>
          <a:prstGeom prst="wedgeEllipseCallout">
            <a:avLst>
              <a:gd name="adj1" fmla="val 25542"/>
              <a:gd name="adj2" fmla="val -67265"/>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zh-CN" altLang="en-US" sz="2800" b="1" cap="all" dirty="0" smtClean="0">
                <a:ln w="9000" cmpd="sng">
                  <a:solidFill>
                    <a:srgbClr val="8064A2">
                      <a:shade val="50000"/>
                      <a:satMod val="120000"/>
                    </a:srgbClr>
                  </a:solidFill>
                  <a:prstDash val="solid"/>
                </a:ln>
                <a:gradFill>
                  <a:gsLst>
                    <a:gs pos="0">
                      <a:srgbClr val="8064A2">
                        <a:shade val="20000"/>
                        <a:satMod val="245000"/>
                      </a:srgbClr>
                    </a:gs>
                    <a:gs pos="43000">
                      <a:srgbClr val="8064A2">
                        <a:satMod val="255000"/>
                      </a:srgbClr>
                    </a:gs>
                    <a:gs pos="48000">
                      <a:srgbClr val="8064A2">
                        <a:shade val="85000"/>
                        <a:satMod val="255000"/>
                      </a:srgbClr>
                    </a:gs>
                    <a:gs pos="100000">
                      <a:srgbClr val="8064A2">
                        <a:shade val="20000"/>
                        <a:satMod val="245000"/>
                      </a:srgbClr>
                    </a:gs>
                  </a:gsLst>
                  <a:lin ang="5400000"/>
                </a:gradFill>
                <a:effectLst>
                  <a:reflection blurRad="12700" stA="28000" endPos="45000" dist="1000" dir="5400000" sy="-100000" algn="bl" rotWithShape="0"/>
                </a:effectLst>
              </a:rPr>
              <a:t>显示或打印样品光谱或测量结果</a:t>
            </a:r>
            <a:endParaRPr lang="zh-CN" altLang="en-US" sz="2800" b="1" cap="all" dirty="0">
              <a:ln w="9000" cmpd="sng">
                <a:solidFill>
                  <a:srgbClr val="8064A2">
                    <a:shade val="50000"/>
                    <a:satMod val="120000"/>
                  </a:srgbClr>
                </a:solidFill>
                <a:prstDash val="solid"/>
              </a:ln>
              <a:gradFill>
                <a:gsLst>
                  <a:gs pos="0">
                    <a:srgbClr val="8064A2">
                      <a:shade val="20000"/>
                      <a:satMod val="245000"/>
                    </a:srgbClr>
                  </a:gs>
                  <a:gs pos="43000">
                    <a:srgbClr val="8064A2">
                      <a:satMod val="255000"/>
                    </a:srgbClr>
                  </a:gs>
                  <a:gs pos="48000">
                    <a:srgbClr val="8064A2">
                      <a:shade val="85000"/>
                      <a:satMod val="255000"/>
                    </a:srgbClr>
                  </a:gs>
                  <a:gs pos="100000">
                    <a:srgbClr val="8064A2">
                      <a:shade val="20000"/>
                      <a:satMod val="245000"/>
                    </a:srgbClr>
                  </a:gs>
                </a:gsLst>
                <a:lin ang="5400000"/>
              </a:gradFill>
              <a:effectLst>
                <a:reflection blurRad="12700" stA="28000" endPos="45000" dist="1000" dir="5400000" sy="-100000" algn="bl" rotWithShape="0"/>
              </a:effectLst>
            </a:endParaRPr>
          </a:p>
        </p:txBody>
      </p:sp>
      <p:pic>
        <p:nvPicPr>
          <p:cNvPr id="23"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0" y="6334579"/>
            <a:ext cx="12193588" cy="530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4"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0" y="0"/>
            <a:ext cx="8686800" cy="914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3" name="矩形 2"/>
          <p:cNvSpPr/>
          <p:nvPr/>
        </p:nvSpPr>
        <p:spPr>
          <a:xfrm>
            <a:off x="0" y="-25641"/>
            <a:ext cx="6186309" cy="646331"/>
          </a:xfrm>
          <a:prstGeom prst="rect">
            <a:avLst/>
          </a:prstGeom>
        </p:spPr>
        <p:txBody>
          <a:bodyPr wrap="none">
            <a:spAutoFit/>
          </a:bodyPr>
          <a:lstStyle/>
          <a:p>
            <a:r>
              <a:rPr lang="zh-CN" altLang="en-US" sz="3600" b="1" dirty="0">
                <a:latin typeface="微软雅黑" panose="020B0503020204020204" pitchFamily="34" charset="-122"/>
                <a:ea typeface="微软雅黑" panose="020B0503020204020204" pitchFamily="34" charset="-122"/>
              </a:rPr>
              <a:t>一、近红外光谱仪的基本结构</a:t>
            </a:r>
          </a:p>
        </p:txBody>
      </p:sp>
    </p:spTree>
  </p:cSld>
  <p:clrMapOvr>
    <a:masterClrMapping/>
  </p:clrMapOvr>
  <mc:AlternateContent xmlns:mc="http://schemas.openxmlformats.org/markup-compatibility/2006">
    <mc:Choice xmlns:p14="http://schemas.microsoft.com/office/powerpoint/2010/main" xmlns=""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additive="base">
                                        <p:cTn id="17" dur="500" fill="hold"/>
                                        <p:tgtEl>
                                          <p:spTgt spid="12"/>
                                        </p:tgtEl>
                                        <p:attrNameLst>
                                          <p:attrName>ppt_x</p:attrName>
                                        </p:attrNameLst>
                                      </p:cBhvr>
                                      <p:tavLst>
                                        <p:tav tm="0">
                                          <p:val>
                                            <p:strVal val="#ppt_x"/>
                                          </p:val>
                                        </p:tav>
                                        <p:tav tm="100000">
                                          <p:val>
                                            <p:strVal val="#ppt_x"/>
                                          </p:val>
                                        </p:tav>
                                      </p:tavLst>
                                    </p:anim>
                                    <p:anim calcmode="lin" valueType="num">
                                      <p:cBhvr additive="base">
                                        <p:cTn id="18" dur="500" fill="hold"/>
                                        <p:tgtEl>
                                          <p:spTgt spid="12"/>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ppt_x"/>
                                          </p:val>
                                        </p:tav>
                                        <p:tav tm="100000">
                                          <p:val>
                                            <p:strVal val="#ppt_x"/>
                                          </p:val>
                                        </p:tav>
                                      </p:tavLst>
                                    </p:anim>
                                    <p:anim calcmode="lin" valueType="num">
                                      <p:cBhvr additive="base">
                                        <p:cTn id="22" dur="500" fill="hold"/>
                                        <p:tgtEl>
                                          <p:spTgt spid="8"/>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anim calcmode="lin" valueType="num">
                                      <p:cBhvr additive="base">
                                        <p:cTn id="25" dur="500" fill="hold"/>
                                        <p:tgtEl>
                                          <p:spTgt spid="14"/>
                                        </p:tgtEl>
                                        <p:attrNameLst>
                                          <p:attrName>ppt_x</p:attrName>
                                        </p:attrNameLst>
                                      </p:cBhvr>
                                      <p:tavLst>
                                        <p:tav tm="0">
                                          <p:val>
                                            <p:strVal val="#ppt_x"/>
                                          </p:val>
                                        </p:tav>
                                        <p:tav tm="100000">
                                          <p:val>
                                            <p:strVal val="#ppt_x"/>
                                          </p:val>
                                        </p:tav>
                                      </p:tavLst>
                                    </p:anim>
                                    <p:anim calcmode="lin" valueType="num">
                                      <p:cBhvr additive="base">
                                        <p:cTn id="26" dur="500" fill="hold"/>
                                        <p:tgtEl>
                                          <p:spTgt spid="14"/>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500" fill="hold"/>
                                        <p:tgtEl>
                                          <p:spTgt spid="7"/>
                                        </p:tgtEl>
                                        <p:attrNameLst>
                                          <p:attrName>ppt_x</p:attrName>
                                        </p:attrNameLst>
                                      </p:cBhvr>
                                      <p:tavLst>
                                        <p:tav tm="0">
                                          <p:val>
                                            <p:strVal val="#ppt_x"/>
                                          </p:val>
                                        </p:tav>
                                        <p:tav tm="100000">
                                          <p:val>
                                            <p:strVal val="#ppt_x"/>
                                          </p:val>
                                        </p:tav>
                                      </p:tavLst>
                                    </p:anim>
                                    <p:anim calcmode="lin" valueType="num">
                                      <p:cBhvr additive="base">
                                        <p:cTn id="30" dur="500" fill="hold"/>
                                        <p:tgtEl>
                                          <p:spTgt spid="7"/>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anim calcmode="lin" valueType="num">
                                      <p:cBhvr additive="base">
                                        <p:cTn id="33" dur="500" fill="hold"/>
                                        <p:tgtEl>
                                          <p:spTgt spid="16"/>
                                        </p:tgtEl>
                                        <p:attrNameLst>
                                          <p:attrName>ppt_x</p:attrName>
                                        </p:attrNameLst>
                                      </p:cBhvr>
                                      <p:tavLst>
                                        <p:tav tm="0">
                                          <p:val>
                                            <p:strVal val="#ppt_x"/>
                                          </p:val>
                                        </p:tav>
                                        <p:tav tm="100000">
                                          <p:val>
                                            <p:strVal val="#ppt_x"/>
                                          </p:val>
                                        </p:tav>
                                      </p:tavLst>
                                    </p:anim>
                                    <p:anim calcmode="lin" valueType="num">
                                      <p:cBhvr additive="base">
                                        <p:cTn id="34" dur="500" fill="hold"/>
                                        <p:tgtEl>
                                          <p:spTgt spid="16"/>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additive="base">
                                        <p:cTn id="37" dur="500" fill="hold"/>
                                        <p:tgtEl>
                                          <p:spTgt spid="6"/>
                                        </p:tgtEl>
                                        <p:attrNameLst>
                                          <p:attrName>ppt_x</p:attrName>
                                        </p:attrNameLst>
                                      </p:cBhvr>
                                      <p:tavLst>
                                        <p:tav tm="0">
                                          <p:val>
                                            <p:strVal val="#ppt_x"/>
                                          </p:val>
                                        </p:tav>
                                        <p:tav tm="100000">
                                          <p:val>
                                            <p:strVal val="#ppt_x"/>
                                          </p:val>
                                        </p:tav>
                                      </p:tavLst>
                                    </p:anim>
                                    <p:anim calcmode="lin" valueType="num">
                                      <p:cBhvr additive="base">
                                        <p:cTn id="38" dur="500" fill="hold"/>
                                        <p:tgtEl>
                                          <p:spTgt spid="6"/>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 calcmode="lin" valueType="num">
                                      <p:cBhvr additive="base">
                                        <p:cTn id="41" dur="500" fill="hold"/>
                                        <p:tgtEl>
                                          <p:spTgt spid="18"/>
                                        </p:tgtEl>
                                        <p:attrNameLst>
                                          <p:attrName>ppt_x</p:attrName>
                                        </p:attrNameLst>
                                      </p:cBhvr>
                                      <p:tavLst>
                                        <p:tav tm="0">
                                          <p:val>
                                            <p:strVal val="#ppt_x"/>
                                          </p:val>
                                        </p:tav>
                                        <p:tav tm="100000">
                                          <p:val>
                                            <p:strVal val="#ppt_x"/>
                                          </p:val>
                                        </p:tav>
                                      </p:tavLst>
                                    </p:anim>
                                    <p:anim calcmode="lin" valueType="num">
                                      <p:cBhvr additive="base">
                                        <p:cTn id="42" dur="500" fill="hold"/>
                                        <p:tgtEl>
                                          <p:spTgt spid="18"/>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20"/>
                                        </p:tgtEl>
                                        <p:attrNameLst>
                                          <p:attrName>style.visibility</p:attrName>
                                        </p:attrNameLst>
                                      </p:cBhvr>
                                      <p:to>
                                        <p:strVal val="visible"/>
                                      </p:to>
                                    </p:set>
                                    <p:anim calcmode="lin" valueType="num">
                                      <p:cBhvr additive="base">
                                        <p:cTn id="45" dur="500" fill="hold"/>
                                        <p:tgtEl>
                                          <p:spTgt spid="20"/>
                                        </p:tgtEl>
                                        <p:attrNameLst>
                                          <p:attrName>ppt_x</p:attrName>
                                        </p:attrNameLst>
                                      </p:cBhvr>
                                      <p:tavLst>
                                        <p:tav tm="0">
                                          <p:val>
                                            <p:strVal val="#ppt_x"/>
                                          </p:val>
                                        </p:tav>
                                        <p:tav tm="100000">
                                          <p:val>
                                            <p:strVal val="#ppt_x"/>
                                          </p:val>
                                        </p:tav>
                                      </p:tavLst>
                                    </p:anim>
                                    <p:anim calcmode="lin" valueType="num">
                                      <p:cBhvr additive="base">
                                        <p:cTn id="46" dur="500" fill="hold"/>
                                        <p:tgtEl>
                                          <p:spTgt spid="20"/>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10"/>
                                        </p:tgtEl>
                                        <p:attrNameLst>
                                          <p:attrName>style.visibility</p:attrName>
                                        </p:attrNameLst>
                                      </p:cBhvr>
                                      <p:to>
                                        <p:strVal val="visible"/>
                                      </p:to>
                                    </p:set>
                                    <p:anim calcmode="lin" valueType="num">
                                      <p:cBhvr additive="base">
                                        <p:cTn id="49" dur="500" fill="hold"/>
                                        <p:tgtEl>
                                          <p:spTgt spid="10"/>
                                        </p:tgtEl>
                                        <p:attrNameLst>
                                          <p:attrName>ppt_x</p:attrName>
                                        </p:attrNameLst>
                                      </p:cBhvr>
                                      <p:tavLst>
                                        <p:tav tm="0">
                                          <p:val>
                                            <p:strVal val="#ppt_x"/>
                                          </p:val>
                                        </p:tav>
                                        <p:tav tm="100000">
                                          <p:val>
                                            <p:strVal val="#ppt_x"/>
                                          </p:val>
                                        </p:tav>
                                      </p:tavLst>
                                    </p:anim>
                                    <p:anim calcmode="lin" valueType="num">
                                      <p:cBhvr additive="base">
                                        <p:cTn id="50" dur="500" fill="hold"/>
                                        <p:tgtEl>
                                          <p:spTgt spid="10"/>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 calcmode="lin" valueType="num">
                                      <p:cBhvr additive="base">
                                        <p:cTn id="53" dur="500" fill="hold"/>
                                        <p:tgtEl>
                                          <p:spTgt spid="22"/>
                                        </p:tgtEl>
                                        <p:attrNameLst>
                                          <p:attrName>ppt_x</p:attrName>
                                        </p:attrNameLst>
                                      </p:cBhvr>
                                      <p:tavLst>
                                        <p:tav tm="0">
                                          <p:val>
                                            <p:strVal val="#ppt_x"/>
                                          </p:val>
                                        </p:tav>
                                        <p:tav tm="100000">
                                          <p:val>
                                            <p:strVal val="#ppt_x"/>
                                          </p:val>
                                        </p:tav>
                                      </p:tavLst>
                                    </p:anim>
                                    <p:anim calcmode="lin" valueType="num">
                                      <p:cBhvr additive="base">
                                        <p:cTn id="54" dur="500" fill="hold"/>
                                        <p:tgtEl>
                                          <p:spTgt spid="22"/>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28"/>
                                        </p:tgtEl>
                                        <p:attrNameLst>
                                          <p:attrName>style.visibility</p:attrName>
                                        </p:attrNameLst>
                                      </p:cBhvr>
                                      <p:to>
                                        <p:strVal val="visible"/>
                                      </p:to>
                                    </p:set>
                                    <p:anim calcmode="lin" valueType="num">
                                      <p:cBhvr additive="base">
                                        <p:cTn id="57" dur="500" fill="hold"/>
                                        <p:tgtEl>
                                          <p:spTgt spid="28"/>
                                        </p:tgtEl>
                                        <p:attrNameLst>
                                          <p:attrName>ppt_x</p:attrName>
                                        </p:attrNameLst>
                                      </p:cBhvr>
                                      <p:tavLst>
                                        <p:tav tm="0">
                                          <p:val>
                                            <p:strVal val="#ppt_x"/>
                                          </p:val>
                                        </p:tav>
                                        <p:tav tm="100000">
                                          <p:val>
                                            <p:strVal val="#ppt_x"/>
                                          </p:val>
                                        </p:tav>
                                      </p:tavLst>
                                    </p:anim>
                                    <p:anim calcmode="lin" valueType="num">
                                      <p:cBhvr additive="base">
                                        <p:cTn id="58" dur="500" fill="hold"/>
                                        <p:tgtEl>
                                          <p:spTgt spid="28"/>
                                        </p:tgtEl>
                                        <p:attrNameLst>
                                          <p:attrName>ppt_y</p:attrName>
                                        </p:attrNameLst>
                                      </p:cBhvr>
                                      <p:tavLst>
                                        <p:tav tm="0">
                                          <p:val>
                                            <p:strVal val="1+#ppt_h/2"/>
                                          </p:val>
                                        </p:tav>
                                        <p:tav tm="100000">
                                          <p:val>
                                            <p:strVal val="#ppt_y"/>
                                          </p:val>
                                        </p:tav>
                                      </p:tavLst>
                                    </p:anim>
                                  </p:childTnLst>
                                </p:cTn>
                              </p:par>
                              <p:par>
                                <p:cTn id="59" presetID="2" presetClass="entr" presetSubtype="4" fill="hold" nodeType="withEffect">
                                  <p:stCondLst>
                                    <p:cond delay="0"/>
                                  </p:stCondLst>
                                  <p:childTnLst>
                                    <p:set>
                                      <p:cBhvr>
                                        <p:cTn id="60" dur="1" fill="hold">
                                          <p:stCondLst>
                                            <p:cond delay="0"/>
                                          </p:stCondLst>
                                        </p:cTn>
                                        <p:tgtEl>
                                          <p:spTgt spid="26"/>
                                        </p:tgtEl>
                                        <p:attrNameLst>
                                          <p:attrName>style.visibility</p:attrName>
                                        </p:attrNameLst>
                                      </p:cBhvr>
                                      <p:to>
                                        <p:strVal val="visible"/>
                                      </p:to>
                                    </p:set>
                                    <p:anim calcmode="lin" valueType="num">
                                      <p:cBhvr additive="base">
                                        <p:cTn id="61" dur="500" fill="hold"/>
                                        <p:tgtEl>
                                          <p:spTgt spid="26"/>
                                        </p:tgtEl>
                                        <p:attrNameLst>
                                          <p:attrName>ppt_x</p:attrName>
                                        </p:attrNameLst>
                                      </p:cBhvr>
                                      <p:tavLst>
                                        <p:tav tm="0">
                                          <p:val>
                                            <p:strVal val="#ppt_x"/>
                                          </p:val>
                                        </p:tav>
                                        <p:tav tm="100000">
                                          <p:val>
                                            <p:strVal val="#ppt_x"/>
                                          </p:val>
                                        </p:tav>
                                      </p:tavLst>
                                    </p:anim>
                                    <p:anim calcmode="lin" valueType="num">
                                      <p:cBhvr additive="base">
                                        <p:cTn id="62" dur="500" fill="hold"/>
                                        <p:tgtEl>
                                          <p:spTgt spid="26"/>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9"/>
                                        </p:tgtEl>
                                        <p:attrNameLst>
                                          <p:attrName>style.visibility</p:attrName>
                                        </p:attrNameLst>
                                      </p:cBhvr>
                                      <p:to>
                                        <p:strVal val="visible"/>
                                      </p:to>
                                    </p:set>
                                    <p:anim calcmode="lin" valueType="num">
                                      <p:cBhvr additive="base">
                                        <p:cTn id="65" dur="500" fill="hold"/>
                                        <p:tgtEl>
                                          <p:spTgt spid="9"/>
                                        </p:tgtEl>
                                        <p:attrNameLst>
                                          <p:attrName>ppt_x</p:attrName>
                                        </p:attrNameLst>
                                      </p:cBhvr>
                                      <p:tavLst>
                                        <p:tav tm="0">
                                          <p:val>
                                            <p:strVal val="#ppt_x"/>
                                          </p:val>
                                        </p:tav>
                                        <p:tav tm="100000">
                                          <p:val>
                                            <p:strVal val="#ppt_x"/>
                                          </p:val>
                                        </p:tav>
                                      </p:tavLst>
                                    </p:anim>
                                    <p:anim calcmode="lin" valueType="num">
                                      <p:cBhvr additive="base">
                                        <p:cTn id="6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6" presetClass="entr" presetSubtype="16" fill="hold" grpId="0" nodeType="clickEffect">
                                  <p:stCondLst>
                                    <p:cond delay="0"/>
                                  </p:stCondLst>
                                  <p:childTnLst>
                                    <p:set>
                                      <p:cBhvr>
                                        <p:cTn id="70" dur="1" fill="hold">
                                          <p:stCondLst>
                                            <p:cond delay="0"/>
                                          </p:stCondLst>
                                        </p:cTn>
                                        <p:tgtEl>
                                          <p:spTgt spid="30"/>
                                        </p:tgtEl>
                                        <p:attrNameLst>
                                          <p:attrName>style.visibility</p:attrName>
                                        </p:attrNameLst>
                                      </p:cBhvr>
                                      <p:to>
                                        <p:strVal val="visible"/>
                                      </p:to>
                                    </p:set>
                                    <p:animEffect transition="in" filter="circle(in)">
                                      <p:cBhvr>
                                        <p:cTn id="71" dur="2000"/>
                                        <p:tgtEl>
                                          <p:spTgt spid="30"/>
                                        </p:tgtEl>
                                      </p:cBhvr>
                                    </p:animEffect>
                                  </p:childTnLst>
                                </p:cTn>
                              </p:par>
                            </p:childTnLst>
                          </p:cTn>
                        </p:par>
                      </p:childTnLst>
                    </p:cTn>
                  </p:par>
                  <p:par>
                    <p:cTn id="72" fill="hold">
                      <p:stCondLst>
                        <p:cond delay="indefinite"/>
                      </p:stCondLst>
                      <p:childTnLst>
                        <p:par>
                          <p:cTn id="73" fill="hold">
                            <p:stCondLst>
                              <p:cond delay="0"/>
                            </p:stCondLst>
                            <p:childTnLst>
                              <p:par>
                                <p:cTn id="74" presetID="6" presetClass="entr" presetSubtype="16" fill="hold" grpId="0" nodeType="clickEffect">
                                  <p:stCondLst>
                                    <p:cond delay="0"/>
                                  </p:stCondLst>
                                  <p:childTnLst>
                                    <p:set>
                                      <p:cBhvr>
                                        <p:cTn id="75" dur="1" fill="hold">
                                          <p:stCondLst>
                                            <p:cond delay="0"/>
                                          </p:stCondLst>
                                        </p:cTn>
                                        <p:tgtEl>
                                          <p:spTgt spid="31"/>
                                        </p:tgtEl>
                                        <p:attrNameLst>
                                          <p:attrName>style.visibility</p:attrName>
                                        </p:attrNameLst>
                                      </p:cBhvr>
                                      <p:to>
                                        <p:strVal val="visible"/>
                                      </p:to>
                                    </p:set>
                                    <p:animEffect transition="in" filter="circle(in)">
                                      <p:cBhvr>
                                        <p:cTn id="76" dur="2000"/>
                                        <p:tgtEl>
                                          <p:spTgt spid="31"/>
                                        </p:tgtEl>
                                      </p:cBhvr>
                                    </p:animEffect>
                                  </p:childTnLst>
                                </p:cTn>
                              </p:par>
                            </p:childTnLst>
                          </p:cTn>
                        </p:par>
                      </p:childTnLst>
                    </p:cTn>
                  </p:par>
                  <p:par>
                    <p:cTn id="77" fill="hold">
                      <p:stCondLst>
                        <p:cond delay="indefinite"/>
                      </p:stCondLst>
                      <p:childTnLst>
                        <p:par>
                          <p:cTn id="78" fill="hold">
                            <p:stCondLst>
                              <p:cond delay="0"/>
                            </p:stCondLst>
                            <p:childTnLst>
                              <p:par>
                                <p:cTn id="79" presetID="6" presetClass="entr" presetSubtype="16" fill="hold" grpId="0" nodeType="clickEffect">
                                  <p:stCondLst>
                                    <p:cond delay="0"/>
                                  </p:stCondLst>
                                  <p:childTnLst>
                                    <p:set>
                                      <p:cBhvr>
                                        <p:cTn id="80" dur="1" fill="hold">
                                          <p:stCondLst>
                                            <p:cond delay="0"/>
                                          </p:stCondLst>
                                        </p:cTn>
                                        <p:tgtEl>
                                          <p:spTgt spid="32"/>
                                        </p:tgtEl>
                                        <p:attrNameLst>
                                          <p:attrName>style.visibility</p:attrName>
                                        </p:attrNameLst>
                                      </p:cBhvr>
                                      <p:to>
                                        <p:strVal val="visible"/>
                                      </p:to>
                                    </p:set>
                                    <p:animEffect transition="in" filter="circle(in)">
                                      <p:cBhvr>
                                        <p:cTn id="81" dur="2000"/>
                                        <p:tgtEl>
                                          <p:spTgt spid="32"/>
                                        </p:tgtEl>
                                      </p:cBhvr>
                                    </p:animEffect>
                                  </p:childTnLst>
                                </p:cTn>
                              </p:par>
                            </p:childTnLst>
                          </p:cTn>
                        </p:par>
                      </p:childTnLst>
                    </p:cTn>
                  </p:par>
                  <p:par>
                    <p:cTn id="82" fill="hold">
                      <p:stCondLst>
                        <p:cond delay="indefinite"/>
                      </p:stCondLst>
                      <p:childTnLst>
                        <p:par>
                          <p:cTn id="83" fill="hold">
                            <p:stCondLst>
                              <p:cond delay="0"/>
                            </p:stCondLst>
                            <p:childTnLst>
                              <p:par>
                                <p:cTn id="84" presetID="6" presetClass="entr" presetSubtype="16" fill="hold" grpId="0" nodeType="clickEffect">
                                  <p:stCondLst>
                                    <p:cond delay="0"/>
                                  </p:stCondLst>
                                  <p:childTnLst>
                                    <p:set>
                                      <p:cBhvr>
                                        <p:cTn id="85" dur="1" fill="hold">
                                          <p:stCondLst>
                                            <p:cond delay="0"/>
                                          </p:stCondLst>
                                        </p:cTn>
                                        <p:tgtEl>
                                          <p:spTgt spid="33"/>
                                        </p:tgtEl>
                                        <p:attrNameLst>
                                          <p:attrName>style.visibility</p:attrName>
                                        </p:attrNameLst>
                                      </p:cBhvr>
                                      <p:to>
                                        <p:strVal val="visible"/>
                                      </p:to>
                                    </p:set>
                                    <p:animEffect transition="in" filter="circle(in)">
                                      <p:cBhvr>
                                        <p:cTn id="86" dur="2000"/>
                                        <p:tgtEl>
                                          <p:spTgt spid="33"/>
                                        </p:tgtEl>
                                      </p:cBhvr>
                                    </p:animEffect>
                                  </p:childTnLst>
                                </p:cTn>
                              </p:par>
                            </p:childTnLst>
                          </p:cTn>
                        </p:par>
                      </p:childTnLst>
                    </p:cTn>
                  </p:par>
                  <p:par>
                    <p:cTn id="87" fill="hold">
                      <p:stCondLst>
                        <p:cond delay="indefinite"/>
                      </p:stCondLst>
                      <p:childTnLst>
                        <p:par>
                          <p:cTn id="88" fill="hold">
                            <p:stCondLst>
                              <p:cond delay="0"/>
                            </p:stCondLst>
                            <p:childTnLst>
                              <p:par>
                                <p:cTn id="89" presetID="6" presetClass="entr" presetSubtype="16" fill="hold" grpId="0" nodeType="click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circle(in)">
                                      <p:cBhvr>
                                        <p:cTn id="91" dur="20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6" grpId="0" animBg="1"/>
      <p:bldP spid="7" grpId="0" animBg="1"/>
      <p:bldP spid="8" grpId="0" animBg="1"/>
      <p:bldP spid="9" grpId="0" animBg="1"/>
      <p:bldP spid="10" grpId="0" animBg="1"/>
      <p:bldP spid="30" grpId="0" animBg="1"/>
      <p:bldP spid="31" grpId="0" animBg="1"/>
      <p:bldP spid="32" grpId="0" animBg="1"/>
      <p:bldP spid="33" grpId="0" animBg="1"/>
      <p:bldP spid="3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0" y="6334579"/>
            <a:ext cx="12193588" cy="530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1266"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0" y="0"/>
            <a:ext cx="8686800" cy="914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 name="矩形 1"/>
          <p:cNvSpPr/>
          <p:nvPr/>
        </p:nvSpPr>
        <p:spPr>
          <a:xfrm>
            <a:off x="0" y="0"/>
            <a:ext cx="5262979" cy="646331"/>
          </a:xfrm>
          <a:prstGeom prst="rect">
            <a:avLst/>
          </a:prstGeom>
        </p:spPr>
        <p:txBody>
          <a:bodyPr wrap="none">
            <a:spAutoFit/>
          </a:bodyPr>
          <a:lstStyle/>
          <a:p>
            <a:r>
              <a:rPr lang="zh-CN" altLang="en-US" sz="3600" b="1" dirty="0">
                <a:latin typeface="微软雅黑" panose="020B0503020204020204" pitchFamily="34" charset="-122"/>
                <a:ea typeface="微软雅黑" panose="020B0503020204020204" pitchFamily="34" charset="-122"/>
              </a:rPr>
              <a:t>二、近红外光谱仪的分类</a:t>
            </a:r>
          </a:p>
        </p:txBody>
      </p:sp>
      <p:sp>
        <p:nvSpPr>
          <p:cNvPr id="3" name="矩形 2"/>
          <p:cNvSpPr/>
          <p:nvPr/>
        </p:nvSpPr>
        <p:spPr>
          <a:xfrm>
            <a:off x="687970" y="914400"/>
            <a:ext cx="5262979" cy="646331"/>
          </a:xfrm>
          <a:prstGeom prst="rect">
            <a:avLst/>
          </a:prstGeom>
        </p:spPr>
        <p:txBody>
          <a:bodyPr wrap="none">
            <a:spAutoFit/>
          </a:bodyPr>
          <a:lstStyle/>
          <a:p>
            <a:r>
              <a:rPr lang="zh-CN" altLang="en-US" sz="3600" b="1" dirty="0"/>
              <a:t>（一）根据分光系统分类</a:t>
            </a:r>
          </a:p>
        </p:txBody>
      </p:sp>
      <p:grpSp>
        <p:nvGrpSpPr>
          <p:cNvPr id="6" name="组合 5"/>
          <p:cNvGrpSpPr/>
          <p:nvPr/>
        </p:nvGrpSpPr>
        <p:grpSpPr>
          <a:xfrm rot="5400000">
            <a:off x="1461514" y="1278922"/>
            <a:ext cx="1074338" cy="3072961"/>
            <a:chOff x="6096000" y="-4571875"/>
            <a:chExt cx="2974030" cy="10579467"/>
          </a:xfrm>
          <a:solidFill>
            <a:schemeClr val="accent2">
              <a:lumMod val="20000"/>
              <a:lumOff val="80000"/>
            </a:schemeClr>
          </a:solidFill>
        </p:grpSpPr>
        <p:grpSp>
          <p:nvGrpSpPr>
            <p:cNvPr id="7" name="组合 6"/>
            <p:cNvGrpSpPr/>
            <p:nvPr/>
          </p:nvGrpSpPr>
          <p:grpSpPr>
            <a:xfrm>
              <a:off x="6096000" y="-4571875"/>
              <a:ext cx="2974030" cy="10579467"/>
              <a:chOff x="6096000" y="-4571875"/>
              <a:chExt cx="2974030" cy="10579467"/>
            </a:xfrm>
            <a:grpFill/>
          </p:grpSpPr>
          <p:sp>
            <p:nvSpPr>
              <p:cNvPr id="12" name="Freeform 74"/>
              <p:cNvSpPr/>
              <p:nvPr/>
            </p:nvSpPr>
            <p:spPr bwMode="auto">
              <a:xfrm>
                <a:off x="6096000" y="-4571875"/>
                <a:ext cx="2974030" cy="10579467"/>
              </a:xfrm>
              <a:custGeom>
                <a:avLst/>
                <a:gdLst>
                  <a:gd name="T0" fmla="*/ 0 w 296"/>
                  <a:gd name="T1" fmla="*/ 961 h 1062"/>
                  <a:gd name="T2" fmla="*/ 17 w 296"/>
                  <a:gd name="T3" fmla="*/ 991 h 1062"/>
                  <a:gd name="T4" fmla="*/ 130 w 296"/>
                  <a:gd name="T5" fmla="*/ 1056 h 1062"/>
                  <a:gd name="T6" fmla="*/ 165 w 296"/>
                  <a:gd name="T7" fmla="*/ 1056 h 1062"/>
                  <a:gd name="T8" fmla="*/ 279 w 296"/>
                  <a:gd name="T9" fmla="*/ 991 h 1062"/>
                  <a:gd name="T10" fmla="*/ 296 w 296"/>
                  <a:gd name="T11" fmla="*/ 961 h 1062"/>
                  <a:gd name="T12" fmla="*/ 296 w 296"/>
                  <a:gd name="T13" fmla="*/ 102 h 1062"/>
                  <a:gd name="T14" fmla="*/ 279 w 296"/>
                  <a:gd name="T15" fmla="*/ 72 h 1062"/>
                  <a:gd name="T16" fmla="*/ 165 w 296"/>
                  <a:gd name="T17" fmla="*/ 7 h 1062"/>
                  <a:gd name="T18" fmla="*/ 130 w 296"/>
                  <a:gd name="T19" fmla="*/ 7 h 1062"/>
                  <a:gd name="T20" fmla="*/ 17 w 296"/>
                  <a:gd name="T21" fmla="*/ 72 h 1062"/>
                  <a:gd name="T22" fmla="*/ 0 w 296"/>
                  <a:gd name="T23" fmla="*/ 102 h 1062"/>
                  <a:gd name="T24" fmla="*/ 0 w 296"/>
                  <a:gd name="T25" fmla="*/ 961 h 10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96" h="1062">
                    <a:moveTo>
                      <a:pt x="0" y="961"/>
                    </a:moveTo>
                    <a:cubicBezTo>
                      <a:pt x="0" y="973"/>
                      <a:pt x="6" y="984"/>
                      <a:pt x="17" y="991"/>
                    </a:cubicBezTo>
                    <a:cubicBezTo>
                      <a:pt x="130" y="1056"/>
                      <a:pt x="130" y="1056"/>
                      <a:pt x="130" y="1056"/>
                    </a:cubicBezTo>
                    <a:cubicBezTo>
                      <a:pt x="141" y="1062"/>
                      <a:pt x="154" y="1062"/>
                      <a:pt x="165" y="1056"/>
                    </a:cubicBezTo>
                    <a:cubicBezTo>
                      <a:pt x="279" y="991"/>
                      <a:pt x="279" y="991"/>
                      <a:pt x="279" y="991"/>
                    </a:cubicBezTo>
                    <a:cubicBezTo>
                      <a:pt x="289" y="984"/>
                      <a:pt x="296" y="973"/>
                      <a:pt x="296" y="961"/>
                    </a:cubicBezTo>
                    <a:cubicBezTo>
                      <a:pt x="296" y="102"/>
                      <a:pt x="296" y="102"/>
                      <a:pt x="296" y="102"/>
                    </a:cubicBezTo>
                    <a:cubicBezTo>
                      <a:pt x="296" y="90"/>
                      <a:pt x="289" y="78"/>
                      <a:pt x="279" y="72"/>
                    </a:cubicBezTo>
                    <a:cubicBezTo>
                      <a:pt x="165" y="7"/>
                      <a:pt x="165" y="7"/>
                      <a:pt x="165" y="7"/>
                    </a:cubicBezTo>
                    <a:cubicBezTo>
                      <a:pt x="154" y="0"/>
                      <a:pt x="141" y="0"/>
                      <a:pt x="130" y="7"/>
                    </a:cubicBezTo>
                    <a:cubicBezTo>
                      <a:pt x="17" y="72"/>
                      <a:pt x="17" y="72"/>
                      <a:pt x="17" y="72"/>
                    </a:cubicBezTo>
                    <a:cubicBezTo>
                      <a:pt x="6" y="78"/>
                      <a:pt x="0" y="90"/>
                      <a:pt x="0" y="102"/>
                    </a:cubicBezTo>
                    <a:cubicBezTo>
                      <a:pt x="0" y="961"/>
                      <a:pt x="0" y="961"/>
                      <a:pt x="0" y="961"/>
                    </a:cubicBezTo>
                  </a:path>
                </a:pathLst>
              </a:custGeom>
              <a:grpFill/>
              <a:ln>
                <a:noFill/>
              </a:ln>
              <a:effectLst>
                <a:outerShdw blurRad="152400" dist="63500" dir="8100000" algn="tr" rotWithShape="0">
                  <a:prstClr val="black">
                    <a:alpha val="35000"/>
                  </a:prstClr>
                </a:outerShdw>
              </a:effectLst>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 name="Freeform 76"/>
              <p:cNvSpPr/>
              <p:nvPr/>
            </p:nvSpPr>
            <p:spPr bwMode="auto">
              <a:xfrm flipH="1">
                <a:off x="7576705" y="-4512983"/>
                <a:ext cx="1493325" cy="10503749"/>
              </a:xfrm>
              <a:custGeom>
                <a:avLst/>
                <a:gdLst>
                  <a:gd name="T0" fmla="*/ 147 w 147"/>
                  <a:gd name="T1" fmla="*/ 0 h 1054"/>
                  <a:gd name="T2" fmla="*/ 2 w 147"/>
                  <a:gd name="T3" fmla="*/ 84 h 1054"/>
                  <a:gd name="T4" fmla="*/ 0 w 147"/>
                  <a:gd name="T5" fmla="*/ 96 h 1054"/>
                  <a:gd name="T6" fmla="*/ 0 w 147"/>
                  <a:gd name="T7" fmla="*/ 96 h 1054"/>
                  <a:gd name="T8" fmla="*/ 0 w 147"/>
                  <a:gd name="T9" fmla="*/ 96 h 1054"/>
                  <a:gd name="T10" fmla="*/ 0 w 147"/>
                  <a:gd name="T11" fmla="*/ 96 h 1054"/>
                  <a:gd name="T12" fmla="*/ 0 w 147"/>
                  <a:gd name="T13" fmla="*/ 955 h 1054"/>
                  <a:gd name="T14" fmla="*/ 17 w 147"/>
                  <a:gd name="T15" fmla="*/ 985 h 1054"/>
                  <a:gd name="T16" fmla="*/ 130 w 147"/>
                  <a:gd name="T17" fmla="*/ 1050 h 1054"/>
                  <a:gd name="T18" fmla="*/ 130 w 147"/>
                  <a:gd name="T19" fmla="*/ 1050 h 1054"/>
                  <a:gd name="T20" fmla="*/ 133 w 147"/>
                  <a:gd name="T21" fmla="*/ 1052 h 1054"/>
                  <a:gd name="T22" fmla="*/ 143 w 147"/>
                  <a:gd name="T23" fmla="*/ 1054 h 1054"/>
                  <a:gd name="T24" fmla="*/ 147 w 147"/>
                  <a:gd name="T25" fmla="*/ 1052 h 1054"/>
                  <a:gd name="T26" fmla="*/ 147 w 147"/>
                  <a:gd name="T27" fmla="*/ 0 h 10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7" h="1054">
                    <a:moveTo>
                      <a:pt x="147" y="0"/>
                    </a:moveTo>
                    <a:cubicBezTo>
                      <a:pt x="2" y="84"/>
                      <a:pt x="2" y="84"/>
                      <a:pt x="2" y="84"/>
                    </a:cubicBezTo>
                    <a:cubicBezTo>
                      <a:pt x="1" y="87"/>
                      <a:pt x="0" y="92"/>
                      <a:pt x="0" y="96"/>
                    </a:cubicBezTo>
                    <a:cubicBezTo>
                      <a:pt x="0" y="96"/>
                      <a:pt x="0" y="96"/>
                      <a:pt x="0" y="96"/>
                    </a:cubicBezTo>
                    <a:cubicBezTo>
                      <a:pt x="0" y="96"/>
                      <a:pt x="0" y="96"/>
                      <a:pt x="0" y="96"/>
                    </a:cubicBezTo>
                    <a:cubicBezTo>
                      <a:pt x="0" y="96"/>
                      <a:pt x="0" y="96"/>
                      <a:pt x="0" y="96"/>
                    </a:cubicBezTo>
                    <a:cubicBezTo>
                      <a:pt x="0" y="955"/>
                      <a:pt x="0" y="955"/>
                      <a:pt x="0" y="955"/>
                    </a:cubicBezTo>
                    <a:cubicBezTo>
                      <a:pt x="0" y="967"/>
                      <a:pt x="6" y="978"/>
                      <a:pt x="17" y="985"/>
                    </a:cubicBezTo>
                    <a:cubicBezTo>
                      <a:pt x="130" y="1050"/>
                      <a:pt x="130" y="1050"/>
                      <a:pt x="130" y="1050"/>
                    </a:cubicBezTo>
                    <a:cubicBezTo>
                      <a:pt x="130" y="1050"/>
                      <a:pt x="130" y="1050"/>
                      <a:pt x="130" y="1050"/>
                    </a:cubicBezTo>
                    <a:cubicBezTo>
                      <a:pt x="131" y="1051"/>
                      <a:pt x="132" y="1051"/>
                      <a:pt x="133" y="1052"/>
                    </a:cubicBezTo>
                    <a:cubicBezTo>
                      <a:pt x="137" y="1053"/>
                      <a:pt x="140" y="1054"/>
                      <a:pt x="143" y="1054"/>
                    </a:cubicBezTo>
                    <a:cubicBezTo>
                      <a:pt x="147" y="1052"/>
                      <a:pt x="147" y="1052"/>
                      <a:pt x="147" y="1052"/>
                    </a:cubicBezTo>
                    <a:cubicBezTo>
                      <a:pt x="147" y="0"/>
                      <a:pt x="147" y="0"/>
                      <a:pt x="147" y="0"/>
                    </a:cubicBezTo>
                  </a:path>
                </a:pathLst>
              </a:custGeom>
              <a:grp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8" name="组合 7"/>
            <p:cNvGrpSpPr/>
            <p:nvPr/>
          </p:nvGrpSpPr>
          <p:grpSpPr>
            <a:xfrm>
              <a:off x="6316564" y="2867025"/>
              <a:ext cx="2532903" cy="2877048"/>
              <a:chOff x="6310252" y="2867025"/>
              <a:chExt cx="2532903" cy="2877048"/>
            </a:xfrm>
            <a:grpFill/>
          </p:grpSpPr>
          <p:sp>
            <p:nvSpPr>
              <p:cNvPr id="9" name="Freeform 77"/>
              <p:cNvSpPr/>
              <p:nvPr/>
            </p:nvSpPr>
            <p:spPr bwMode="auto">
              <a:xfrm>
                <a:off x="6310252" y="2867025"/>
                <a:ext cx="2532903" cy="2877048"/>
              </a:xfrm>
              <a:custGeom>
                <a:avLst/>
                <a:gdLst>
                  <a:gd name="T0" fmla="*/ 0 w 231"/>
                  <a:gd name="T1" fmla="*/ 195 h 265"/>
                  <a:gd name="T2" fmla="*/ 4 w 231"/>
                  <a:gd name="T3" fmla="*/ 201 h 265"/>
                  <a:gd name="T4" fmla="*/ 112 w 231"/>
                  <a:gd name="T5" fmla="*/ 264 h 265"/>
                  <a:gd name="T6" fmla="*/ 120 w 231"/>
                  <a:gd name="T7" fmla="*/ 264 h 265"/>
                  <a:gd name="T8" fmla="*/ 227 w 231"/>
                  <a:gd name="T9" fmla="*/ 201 h 265"/>
                  <a:gd name="T10" fmla="*/ 231 w 231"/>
                  <a:gd name="T11" fmla="*/ 195 h 265"/>
                  <a:gd name="T12" fmla="*/ 231 w 231"/>
                  <a:gd name="T13" fmla="*/ 70 h 265"/>
                  <a:gd name="T14" fmla="*/ 227 w 231"/>
                  <a:gd name="T15" fmla="*/ 63 h 265"/>
                  <a:gd name="T16" fmla="*/ 120 w 231"/>
                  <a:gd name="T17" fmla="*/ 1 h 265"/>
                  <a:gd name="T18" fmla="*/ 112 w 231"/>
                  <a:gd name="T19" fmla="*/ 1 h 265"/>
                  <a:gd name="T20" fmla="*/ 4 w 231"/>
                  <a:gd name="T21" fmla="*/ 63 h 265"/>
                  <a:gd name="T22" fmla="*/ 0 w 231"/>
                  <a:gd name="T23" fmla="*/ 70 h 265"/>
                  <a:gd name="T24" fmla="*/ 0 w 231"/>
                  <a:gd name="T25" fmla="*/ 195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1" h="265">
                    <a:moveTo>
                      <a:pt x="0" y="195"/>
                    </a:moveTo>
                    <a:cubicBezTo>
                      <a:pt x="0" y="197"/>
                      <a:pt x="2" y="200"/>
                      <a:pt x="4" y="201"/>
                    </a:cubicBezTo>
                    <a:cubicBezTo>
                      <a:pt x="112" y="264"/>
                      <a:pt x="112" y="264"/>
                      <a:pt x="112" y="264"/>
                    </a:cubicBezTo>
                    <a:cubicBezTo>
                      <a:pt x="114" y="265"/>
                      <a:pt x="117" y="265"/>
                      <a:pt x="120" y="264"/>
                    </a:cubicBezTo>
                    <a:cubicBezTo>
                      <a:pt x="227" y="201"/>
                      <a:pt x="227" y="201"/>
                      <a:pt x="227" y="201"/>
                    </a:cubicBezTo>
                    <a:cubicBezTo>
                      <a:pt x="230" y="200"/>
                      <a:pt x="231" y="197"/>
                      <a:pt x="231" y="195"/>
                    </a:cubicBezTo>
                    <a:cubicBezTo>
                      <a:pt x="231" y="70"/>
                      <a:pt x="231" y="70"/>
                      <a:pt x="231" y="70"/>
                    </a:cubicBezTo>
                    <a:cubicBezTo>
                      <a:pt x="231" y="67"/>
                      <a:pt x="230" y="65"/>
                      <a:pt x="227" y="63"/>
                    </a:cubicBezTo>
                    <a:cubicBezTo>
                      <a:pt x="120" y="1"/>
                      <a:pt x="120" y="1"/>
                      <a:pt x="120" y="1"/>
                    </a:cubicBezTo>
                    <a:cubicBezTo>
                      <a:pt x="117" y="0"/>
                      <a:pt x="114" y="0"/>
                      <a:pt x="112" y="1"/>
                    </a:cubicBezTo>
                    <a:cubicBezTo>
                      <a:pt x="4" y="63"/>
                      <a:pt x="4" y="63"/>
                      <a:pt x="4" y="63"/>
                    </a:cubicBezTo>
                    <a:cubicBezTo>
                      <a:pt x="2" y="65"/>
                      <a:pt x="0" y="67"/>
                      <a:pt x="0" y="70"/>
                    </a:cubicBezTo>
                    <a:lnTo>
                      <a:pt x="0" y="195"/>
                    </a:lnTo>
                    <a:close/>
                  </a:path>
                </a:pathLst>
              </a:custGeom>
              <a:grpFill/>
              <a:ln>
                <a:noFill/>
              </a:ln>
              <a:effectLst>
                <a:outerShdw blurRad="101600" dist="50800" dir="8100000" sx="101000" sy="101000" algn="tr" rotWithShape="0">
                  <a:prstClr val="black">
                    <a:alpha val="24000"/>
                  </a:prstClr>
                </a:outerShdw>
              </a:effectLst>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 name="Freeform 77"/>
              <p:cNvSpPr/>
              <p:nvPr/>
            </p:nvSpPr>
            <p:spPr bwMode="auto">
              <a:xfrm>
                <a:off x="6415696" y="2986796"/>
                <a:ext cx="2322014" cy="2637506"/>
              </a:xfrm>
              <a:custGeom>
                <a:avLst/>
                <a:gdLst>
                  <a:gd name="T0" fmla="*/ 0 w 231"/>
                  <a:gd name="T1" fmla="*/ 195 h 265"/>
                  <a:gd name="T2" fmla="*/ 4 w 231"/>
                  <a:gd name="T3" fmla="*/ 201 h 265"/>
                  <a:gd name="T4" fmla="*/ 112 w 231"/>
                  <a:gd name="T5" fmla="*/ 264 h 265"/>
                  <a:gd name="T6" fmla="*/ 120 w 231"/>
                  <a:gd name="T7" fmla="*/ 264 h 265"/>
                  <a:gd name="T8" fmla="*/ 227 w 231"/>
                  <a:gd name="T9" fmla="*/ 201 h 265"/>
                  <a:gd name="T10" fmla="*/ 231 w 231"/>
                  <a:gd name="T11" fmla="*/ 195 h 265"/>
                  <a:gd name="T12" fmla="*/ 231 w 231"/>
                  <a:gd name="T13" fmla="*/ 70 h 265"/>
                  <a:gd name="T14" fmla="*/ 227 w 231"/>
                  <a:gd name="T15" fmla="*/ 63 h 265"/>
                  <a:gd name="T16" fmla="*/ 120 w 231"/>
                  <a:gd name="T17" fmla="*/ 1 h 265"/>
                  <a:gd name="T18" fmla="*/ 112 w 231"/>
                  <a:gd name="T19" fmla="*/ 1 h 265"/>
                  <a:gd name="T20" fmla="*/ 4 w 231"/>
                  <a:gd name="T21" fmla="*/ 63 h 265"/>
                  <a:gd name="T22" fmla="*/ 0 w 231"/>
                  <a:gd name="T23" fmla="*/ 70 h 265"/>
                  <a:gd name="T24" fmla="*/ 0 w 231"/>
                  <a:gd name="T25" fmla="*/ 195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1" h="265">
                    <a:moveTo>
                      <a:pt x="0" y="195"/>
                    </a:moveTo>
                    <a:cubicBezTo>
                      <a:pt x="0" y="197"/>
                      <a:pt x="2" y="200"/>
                      <a:pt x="4" y="201"/>
                    </a:cubicBezTo>
                    <a:cubicBezTo>
                      <a:pt x="112" y="264"/>
                      <a:pt x="112" y="264"/>
                      <a:pt x="112" y="264"/>
                    </a:cubicBezTo>
                    <a:cubicBezTo>
                      <a:pt x="114" y="265"/>
                      <a:pt x="117" y="265"/>
                      <a:pt x="120" y="264"/>
                    </a:cubicBezTo>
                    <a:cubicBezTo>
                      <a:pt x="227" y="201"/>
                      <a:pt x="227" y="201"/>
                      <a:pt x="227" y="201"/>
                    </a:cubicBezTo>
                    <a:cubicBezTo>
                      <a:pt x="230" y="200"/>
                      <a:pt x="231" y="197"/>
                      <a:pt x="231" y="195"/>
                    </a:cubicBezTo>
                    <a:cubicBezTo>
                      <a:pt x="231" y="70"/>
                      <a:pt x="231" y="70"/>
                      <a:pt x="231" y="70"/>
                    </a:cubicBezTo>
                    <a:cubicBezTo>
                      <a:pt x="231" y="67"/>
                      <a:pt x="230" y="65"/>
                      <a:pt x="227" y="63"/>
                    </a:cubicBezTo>
                    <a:cubicBezTo>
                      <a:pt x="120" y="1"/>
                      <a:pt x="120" y="1"/>
                      <a:pt x="120" y="1"/>
                    </a:cubicBezTo>
                    <a:cubicBezTo>
                      <a:pt x="117" y="0"/>
                      <a:pt x="114" y="0"/>
                      <a:pt x="112" y="1"/>
                    </a:cubicBezTo>
                    <a:cubicBezTo>
                      <a:pt x="4" y="63"/>
                      <a:pt x="4" y="63"/>
                      <a:pt x="4" y="63"/>
                    </a:cubicBezTo>
                    <a:cubicBezTo>
                      <a:pt x="2" y="65"/>
                      <a:pt x="0" y="67"/>
                      <a:pt x="0" y="70"/>
                    </a:cubicBezTo>
                    <a:lnTo>
                      <a:pt x="0" y="195"/>
                    </a:lnTo>
                    <a:close/>
                  </a:path>
                </a:pathLst>
              </a:custGeom>
              <a:grpFill/>
              <a:ln>
                <a:noFill/>
              </a:ln>
              <a:effectLst>
                <a:innerShdw blurRad="101600">
                  <a:prstClr val="black">
                    <a:alpha val="66000"/>
                  </a:prstClr>
                </a:innerShdw>
              </a:effectLst>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 name="Freeform 77"/>
              <p:cNvSpPr/>
              <p:nvPr/>
            </p:nvSpPr>
            <p:spPr bwMode="auto">
              <a:xfrm>
                <a:off x="6657540" y="3261500"/>
                <a:ext cx="1838326" cy="2088098"/>
              </a:xfrm>
              <a:custGeom>
                <a:avLst/>
                <a:gdLst>
                  <a:gd name="T0" fmla="*/ 0 w 231"/>
                  <a:gd name="T1" fmla="*/ 195 h 265"/>
                  <a:gd name="T2" fmla="*/ 4 w 231"/>
                  <a:gd name="T3" fmla="*/ 201 h 265"/>
                  <a:gd name="T4" fmla="*/ 112 w 231"/>
                  <a:gd name="T5" fmla="*/ 264 h 265"/>
                  <a:gd name="T6" fmla="*/ 120 w 231"/>
                  <a:gd name="T7" fmla="*/ 264 h 265"/>
                  <a:gd name="T8" fmla="*/ 227 w 231"/>
                  <a:gd name="T9" fmla="*/ 201 h 265"/>
                  <a:gd name="T10" fmla="*/ 231 w 231"/>
                  <a:gd name="T11" fmla="*/ 195 h 265"/>
                  <a:gd name="T12" fmla="*/ 231 w 231"/>
                  <a:gd name="T13" fmla="*/ 70 h 265"/>
                  <a:gd name="T14" fmla="*/ 227 w 231"/>
                  <a:gd name="T15" fmla="*/ 63 h 265"/>
                  <a:gd name="T16" fmla="*/ 120 w 231"/>
                  <a:gd name="T17" fmla="*/ 1 h 265"/>
                  <a:gd name="T18" fmla="*/ 112 w 231"/>
                  <a:gd name="T19" fmla="*/ 1 h 265"/>
                  <a:gd name="T20" fmla="*/ 4 w 231"/>
                  <a:gd name="T21" fmla="*/ 63 h 265"/>
                  <a:gd name="T22" fmla="*/ 0 w 231"/>
                  <a:gd name="T23" fmla="*/ 70 h 265"/>
                  <a:gd name="T24" fmla="*/ 0 w 231"/>
                  <a:gd name="T25" fmla="*/ 195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1" h="265">
                    <a:moveTo>
                      <a:pt x="0" y="195"/>
                    </a:moveTo>
                    <a:cubicBezTo>
                      <a:pt x="0" y="197"/>
                      <a:pt x="2" y="200"/>
                      <a:pt x="4" y="201"/>
                    </a:cubicBezTo>
                    <a:cubicBezTo>
                      <a:pt x="112" y="264"/>
                      <a:pt x="112" y="264"/>
                      <a:pt x="112" y="264"/>
                    </a:cubicBezTo>
                    <a:cubicBezTo>
                      <a:pt x="114" y="265"/>
                      <a:pt x="117" y="265"/>
                      <a:pt x="120" y="264"/>
                    </a:cubicBezTo>
                    <a:cubicBezTo>
                      <a:pt x="227" y="201"/>
                      <a:pt x="227" y="201"/>
                      <a:pt x="227" y="201"/>
                    </a:cubicBezTo>
                    <a:cubicBezTo>
                      <a:pt x="230" y="200"/>
                      <a:pt x="231" y="197"/>
                      <a:pt x="231" y="195"/>
                    </a:cubicBezTo>
                    <a:cubicBezTo>
                      <a:pt x="231" y="70"/>
                      <a:pt x="231" y="70"/>
                      <a:pt x="231" y="70"/>
                    </a:cubicBezTo>
                    <a:cubicBezTo>
                      <a:pt x="231" y="67"/>
                      <a:pt x="230" y="65"/>
                      <a:pt x="227" y="63"/>
                    </a:cubicBezTo>
                    <a:cubicBezTo>
                      <a:pt x="120" y="1"/>
                      <a:pt x="120" y="1"/>
                      <a:pt x="120" y="1"/>
                    </a:cubicBezTo>
                    <a:cubicBezTo>
                      <a:pt x="117" y="0"/>
                      <a:pt x="114" y="0"/>
                      <a:pt x="112" y="1"/>
                    </a:cubicBezTo>
                    <a:cubicBezTo>
                      <a:pt x="4" y="63"/>
                      <a:pt x="4" y="63"/>
                      <a:pt x="4" y="63"/>
                    </a:cubicBezTo>
                    <a:cubicBezTo>
                      <a:pt x="2" y="65"/>
                      <a:pt x="0" y="67"/>
                      <a:pt x="0" y="70"/>
                    </a:cubicBezTo>
                    <a:lnTo>
                      <a:pt x="0" y="195"/>
                    </a:lnTo>
                    <a:close/>
                  </a:path>
                </a:pathLst>
              </a:custGeom>
              <a:grpFill/>
              <a:ln>
                <a:noFill/>
              </a:ln>
              <a:effectLst>
                <a:outerShdw blurRad="88900" sx="102000" sy="102000" algn="ctr" rotWithShape="0">
                  <a:prstClr val="black">
                    <a:alpha val="33000"/>
                  </a:prstClr>
                </a:outerShdw>
              </a:effectLst>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14" name="组合 13"/>
          <p:cNvGrpSpPr/>
          <p:nvPr/>
        </p:nvGrpSpPr>
        <p:grpSpPr>
          <a:xfrm rot="5400000">
            <a:off x="1554611" y="3307265"/>
            <a:ext cx="1074338" cy="3245861"/>
            <a:chOff x="6096000" y="-4571875"/>
            <a:chExt cx="2974030" cy="10579467"/>
          </a:xfrm>
          <a:solidFill>
            <a:schemeClr val="accent2">
              <a:lumMod val="20000"/>
              <a:lumOff val="80000"/>
            </a:schemeClr>
          </a:solidFill>
        </p:grpSpPr>
        <p:grpSp>
          <p:nvGrpSpPr>
            <p:cNvPr id="15" name="组合 14"/>
            <p:cNvGrpSpPr/>
            <p:nvPr/>
          </p:nvGrpSpPr>
          <p:grpSpPr>
            <a:xfrm>
              <a:off x="6096000" y="-4571875"/>
              <a:ext cx="2974030" cy="10579467"/>
              <a:chOff x="6096000" y="-4571875"/>
              <a:chExt cx="2974030" cy="10579467"/>
            </a:xfrm>
            <a:grpFill/>
          </p:grpSpPr>
          <p:sp>
            <p:nvSpPr>
              <p:cNvPr id="20" name="Freeform 74"/>
              <p:cNvSpPr/>
              <p:nvPr/>
            </p:nvSpPr>
            <p:spPr bwMode="auto">
              <a:xfrm>
                <a:off x="6096000" y="-4571875"/>
                <a:ext cx="2974030" cy="10579467"/>
              </a:xfrm>
              <a:custGeom>
                <a:avLst/>
                <a:gdLst>
                  <a:gd name="T0" fmla="*/ 0 w 296"/>
                  <a:gd name="T1" fmla="*/ 961 h 1062"/>
                  <a:gd name="T2" fmla="*/ 17 w 296"/>
                  <a:gd name="T3" fmla="*/ 991 h 1062"/>
                  <a:gd name="T4" fmla="*/ 130 w 296"/>
                  <a:gd name="T5" fmla="*/ 1056 h 1062"/>
                  <a:gd name="T6" fmla="*/ 165 w 296"/>
                  <a:gd name="T7" fmla="*/ 1056 h 1062"/>
                  <a:gd name="T8" fmla="*/ 279 w 296"/>
                  <a:gd name="T9" fmla="*/ 991 h 1062"/>
                  <a:gd name="T10" fmla="*/ 296 w 296"/>
                  <a:gd name="T11" fmla="*/ 961 h 1062"/>
                  <a:gd name="T12" fmla="*/ 296 w 296"/>
                  <a:gd name="T13" fmla="*/ 102 h 1062"/>
                  <a:gd name="T14" fmla="*/ 279 w 296"/>
                  <a:gd name="T15" fmla="*/ 72 h 1062"/>
                  <a:gd name="T16" fmla="*/ 165 w 296"/>
                  <a:gd name="T17" fmla="*/ 7 h 1062"/>
                  <a:gd name="T18" fmla="*/ 130 w 296"/>
                  <a:gd name="T19" fmla="*/ 7 h 1062"/>
                  <a:gd name="T20" fmla="*/ 17 w 296"/>
                  <a:gd name="T21" fmla="*/ 72 h 1062"/>
                  <a:gd name="T22" fmla="*/ 0 w 296"/>
                  <a:gd name="T23" fmla="*/ 102 h 1062"/>
                  <a:gd name="T24" fmla="*/ 0 w 296"/>
                  <a:gd name="T25" fmla="*/ 961 h 10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96" h="1062">
                    <a:moveTo>
                      <a:pt x="0" y="961"/>
                    </a:moveTo>
                    <a:cubicBezTo>
                      <a:pt x="0" y="973"/>
                      <a:pt x="6" y="984"/>
                      <a:pt x="17" y="991"/>
                    </a:cubicBezTo>
                    <a:cubicBezTo>
                      <a:pt x="130" y="1056"/>
                      <a:pt x="130" y="1056"/>
                      <a:pt x="130" y="1056"/>
                    </a:cubicBezTo>
                    <a:cubicBezTo>
                      <a:pt x="141" y="1062"/>
                      <a:pt x="154" y="1062"/>
                      <a:pt x="165" y="1056"/>
                    </a:cubicBezTo>
                    <a:cubicBezTo>
                      <a:pt x="279" y="991"/>
                      <a:pt x="279" y="991"/>
                      <a:pt x="279" y="991"/>
                    </a:cubicBezTo>
                    <a:cubicBezTo>
                      <a:pt x="289" y="984"/>
                      <a:pt x="296" y="973"/>
                      <a:pt x="296" y="961"/>
                    </a:cubicBezTo>
                    <a:cubicBezTo>
                      <a:pt x="296" y="102"/>
                      <a:pt x="296" y="102"/>
                      <a:pt x="296" y="102"/>
                    </a:cubicBezTo>
                    <a:cubicBezTo>
                      <a:pt x="296" y="90"/>
                      <a:pt x="289" y="78"/>
                      <a:pt x="279" y="72"/>
                    </a:cubicBezTo>
                    <a:cubicBezTo>
                      <a:pt x="165" y="7"/>
                      <a:pt x="165" y="7"/>
                      <a:pt x="165" y="7"/>
                    </a:cubicBezTo>
                    <a:cubicBezTo>
                      <a:pt x="154" y="0"/>
                      <a:pt x="141" y="0"/>
                      <a:pt x="130" y="7"/>
                    </a:cubicBezTo>
                    <a:cubicBezTo>
                      <a:pt x="17" y="72"/>
                      <a:pt x="17" y="72"/>
                      <a:pt x="17" y="72"/>
                    </a:cubicBezTo>
                    <a:cubicBezTo>
                      <a:pt x="6" y="78"/>
                      <a:pt x="0" y="90"/>
                      <a:pt x="0" y="102"/>
                    </a:cubicBezTo>
                    <a:cubicBezTo>
                      <a:pt x="0" y="961"/>
                      <a:pt x="0" y="961"/>
                      <a:pt x="0" y="961"/>
                    </a:cubicBezTo>
                  </a:path>
                </a:pathLst>
              </a:custGeom>
              <a:grpFill/>
              <a:ln>
                <a:noFill/>
              </a:ln>
              <a:effectLst>
                <a:outerShdw blurRad="152400" dist="63500" dir="8100000" algn="tr" rotWithShape="0">
                  <a:prstClr val="black">
                    <a:alpha val="35000"/>
                  </a:prstClr>
                </a:outerShdw>
              </a:effectLst>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 name="Freeform 76"/>
              <p:cNvSpPr/>
              <p:nvPr/>
            </p:nvSpPr>
            <p:spPr bwMode="auto">
              <a:xfrm flipH="1">
                <a:off x="7576705" y="-4512983"/>
                <a:ext cx="1493325" cy="10503749"/>
              </a:xfrm>
              <a:custGeom>
                <a:avLst/>
                <a:gdLst>
                  <a:gd name="T0" fmla="*/ 147 w 147"/>
                  <a:gd name="T1" fmla="*/ 0 h 1054"/>
                  <a:gd name="T2" fmla="*/ 2 w 147"/>
                  <a:gd name="T3" fmla="*/ 84 h 1054"/>
                  <a:gd name="T4" fmla="*/ 0 w 147"/>
                  <a:gd name="T5" fmla="*/ 96 h 1054"/>
                  <a:gd name="T6" fmla="*/ 0 w 147"/>
                  <a:gd name="T7" fmla="*/ 96 h 1054"/>
                  <a:gd name="T8" fmla="*/ 0 w 147"/>
                  <a:gd name="T9" fmla="*/ 96 h 1054"/>
                  <a:gd name="T10" fmla="*/ 0 w 147"/>
                  <a:gd name="T11" fmla="*/ 96 h 1054"/>
                  <a:gd name="T12" fmla="*/ 0 w 147"/>
                  <a:gd name="T13" fmla="*/ 955 h 1054"/>
                  <a:gd name="T14" fmla="*/ 17 w 147"/>
                  <a:gd name="T15" fmla="*/ 985 h 1054"/>
                  <a:gd name="T16" fmla="*/ 130 w 147"/>
                  <a:gd name="T17" fmla="*/ 1050 h 1054"/>
                  <a:gd name="T18" fmla="*/ 130 w 147"/>
                  <a:gd name="T19" fmla="*/ 1050 h 1054"/>
                  <a:gd name="T20" fmla="*/ 133 w 147"/>
                  <a:gd name="T21" fmla="*/ 1052 h 1054"/>
                  <a:gd name="T22" fmla="*/ 143 w 147"/>
                  <a:gd name="T23" fmla="*/ 1054 h 1054"/>
                  <a:gd name="T24" fmla="*/ 147 w 147"/>
                  <a:gd name="T25" fmla="*/ 1052 h 1054"/>
                  <a:gd name="T26" fmla="*/ 147 w 147"/>
                  <a:gd name="T27" fmla="*/ 0 h 10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7" h="1054">
                    <a:moveTo>
                      <a:pt x="147" y="0"/>
                    </a:moveTo>
                    <a:cubicBezTo>
                      <a:pt x="2" y="84"/>
                      <a:pt x="2" y="84"/>
                      <a:pt x="2" y="84"/>
                    </a:cubicBezTo>
                    <a:cubicBezTo>
                      <a:pt x="1" y="87"/>
                      <a:pt x="0" y="92"/>
                      <a:pt x="0" y="96"/>
                    </a:cubicBezTo>
                    <a:cubicBezTo>
                      <a:pt x="0" y="96"/>
                      <a:pt x="0" y="96"/>
                      <a:pt x="0" y="96"/>
                    </a:cubicBezTo>
                    <a:cubicBezTo>
                      <a:pt x="0" y="96"/>
                      <a:pt x="0" y="96"/>
                      <a:pt x="0" y="96"/>
                    </a:cubicBezTo>
                    <a:cubicBezTo>
                      <a:pt x="0" y="96"/>
                      <a:pt x="0" y="96"/>
                      <a:pt x="0" y="96"/>
                    </a:cubicBezTo>
                    <a:cubicBezTo>
                      <a:pt x="0" y="955"/>
                      <a:pt x="0" y="955"/>
                      <a:pt x="0" y="955"/>
                    </a:cubicBezTo>
                    <a:cubicBezTo>
                      <a:pt x="0" y="967"/>
                      <a:pt x="6" y="978"/>
                      <a:pt x="17" y="985"/>
                    </a:cubicBezTo>
                    <a:cubicBezTo>
                      <a:pt x="130" y="1050"/>
                      <a:pt x="130" y="1050"/>
                      <a:pt x="130" y="1050"/>
                    </a:cubicBezTo>
                    <a:cubicBezTo>
                      <a:pt x="130" y="1050"/>
                      <a:pt x="130" y="1050"/>
                      <a:pt x="130" y="1050"/>
                    </a:cubicBezTo>
                    <a:cubicBezTo>
                      <a:pt x="131" y="1051"/>
                      <a:pt x="132" y="1051"/>
                      <a:pt x="133" y="1052"/>
                    </a:cubicBezTo>
                    <a:cubicBezTo>
                      <a:pt x="137" y="1053"/>
                      <a:pt x="140" y="1054"/>
                      <a:pt x="143" y="1054"/>
                    </a:cubicBezTo>
                    <a:cubicBezTo>
                      <a:pt x="147" y="1052"/>
                      <a:pt x="147" y="1052"/>
                      <a:pt x="147" y="1052"/>
                    </a:cubicBezTo>
                    <a:cubicBezTo>
                      <a:pt x="147" y="0"/>
                      <a:pt x="147" y="0"/>
                      <a:pt x="147" y="0"/>
                    </a:cubicBezTo>
                  </a:path>
                </a:pathLst>
              </a:custGeom>
              <a:grp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16" name="组合 15"/>
            <p:cNvGrpSpPr/>
            <p:nvPr/>
          </p:nvGrpSpPr>
          <p:grpSpPr>
            <a:xfrm>
              <a:off x="6316564" y="2867025"/>
              <a:ext cx="2532903" cy="2877048"/>
              <a:chOff x="6310252" y="2867025"/>
              <a:chExt cx="2532903" cy="2877048"/>
            </a:xfrm>
            <a:grpFill/>
          </p:grpSpPr>
          <p:sp>
            <p:nvSpPr>
              <p:cNvPr id="17" name="Freeform 77"/>
              <p:cNvSpPr/>
              <p:nvPr/>
            </p:nvSpPr>
            <p:spPr bwMode="auto">
              <a:xfrm>
                <a:off x="6310252" y="2867025"/>
                <a:ext cx="2532903" cy="2877048"/>
              </a:xfrm>
              <a:custGeom>
                <a:avLst/>
                <a:gdLst>
                  <a:gd name="T0" fmla="*/ 0 w 231"/>
                  <a:gd name="T1" fmla="*/ 195 h 265"/>
                  <a:gd name="T2" fmla="*/ 4 w 231"/>
                  <a:gd name="T3" fmla="*/ 201 h 265"/>
                  <a:gd name="T4" fmla="*/ 112 w 231"/>
                  <a:gd name="T5" fmla="*/ 264 h 265"/>
                  <a:gd name="T6" fmla="*/ 120 w 231"/>
                  <a:gd name="T7" fmla="*/ 264 h 265"/>
                  <a:gd name="T8" fmla="*/ 227 w 231"/>
                  <a:gd name="T9" fmla="*/ 201 h 265"/>
                  <a:gd name="T10" fmla="*/ 231 w 231"/>
                  <a:gd name="T11" fmla="*/ 195 h 265"/>
                  <a:gd name="T12" fmla="*/ 231 w 231"/>
                  <a:gd name="T13" fmla="*/ 70 h 265"/>
                  <a:gd name="T14" fmla="*/ 227 w 231"/>
                  <a:gd name="T15" fmla="*/ 63 h 265"/>
                  <a:gd name="T16" fmla="*/ 120 w 231"/>
                  <a:gd name="T17" fmla="*/ 1 h 265"/>
                  <a:gd name="T18" fmla="*/ 112 w 231"/>
                  <a:gd name="T19" fmla="*/ 1 h 265"/>
                  <a:gd name="T20" fmla="*/ 4 w 231"/>
                  <a:gd name="T21" fmla="*/ 63 h 265"/>
                  <a:gd name="T22" fmla="*/ 0 w 231"/>
                  <a:gd name="T23" fmla="*/ 70 h 265"/>
                  <a:gd name="T24" fmla="*/ 0 w 231"/>
                  <a:gd name="T25" fmla="*/ 195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1" h="265">
                    <a:moveTo>
                      <a:pt x="0" y="195"/>
                    </a:moveTo>
                    <a:cubicBezTo>
                      <a:pt x="0" y="197"/>
                      <a:pt x="2" y="200"/>
                      <a:pt x="4" y="201"/>
                    </a:cubicBezTo>
                    <a:cubicBezTo>
                      <a:pt x="112" y="264"/>
                      <a:pt x="112" y="264"/>
                      <a:pt x="112" y="264"/>
                    </a:cubicBezTo>
                    <a:cubicBezTo>
                      <a:pt x="114" y="265"/>
                      <a:pt x="117" y="265"/>
                      <a:pt x="120" y="264"/>
                    </a:cubicBezTo>
                    <a:cubicBezTo>
                      <a:pt x="227" y="201"/>
                      <a:pt x="227" y="201"/>
                      <a:pt x="227" y="201"/>
                    </a:cubicBezTo>
                    <a:cubicBezTo>
                      <a:pt x="230" y="200"/>
                      <a:pt x="231" y="197"/>
                      <a:pt x="231" y="195"/>
                    </a:cubicBezTo>
                    <a:cubicBezTo>
                      <a:pt x="231" y="70"/>
                      <a:pt x="231" y="70"/>
                      <a:pt x="231" y="70"/>
                    </a:cubicBezTo>
                    <a:cubicBezTo>
                      <a:pt x="231" y="67"/>
                      <a:pt x="230" y="65"/>
                      <a:pt x="227" y="63"/>
                    </a:cubicBezTo>
                    <a:cubicBezTo>
                      <a:pt x="120" y="1"/>
                      <a:pt x="120" y="1"/>
                      <a:pt x="120" y="1"/>
                    </a:cubicBezTo>
                    <a:cubicBezTo>
                      <a:pt x="117" y="0"/>
                      <a:pt x="114" y="0"/>
                      <a:pt x="112" y="1"/>
                    </a:cubicBezTo>
                    <a:cubicBezTo>
                      <a:pt x="4" y="63"/>
                      <a:pt x="4" y="63"/>
                      <a:pt x="4" y="63"/>
                    </a:cubicBezTo>
                    <a:cubicBezTo>
                      <a:pt x="2" y="65"/>
                      <a:pt x="0" y="67"/>
                      <a:pt x="0" y="70"/>
                    </a:cubicBezTo>
                    <a:lnTo>
                      <a:pt x="0" y="195"/>
                    </a:lnTo>
                    <a:close/>
                  </a:path>
                </a:pathLst>
              </a:custGeom>
              <a:grpFill/>
              <a:ln>
                <a:noFill/>
              </a:ln>
              <a:effectLst>
                <a:outerShdw blurRad="101600" dist="50800" dir="8100000" sx="101000" sy="101000" algn="tr" rotWithShape="0">
                  <a:prstClr val="black">
                    <a:alpha val="24000"/>
                  </a:prstClr>
                </a:outerShdw>
              </a:effectLst>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 name="Freeform 77"/>
              <p:cNvSpPr/>
              <p:nvPr/>
            </p:nvSpPr>
            <p:spPr bwMode="auto">
              <a:xfrm>
                <a:off x="6415696" y="2986796"/>
                <a:ext cx="2322014" cy="2637506"/>
              </a:xfrm>
              <a:custGeom>
                <a:avLst/>
                <a:gdLst>
                  <a:gd name="T0" fmla="*/ 0 w 231"/>
                  <a:gd name="T1" fmla="*/ 195 h 265"/>
                  <a:gd name="T2" fmla="*/ 4 w 231"/>
                  <a:gd name="T3" fmla="*/ 201 h 265"/>
                  <a:gd name="T4" fmla="*/ 112 w 231"/>
                  <a:gd name="T5" fmla="*/ 264 h 265"/>
                  <a:gd name="T6" fmla="*/ 120 w 231"/>
                  <a:gd name="T7" fmla="*/ 264 h 265"/>
                  <a:gd name="T8" fmla="*/ 227 w 231"/>
                  <a:gd name="T9" fmla="*/ 201 h 265"/>
                  <a:gd name="T10" fmla="*/ 231 w 231"/>
                  <a:gd name="T11" fmla="*/ 195 h 265"/>
                  <a:gd name="T12" fmla="*/ 231 w 231"/>
                  <a:gd name="T13" fmla="*/ 70 h 265"/>
                  <a:gd name="T14" fmla="*/ 227 w 231"/>
                  <a:gd name="T15" fmla="*/ 63 h 265"/>
                  <a:gd name="T16" fmla="*/ 120 w 231"/>
                  <a:gd name="T17" fmla="*/ 1 h 265"/>
                  <a:gd name="T18" fmla="*/ 112 w 231"/>
                  <a:gd name="T19" fmla="*/ 1 h 265"/>
                  <a:gd name="T20" fmla="*/ 4 w 231"/>
                  <a:gd name="T21" fmla="*/ 63 h 265"/>
                  <a:gd name="T22" fmla="*/ 0 w 231"/>
                  <a:gd name="T23" fmla="*/ 70 h 265"/>
                  <a:gd name="T24" fmla="*/ 0 w 231"/>
                  <a:gd name="T25" fmla="*/ 195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1" h="265">
                    <a:moveTo>
                      <a:pt x="0" y="195"/>
                    </a:moveTo>
                    <a:cubicBezTo>
                      <a:pt x="0" y="197"/>
                      <a:pt x="2" y="200"/>
                      <a:pt x="4" y="201"/>
                    </a:cubicBezTo>
                    <a:cubicBezTo>
                      <a:pt x="112" y="264"/>
                      <a:pt x="112" y="264"/>
                      <a:pt x="112" y="264"/>
                    </a:cubicBezTo>
                    <a:cubicBezTo>
                      <a:pt x="114" y="265"/>
                      <a:pt x="117" y="265"/>
                      <a:pt x="120" y="264"/>
                    </a:cubicBezTo>
                    <a:cubicBezTo>
                      <a:pt x="227" y="201"/>
                      <a:pt x="227" y="201"/>
                      <a:pt x="227" y="201"/>
                    </a:cubicBezTo>
                    <a:cubicBezTo>
                      <a:pt x="230" y="200"/>
                      <a:pt x="231" y="197"/>
                      <a:pt x="231" y="195"/>
                    </a:cubicBezTo>
                    <a:cubicBezTo>
                      <a:pt x="231" y="70"/>
                      <a:pt x="231" y="70"/>
                      <a:pt x="231" y="70"/>
                    </a:cubicBezTo>
                    <a:cubicBezTo>
                      <a:pt x="231" y="67"/>
                      <a:pt x="230" y="65"/>
                      <a:pt x="227" y="63"/>
                    </a:cubicBezTo>
                    <a:cubicBezTo>
                      <a:pt x="120" y="1"/>
                      <a:pt x="120" y="1"/>
                      <a:pt x="120" y="1"/>
                    </a:cubicBezTo>
                    <a:cubicBezTo>
                      <a:pt x="117" y="0"/>
                      <a:pt x="114" y="0"/>
                      <a:pt x="112" y="1"/>
                    </a:cubicBezTo>
                    <a:cubicBezTo>
                      <a:pt x="4" y="63"/>
                      <a:pt x="4" y="63"/>
                      <a:pt x="4" y="63"/>
                    </a:cubicBezTo>
                    <a:cubicBezTo>
                      <a:pt x="2" y="65"/>
                      <a:pt x="0" y="67"/>
                      <a:pt x="0" y="70"/>
                    </a:cubicBezTo>
                    <a:lnTo>
                      <a:pt x="0" y="195"/>
                    </a:lnTo>
                    <a:close/>
                  </a:path>
                </a:pathLst>
              </a:custGeom>
              <a:grpFill/>
              <a:ln>
                <a:noFill/>
              </a:ln>
              <a:effectLst>
                <a:innerShdw blurRad="101600">
                  <a:prstClr val="black">
                    <a:alpha val="66000"/>
                  </a:prstClr>
                </a:innerShdw>
              </a:effectLst>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 name="Freeform 77"/>
              <p:cNvSpPr/>
              <p:nvPr/>
            </p:nvSpPr>
            <p:spPr bwMode="auto">
              <a:xfrm>
                <a:off x="6657540" y="3261500"/>
                <a:ext cx="1838326" cy="2088098"/>
              </a:xfrm>
              <a:custGeom>
                <a:avLst/>
                <a:gdLst>
                  <a:gd name="T0" fmla="*/ 0 w 231"/>
                  <a:gd name="T1" fmla="*/ 195 h 265"/>
                  <a:gd name="T2" fmla="*/ 4 w 231"/>
                  <a:gd name="T3" fmla="*/ 201 h 265"/>
                  <a:gd name="T4" fmla="*/ 112 w 231"/>
                  <a:gd name="T5" fmla="*/ 264 h 265"/>
                  <a:gd name="T6" fmla="*/ 120 w 231"/>
                  <a:gd name="T7" fmla="*/ 264 h 265"/>
                  <a:gd name="T8" fmla="*/ 227 w 231"/>
                  <a:gd name="T9" fmla="*/ 201 h 265"/>
                  <a:gd name="T10" fmla="*/ 231 w 231"/>
                  <a:gd name="T11" fmla="*/ 195 h 265"/>
                  <a:gd name="T12" fmla="*/ 231 w 231"/>
                  <a:gd name="T13" fmla="*/ 70 h 265"/>
                  <a:gd name="T14" fmla="*/ 227 w 231"/>
                  <a:gd name="T15" fmla="*/ 63 h 265"/>
                  <a:gd name="T16" fmla="*/ 120 w 231"/>
                  <a:gd name="T17" fmla="*/ 1 h 265"/>
                  <a:gd name="T18" fmla="*/ 112 w 231"/>
                  <a:gd name="T19" fmla="*/ 1 h 265"/>
                  <a:gd name="T20" fmla="*/ 4 w 231"/>
                  <a:gd name="T21" fmla="*/ 63 h 265"/>
                  <a:gd name="T22" fmla="*/ 0 w 231"/>
                  <a:gd name="T23" fmla="*/ 70 h 265"/>
                  <a:gd name="T24" fmla="*/ 0 w 231"/>
                  <a:gd name="T25" fmla="*/ 195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1" h="265">
                    <a:moveTo>
                      <a:pt x="0" y="195"/>
                    </a:moveTo>
                    <a:cubicBezTo>
                      <a:pt x="0" y="197"/>
                      <a:pt x="2" y="200"/>
                      <a:pt x="4" y="201"/>
                    </a:cubicBezTo>
                    <a:cubicBezTo>
                      <a:pt x="112" y="264"/>
                      <a:pt x="112" y="264"/>
                      <a:pt x="112" y="264"/>
                    </a:cubicBezTo>
                    <a:cubicBezTo>
                      <a:pt x="114" y="265"/>
                      <a:pt x="117" y="265"/>
                      <a:pt x="120" y="264"/>
                    </a:cubicBezTo>
                    <a:cubicBezTo>
                      <a:pt x="227" y="201"/>
                      <a:pt x="227" y="201"/>
                      <a:pt x="227" y="201"/>
                    </a:cubicBezTo>
                    <a:cubicBezTo>
                      <a:pt x="230" y="200"/>
                      <a:pt x="231" y="197"/>
                      <a:pt x="231" y="195"/>
                    </a:cubicBezTo>
                    <a:cubicBezTo>
                      <a:pt x="231" y="70"/>
                      <a:pt x="231" y="70"/>
                      <a:pt x="231" y="70"/>
                    </a:cubicBezTo>
                    <a:cubicBezTo>
                      <a:pt x="231" y="67"/>
                      <a:pt x="230" y="65"/>
                      <a:pt x="227" y="63"/>
                    </a:cubicBezTo>
                    <a:cubicBezTo>
                      <a:pt x="120" y="1"/>
                      <a:pt x="120" y="1"/>
                      <a:pt x="120" y="1"/>
                    </a:cubicBezTo>
                    <a:cubicBezTo>
                      <a:pt x="117" y="0"/>
                      <a:pt x="114" y="0"/>
                      <a:pt x="112" y="1"/>
                    </a:cubicBezTo>
                    <a:cubicBezTo>
                      <a:pt x="4" y="63"/>
                      <a:pt x="4" y="63"/>
                      <a:pt x="4" y="63"/>
                    </a:cubicBezTo>
                    <a:cubicBezTo>
                      <a:pt x="2" y="65"/>
                      <a:pt x="0" y="67"/>
                      <a:pt x="0" y="70"/>
                    </a:cubicBezTo>
                    <a:lnTo>
                      <a:pt x="0" y="195"/>
                    </a:lnTo>
                    <a:close/>
                  </a:path>
                </a:pathLst>
              </a:custGeom>
              <a:grpFill/>
              <a:ln>
                <a:noFill/>
              </a:ln>
              <a:effectLst>
                <a:outerShdw blurRad="88900" sx="102000" sy="102000" algn="ctr" rotWithShape="0">
                  <a:prstClr val="black">
                    <a:alpha val="33000"/>
                  </a:prstClr>
                </a:outerShdw>
              </a:effectLst>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pic>
        <p:nvPicPr>
          <p:cNvPr id="22" name="图片 21"/>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713768" y="2522244"/>
            <a:ext cx="485634" cy="625197"/>
          </a:xfrm>
          <a:prstGeom prst="rect">
            <a:avLst/>
          </a:prstGeom>
        </p:spPr>
      </p:pic>
      <p:pic>
        <p:nvPicPr>
          <p:cNvPr id="23" name="图片 22"/>
          <p:cNvPicPr>
            <a:picLocks noChangeAspect="1"/>
          </p:cNvPicPr>
          <p:nvPr/>
        </p:nvPicPr>
        <p:blipFill>
          <a:blip r:embed="rId5" cstate="print">
            <a:extLst>
              <a:ext uri="{28A0092B-C50C-407E-A947-70E740481C1C}">
                <a14:useLocalDpi xmlns:a14="http://schemas.microsoft.com/office/drawing/2010/main" xmlns="" val="0"/>
              </a:ext>
            </a:extLst>
          </a:blip>
          <a:stretch>
            <a:fillRect/>
          </a:stretch>
        </p:blipFill>
        <p:spPr>
          <a:xfrm>
            <a:off x="787471" y="4617983"/>
            <a:ext cx="407157" cy="575617"/>
          </a:xfrm>
          <a:prstGeom prst="rect">
            <a:avLst/>
          </a:prstGeom>
        </p:spPr>
      </p:pic>
      <p:sp>
        <p:nvSpPr>
          <p:cNvPr id="24" name="文本框 215"/>
          <p:cNvSpPr txBox="1"/>
          <p:nvPr/>
        </p:nvSpPr>
        <p:spPr>
          <a:xfrm>
            <a:off x="1439385" y="2573162"/>
            <a:ext cx="1620957" cy="800219"/>
          </a:xfrm>
          <a:prstGeom prst="rect">
            <a:avLst/>
          </a:prstGeom>
          <a:noFill/>
        </p:spPr>
        <p:txBody>
          <a:bodyPr wrap="none" rtlCol="0">
            <a:spAutoFit/>
          </a:bodyPr>
          <a:lstStyle/>
          <a:p>
            <a:r>
              <a:rPr lang="zh-CN" altLang="en-US" sz="2800" b="1" dirty="0">
                <a:solidFill>
                  <a:schemeClr val="accent1">
                    <a:lumMod val="50000"/>
                  </a:schemeClr>
                </a:solidFill>
              </a:rPr>
              <a:t>滤光片型</a:t>
            </a:r>
          </a:p>
          <a:p>
            <a:endParaRPr lang="zh-CN" altLang="en-US" dirty="0">
              <a:solidFill>
                <a:srgbClr val="0070C0"/>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25" name="文本框 216"/>
          <p:cNvSpPr txBox="1"/>
          <p:nvPr/>
        </p:nvSpPr>
        <p:spPr>
          <a:xfrm>
            <a:off x="1436803" y="4713536"/>
            <a:ext cx="1980029" cy="800219"/>
          </a:xfrm>
          <a:prstGeom prst="rect">
            <a:avLst/>
          </a:prstGeom>
          <a:noFill/>
        </p:spPr>
        <p:txBody>
          <a:bodyPr wrap="none" rtlCol="0">
            <a:spAutoFit/>
          </a:bodyPr>
          <a:lstStyle/>
          <a:p>
            <a:r>
              <a:rPr lang="zh-CN" altLang="en-US" sz="2800" b="1" dirty="0">
                <a:solidFill>
                  <a:schemeClr val="accent1">
                    <a:lumMod val="50000"/>
                  </a:schemeClr>
                </a:solidFill>
              </a:rPr>
              <a:t>光栅色散型</a:t>
            </a:r>
          </a:p>
          <a:p>
            <a:endParaRPr lang="zh-CN" altLang="en-US" dirty="0">
              <a:solidFill>
                <a:srgbClr val="0070C0"/>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5" name="矩形 4"/>
          <p:cNvSpPr/>
          <p:nvPr/>
        </p:nvSpPr>
        <p:spPr>
          <a:xfrm>
            <a:off x="3708064" y="1573874"/>
            <a:ext cx="8341385" cy="2308324"/>
          </a:xfrm>
          <a:prstGeom prst="rect">
            <a:avLst/>
          </a:prstGeom>
        </p:spPr>
        <p:txBody>
          <a:bodyPr wrap="square">
            <a:spAutoFit/>
          </a:bodyPr>
          <a:lstStyle/>
          <a:p>
            <a:r>
              <a:rPr lang="zh-CN" altLang="en-US" sz="2400" b="1" dirty="0">
                <a:solidFill>
                  <a:srgbClr val="FF0000"/>
                </a:solidFill>
              </a:rPr>
              <a:t>优点：</a:t>
            </a:r>
            <a:r>
              <a:rPr lang="zh-CN" altLang="en-US" sz="2400" dirty="0"/>
              <a:t>设计简单、成本低、光通量大、信号 记录快、坚固耐用</a:t>
            </a:r>
            <a:r>
              <a:rPr lang="en-US" altLang="zh-CN" sz="2400" dirty="0"/>
              <a:t>; </a:t>
            </a:r>
            <a:r>
              <a:rPr lang="zh-CN" altLang="en-US" sz="2400" dirty="0"/>
              <a:t>且可根据需要在固定几个波长下进行测量</a:t>
            </a:r>
            <a:r>
              <a:rPr lang="en-US" altLang="zh-CN" sz="2400" dirty="0"/>
              <a:t>,</a:t>
            </a:r>
            <a:r>
              <a:rPr lang="zh-CN" altLang="en-US" sz="2400" dirty="0"/>
              <a:t>灵活方便。</a:t>
            </a:r>
            <a:endParaRPr lang="en-US" altLang="zh-CN" sz="2400" dirty="0"/>
          </a:p>
          <a:p>
            <a:r>
              <a:rPr lang="zh-CN" altLang="en-US" sz="2400" b="1" dirty="0">
                <a:solidFill>
                  <a:srgbClr val="FF0000"/>
                </a:solidFill>
              </a:rPr>
              <a:t>缺点：</a:t>
            </a:r>
            <a:r>
              <a:rPr lang="zh-CN" altLang="en-US" sz="2400" dirty="0"/>
              <a:t>单色光的带宽较宽</a:t>
            </a:r>
            <a:r>
              <a:rPr lang="en-US" altLang="zh-CN" sz="2400" dirty="0"/>
              <a:t>, </a:t>
            </a:r>
            <a:r>
              <a:rPr lang="zh-CN" altLang="en-US" sz="2400" dirty="0"/>
              <a:t>波长分辨率差</a:t>
            </a:r>
            <a:r>
              <a:rPr lang="en-US" altLang="zh-CN" sz="2400" dirty="0"/>
              <a:t>,</a:t>
            </a:r>
            <a:r>
              <a:rPr lang="zh-CN" altLang="en-US" sz="2400" dirty="0"/>
              <a:t>如遇样品基体或温湿变化较大</a:t>
            </a:r>
            <a:r>
              <a:rPr lang="en-US" altLang="zh-CN" sz="2400" dirty="0"/>
              <a:t>, </a:t>
            </a:r>
            <a:r>
              <a:rPr lang="zh-CN" altLang="en-US" sz="2400" dirty="0"/>
              <a:t>往往会引起较大的测量误差</a:t>
            </a:r>
            <a:r>
              <a:rPr lang="en-US" altLang="zh-CN" sz="2400" dirty="0"/>
              <a:t>, </a:t>
            </a:r>
            <a:r>
              <a:rPr lang="zh-CN" altLang="en-US" sz="2400" dirty="0"/>
              <a:t>需要完善的校正系统</a:t>
            </a:r>
            <a:r>
              <a:rPr lang="en-US" altLang="zh-CN" sz="2400" dirty="0"/>
              <a:t>, </a:t>
            </a:r>
            <a:r>
              <a:rPr lang="zh-CN" altLang="en-US" sz="2400" dirty="0"/>
              <a:t>且所选滤光片的波长也需通过扫描型仪器对样品的全谱扫描分析才能确定。</a:t>
            </a:r>
          </a:p>
        </p:txBody>
      </p:sp>
      <p:pic>
        <p:nvPicPr>
          <p:cNvPr id="17410"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flipV="1">
            <a:off x="-144139" y="4099912"/>
            <a:ext cx="12193588" cy="9245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6" name="矩形 25"/>
          <p:cNvSpPr/>
          <p:nvPr/>
        </p:nvSpPr>
        <p:spPr>
          <a:xfrm>
            <a:off x="3689995" y="4393026"/>
            <a:ext cx="8208165" cy="1200329"/>
          </a:xfrm>
          <a:prstGeom prst="rect">
            <a:avLst/>
          </a:prstGeom>
        </p:spPr>
        <p:txBody>
          <a:bodyPr wrap="square">
            <a:spAutoFit/>
          </a:bodyPr>
          <a:lstStyle/>
          <a:p>
            <a:r>
              <a:rPr lang="zh-CN" altLang="en-US" sz="2400" b="1" dirty="0">
                <a:solidFill>
                  <a:srgbClr val="FF0000"/>
                </a:solidFill>
              </a:rPr>
              <a:t>优点：</a:t>
            </a:r>
            <a:r>
              <a:rPr lang="zh-CN" altLang="en-US" sz="2400" dirty="0"/>
              <a:t>可进行全谱扫描</a:t>
            </a:r>
            <a:r>
              <a:rPr lang="en-US" altLang="zh-CN" sz="2400" dirty="0"/>
              <a:t>, </a:t>
            </a:r>
            <a:r>
              <a:rPr lang="zh-CN" altLang="en-US" sz="2400" dirty="0"/>
              <a:t>分辨率较高</a:t>
            </a:r>
            <a:r>
              <a:rPr lang="en-US" altLang="zh-CN" sz="2400" dirty="0"/>
              <a:t>, </a:t>
            </a:r>
            <a:r>
              <a:rPr lang="zh-CN" altLang="en-US" sz="2400" dirty="0"/>
              <a:t>仪器价位适中</a:t>
            </a:r>
            <a:r>
              <a:rPr lang="en-US" altLang="zh-CN" sz="2400" dirty="0"/>
              <a:t>, </a:t>
            </a:r>
            <a:r>
              <a:rPr lang="zh-CN" altLang="en-US" sz="2400" dirty="0"/>
              <a:t>便于</a:t>
            </a:r>
            <a:r>
              <a:rPr lang="zh-CN" altLang="en-US" sz="2400" dirty="0" smtClean="0"/>
              <a:t>维 护</a:t>
            </a:r>
            <a:r>
              <a:rPr lang="zh-CN" altLang="en-US" sz="2400" dirty="0"/>
              <a:t>。</a:t>
            </a:r>
            <a:endParaRPr lang="en-US" altLang="zh-CN" sz="2400" dirty="0"/>
          </a:p>
          <a:p>
            <a:r>
              <a:rPr lang="zh-CN" altLang="en-US" sz="2400" b="1" dirty="0">
                <a:solidFill>
                  <a:srgbClr val="FF0000"/>
                </a:solidFill>
              </a:rPr>
              <a:t>缺点：</a:t>
            </a:r>
            <a:r>
              <a:rPr lang="zh-CN" altLang="en-US" sz="2400" dirty="0"/>
              <a:t>扫描速度慢。</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0" y="6334579"/>
            <a:ext cx="12193588" cy="530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1266"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0" y="0"/>
            <a:ext cx="8686800" cy="914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矩形 3"/>
          <p:cNvSpPr/>
          <p:nvPr/>
        </p:nvSpPr>
        <p:spPr>
          <a:xfrm>
            <a:off x="0" y="0"/>
            <a:ext cx="5262979" cy="646331"/>
          </a:xfrm>
          <a:prstGeom prst="rect">
            <a:avLst/>
          </a:prstGeom>
        </p:spPr>
        <p:txBody>
          <a:bodyPr wrap="none">
            <a:spAutoFit/>
          </a:bodyPr>
          <a:lstStyle/>
          <a:p>
            <a:r>
              <a:rPr lang="zh-CN" altLang="en-US" sz="3600" b="1" dirty="0">
                <a:latin typeface="微软雅黑" panose="020B0503020204020204" pitchFamily="34" charset="-122"/>
                <a:ea typeface="微软雅黑" panose="020B0503020204020204" pitchFamily="34" charset="-122"/>
              </a:rPr>
              <a:t>二、近红外光谱仪的分类</a:t>
            </a:r>
          </a:p>
        </p:txBody>
      </p:sp>
      <p:grpSp>
        <p:nvGrpSpPr>
          <p:cNvPr id="5" name="组合 4"/>
          <p:cNvGrpSpPr/>
          <p:nvPr/>
        </p:nvGrpSpPr>
        <p:grpSpPr>
          <a:xfrm rot="5400000">
            <a:off x="1895369" y="273033"/>
            <a:ext cx="1074338" cy="3821723"/>
            <a:chOff x="6096000" y="-4571875"/>
            <a:chExt cx="2974030" cy="10579467"/>
          </a:xfrm>
          <a:solidFill>
            <a:schemeClr val="accent2">
              <a:lumMod val="20000"/>
              <a:lumOff val="80000"/>
            </a:schemeClr>
          </a:solidFill>
        </p:grpSpPr>
        <p:grpSp>
          <p:nvGrpSpPr>
            <p:cNvPr id="6" name="组合 5"/>
            <p:cNvGrpSpPr/>
            <p:nvPr/>
          </p:nvGrpSpPr>
          <p:grpSpPr>
            <a:xfrm>
              <a:off x="6096000" y="-4571875"/>
              <a:ext cx="2974030" cy="10579467"/>
              <a:chOff x="6096000" y="-4571875"/>
              <a:chExt cx="2974030" cy="10579467"/>
            </a:xfrm>
            <a:grpFill/>
          </p:grpSpPr>
          <p:sp>
            <p:nvSpPr>
              <p:cNvPr id="11" name="Freeform 74"/>
              <p:cNvSpPr/>
              <p:nvPr/>
            </p:nvSpPr>
            <p:spPr bwMode="auto">
              <a:xfrm>
                <a:off x="6096000" y="-4571875"/>
                <a:ext cx="2974030" cy="10579467"/>
              </a:xfrm>
              <a:custGeom>
                <a:avLst/>
                <a:gdLst>
                  <a:gd name="T0" fmla="*/ 0 w 296"/>
                  <a:gd name="T1" fmla="*/ 961 h 1062"/>
                  <a:gd name="T2" fmla="*/ 17 w 296"/>
                  <a:gd name="T3" fmla="*/ 991 h 1062"/>
                  <a:gd name="T4" fmla="*/ 130 w 296"/>
                  <a:gd name="T5" fmla="*/ 1056 h 1062"/>
                  <a:gd name="T6" fmla="*/ 165 w 296"/>
                  <a:gd name="T7" fmla="*/ 1056 h 1062"/>
                  <a:gd name="T8" fmla="*/ 279 w 296"/>
                  <a:gd name="T9" fmla="*/ 991 h 1062"/>
                  <a:gd name="T10" fmla="*/ 296 w 296"/>
                  <a:gd name="T11" fmla="*/ 961 h 1062"/>
                  <a:gd name="T12" fmla="*/ 296 w 296"/>
                  <a:gd name="T13" fmla="*/ 102 h 1062"/>
                  <a:gd name="T14" fmla="*/ 279 w 296"/>
                  <a:gd name="T15" fmla="*/ 72 h 1062"/>
                  <a:gd name="T16" fmla="*/ 165 w 296"/>
                  <a:gd name="T17" fmla="*/ 7 h 1062"/>
                  <a:gd name="T18" fmla="*/ 130 w 296"/>
                  <a:gd name="T19" fmla="*/ 7 h 1062"/>
                  <a:gd name="T20" fmla="*/ 17 w 296"/>
                  <a:gd name="T21" fmla="*/ 72 h 1062"/>
                  <a:gd name="T22" fmla="*/ 0 w 296"/>
                  <a:gd name="T23" fmla="*/ 102 h 1062"/>
                  <a:gd name="T24" fmla="*/ 0 w 296"/>
                  <a:gd name="T25" fmla="*/ 961 h 10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96" h="1062">
                    <a:moveTo>
                      <a:pt x="0" y="961"/>
                    </a:moveTo>
                    <a:cubicBezTo>
                      <a:pt x="0" y="973"/>
                      <a:pt x="6" y="984"/>
                      <a:pt x="17" y="991"/>
                    </a:cubicBezTo>
                    <a:cubicBezTo>
                      <a:pt x="130" y="1056"/>
                      <a:pt x="130" y="1056"/>
                      <a:pt x="130" y="1056"/>
                    </a:cubicBezTo>
                    <a:cubicBezTo>
                      <a:pt x="141" y="1062"/>
                      <a:pt x="154" y="1062"/>
                      <a:pt x="165" y="1056"/>
                    </a:cubicBezTo>
                    <a:cubicBezTo>
                      <a:pt x="279" y="991"/>
                      <a:pt x="279" y="991"/>
                      <a:pt x="279" y="991"/>
                    </a:cubicBezTo>
                    <a:cubicBezTo>
                      <a:pt x="289" y="984"/>
                      <a:pt x="296" y="973"/>
                      <a:pt x="296" y="961"/>
                    </a:cubicBezTo>
                    <a:cubicBezTo>
                      <a:pt x="296" y="102"/>
                      <a:pt x="296" y="102"/>
                      <a:pt x="296" y="102"/>
                    </a:cubicBezTo>
                    <a:cubicBezTo>
                      <a:pt x="296" y="90"/>
                      <a:pt x="289" y="78"/>
                      <a:pt x="279" y="72"/>
                    </a:cubicBezTo>
                    <a:cubicBezTo>
                      <a:pt x="165" y="7"/>
                      <a:pt x="165" y="7"/>
                      <a:pt x="165" y="7"/>
                    </a:cubicBezTo>
                    <a:cubicBezTo>
                      <a:pt x="154" y="0"/>
                      <a:pt x="141" y="0"/>
                      <a:pt x="130" y="7"/>
                    </a:cubicBezTo>
                    <a:cubicBezTo>
                      <a:pt x="17" y="72"/>
                      <a:pt x="17" y="72"/>
                      <a:pt x="17" y="72"/>
                    </a:cubicBezTo>
                    <a:cubicBezTo>
                      <a:pt x="6" y="78"/>
                      <a:pt x="0" y="90"/>
                      <a:pt x="0" y="102"/>
                    </a:cubicBezTo>
                    <a:cubicBezTo>
                      <a:pt x="0" y="961"/>
                      <a:pt x="0" y="961"/>
                      <a:pt x="0" y="961"/>
                    </a:cubicBezTo>
                  </a:path>
                </a:pathLst>
              </a:custGeom>
              <a:grpFill/>
              <a:ln>
                <a:noFill/>
              </a:ln>
              <a:effectLst>
                <a:outerShdw blurRad="152400" dist="63500" dir="8100000" algn="tr" rotWithShape="0">
                  <a:prstClr val="black">
                    <a:alpha val="35000"/>
                  </a:prstClr>
                </a:outerShdw>
              </a:effectLst>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 name="Freeform 76"/>
              <p:cNvSpPr/>
              <p:nvPr/>
            </p:nvSpPr>
            <p:spPr bwMode="auto">
              <a:xfrm flipH="1">
                <a:off x="7576705" y="-4512983"/>
                <a:ext cx="1493325" cy="10503749"/>
              </a:xfrm>
              <a:custGeom>
                <a:avLst/>
                <a:gdLst>
                  <a:gd name="T0" fmla="*/ 147 w 147"/>
                  <a:gd name="T1" fmla="*/ 0 h 1054"/>
                  <a:gd name="T2" fmla="*/ 2 w 147"/>
                  <a:gd name="T3" fmla="*/ 84 h 1054"/>
                  <a:gd name="T4" fmla="*/ 0 w 147"/>
                  <a:gd name="T5" fmla="*/ 96 h 1054"/>
                  <a:gd name="T6" fmla="*/ 0 w 147"/>
                  <a:gd name="T7" fmla="*/ 96 h 1054"/>
                  <a:gd name="T8" fmla="*/ 0 w 147"/>
                  <a:gd name="T9" fmla="*/ 96 h 1054"/>
                  <a:gd name="T10" fmla="*/ 0 w 147"/>
                  <a:gd name="T11" fmla="*/ 96 h 1054"/>
                  <a:gd name="T12" fmla="*/ 0 w 147"/>
                  <a:gd name="T13" fmla="*/ 955 h 1054"/>
                  <a:gd name="T14" fmla="*/ 17 w 147"/>
                  <a:gd name="T15" fmla="*/ 985 h 1054"/>
                  <a:gd name="T16" fmla="*/ 130 w 147"/>
                  <a:gd name="T17" fmla="*/ 1050 h 1054"/>
                  <a:gd name="T18" fmla="*/ 130 w 147"/>
                  <a:gd name="T19" fmla="*/ 1050 h 1054"/>
                  <a:gd name="T20" fmla="*/ 133 w 147"/>
                  <a:gd name="T21" fmla="*/ 1052 h 1054"/>
                  <a:gd name="T22" fmla="*/ 143 w 147"/>
                  <a:gd name="T23" fmla="*/ 1054 h 1054"/>
                  <a:gd name="T24" fmla="*/ 147 w 147"/>
                  <a:gd name="T25" fmla="*/ 1052 h 1054"/>
                  <a:gd name="T26" fmla="*/ 147 w 147"/>
                  <a:gd name="T27" fmla="*/ 0 h 10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7" h="1054">
                    <a:moveTo>
                      <a:pt x="147" y="0"/>
                    </a:moveTo>
                    <a:cubicBezTo>
                      <a:pt x="2" y="84"/>
                      <a:pt x="2" y="84"/>
                      <a:pt x="2" y="84"/>
                    </a:cubicBezTo>
                    <a:cubicBezTo>
                      <a:pt x="1" y="87"/>
                      <a:pt x="0" y="92"/>
                      <a:pt x="0" y="96"/>
                    </a:cubicBezTo>
                    <a:cubicBezTo>
                      <a:pt x="0" y="96"/>
                      <a:pt x="0" y="96"/>
                      <a:pt x="0" y="96"/>
                    </a:cubicBezTo>
                    <a:cubicBezTo>
                      <a:pt x="0" y="96"/>
                      <a:pt x="0" y="96"/>
                      <a:pt x="0" y="96"/>
                    </a:cubicBezTo>
                    <a:cubicBezTo>
                      <a:pt x="0" y="96"/>
                      <a:pt x="0" y="96"/>
                      <a:pt x="0" y="96"/>
                    </a:cubicBezTo>
                    <a:cubicBezTo>
                      <a:pt x="0" y="955"/>
                      <a:pt x="0" y="955"/>
                      <a:pt x="0" y="955"/>
                    </a:cubicBezTo>
                    <a:cubicBezTo>
                      <a:pt x="0" y="967"/>
                      <a:pt x="6" y="978"/>
                      <a:pt x="17" y="985"/>
                    </a:cubicBezTo>
                    <a:cubicBezTo>
                      <a:pt x="130" y="1050"/>
                      <a:pt x="130" y="1050"/>
                      <a:pt x="130" y="1050"/>
                    </a:cubicBezTo>
                    <a:cubicBezTo>
                      <a:pt x="130" y="1050"/>
                      <a:pt x="130" y="1050"/>
                      <a:pt x="130" y="1050"/>
                    </a:cubicBezTo>
                    <a:cubicBezTo>
                      <a:pt x="131" y="1051"/>
                      <a:pt x="132" y="1051"/>
                      <a:pt x="133" y="1052"/>
                    </a:cubicBezTo>
                    <a:cubicBezTo>
                      <a:pt x="137" y="1053"/>
                      <a:pt x="140" y="1054"/>
                      <a:pt x="143" y="1054"/>
                    </a:cubicBezTo>
                    <a:cubicBezTo>
                      <a:pt x="147" y="1052"/>
                      <a:pt x="147" y="1052"/>
                      <a:pt x="147" y="1052"/>
                    </a:cubicBezTo>
                    <a:cubicBezTo>
                      <a:pt x="147" y="0"/>
                      <a:pt x="147" y="0"/>
                      <a:pt x="147" y="0"/>
                    </a:cubicBezTo>
                  </a:path>
                </a:pathLst>
              </a:custGeom>
              <a:grp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7" name="组合 6"/>
            <p:cNvGrpSpPr/>
            <p:nvPr/>
          </p:nvGrpSpPr>
          <p:grpSpPr>
            <a:xfrm>
              <a:off x="6316564" y="2867025"/>
              <a:ext cx="2532903" cy="2877048"/>
              <a:chOff x="6310252" y="2867025"/>
              <a:chExt cx="2532903" cy="2877048"/>
            </a:xfrm>
            <a:grpFill/>
          </p:grpSpPr>
          <p:sp>
            <p:nvSpPr>
              <p:cNvPr id="8" name="Freeform 77"/>
              <p:cNvSpPr/>
              <p:nvPr/>
            </p:nvSpPr>
            <p:spPr bwMode="auto">
              <a:xfrm>
                <a:off x="6310252" y="2867025"/>
                <a:ext cx="2532903" cy="2877048"/>
              </a:xfrm>
              <a:custGeom>
                <a:avLst/>
                <a:gdLst>
                  <a:gd name="T0" fmla="*/ 0 w 231"/>
                  <a:gd name="T1" fmla="*/ 195 h 265"/>
                  <a:gd name="T2" fmla="*/ 4 w 231"/>
                  <a:gd name="T3" fmla="*/ 201 h 265"/>
                  <a:gd name="T4" fmla="*/ 112 w 231"/>
                  <a:gd name="T5" fmla="*/ 264 h 265"/>
                  <a:gd name="T6" fmla="*/ 120 w 231"/>
                  <a:gd name="T7" fmla="*/ 264 h 265"/>
                  <a:gd name="T8" fmla="*/ 227 w 231"/>
                  <a:gd name="T9" fmla="*/ 201 h 265"/>
                  <a:gd name="T10" fmla="*/ 231 w 231"/>
                  <a:gd name="T11" fmla="*/ 195 h 265"/>
                  <a:gd name="T12" fmla="*/ 231 w 231"/>
                  <a:gd name="T13" fmla="*/ 70 h 265"/>
                  <a:gd name="T14" fmla="*/ 227 w 231"/>
                  <a:gd name="T15" fmla="*/ 63 h 265"/>
                  <a:gd name="T16" fmla="*/ 120 w 231"/>
                  <a:gd name="T17" fmla="*/ 1 h 265"/>
                  <a:gd name="T18" fmla="*/ 112 w 231"/>
                  <a:gd name="T19" fmla="*/ 1 h 265"/>
                  <a:gd name="T20" fmla="*/ 4 w 231"/>
                  <a:gd name="T21" fmla="*/ 63 h 265"/>
                  <a:gd name="T22" fmla="*/ 0 w 231"/>
                  <a:gd name="T23" fmla="*/ 70 h 265"/>
                  <a:gd name="T24" fmla="*/ 0 w 231"/>
                  <a:gd name="T25" fmla="*/ 195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1" h="265">
                    <a:moveTo>
                      <a:pt x="0" y="195"/>
                    </a:moveTo>
                    <a:cubicBezTo>
                      <a:pt x="0" y="197"/>
                      <a:pt x="2" y="200"/>
                      <a:pt x="4" y="201"/>
                    </a:cubicBezTo>
                    <a:cubicBezTo>
                      <a:pt x="112" y="264"/>
                      <a:pt x="112" y="264"/>
                      <a:pt x="112" y="264"/>
                    </a:cubicBezTo>
                    <a:cubicBezTo>
                      <a:pt x="114" y="265"/>
                      <a:pt x="117" y="265"/>
                      <a:pt x="120" y="264"/>
                    </a:cubicBezTo>
                    <a:cubicBezTo>
                      <a:pt x="227" y="201"/>
                      <a:pt x="227" y="201"/>
                      <a:pt x="227" y="201"/>
                    </a:cubicBezTo>
                    <a:cubicBezTo>
                      <a:pt x="230" y="200"/>
                      <a:pt x="231" y="197"/>
                      <a:pt x="231" y="195"/>
                    </a:cubicBezTo>
                    <a:cubicBezTo>
                      <a:pt x="231" y="70"/>
                      <a:pt x="231" y="70"/>
                      <a:pt x="231" y="70"/>
                    </a:cubicBezTo>
                    <a:cubicBezTo>
                      <a:pt x="231" y="67"/>
                      <a:pt x="230" y="65"/>
                      <a:pt x="227" y="63"/>
                    </a:cubicBezTo>
                    <a:cubicBezTo>
                      <a:pt x="120" y="1"/>
                      <a:pt x="120" y="1"/>
                      <a:pt x="120" y="1"/>
                    </a:cubicBezTo>
                    <a:cubicBezTo>
                      <a:pt x="117" y="0"/>
                      <a:pt x="114" y="0"/>
                      <a:pt x="112" y="1"/>
                    </a:cubicBezTo>
                    <a:cubicBezTo>
                      <a:pt x="4" y="63"/>
                      <a:pt x="4" y="63"/>
                      <a:pt x="4" y="63"/>
                    </a:cubicBezTo>
                    <a:cubicBezTo>
                      <a:pt x="2" y="65"/>
                      <a:pt x="0" y="67"/>
                      <a:pt x="0" y="70"/>
                    </a:cubicBezTo>
                    <a:lnTo>
                      <a:pt x="0" y="195"/>
                    </a:lnTo>
                    <a:close/>
                  </a:path>
                </a:pathLst>
              </a:custGeom>
              <a:grpFill/>
              <a:ln>
                <a:noFill/>
              </a:ln>
              <a:effectLst>
                <a:outerShdw blurRad="101600" dist="50800" dir="8100000" sx="101000" sy="101000" algn="tr" rotWithShape="0">
                  <a:prstClr val="black">
                    <a:alpha val="24000"/>
                  </a:prstClr>
                </a:outerShdw>
              </a:effectLst>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 name="Freeform 77"/>
              <p:cNvSpPr/>
              <p:nvPr/>
            </p:nvSpPr>
            <p:spPr bwMode="auto">
              <a:xfrm>
                <a:off x="6415696" y="2986796"/>
                <a:ext cx="2322014" cy="2637506"/>
              </a:xfrm>
              <a:custGeom>
                <a:avLst/>
                <a:gdLst>
                  <a:gd name="T0" fmla="*/ 0 w 231"/>
                  <a:gd name="T1" fmla="*/ 195 h 265"/>
                  <a:gd name="T2" fmla="*/ 4 w 231"/>
                  <a:gd name="T3" fmla="*/ 201 h 265"/>
                  <a:gd name="T4" fmla="*/ 112 w 231"/>
                  <a:gd name="T5" fmla="*/ 264 h 265"/>
                  <a:gd name="T6" fmla="*/ 120 w 231"/>
                  <a:gd name="T7" fmla="*/ 264 h 265"/>
                  <a:gd name="T8" fmla="*/ 227 w 231"/>
                  <a:gd name="T9" fmla="*/ 201 h 265"/>
                  <a:gd name="T10" fmla="*/ 231 w 231"/>
                  <a:gd name="T11" fmla="*/ 195 h 265"/>
                  <a:gd name="T12" fmla="*/ 231 w 231"/>
                  <a:gd name="T13" fmla="*/ 70 h 265"/>
                  <a:gd name="T14" fmla="*/ 227 w 231"/>
                  <a:gd name="T15" fmla="*/ 63 h 265"/>
                  <a:gd name="T16" fmla="*/ 120 w 231"/>
                  <a:gd name="T17" fmla="*/ 1 h 265"/>
                  <a:gd name="T18" fmla="*/ 112 w 231"/>
                  <a:gd name="T19" fmla="*/ 1 h 265"/>
                  <a:gd name="T20" fmla="*/ 4 w 231"/>
                  <a:gd name="T21" fmla="*/ 63 h 265"/>
                  <a:gd name="T22" fmla="*/ 0 w 231"/>
                  <a:gd name="T23" fmla="*/ 70 h 265"/>
                  <a:gd name="T24" fmla="*/ 0 w 231"/>
                  <a:gd name="T25" fmla="*/ 195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1" h="265">
                    <a:moveTo>
                      <a:pt x="0" y="195"/>
                    </a:moveTo>
                    <a:cubicBezTo>
                      <a:pt x="0" y="197"/>
                      <a:pt x="2" y="200"/>
                      <a:pt x="4" y="201"/>
                    </a:cubicBezTo>
                    <a:cubicBezTo>
                      <a:pt x="112" y="264"/>
                      <a:pt x="112" y="264"/>
                      <a:pt x="112" y="264"/>
                    </a:cubicBezTo>
                    <a:cubicBezTo>
                      <a:pt x="114" y="265"/>
                      <a:pt x="117" y="265"/>
                      <a:pt x="120" y="264"/>
                    </a:cubicBezTo>
                    <a:cubicBezTo>
                      <a:pt x="227" y="201"/>
                      <a:pt x="227" y="201"/>
                      <a:pt x="227" y="201"/>
                    </a:cubicBezTo>
                    <a:cubicBezTo>
                      <a:pt x="230" y="200"/>
                      <a:pt x="231" y="197"/>
                      <a:pt x="231" y="195"/>
                    </a:cubicBezTo>
                    <a:cubicBezTo>
                      <a:pt x="231" y="70"/>
                      <a:pt x="231" y="70"/>
                      <a:pt x="231" y="70"/>
                    </a:cubicBezTo>
                    <a:cubicBezTo>
                      <a:pt x="231" y="67"/>
                      <a:pt x="230" y="65"/>
                      <a:pt x="227" y="63"/>
                    </a:cubicBezTo>
                    <a:cubicBezTo>
                      <a:pt x="120" y="1"/>
                      <a:pt x="120" y="1"/>
                      <a:pt x="120" y="1"/>
                    </a:cubicBezTo>
                    <a:cubicBezTo>
                      <a:pt x="117" y="0"/>
                      <a:pt x="114" y="0"/>
                      <a:pt x="112" y="1"/>
                    </a:cubicBezTo>
                    <a:cubicBezTo>
                      <a:pt x="4" y="63"/>
                      <a:pt x="4" y="63"/>
                      <a:pt x="4" y="63"/>
                    </a:cubicBezTo>
                    <a:cubicBezTo>
                      <a:pt x="2" y="65"/>
                      <a:pt x="0" y="67"/>
                      <a:pt x="0" y="70"/>
                    </a:cubicBezTo>
                    <a:lnTo>
                      <a:pt x="0" y="195"/>
                    </a:lnTo>
                    <a:close/>
                  </a:path>
                </a:pathLst>
              </a:custGeom>
              <a:grpFill/>
              <a:ln>
                <a:noFill/>
              </a:ln>
              <a:effectLst>
                <a:innerShdw blurRad="101600">
                  <a:prstClr val="black">
                    <a:alpha val="66000"/>
                  </a:prstClr>
                </a:innerShdw>
              </a:effectLst>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 name="Freeform 77"/>
              <p:cNvSpPr/>
              <p:nvPr/>
            </p:nvSpPr>
            <p:spPr bwMode="auto">
              <a:xfrm>
                <a:off x="6657540" y="3261500"/>
                <a:ext cx="1838326" cy="2088098"/>
              </a:xfrm>
              <a:custGeom>
                <a:avLst/>
                <a:gdLst>
                  <a:gd name="T0" fmla="*/ 0 w 231"/>
                  <a:gd name="T1" fmla="*/ 195 h 265"/>
                  <a:gd name="T2" fmla="*/ 4 w 231"/>
                  <a:gd name="T3" fmla="*/ 201 h 265"/>
                  <a:gd name="T4" fmla="*/ 112 w 231"/>
                  <a:gd name="T5" fmla="*/ 264 h 265"/>
                  <a:gd name="T6" fmla="*/ 120 w 231"/>
                  <a:gd name="T7" fmla="*/ 264 h 265"/>
                  <a:gd name="T8" fmla="*/ 227 w 231"/>
                  <a:gd name="T9" fmla="*/ 201 h 265"/>
                  <a:gd name="T10" fmla="*/ 231 w 231"/>
                  <a:gd name="T11" fmla="*/ 195 h 265"/>
                  <a:gd name="T12" fmla="*/ 231 w 231"/>
                  <a:gd name="T13" fmla="*/ 70 h 265"/>
                  <a:gd name="T14" fmla="*/ 227 w 231"/>
                  <a:gd name="T15" fmla="*/ 63 h 265"/>
                  <a:gd name="T16" fmla="*/ 120 w 231"/>
                  <a:gd name="T17" fmla="*/ 1 h 265"/>
                  <a:gd name="T18" fmla="*/ 112 w 231"/>
                  <a:gd name="T19" fmla="*/ 1 h 265"/>
                  <a:gd name="T20" fmla="*/ 4 w 231"/>
                  <a:gd name="T21" fmla="*/ 63 h 265"/>
                  <a:gd name="T22" fmla="*/ 0 w 231"/>
                  <a:gd name="T23" fmla="*/ 70 h 265"/>
                  <a:gd name="T24" fmla="*/ 0 w 231"/>
                  <a:gd name="T25" fmla="*/ 195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1" h="265">
                    <a:moveTo>
                      <a:pt x="0" y="195"/>
                    </a:moveTo>
                    <a:cubicBezTo>
                      <a:pt x="0" y="197"/>
                      <a:pt x="2" y="200"/>
                      <a:pt x="4" y="201"/>
                    </a:cubicBezTo>
                    <a:cubicBezTo>
                      <a:pt x="112" y="264"/>
                      <a:pt x="112" y="264"/>
                      <a:pt x="112" y="264"/>
                    </a:cubicBezTo>
                    <a:cubicBezTo>
                      <a:pt x="114" y="265"/>
                      <a:pt x="117" y="265"/>
                      <a:pt x="120" y="264"/>
                    </a:cubicBezTo>
                    <a:cubicBezTo>
                      <a:pt x="227" y="201"/>
                      <a:pt x="227" y="201"/>
                      <a:pt x="227" y="201"/>
                    </a:cubicBezTo>
                    <a:cubicBezTo>
                      <a:pt x="230" y="200"/>
                      <a:pt x="231" y="197"/>
                      <a:pt x="231" y="195"/>
                    </a:cubicBezTo>
                    <a:cubicBezTo>
                      <a:pt x="231" y="70"/>
                      <a:pt x="231" y="70"/>
                      <a:pt x="231" y="70"/>
                    </a:cubicBezTo>
                    <a:cubicBezTo>
                      <a:pt x="231" y="67"/>
                      <a:pt x="230" y="65"/>
                      <a:pt x="227" y="63"/>
                    </a:cubicBezTo>
                    <a:cubicBezTo>
                      <a:pt x="120" y="1"/>
                      <a:pt x="120" y="1"/>
                      <a:pt x="120" y="1"/>
                    </a:cubicBezTo>
                    <a:cubicBezTo>
                      <a:pt x="117" y="0"/>
                      <a:pt x="114" y="0"/>
                      <a:pt x="112" y="1"/>
                    </a:cubicBezTo>
                    <a:cubicBezTo>
                      <a:pt x="4" y="63"/>
                      <a:pt x="4" y="63"/>
                      <a:pt x="4" y="63"/>
                    </a:cubicBezTo>
                    <a:cubicBezTo>
                      <a:pt x="2" y="65"/>
                      <a:pt x="0" y="67"/>
                      <a:pt x="0" y="70"/>
                    </a:cubicBezTo>
                    <a:lnTo>
                      <a:pt x="0" y="195"/>
                    </a:lnTo>
                    <a:close/>
                  </a:path>
                </a:pathLst>
              </a:custGeom>
              <a:grpFill/>
              <a:ln>
                <a:noFill/>
              </a:ln>
              <a:effectLst>
                <a:outerShdw blurRad="88900" sx="102000" sy="102000" algn="ctr" rotWithShape="0">
                  <a:prstClr val="black">
                    <a:alpha val="33000"/>
                  </a:prstClr>
                </a:outerShdw>
              </a:effectLst>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13" name="组合 12"/>
          <p:cNvGrpSpPr/>
          <p:nvPr/>
        </p:nvGrpSpPr>
        <p:grpSpPr>
          <a:xfrm rot="5400000">
            <a:off x="1901446" y="2841076"/>
            <a:ext cx="1074338" cy="3821723"/>
            <a:chOff x="6096000" y="-4571875"/>
            <a:chExt cx="2974030" cy="10579467"/>
          </a:xfrm>
          <a:solidFill>
            <a:schemeClr val="accent2">
              <a:lumMod val="20000"/>
              <a:lumOff val="80000"/>
            </a:schemeClr>
          </a:solidFill>
        </p:grpSpPr>
        <p:grpSp>
          <p:nvGrpSpPr>
            <p:cNvPr id="14" name="组合 13"/>
            <p:cNvGrpSpPr/>
            <p:nvPr/>
          </p:nvGrpSpPr>
          <p:grpSpPr>
            <a:xfrm>
              <a:off x="6096000" y="-4571875"/>
              <a:ext cx="2974030" cy="10579467"/>
              <a:chOff x="6096000" y="-4571875"/>
              <a:chExt cx="2974030" cy="10579467"/>
            </a:xfrm>
            <a:grpFill/>
          </p:grpSpPr>
          <p:sp>
            <p:nvSpPr>
              <p:cNvPr id="19" name="Freeform 74"/>
              <p:cNvSpPr/>
              <p:nvPr/>
            </p:nvSpPr>
            <p:spPr bwMode="auto">
              <a:xfrm>
                <a:off x="6096000" y="-4571875"/>
                <a:ext cx="2974030" cy="10579467"/>
              </a:xfrm>
              <a:custGeom>
                <a:avLst/>
                <a:gdLst>
                  <a:gd name="T0" fmla="*/ 0 w 296"/>
                  <a:gd name="T1" fmla="*/ 961 h 1062"/>
                  <a:gd name="T2" fmla="*/ 17 w 296"/>
                  <a:gd name="T3" fmla="*/ 991 h 1062"/>
                  <a:gd name="T4" fmla="*/ 130 w 296"/>
                  <a:gd name="T5" fmla="*/ 1056 h 1062"/>
                  <a:gd name="T6" fmla="*/ 165 w 296"/>
                  <a:gd name="T7" fmla="*/ 1056 h 1062"/>
                  <a:gd name="T8" fmla="*/ 279 w 296"/>
                  <a:gd name="T9" fmla="*/ 991 h 1062"/>
                  <a:gd name="T10" fmla="*/ 296 w 296"/>
                  <a:gd name="T11" fmla="*/ 961 h 1062"/>
                  <a:gd name="T12" fmla="*/ 296 w 296"/>
                  <a:gd name="T13" fmla="*/ 102 h 1062"/>
                  <a:gd name="T14" fmla="*/ 279 w 296"/>
                  <a:gd name="T15" fmla="*/ 72 h 1062"/>
                  <a:gd name="T16" fmla="*/ 165 w 296"/>
                  <a:gd name="T17" fmla="*/ 7 h 1062"/>
                  <a:gd name="T18" fmla="*/ 130 w 296"/>
                  <a:gd name="T19" fmla="*/ 7 h 1062"/>
                  <a:gd name="T20" fmla="*/ 17 w 296"/>
                  <a:gd name="T21" fmla="*/ 72 h 1062"/>
                  <a:gd name="T22" fmla="*/ 0 w 296"/>
                  <a:gd name="T23" fmla="*/ 102 h 1062"/>
                  <a:gd name="T24" fmla="*/ 0 w 296"/>
                  <a:gd name="T25" fmla="*/ 961 h 10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96" h="1062">
                    <a:moveTo>
                      <a:pt x="0" y="961"/>
                    </a:moveTo>
                    <a:cubicBezTo>
                      <a:pt x="0" y="973"/>
                      <a:pt x="6" y="984"/>
                      <a:pt x="17" y="991"/>
                    </a:cubicBezTo>
                    <a:cubicBezTo>
                      <a:pt x="130" y="1056"/>
                      <a:pt x="130" y="1056"/>
                      <a:pt x="130" y="1056"/>
                    </a:cubicBezTo>
                    <a:cubicBezTo>
                      <a:pt x="141" y="1062"/>
                      <a:pt x="154" y="1062"/>
                      <a:pt x="165" y="1056"/>
                    </a:cubicBezTo>
                    <a:cubicBezTo>
                      <a:pt x="279" y="991"/>
                      <a:pt x="279" y="991"/>
                      <a:pt x="279" y="991"/>
                    </a:cubicBezTo>
                    <a:cubicBezTo>
                      <a:pt x="289" y="984"/>
                      <a:pt x="296" y="973"/>
                      <a:pt x="296" y="961"/>
                    </a:cubicBezTo>
                    <a:cubicBezTo>
                      <a:pt x="296" y="102"/>
                      <a:pt x="296" y="102"/>
                      <a:pt x="296" y="102"/>
                    </a:cubicBezTo>
                    <a:cubicBezTo>
                      <a:pt x="296" y="90"/>
                      <a:pt x="289" y="78"/>
                      <a:pt x="279" y="72"/>
                    </a:cubicBezTo>
                    <a:cubicBezTo>
                      <a:pt x="165" y="7"/>
                      <a:pt x="165" y="7"/>
                      <a:pt x="165" y="7"/>
                    </a:cubicBezTo>
                    <a:cubicBezTo>
                      <a:pt x="154" y="0"/>
                      <a:pt x="141" y="0"/>
                      <a:pt x="130" y="7"/>
                    </a:cubicBezTo>
                    <a:cubicBezTo>
                      <a:pt x="17" y="72"/>
                      <a:pt x="17" y="72"/>
                      <a:pt x="17" y="72"/>
                    </a:cubicBezTo>
                    <a:cubicBezTo>
                      <a:pt x="6" y="78"/>
                      <a:pt x="0" y="90"/>
                      <a:pt x="0" y="102"/>
                    </a:cubicBezTo>
                    <a:cubicBezTo>
                      <a:pt x="0" y="961"/>
                      <a:pt x="0" y="961"/>
                      <a:pt x="0" y="961"/>
                    </a:cubicBezTo>
                  </a:path>
                </a:pathLst>
              </a:custGeom>
              <a:grpFill/>
              <a:ln>
                <a:noFill/>
              </a:ln>
              <a:effectLst>
                <a:outerShdw blurRad="152400" dist="63500" dir="8100000" algn="tr" rotWithShape="0">
                  <a:prstClr val="black">
                    <a:alpha val="35000"/>
                  </a:prstClr>
                </a:outerShdw>
              </a:effectLst>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 name="Freeform 76"/>
              <p:cNvSpPr/>
              <p:nvPr/>
            </p:nvSpPr>
            <p:spPr bwMode="auto">
              <a:xfrm flipH="1">
                <a:off x="7576705" y="-4512983"/>
                <a:ext cx="1493325" cy="10503749"/>
              </a:xfrm>
              <a:custGeom>
                <a:avLst/>
                <a:gdLst>
                  <a:gd name="T0" fmla="*/ 147 w 147"/>
                  <a:gd name="T1" fmla="*/ 0 h 1054"/>
                  <a:gd name="T2" fmla="*/ 2 w 147"/>
                  <a:gd name="T3" fmla="*/ 84 h 1054"/>
                  <a:gd name="T4" fmla="*/ 0 w 147"/>
                  <a:gd name="T5" fmla="*/ 96 h 1054"/>
                  <a:gd name="T6" fmla="*/ 0 w 147"/>
                  <a:gd name="T7" fmla="*/ 96 h 1054"/>
                  <a:gd name="T8" fmla="*/ 0 w 147"/>
                  <a:gd name="T9" fmla="*/ 96 h 1054"/>
                  <a:gd name="T10" fmla="*/ 0 w 147"/>
                  <a:gd name="T11" fmla="*/ 96 h 1054"/>
                  <a:gd name="T12" fmla="*/ 0 w 147"/>
                  <a:gd name="T13" fmla="*/ 955 h 1054"/>
                  <a:gd name="T14" fmla="*/ 17 w 147"/>
                  <a:gd name="T15" fmla="*/ 985 h 1054"/>
                  <a:gd name="T16" fmla="*/ 130 w 147"/>
                  <a:gd name="T17" fmla="*/ 1050 h 1054"/>
                  <a:gd name="T18" fmla="*/ 130 w 147"/>
                  <a:gd name="T19" fmla="*/ 1050 h 1054"/>
                  <a:gd name="T20" fmla="*/ 133 w 147"/>
                  <a:gd name="T21" fmla="*/ 1052 h 1054"/>
                  <a:gd name="T22" fmla="*/ 143 w 147"/>
                  <a:gd name="T23" fmla="*/ 1054 h 1054"/>
                  <a:gd name="T24" fmla="*/ 147 w 147"/>
                  <a:gd name="T25" fmla="*/ 1052 h 1054"/>
                  <a:gd name="T26" fmla="*/ 147 w 147"/>
                  <a:gd name="T27" fmla="*/ 0 h 10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7" h="1054">
                    <a:moveTo>
                      <a:pt x="147" y="0"/>
                    </a:moveTo>
                    <a:cubicBezTo>
                      <a:pt x="2" y="84"/>
                      <a:pt x="2" y="84"/>
                      <a:pt x="2" y="84"/>
                    </a:cubicBezTo>
                    <a:cubicBezTo>
                      <a:pt x="1" y="87"/>
                      <a:pt x="0" y="92"/>
                      <a:pt x="0" y="96"/>
                    </a:cubicBezTo>
                    <a:cubicBezTo>
                      <a:pt x="0" y="96"/>
                      <a:pt x="0" y="96"/>
                      <a:pt x="0" y="96"/>
                    </a:cubicBezTo>
                    <a:cubicBezTo>
                      <a:pt x="0" y="96"/>
                      <a:pt x="0" y="96"/>
                      <a:pt x="0" y="96"/>
                    </a:cubicBezTo>
                    <a:cubicBezTo>
                      <a:pt x="0" y="96"/>
                      <a:pt x="0" y="96"/>
                      <a:pt x="0" y="96"/>
                    </a:cubicBezTo>
                    <a:cubicBezTo>
                      <a:pt x="0" y="955"/>
                      <a:pt x="0" y="955"/>
                      <a:pt x="0" y="955"/>
                    </a:cubicBezTo>
                    <a:cubicBezTo>
                      <a:pt x="0" y="967"/>
                      <a:pt x="6" y="978"/>
                      <a:pt x="17" y="985"/>
                    </a:cubicBezTo>
                    <a:cubicBezTo>
                      <a:pt x="130" y="1050"/>
                      <a:pt x="130" y="1050"/>
                      <a:pt x="130" y="1050"/>
                    </a:cubicBezTo>
                    <a:cubicBezTo>
                      <a:pt x="130" y="1050"/>
                      <a:pt x="130" y="1050"/>
                      <a:pt x="130" y="1050"/>
                    </a:cubicBezTo>
                    <a:cubicBezTo>
                      <a:pt x="131" y="1051"/>
                      <a:pt x="132" y="1051"/>
                      <a:pt x="133" y="1052"/>
                    </a:cubicBezTo>
                    <a:cubicBezTo>
                      <a:pt x="137" y="1053"/>
                      <a:pt x="140" y="1054"/>
                      <a:pt x="143" y="1054"/>
                    </a:cubicBezTo>
                    <a:cubicBezTo>
                      <a:pt x="147" y="1052"/>
                      <a:pt x="147" y="1052"/>
                      <a:pt x="147" y="1052"/>
                    </a:cubicBezTo>
                    <a:cubicBezTo>
                      <a:pt x="147" y="0"/>
                      <a:pt x="147" y="0"/>
                      <a:pt x="147" y="0"/>
                    </a:cubicBezTo>
                  </a:path>
                </a:pathLst>
              </a:custGeom>
              <a:grp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15" name="组合 14"/>
            <p:cNvGrpSpPr/>
            <p:nvPr/>
          </p:nvGrpSpPr>
          <p:grpSpPr>
            <a:xfrm>
              <a:off x="6316564" y="2867025"/>
              <a:ext cx="2532903" cy="2877048"/>
              <a:chOff x="6310252" y="2867025"/>
              <a:chExt cx="2532903" cy="2877048"/>
            </a:xfrm>
            <a:grpFill/>
          </p:grpSpPr>
          <p:sp>
            <p:nvSpPr>
              <p:cNvPr id="16" name="Freeform 77"/>
              <p:cNvSpPr/>
              <p:nvPr/>
            </p:nvSpPr>
            <p:spPr bwMode="auto">
              <a:xfrm>
                <a:off x="6310252" y="2867025"/>
                <a:ext cx="2532903" cy="2877048"/>
              </a:xfrm>
              <a:custGeom>
                <a:avLst/>
                <a:gdLst>
                  <a:gd name="T0" fmla="*/ 0 w 231"/>
                  <a:gd name="T1" fmla="*/ 195 h 265"/>
                  <a:gd name="T2" fmla="*/ 4 w 231"/>
                  <a:gd name="T3" fmla="*/ 201 h 265"/>
                  <a:gd name="T4" fmla="*/ 112 w 231"/>
                  <a:gd name="T5" fmla="*/ 264 h 265"/>
                  <a:gd name="T6" fmla="*/ 120 w 231"/>
                  <a:gd name="T7" fmla="*/ 264 h 265"/>
                  <a:gd name="T8" fmla="*/ 227 w 231"/>
                  <a:gd name="T9" fmla="*/ 201 h 265"/>
                  <a:gd name="T10" fmla="*/ 231 w 231"/>
                  <a:gd name="T11" fmla="*/ 195 h 265"/>
                  <a:gd name="T12" fmla="*/ 231 w 231"/>
                  <a:gd name="T13" fmla="*/ 70 h 265"/>
                  <a:gd name="T14" fmla="*/ 227 w 231"/>
                  <a:gd name="T15" fmla="*/ 63 h 265"/>
                  <a:gd name="T16" fmla="*/ 120 w 231"/>
                  <a:gd name="T17" fmla="*/ 1 h 265"/>
                  <a:gd name="T18" fmla="*/ 112 w 231"/>
                  <a:gd name="T19" fmla="*/ 1 h 265"/>
                  <a:gd name="T20" fmla="*/ 4 w 231"/>
                  <a:gd name="T21" fmla="*/ 63 h 265"/>
                  <a:gd name="T22" fmla="*/ 0 w 231"/>
                  <a:gd name="T23" fmla="*/ 70 h 265"/>
                  <a:gd name="T24" fmla="*/ 0 w 231"/>
                  <a:gd name="T25" fmla="*/ 195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1" h="265">
                    <a:moveTo>
                      <a:pt x="0" y="195"/>
                    </a:moveTo>
                    <a:cubicBezTo>
                      <a:pt x="0" y="197"/>
                      <a:pt x="2" y="200"/>
                      <a:pt x="4" y="201"/>
                    </a:cubicBezTo>
                    <a:cubicBezTo>
                      <a:pt x="112" y="264"/>
                      <a:pt x="112" y="264"/>
                      <a:pt x="112" y="264"/>
                    </a:cubicBezTo>
                    <a:cubicBezTo>
                      <a:pt x="114" y="265"/>
                      <a:pt x="117" y="265"/>
                      <a:pt x="120" y="264"/>
                    </a:cubicBezTo>
                    <a:cubicBezTo>
                      <a:pt x="227" y="201"/>
                      <a:pt x="227" y="201"/>
                      <a:pt x="227" y="201"/>
                    </a:cubicBezTo>
                    <a:cubicBezTo>
                      <a:pt x="230" y="200"/>
                      <a:pt x="231" y="197"/>
                      <a:pt x="231" y="195"/>
                    </a:cubicBezTo>
                    <a:cubicBezTo>
                      <a:pt x="231" y="70"/>
                      <a:pt x="231" y="70"/>
                      <a:pt x="231" y="70"/>
                    </a:cubicBezTo>
                    <a:cubicBezTo>
                      <a:pt x="231" y="67"/>
                      <a:pt x="230" y="65"/>
                      <a:pt x="227" y="63"/>
                    </a:cubicBezTo>
                    <a:cubicBezTo>
                      <a:pt x="120" y="1"/>
                      <a:pt x="120" y="1"/>
                      <a:pt x="120" y="1"/>
                    </a:cubicBezTo>
                    <a:cubicBezTo>
                      <a:pt x="117" y="0"/>
                      <a:pt x="114" y="0"/>
                      <a:pt x="112" y="1"/>
                    </a:cubicBezTo>
                    <a:cubicBezTo>
                      <a:pt x="4" y="63"/>
                      <a:pt x="4" y="63"/>
                      <a:pt x="4" y="63"/>
                    </a:cubicBezTo>
                    <a:cubicBezTo>
                      <a:pt x="2" y="65"/>
                      <a:pt x="0" y="67"/>
                      <a:pt x="0" y="70"/>
                    </a:cubicBezTo>
                    <a:lnTo>
                      <a:pt x="0" y="195"/>
                    </a:lnTo>
                    <a:close/>
                  </a:path>
                </a:pathLst>
              </a:custGeom>
              <a:grpFill/>
              <a:ln>
                <a:noFill/>
              </a:ln>
              <a:effectLst>
                <a:outerShdw blurRad="101600" dist="50800" dir="8100000" sx="101000" sy="101000" algn="tr" rotWithShape="0">
                  <a:prstClr val="black">
                    <a:alpha val="24000"/>
                  </a:prstClr>
                </a:outerShdw>
              </a:effectLst>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 name="Freeform 77"/>
              <p:cNvSpPr/>
              <p:nvPr/>
            </p:nvSpPr>
            <p:spPr bwMode="auto">
              <a:xfrm>
                <a:off x="6415696" y="2986796"/>
                <a:ext cx="2322014" cy="2637506"/>
              </a:xfrm>
              <a:custGeom>
                <a:avLst/>
                <a:gdLst>
                  <a:gd name="T0" fmla="*/ 0 w 231"/>
                  <a:gd name="T1" fmla="*/ 195 h 265"/>
                  <a:gd name="T2" fmla="*/ 4 w 231"/>
                  <a:gd name="T3" fmla="*/ 201 h 265"/>
                  <a:gd name="T4" fmla="*/ 112 w 231"/>
                  <a:gd name="T5" fmla="*/ 264 h 265"/>
                  <a:gd name="T6" fmla="*/ 120 w 231"/>
                  <a:gd name="T7" fmla="*/ 264 h 265"/>
                  <a:gd name="T8" fmla="*/ 227 w 231"/>
                  <a:gd name="T9" fmla="*/ 201 h 265"/>
                  <a:gd name="T10" fmla="*/ 231 w 231"/>
                  <a:gd name="T11" fmla="*/ 195 h 265"/>
                  <a:gd name="T12" fmla="*/ 231 w 231"/>
                  <a:gd name="T13" fmla="*/ 70 h 265"/>
                  <a:gd name="T14" fmla="*/ 227 w 231"/>
                  <a:gd name="T15" fmla="*/ 63 h 265"/>
                  <a:gd name="T16" fmla="*/ 120 w 231"/>
                  <a:gd name="T17" fmla="*/ 1 h 265"/>
                  <a:gd name="T18" fmla="*/ 112 w 231"/>
                  <a:gd name="T19" fmla="*/ 1 h 265"/>
                  <a:gd name="T20" fmla="*/ 4 w 231"/>
                  <a:gd name="T21" fmla="*/ 63 h 265"/>
                  <a:gd name="T22" fmla="*/ 0 w 231"/>
                  <a:gd name="T23" fmla="*/ 70 h 265"/>
                  <a:gd name="T24" fmla="*/ 0 w 231"/>
                  <a:gd name="T25" fmla="*/ 195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1" h="265">
                    <a:moveTo>
                      <a:pt x="0" y="195"/>
                    </a:moveTo>
                    <a:cubicBezTo>
                      <a:pt x="0" y="197"/>
                      <a:pt x="2" y="200"/>
                      <a:pt x="4" y="201"/>
                    </a:cubicBezTo>
                    <a:cubicBezTo>
                      <a:pt x="112" y="264"/>
                      <a:pt x="112" y="264"/>
                      <a:pt x="112" y="264"/>
                    </a:cubicBezTo>
                    <a:cubicBezTo>
                      <a:pt x="114" y="265"/>
                      <a:pt x="117" y="265"/>
                      <a:pt x="120" y="264"/>
                    </a:cubicBezTo>
                    <a:cubicBezTo>
                      <a:pt x="227" y="201"/>
                      <a:pt x="227" y="201"/>
                      <a:pt x="227" y="201"/>
                    </a:cubicBezTo>
                    <a:cubicBezTo>
                      <a:pt x="230" y="200"/>
                      <a:pt x="231" y="197"/>
                      <a:pt x="231" y="195"/>
                    </a:cubicBezTo>
                    <a:cubicBezTo>
                      <a:pt x="231" y="70"/>
                      <a:pt x="231" y="70"/>
                      <a:pt x="231" y="70"/>
                    </a:cubicBezTo>
                    <a:cubicBezTo>
                      <a:pt x="231" y="67"/>
                      <a:pt x="230" y="65"/>
                      <a:pt x="227" y="63"/>
                    </a:cubicBezTo>
                    <a:cubicBezTo>
                      <a:pt x="120" y="1"/>
                      <a:pt x="120" y="1"/>
                      <a:pt x="120" y="1"/>
                    </a:cubicBezTo>
                    <a:cubicBezTo>
                      <a:pt x="117" y="0"/>
                      <a:pt x="114" y="0"/>
                      <a:pt x="112" y="1"/>
                    </a:cubicBezTo>
                    <a:cubicBezTo>
                      <a:pt x="4" y="63"/>
                      <a:pt x="4" y="63"/>
                      <a:pt x="4" y="63"/>
                    </a:cubicBezTo>
                    <a:cubicBezTo>
                      <a:pt x="2" y="65"/>
                      <a:pt x="0" y="67"/>
                      <a:pt x="0" y="70"/>
                    </a:cubicBezTo>
                    <a:lnTo>
                      <a:pt x="0" y="195"/>
                    </a:lnTo>
                    <a:close/>
                  </a:path>
                </a:pathLst>
              </a:custGeom>
              <a:grpFill/>
              <a:ln>
                <a:noFill/>
              </a:ln>
              <a:effectLst>
                <a:innerShdw blurRad="101600">
                  <a:prstClr val="black">
                    <a:alpha val="66000"/>
                  </a:prstClr>
                </a:innerShdw>
              </a:effectLst>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 name="Freeform 77"/>
              <p:cNvSpPr/>
              <p:nvPr/>
            </p:nvSpPr>
            <p:spPr bwMode="auto">
              <a:xfrm>
                <a:off x="6657540" y="3261500"/>
                <a:ext cx="1838326" cy="2088098"/>
              </a:xfrm>
              <a:custGeom>
                <a:avLst/>
                <a:gdLst>
                  <a:gd name="T0" fmla="*/ 0 w 231"/>
                  <a:gd name="T1" fmla="*/ 195 h 265"/>
                  <a:gd name="T2" fmla="*/ 4 w 231"/>
                  <a:gd name="T3" fmla="*/ 201 h 265"/>
                  <a:gd name="T4" fmla="*/ 112 w 231"/>
                  <a:gd name="T5" fmla="*/ 264 h 265"/>
                  <a:gd name="T6" fmla="*/ 120 w 231"/>
                  <a:gd name="T7" fmla="*/ 264 h 265"/>
                  <a:gd name="T8" fmla="*/ 227 w 231"/>
                  <a:gd name="T9" fmla="*/ 201 h 265"/>
                  <a:gd name="T10" fmla="*/ 231 w 231"/>
                  <a:gd name="T11" fmla="*/ 195 h 265"/>
                  <a:gd name="T12" fmla="*/ 231 w 231"/>
                  <a:gd name="T13" fmla="*/ 70 h 265"/>
                  <a:gd name="T14" fmla="*/ 227 w 231"/>
                  <a:gd name="T15" fmla="*/ 63 h 265"/>
                  <a:gd name="T16" fmla="*/ 120 w 231"/>
                  <a:gd name="T17" fmla="*/ 1 h 265"/>
                  <a:gd name="T18" fmla="*/ 112 w 231"/>
                  <a:gd name="T19" fmla="*/ 1 h 265"/>
                  <a:gd name="T20" fmla="*/ 4 w 231"/>
                  <a:gd name="T21" fmla="*/ 63 h 265"/>
                  <a:gd name="T22" fmla="*/ 0 w 231"/>
                  <a:gd name="T23" fmla="*/ 70 h 265"/>
                  <a:gd name="T24" fmla="*/ 0 w 231"/>
                  <a:gd name="T25" fmla="*/ 195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1" h="265">
                    <a:moveTo>
                      <a:pt x="0" y="195"/>
                    </a:moveTo>
                    <a:cubicBezTo>
                      <a:pt x="0" y="197"/>
                      <a:pt x="2" y="200"/>
                      <a:pt x="4" y="201"/>
                    </a:cubicBezTo>
                    <a:cubicBezTo>
                      <a:pt x="112" y="264"/>
                      <a:pt x="112" y="264"/>
                      <a:pt x="112" y="264"/>
                    </a:cubicBezTo>
                    <a:cubicBezTo>
                      <a:pt x="114" y="265"/>
                      <a:pt x="117" y="265"/>
                      <a:pt x="120" y="264"/>
                    </a:cubicBezTo>
                    <a:cubicBezTo>
                      <a:pt x="227" y="201"/>
                      <a:pt x="227" y="201"/>
                      <a:pt x="227" y="201"/>
                    </a:cubicBezTo>
                    <a:cubicBezTo>
                      <a:pt x="230" y="200"/>
                      <a:pt x="231" y="197"/>
                      <a:pt x="231" y="195"/>
                    </a:cubicBezTo>
                    <a:cubicBezTo>
                      <a:pt x="231" y="70"/>
                      <a:pt x="231" y="70"/>
                      <a:pt x="231" y="70"/>
                    </a:cubicBezTo>
                    <a:cubicBezTo>
                      <a:pt x="231" y="67"/>
                      <a:pt x="230" y="65"/>
                      <a:pt x="227" y="63"/>
                    </a:cubicBezTo>
                    <a:cubicBezTo>
                      <a:pt x="120" y="1"/>
                      <a:pt x="120" y="1"/>
                      <a:pt x="120" y="1"/>
                    </a:cubicBezTo>
                    <a:cubicBezTo>
                      <a:pt x="117" y="0"/>
                      <a:pt x="114" y="0"/>
                      <a:pt x="112" y="1"/>
                    </a:cubicBezTo>
                    <a:cubicBezTo>
                      <a:pt x="4" y="63"/>
                      <a:pt x="4" y="63"/>
                      <a:pt x="4" y="63"/>
                    </a:cubicBezTo>
                    <a:cubicBezTo>
                      <a:pt x="2" y="65"/>
                      <a:pt x="0" y="67"/>
                      <a:pt x="0" y="70"/>
                    </a:cubicBezTo>
                    <a:lnTo>
                      <a:pt x="0" y="195"/>
                    </a:lnTo>
                    <a:close/>
                  </a:path>
                </a:pathLst>
              </a:custGeom>
              <a:grpFill/>
              <a:ln>
                <a:noFill/>
              </a:ln>
              <a:effectLst>
                <a:outerShdw blurRad="88900" sx="102000" sy="102000" algn="ctr" rotWithShape="0">
                  <a:prstClr val="black">
                    <a:alpha val="33000"/>
                  </a:prstClr>
                </a:outerShdw>
              </a:effectLst>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pic>
        <p:nvPicPr>
          <p:cNvPr id="21" name="图片 20"/>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934550" y="1871682"/>
            <a:ext cx="407157" cy="575617"/>
          </a:xfrm>
          <a:prstGeom prst="rect">
            <a:avLst/>
          </a:prstGeom>
        </p:spPr>
      </p:pic>
      <p:grpSp>
        <p:nvGrpSpPr>
          <p:cNvPr id="22" name="组合 21"/>
          <p:cNvGrpSpPr/>
          <p:nvPr/>
        </p:nvGrpSpPr>
        <p:grpSpPr>
          <a:xfrm>
            <a:off x="880307" y="4460501"/>
            <a:ext cx="535718" cy="578313"/>
            <a:chOff x="4110037" y="3798888"/>
            <a:chExt cx="1038225" cy="1120777"/>
          </a:xfrm>
          <a:solidFill>
            <a:srgbClr val="FF0000"/>
          </a:solidFill>
        </p:grpSpPr>
        <p:sp>
          <p:nvSpPr>
            <p:cNvPr id="23" name="Freeform 41"/>
            <p:cNvSpPr>
              <a:spLocks noEditPoints="1"/>
            </p:cNvSpPr>
            <p:nvPr/>
          </p:nvSpPr>
          <p:spPr bwMode="auto">
            <a:xfrm>
              <a:off x="4110037" y="4000502"/>
              <a:ext cx="1038225" cy="919163"/>
            </a:xfrm>
            <a:custGeom>
              <a:avLst/>
              <a:gdLst>
                <a:gd name="T0" fmla="*/ 111 w 277"/>
                <a:gd name="T1" fmla="*/ 19 h 245"/>
                <a:gd name="T2" fmla="*/ 72 w 277"/>
                <a:gd name="T3" fmla="*/ 58 h 245"/>
                <a:gd name="T4" fmla="*/ 139 w 277"/>
                <a:gd name="T5" fmla="*/ 42 h 245"/>
                <a:gd name="T6" fmla="*/ 197 w 277"/>
                <a:gd name="T7" fmla="*/ 72 h 245"/>
                <a:gd name="T8" fmla="*/ 176 w 277"/>
                <a:gd name="T9" fmla="*/ 26 h 245"/>
                <a:gd name="T10" fmla="*/ 223 w 277"/>
                <a:gd name="T11" fmla="*/ 17 h 245"/>
                <a:gd name="T12" fmla="*/ 270 w 277"/>
                <a:gd name="T13" fmla="*/ 94 h 245"/>
                <a:gd name="T14" fmla="*/ 9 w 277"/>
                <a:gd name="T15" fmla="*/ 91 h 245"/>
                <a:gd name="T16" fmla="*/ 86 w 277"/>
                <a:gd name="T17" fmla="*/ 3 h 245"/>
                <a:gd name="T18" fmla="*/ 111 w 277"/>
                <a:gd name="T19" fmla="*/ 19 h 245"/>
                <a:gd name="T20" fmla="*/ 29 w 277"/>
                <a:gd name="T21" fmla="*/ 86 h 245"/>
                <a:gd name="T22" fmla="*/ 41 w 277"/>
                <a:gd name="T23" fmla="*/ 96 h 245"/>
                <a:gd name="T24" fmla="*/ 37 w 277"/>
                <a:gd name="T25" fmla="*/ 68 h 245"/>
                <a:gd name="T26" fmla="*/ 29 w 277"/>
                <a:gd name="T27" fmla="*/ 86 h 245"/>
                <a:gd name="T28" fmla="*/ 34 w 277"/>
                <a:gd name="T29" fmla="*/ 114 h 245"/>
                <a:gd name="T30" fmla="*/ 27 w 277"/>
                <a:gd name="T31" fmla="*/ 94 h 245"/>
                <a:gd name="T32" fmla="*/ 34 w 277"/>
                <a:gd name="T33" fmla="*/ 114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7" h="245">
                  <a:moveTo>
                    <a:pt x="111" y="19"/>
                  </a:moveTo>
                  <a:cubicBezTo>
                    <a:pt x="102" y="36"/>
                    <a:pt x="82" y="42"/>
                    <a:pt x="72" y="58"/>
                  </a:cubicBezTo>
                  <a:cubicBezTo>
                    <a:pt x="97" y="67"/>
                    <a:pt x="117" y="40"/>
                    <a:pt x="139" y="42"/>
                  </a:cubicBezTo>
                  <a:cubicBezTo>
                    <a:pt x="162" y="44"/>
                    <a:pt x="171" y="71"/>
                    <a:pt x="197" y="72"/>
                  </a:cubicBezTo>
                  <a:cubicBezTo>
                    <a:pt x="195" y="58"/>
                    <a:pt x="181" y="42"/>
                    <a:pt x="176" y="26"/>
                  </a:cubicBezTo>
                  <a:cubicBezTo>
                    <a:pt x="193" y="24"/>
                    <a:pt x="203" y="13"/>
                    <a:pt x="223" y="17"/>
                  </a:cubicBezTo>
                  <a:cubicBezTo>
                    <a:pt x="247" y="23"/>
                    <a:pt x="269" y="66"/>
                    <a:pt x="270" y="94"/>
                  </a:cubicBezTo>
                  <a:cubicBezTo>
                    <a:pt x="277" y="245"/>
                    <a:pt x="0" y="241"/>
                    <a:pt x="9" y="91"/>
                  </a:cubicBezTo>
                  <a:cubicBezTo>
                    <a:pt x="13" y="40"/>
                    <a:pt x="42" y="19"/>
                    <a:pt x="86" y="3"/>
                  </a:cubicBezTo>
                  <a:cubicBezTo>
                    <a:pt x="96" y="0"/>
                    <a:pt x="98" y="13"/>
                    <a:pt x="111" y="19"/>
                  </a:cubicBezTo>
                  <a:close/>
                  <a:moveTo>
                    <a:pt x="29" y="86"/>
                  </a:moveTo>
                  <a:cubicBezTo>
                    <a:pt x="33" y="89"/>
                    <a:pt x="34" y="95"/>
                    <a:pt x="41" y="96"/>
                  </a:cubicBezTo>
                  <a:cubicBezTo>
                    <a:pt x="48" y="87"/>
                    <a:pt x="50" y="73"/>
                    <a:pt x="37" y="68"/>
                  </a:cubicBezTo>
                  <a:cubicBezTo>
                    <a:pt x="35" y="74"/>
                    <a:pt x="30" y="78"/>
                    <a:pt x="29" y="86"/>
                  </a:cubicBezTo>
                  <a:close/>
                  <a:moveTo>
                    <a:pt x="34" y="114"/>
                  </a:moveTo>
                  <a:cubicBezTo>
                    <a:pt x="41" y="105"/>
                    <a:pt x="33" y="98"/>
                    <a:pt x="27" y="94"/>
                  </a:cubicBezTo>
                  <a:cubicBezTo>
                    <a:pt x="27" y="103"/>
                    <a:pt x="27" y="112"/>
                    <a:pt x="34" y="114"/>
                  </a:cubicBezTo>
                  <a:close/>
                </a:path>
              </a:pathLst>
            </a:custGeom>
            <a:grp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 name="Freeform 42"/>
            <p:cNvSpPr/>
            <p:nvPr/>
          </p:nvSpPr>
          <p:spPr bwMode="auto">
            <a:xfrm>
              <a:off x="4217988" y="4256088"/>
              <a:ext cx="79375" cy="104775"/>
            </a:xfrm>
            <a:custGeom>
              <a:avLst/>
              <a:gdLst>
                <a:gd name="T0" fmla="*/ 8 w 21"/>
                <a:gd name="T1" fmla="*/ 0 h 28"/>
                <a:gd name="T2" fmla="*/ 12 w 21"/>
                <a:gd name="T3" fmla="*/ 28 h 28"/>
                <a:gd name="T4" fmla="*/ 0 w 21"/>
                <a:gd name="T5" fmla="*/ 18 h 28"/>
                <a:gd name="T6" fmla="*/ 8 w 21"/>
                <a:gd name="T7" fmla="*/ 0 h 28"/>
              </a:gdLst>
              <a:ahLst/>
              <a:cxnLst>
                <a:cxn ang="0">
                  <a:pos x="T0" y="T1"/>
                </a:cxn>
                <a:cxn ang="0">
                  <a:pos x="T2" y="T3"/>
                </a:cxn>
                <a:cxn ang="0">
                  <a:pos x="T4" y="T5"/>
                </a:cxn>
                <a:cxn ang="0">
                  <a:pos x="T6" y="T7"/>
                </a:cxn>
              </a:cxnLst>
              <a:rect l="0" t="0" r="r" b="b"/>
              <a:pathLst>
                <a:path w="21" h="28">
                  <a:moveTo>
                    <a:pt x="8" y="0"/>
                  </a:moveTo>
                  <a:cubicBezTo>
                    <a:pt x="21" y="5"/>
                    <a:pt x="19" y="19"/>
                    <a:pt x="12" y="28"/>
                  </a:cubicBezTo>
                  <a:cubicBezTo>
                    <a:pt x="5" y="27"/>
                    <a:pt x="4" y="21"/>
                    <a:pt x="0" y="18"/>
                  </a:cubicBezTo>
                  <a:cubicBezTo>
                    <a:pt x="1" y="10"/>
                    <a:pt x="6" y="6"/>
                    <a:pt x="8" y="0"/>
                  </a:cubicBezTo>
                  <a:close/>
                </a:path>
              </a:pathLst>
            </a:custGeom>
            <a:grp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 name="Freeform 43"/>
            <p:cNvSpPr/>
            <p:nvPr/>
          </p:nvSpPr>
          <p:spPr bwMode="auto">
            <a:xfrm>
              <a:off x="4211638" y="4352926"/>
              <a:ext cx="52388" cy="74613"/>
            </a:xfrm>
            <a:custGeom>
              <a:avLst/>
              <a:gdLst>
                <a:gd name="T0" fmla="*/ 0 w 14"/>
                <a:gd name="T1" fmla="*/ 0 h 20"/>
                <a:gd name="T2" fmla="*/ 7 w 14"/>
                <a:gd name="T3" fmla="*/ 20 h 20"/>
                <a:gd name="T4" fmla="*/ 0 w 14"/>
                <a:gd name="T5" fmla="*/ 0 h 20"/>
              </a:gdLst>
              <a:ahLst/>
              <a:cxnLst>
                <a:cxn ang="0">
                  <a:pos x="T0" y="T1"/>
                </a:cxn>
                <a:cxn ang="0">
                  <a:pos x="T2" y="T3"/>
                </a:cxn>
                <a:cxn ang="0">
                  <a:pos x="T4" y="T5"/>
                </a:cxn>
              </a:cxnLst>
              <a:rect l="0" t="0" r="r" b="b"/>
              <a:pathLst>
                <a:path w="14" h="20">
                  <a:moveTo>
                    <a:pt x="0" y="0"/>
                  </a:moveTo>
                  <a:cubicBezTo>
                    <a:pt x="6" y="4"/>
                    <a:pt x="14" y="11"/>
                    <a:pt x="7" y="20"/>
                  </a:cubicBezTo>
                  <a:cubicBezTo>
                    <a:pt x="0" y="18"/>
                    <a:pt x="0" y="9"/>
                    <a:pt x="0" y="0"/>
                  </a:cubicBezTo>
                  <a:close/>
                </a:path>
              </a:pathLst>
            </a:custGeom>
            <a:grp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 name="Freeform 44"/>
            <p:cNvSpPr/>
            <p:nvPr/>
          </p:nvSpPr>
          <p:spPr bwMode="auto">
            <a:xfrm>
              <a:off x="4429125" y="3798888"/>
              <a:ext cx="479425" cy="449263"/>
            </a:xfrm>
            <a:custGeom>
              <a:avLst/>
              <a:gdLst>
                <a:gd name="T0" fmla="*/ 0 w 128"/>
                <a:gd name="T1" fmla="*/ 42 h 120"/>
                <a:gd name="T2" fmla="*/ 49 w 128"/>
                <a:gd name="T3" fmla="*/ 59 h 120"/>
                <a:gd name="T4" fmla="*/ 17 w 128"/>
                <a:gd name="T5" fmla="*/ 5 h 120"/>
                <a:gd name="T6" fmla="*/ 42 w 128"/>
                <a:gd name="T7" fmla="*/ 0 h 120"/>
                <a:gd name="T8" fmla="*/ 54 w 128"/>
                <a:gd name="T9" fmla="*/ 54 h 120"/>
                <a:gd name="T10" fmla="*/ 73 w 128"/>
                <a:gd name="T11" fmla="*/ 26 h 120"/>
                <a:gd name="T12" fmla="*/ 75 w 128"/>
                <a:gd name="T13" fmla="*/ 59 h 120"/>
                <a:gd name="T14" fmla="*/ 128 w 128"/>
                <a:gd name="T15" fmla="*/ 64 h 120"/>
                <a:gd name="T16" fmla="*/ 80 w 128"/>
                <a:gd name="T17" fmla="*/ 77 h 120"/>
                <a:gd name="T18" fmla="*/ 103 w 128"/>
                <a:gd name="T19" fmla="*/ 120 h 120"/>
                <a:gd name="T20" fmla="*/ 58 w 128"/>
                <a:gd name="T21" fmla="*/ 87 h 120"/>
                <a:gd name="T22" fmla="*/ 0 w 128"/>
                <a:gd name="T23" fmla="*/ 108 h 120"/>
                <a:gd name="T24" fmla="*/ 35 w 128"/>
                <a:gd name="T25" fmla="*/ 75 h 120"/>
                <a:gd name="T26" fmla="*/ 0 w 128"/>
                <a:gd name="T27" fmla="*/ 42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8" h="120">
                  <a:moveTo>
                    <a:pt x="0" y="42"/>
                  </a:moveTo>
                  <a:cubicBezTo>
                    <a:pt x="13" y="43"/>
                    <a:pt x="32" y="55"/>
                    <a:pt x="49" y="59"/>
                  </a:cubicBezTo>
                  <a:cubicBezTo>
                    <a:pt x="45" y="41"/>
                    <a:pt x="31" y="18"/>
                    <a:pt x="17" y="5"/>
                  </a:cubicBezTo>
                  <a:cubicBezTo>
                    <a:pt x="23" y="1"/>
                    <a:pt x="32" y="0"/>
                    <a:pt x="42" y="0"/>
                  </a:cubicBezTo>
                  <a:cubicBezTo>
                    <a:pt x="48" y="16"/>
                    <a:pt x="54" y="31"/>
                    <a:pt x="54" y="54"/>
                  </a:cubicBezTo>
                  <a:cubicBezTo>
                    <a:pt x="64" y="48"/>
                    <a:pt x="63" y="31"/>
                    <a:pt x="73" y="26"/>
                  </a:cubicBezTo>
                  <a:cubicBezTo>
                    <a:pt x="72" y="39"/>
                    <a:pt x="75" y="48"/>
                    <a:pt x="75" y="59"/>
                  </a:cubicBezTo>
                  <a:cubicBezTo>
                    <a:pt x="89" y="68"/>
                    <a:pt x="115" y="57"/>
                    <a:pt x="128" y="64"/>
                  </a:cubicBezTo>
                  <a:cubicBezTo>
                    <a:pt x="114" y="71"/>
                    <a:pt x="96" y="73"/>
                    <a:pt x="80" y="77"/>
                  </a:cubicBezTo>
                  <a:cubicBezTo>
                    <a:pt x="85" y="94"/>
                    <a:pt x="100" y="101"/>
                    <a:pt x="103" y="120"/>
                  </a:cubicBezTo>
                  <a:cubicBezTo>
                    <a:pt x="87" y="110"/>
                    <a:pt x="74" y="97"/>
                    <a:pt x="58" y="87"/>
                  </a:cubicBezTo>
                  <a:cubicBezTo>
                    <a:pt x="38" y="94"/>
                    <a:pt x="20" y="102"/>
                    <a:pt x="0" y="108"/>
                  </a:cubicBezTo>
                  <a:cubicBezTo>
                    <a:pt x="10" y="95"/>
                    <a:pt x="25" y="88"/>
                    <a:pt x="35" y="75"/>
                  </a:cubicBezTo>
                  <a:cubicBezTo>
                    <a:pt x="24" y="63"/>
                    <a:pt x="11" y="53"/>
                    <a:pt x="0" y="42"/>
                  </a:cubicBezTo>
                  <a:close/>
                </a:path>
              </a:pathLst>
            </a:custGeom>
            <a:grp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27" name="文本框 216"/>
          <p:cNvSpPr txBox="1"/>
          <p:nvPr/>
        </p:nvSpPr>
        <p:spPr>
          <a:xfrm>
            <a:off x="1656174" y="1764493"/>
            <a:ext cx="2339102" cy="954107"/>
          </a:xfrm>
          <a:prstGeom prst="rect">
            <a:avLst/>
          </a:prstGeom>
          <a:noFill/>
        </p:spPr>
        <p:txBody>
          <a:bodyPr wrap="none" rtlCol="0">
            <a:spAutoFit/>
          </a:bodyPr>
          <a:lstStyle/>
          <a:p>
            <a:r>
              <a:rPr lang="zh-CN" altLang="en-US" sz="2800" b="1" dirty="0">
                <a:solidFill>
                  <a:schemeClr val="accent5">
                    <a:lumMod val="75000"/>
                  </a:schemeClr>
                </a:solidFill>
              </a:rPr>
              <a:t>傅里叶变换型</a:t>
            </a:r>
            <a:endParaRPr lang="en-US" altLang="zh-CN" sz="2800" b="1" dirty="0">
              <a:solidFill>
                <a:schemeClr val="accent5">
                  <a:lumMod val="75000"/>
                </a:schemeClr>
              </a:solidFill>
            </a:endParaRPr>
          </a:p>
          <a:p>
            <a:pPr algn="ctr"/>
            <a:r>
              <a:rPr lang="zh-CN" altLang="en-US" sz="2800" b="1" dirty="0">
                <a:solidFill>
                  <a:schemeClr val="accent5">
                    <a:lumMod val="75000"/>
                  </a:schemeClr>
                </a:solidFill>
              </a:rPr>
              <a:t>（</a:t>
            </a:r>
            <a:r>
              <a:rPr lang="en-US" altLang="zh-CN" sz="2800" b="1" dirty="0">
                <a:solidFill>
                  <a:schemeClr val="accent5">
                    <a:lumMod val="75000"/>
                  </a:schemeClr>
                </a:solidFill>
              </a:rPr>
              <a:t>FT</a:t>
            </a:r>
            <a:r>
              <a:rPr lang="zh-CN" altLang="en-US" sz="2800" b="1" dirty="0">
                <a:solidFill>
                  <a:schemeClr val="accent5">
                    <a:lumMod val="75000"/>
                  </a:schemeClr>
                </a:solidFill>
              </a:rPr>
              <a:t>）</a:t>
            </a:r>
            <a:endParaRPr lang="en-US" altLang="zh-CN" sz="2800" b="1" dirty="0">
              <a:solidFill>
                <a:schemeClr val="accent5">
                  <a:lumMod val="75000"/>
                </a:schemeClr>
              </a:solidFill>
            </a:endParaRPr>
          </a:p>
        </p:txBody>
      </p:sp>
      <p:sp>
        <p:nvSpPr>
          <p:cNvPr id="28" name="文本框 217"/>
          <p:cNvSpPr txBox="1"/>
          <p:nvPr/>
        </p:nvSpPr>
        <p:spPr>
          <a:xfrm>
            <a:off x="1662251" y="4324619"/>
            <a:ext cx="1980029" cy="954107"/>
          </a:xfrm>
          <a:prstGeom prst="rect">
            <a:avLst/>
          </a:prstGeom>
          <a:noFill/>
        </p:spPr>
        <p:txBody>
          <a:bodyPr wrap="none" rtlCol="0">
            <a:spAutoFit/>
          </a:bodyPr>
          <a:lstStyle/>
          <a:p>
            <a:r>
              <a:rPr lang="zh-CN" altLang="en-US" sz="2800" b="1" dirty="0">
                <a:solidFill>
                  <a:schemeClr val="accent5">
                    <a:lumMod val="75000"/>
                  </a:schemeClr>
                </a:solidFill>
              </a:rPr>
              <a:t>声光调谐型</a:t>
            </a:r>
            <a:endParaRPr lang="en-US" altLang="zh-CN" sz="2800" b="1" dirty="0">
              <a:solidFill>
                <a:schemeClr val="accent5">
                  <a:lumMod val="75000"/>
                </a:schemeClr>
              </a:solidFill>
            </a:endParaRPr>
          </a:p>
          <a:p>
            <a:pPr algn="ctr"/>
            <a:r>
              <a:rPr lang="zh-CN" altLang="en-US" sz="2800" b="1" dirty="0">
                <a:solidFill>
                  <a:schemeClr val="accent5">
                    <a:lumMod val="75000"/>
                  </a:schemeClr>
                </a:solidFill>
              </a:rPr>
              <a:t>（</a:t>
            </a:r>
            <a:r>
              <a:rPr lang="en-US" altLang="zh-CN" sz="2800" b="1" dirty="0">
                <a:solidFill>
                  <a:schemeClr val="accent5">
                    <a:lumMod val="75000"/>
                  </a:schemeClr>
                </a:solidFill>
              </a:rPr>
              <a:t>AOTF</a:t>
            </a:r>
            <a:r>
              <a:rPr lang="zh-CN" altLang="en-US" sz="2800" b="1" dirty="0">
                <a:solidFill>
                  <a:schemeClr val="accent5">
                    <a:lumMod val="75000"/>
                  </a:schemeClr>
                </a:solidFill>
              </a:rPr>
              <a:t>）</a:t>
            </a:r>
          </a:p>
        </p:txBody>
      </p:sp>
      <p:sp>
        <p:nvSpPr>
          <p:cNvPr id="29" name="TextBox 28"/>
          <p:cNvSpPr txBox="1"/>
          <p:nvPr/>
        </p:nvSpPr>
        <p:spPr>
          <a:xfrm>
            <a:off x="4644117" y="1518271"/>
            <a:ext cx="7373711" cy="1938992"/>
          </a:xfrm>
          <a:prstGeom prst="rect">
            <a:avLst/>
          </a:prstGeom>
          <a:noFill/>
        </p:spPr>
        <p:txBody>
          <a:bodyPr wrap="square" rtlCol="0">
            <a:spAutoFit/>
          </a:bodyPr>
          <a:lstStyle/>
          <a:p>
            <a:r>
              <a:rPr lang="zh-CN" altLang="en-US" sz="2400" b="1" dirty="0" smtClean="0">
                <a:solidFill>
                  <a:srgbClr val="FF0000"/>
                </a:solidFill>
              </a:rPr>
              <a:t>优点：</a:t>
            </a:r>
            <a:r>
              <a:rPr lang="zh-CN" altLang="en-US" sz="2400" dirty="0"/>
              <a:t>信噪比高、分辨率高、波长准确且重复性好、稳定性好</a:t>
            </a:r>
            <a:r>
              <a:rPr lang="zh-CN" altLang="en-US" sz="2400" dirty="0" smtClean="0"/>
              <a:t>等。</a:t>
            </a:r>
            <a:endParaRPr lang="en-US" altLang="zh-CN" sz="2400" dirty="0" smtClean="0"/>
          </a:p>
          <a:p>
            <a:r>
              <a:rPr lang="zh-CN" altLang="en-US" sz="2400" b="1" dirty="0">
                <a:solidFill>
                  <a:srgbClr val="FF0000"/>
                </a:solidFill>
              </a:rPr>
              <a:t>缺点：</a:t>
            </a:r>
            <a:r>
              <a:rPr lang="zh-CN" altLang="en-US" sz="2400" dirty="0"/>
              <a:t>由于干涉仪中动镜的存在，仪器的在线长久可靠性受到一定的限制，另外对仪器的使用和放置环境也有较高的要求。</a:t>
            </a:r>
            <a:endParaRPr lang="en-US" altLang="zh-CN" sz="2400" dirty="0" smtClean="0"/>
          </a:p>
        </p:txBody>
      </p:sp>
      <p:sp>
        <p:nvSpPr>
          <p:cNvPr id="30" name="TextBox 29"/>
          <p:cNvSpPr txBox="1"/>
          <p:nvPr/>
        </p:nvSpPr>
        <p:spPr>
          <a:xfrm>
            <a:off x="4644118" y="3726917"/>
            <a:ext cx="7373710" cy="2306955"/>
          </a:xfrm>
          <a:prstGeom prst="rect">
            <a:avLst/>
          </a:prstGeom>
          <a:noFill/>
        </p:spPr>
        <p:txBody>
          <a:bodyPr wrap="square" rtlCol="0">
            <a:spAutoFit/>
          </a:bodyPr>
          <a:lstStyle/>
          <a:p>
            <a:r>
              <a:rPr lang="zh-CN" altLang="en-US" sz="2400" b="1" dirty="0" smtClean="0">
                <a:solidFill>
                  <a:srgbClr val="FF0000"/>
                </a:solidFill>
              </a:rPr>
              <a:t>优点：</a:t>
            </a:r>
            <a:r>
              <a:rPr lang="zh-CN" altLang="en-US" sz="2400" dirty="0"/>
              <a:t>无机械移动部件</a:t>
            </a:r>
            <a:r>
              <a:rPr lang="en-US" altLang="zh-CN" sz="2400" dirty="0"/>
              <a:t>, </a:t>
            </a:r>
            <a:r>
              <a:rPr lang="zh-CN" altLang="en-US" sz="2400" dirty="0"/>
              <a:t>测量速度快、精度高、准确性好</a:t>
            </a:r>
            <a:r>
              <a:rPr lang="en-US" altLang="zh-CN" sz="2400" dirty="0"/>
              <a:t>, </a:t>
            </a:r>
            <a:r>
              <a:rPr lang="zh-CN" altLang="en-US" sz="2400" dirty="0"/>
              <a:t>提高了工作的可靠性和减少了维修费用</a:t>
            </a:r>
            <a:r>
              <a:rPr lang="en-US" altLang="zh-CN" sz="2400" dirty="0"/>
              <a:t>, </a:t>
            </a:r>
            <a:r>
              <a:rPr lang="zh-CN" altLang="en-US" sz="2400" dirty="0"/>
              <a:t>可以稳定地长时间工作。它的分辨率也很高</a:t>
            </a:r>
            <a:r>
              <a:rPr lang="en-US" altLang="zh-CN" sz="2400" dirty="0"/>
              <a:t>, </a:t>
            </a:r>
            <a:r>
              <a:rPr lang="zh-CN" altLang="en-US" sz="2400" dirty="0"/>
              <a:t>目前可以达到</a:t>
            </a:r>
            <a:r>
              <a:rPr lang="en-US" altLang="zh-CN" sz="2400" dirty="0"/>
              <a:t>0.01 nm; </a:t>
            </a:r>
            <a:r>
              <a:rPr lang="zh-CN" altLang="en-US" sz="2400" dirty="0"/>
              <a:t>波长调节速度快</a:t>
            </a:r>
            <a:r>
              <a:rPr lang="en-US" altLang="zh-CN" sz="2400" dirty="0"/>
              <a:t>, </a:t>
            </a:r>
            <a:r>
              <a:rPr lang="zh-CN" altLang="en-US" sz="2400" dirty="0"/>
              <a:t>一般</a:t>
            </a:r>
            <a:r>
              <a:rPr lang="en-US" altLang="zh-CN" sz="2400" dirty="0"/>
              <a:t>4000</a:t>
            </a:r>
            <a:r>
              <a:rPr lang="zh-CN" altLang="en-US" sz="2400" dirty="0"/>
              <a:t>波长</a:t>
            </a:r>
            <a:r>
              <a:rPr lang="en-US" altLang="zh-CN" sz="2400" dirty="0"/>
              <a:t>·s -1 </a:t>
            </a:r>
            <a:r>
              <a:rPr lang="zh-CN" altLang="en-US" sz="2400" dirty="0" smtClean="0"/>
              <a:t>。</a:t>
            </a:r>
            <a:endParaRPr lang="en-US" altLang="zh-CN" sz="2400" dirty="0" smtClean="0"/>
          </a:p>
          <a:p>
            <a:r>
              <a:rPr lang="zh-CN" altLang="en-US" sz="2400" b="1" dirty="0">
                <a:solidFill>
                  <a:srgbClr val="FF0000"/>
                </a:solidFill>
              </a:rPr>
              <a:t>缺点：</a:t>
            </a:r>
            <a:r>
              <a:rPr lang="zh-CN" altLang="en-US" sz="2400" dirty="0"/>
              <a:t>价格较贵。</a:t>
            </a:r>
            <a:endParaRPr lang="en-US" altLang="zh-CN" sz="2400" dirty="0" smtClean="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0" y="6334579"/>
            <a:ext cx="12193588" cy="530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1266"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0" y="0"/>
            <a:ext cx="8686800" cy="914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矩形 3"/>
          <p:cNvSpPr/>
          <p:nvPr/>
        </p:nvSpPr>
        <p:spPr>
          <a:xfrm>
            <a:off x="0" y="0"/>
            <a:ext cx="5262979" cy="646331"/>
          </a:xfrm>
          <a:prstGeom prst="rect">
            <a:avLst/>
          </a:prstGeom>
        </p:spPr>
        <p:txBody>
          <a:bodyPr wrap="none">
            <a:spAutoFit/>
          </a:bodyPr>
          <a:lstStyle/>
          <a:p>
            <a:r>
              <a:rPr lang="zh-CN" altLang="en-US" sz="3600" b="1" dirty="0">
                <a:latin typeface="微软雅黑" panose="020B0503020204020204" pitchFamily="34" charset="-122"/>
                <a:ea typeface="微软雅黑" panose="020B0503020204020204" pitchFamily="34" charset="-122"/>
              </a:rPr>
              <a:t>二、近红外光谱仪的分类</a:t>
            </a:r>
          </a:p>
        </p:txBody>
      </p:sp>
      <p:sp>
        <p:nvSpPr>
          <p:cNvPr id="2" name="矩形 1"/>
          <p:cNvSpPr/>
          <p:nvPr/>
        </p:nvSpPr>
        <p:spPr>
          <a:xfrm>
            <a:off x="409565" y="1114710"/>
            <a:ext cx="4443845" cy="646331"/>
          </a:xfrm>
          <a:prstGeom prst="rect">
            <a:avLst/>
          </a:prstGeom>
        </p:spPr>
        <p:txBody>
          <a:bodyPr wrap="none">
            <a:spAutoFit/>
          </a:bodyPr>
          <a:lstStyle/>
          <a:p>
            <a:r>
              <a:rPr lang="zh-CN" altLang="en-US" sz="3600" b="1" dirty="0"/>
              <a:t>（二）根据用途分类</a:t>
            </a:r>
            <a:r>
              <a:rPr lang="en-US" altLang="zh-CN" sz="3600" b="1" dirty="0"/>
              <a:t> </a:t>
            </a:r>
          </a:p>
        </p:txBody>
      </p:sp>
      <p:sp>
        <p:nvSpPr>
          <p:cNvPr id="6" name="Freeform 8"/>
          <p:cNvSpPr/>
          <p:nvPr/>
        </p:nvSpPr>
        <p:spPr bwMode="auto">
          <a:xfrm>
            <a:off x="5673716" y="4803558"/>
            <a:ext cx="4566032" cy="950897"/>
          </a:xfrm>
          <a:custGeom>
            <a:avLst/>
            <a:gdLst>
              <a:gd name="T0" fmla="*/ 2907 w 3244"/>
              <a:gd name="T1" fmla="*/ 675 h 675"/>
              <a:gd name="T2" fmla="*/ 3244 w 3244"/>
              <a:gd name="T3" fmla="*/ 337 h 675"/>
              <a:gd name="T4" fmla="*/ 2907 w 3244"/>
              <a:gd name="T5" fmla="*/ 0 h 675"/>
              <a:gd name="T6" fmla="*/ 337 w 3244"/>
              <a:gd name="T7" fmla="*/ 0 h 675"/>
              <a:gd name="T8" fmla="*/ 0 w 3244"/>
              <a:gd name="T9" fmla="*/ 337 h 675"/>
              <a:gd name="T10" fmla="*/ 337 w 3244"/>
              <a:gd name="T11" fmla="*/ 675 h 675"/>
              <a:gd name="T12" fmla="*/ 2907 w 3244"/>
              <a:gd name="T13" fmla="*/ 675 h 675"/>
            </a:gdLst>
            <a:ahLst/>
            <a:cxnLst>
              <a:cxn ang="0">
                <a:pos x="T0" y="T1"/>
              </a:cxn>
              <a:cxn ang="0">
                <a:pos x="T2" y="T3"/>
              </a:cxn>
              <a:cxn ang="0">
                <a:pos x="T4" y="T5"/>
              </a:cxn>
              <a:cxn ang="0">
                <a:pos x="T6" y="T7"/>
              </a:cxn>
              <a:cxn ang="0">
                <a:pos x="T8" y="T9"/>
              </a:cxn>
              <a:cxn ang="0">
                <a:pos x="T10" y="T11"/>
              </a:cxn>
              <a:cxn ang="0">
                <a:pos x="T12" y="T13"/>
              </a:cxn>
            </a:cxnLst>
            <a:rect l="0" t="0" r="r" b="b"/>
            <a:pathLst>
              <a:path w="3244" h="675">
                <a:moveTo>
                  <a:pt x="2907" y="675"/>
                </a:moveTo>
                <a:cubicBezTo>
                  <a:pt x="3093" y="675"/>
                  <a:pt x="3244" y="523"/>
                  <a:pt x="3244" y="337"/>
                </a:cubicBezTo>
                <a:cubicBezTo>
                  <a:pt x="3244" y="151"/>
                  <a:pt x="3093" y="0"/>
                  <a:pt x="2907" y="0"/>
                </a:cubicBezTo>
                <a:cubicBezTo>
                  <a:pt x="337" y="0"/>
                  <a:pt x="337" y="0"/>
                  <a:pt x="337" y="0"/>
                </a:cubicBezTo>
                <a:cubicBezTo>
                  <a:pt x="151" y="0"/>
                  <a:pt x="0" y="151"/>
                  <a:pt x="0" y="337"/>
                </a:cubicBezTo>
                <a:cubicBezTo>
                  <a:pt x="0" y="523"/>
                  <a:pt x="151" y="675"/>
                  <a:pt x="337" y="675"/>
                </a:cubicBezTo>
                <a:lnTo>
                  <a:pt x="2907" y="675"/>
                </a:lnTo>
                <a:close/>
              </a:path>
            </a:pathLst>
          </a:custGeom>
          <a:solidFill>
            <a:srgbClr val="F1891A"/>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 name="Freeform 7"/>
          <p:cNvSpPr/>
          <p:nvPr/>
        </p:nvSpPr>
        <p:spPr bwMode="auto">
          <a:xfrm>
            <a:off x="5673716" y="3562783"/>
            <a:ext cx="4566032" cy="949168"/>
          </a:xfrm>
          <a:custGeom>
            <a:avLst/>
            <a:gdLst>
              <a:gd name="T0" fmla="*/ 2907 w 3244"/>
              <a:gd name="T1" fmla="*/ 674 h 674"/>
              <a:gd name="T2" fmla="*/ 3244 w 3244"/>
              <a:gd name="T3" fmla="*/ 337 h 674"/>
              <a:gd name="T4" fmla="*/ 2907 w 3244"/>
              <a:gd name="T5" fmla="*/ 0 h 674"/>
              <a:gd name="T6" fmla="*/ 337 w 3244"/>
              <a:gd name="T7" fmla="*/ 0 h 674"/>
              <a:gd name="T8" fmla="*/ 0 w 3244"/>
              <a:gd name="T9" fmla="*/ 337 h 674"/>
              <a:gd name="T10" fmla="*/ 337 w 3244"/>
              <a:gd name="T11" fmla="*/ 674 h 674"/>
              <a:gd name="T12" fmla="*/ 2907 w 3244"/>
              <a:gd name="T13" fmla="*/ 674 h 674"/>
            </a:gdLst>
            <a:ahLst/>
            <a:cxnLst>
              <a:cxn ang="0">
                <a:pos x="T0" y="T1"/>
              </a:cxn>
              <a:cxn ang="0">
                <a:pos x="T2" y="T3"/>
              </a:cxn>
              <a:cxn ang="0">
                <a:pos x="T4" y="T5"/>
              </a:cxn>
              <a:cxn ang="0">
                <a:pos x="T6" y="T7"/>
              </a:cxn>
              <a:cxn ang="0">
                <a:pos x="T8" y="T9"/>
              </a:cxn>
              <a:cxn ang="0">
                <a:pos x="T10" y="T11"/>
              </a:cxn>
              <a:cxn ang="0">
                <a:pos x="T12" y="T13"/>
              </a:cxn>
            </a:cxnLst>
            <a:rect l="0" t="0" r="r" b="b"/>
            <a:pathLst>
              <a:path w="3244" h="674">
                <a:moveTo>
                  <a:pt x="2907" y="674"/>
                </a:moveTo>
                <a:cubicBezTo>
                  <a:pt x="3093" y="674"/>
                  <a:pt x="3244" y="523"/>
                  <a:pt x="3244" y="337"/>
                </a:cubicBezTo>
                <a:cubicBezTo>
                  <a:pt x="3244" y="151"/>
                  <a:pt x="3093" y="0"/>
                  <a:pt x="2907" y="0"/>
                </a:cubicBezTo>
                <a:cubicBezTo>
                  <a:pt x="337" y="0"/>
                  <a:pt x="337" y="0"/>
                  <a:pt x="337" y="0"/>
                </a:cubicBezTo>
                <a:cubicBezTo>
                  <a:pt x="151" y="0"/>
                  <a:pt x="0" y="151"/>
                  <a:pt x="0" y="337"/>
                </a:cubicBezTo>
                <a:cubicBezTo>
                  <a:pt x="0" y="523"/>
                  <a:pt x="151" y="674"/>
                  <a:pt x="337" y="674"/>
                </a:cubicBezTo>
                <a:lnTo>
                  <a:pt x="2907" y="674"/>
                </a:lnTo>
                <a:close/>
              </a:path>
            </a:pathLst>
          </a:custGeom>
          <a:solidFill>
            <a:srgbClr val="76A42D"/>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 name="Freeform 6"/>
          <p:cNvSpPr/>
          <p:nvPr/>
        </p:nvSpPr>
        <p:spPr bwMode="auto">
          <a:xfrm>
            <a:off x="5673716" y="2322007"/>
            <a:ext cx="4566032" cy="949168"/>
          </a:xfrm>
          <a:custGeom>
            <a:avLst/>
            <a:gdLst>
              <a:gd name="T0" fmla="*/ 2907 w 3244"/>
              <a:gd name="T1" fmla="*/ 675 h 675"/>
              <a:gd name="T2" fmla="*/ 3244 w 3244"/>
              <a:gd name="T3" fmla="*/ 337 h 675"/>
              <a:gd name="T4" fmla="*/ 2907 w 3244"/>
              <a:gd name="T5" fmla="*/ 0 h 675"/>
              <a:gd name="T6" fmla="*/ 337 w 3244"/>
              <a:gd name="T7" fmla="*/ 0 h 675"/>
              <a:gd name="T8" fmla="*/ 0 w 3244"/>
              <a:gd name="T9" fmla="*/ 337 h 675"/>
              <a:gd name="T10" fmla="*/ 337 w 3244"/>
              <a:gd name="T11" fmla="*/ 675 h 675"/>
              <a:gd name="T12" fmla="*/ 2907 w 3244"/>
              <a:gd name="T13" fmla="*/ 675 h 675"/>
            </a:gdLst>
            <a:ahLst/>
            <a:cxnLst>
              <a:cxn ang="0">
                <a:pos x="T0" y="T1"/>
              </a:cxn>
              <a:cxn ang="0">
                <a:pos x="T2" y="T3"/>
              </a:cxn>
              <a:cxn ang="0">
                <a:pos x="T4" y="T5"/>
              </a:cxn>
              <a:cxn ang="0">
                <a:pos x="T6" y="T7"/>
              </a:cxn>
              <a:cxn ang="0">
                <a:pos x="T8" y="T9"/>
              </a:cxn>
              <a:cxn ang="0">
                <a:pos x="T10" y="T11"/>
              </a:cxn>
              <a:cxn ang="0">
                <a:pos x="T12" y="T13"/>
              </a:cxn>
            </a:cxnLst>
            <a:rect l="0" t="0" r="r" b="b"/>
            <a:pathLst>
              <a:path w="3244" h="675">
                <a:moveTo>
                  <a:pt x="2907" y="675"/>
                </a:moveTo>
                <a:cubicBezTo>
                  <a:pt x="3093" y="675"/>
                  <a:pt x="3244" y="523"/>
                  <a:pt x="3244" y="337"/>
                </a:cubicBezTo>
                <a:cubicBezTo>
                  <a:pt x="3244" y="151"/>
                  <a:pt x="3093" y="0"/>
                  <a:pt x="2907" y="0"/>
                </a:cubicBezTo>
                <a:cubicBezTo>
                  <a:pt x="337" y="0"/>
                  <a:pt x="337" y="0"/>
                  <a:pt x="337" y="0"/>
                </a:cubicBezTo>
                <a:cubicBezTo>
                  <a:pt x="151" y="0"/>
                  <a:pt x="0" y="151"/>
                  <a:pt x="0" y="337"/>
                </a:cubicBezTo>
                <a:cubicBezTo>
                  <a:pt x="0" y="523"/>
                  <a:pt x="151" y="675"/>
                  <a:pt x="337" y="675"/>
                </a:cubicBezTo>
                <a:lnTo>
                  <a:pt x="2907" y="675"/>
                </a:lnTo>
                <a:close/>
              </a:path>
            </a:pathLst>
          </a:custGeom>
          <a:solidFill>
            <a:srgbClr val="20A0D5"/>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 name="Freeform 5"/>
          <p:cNvSpPr/>
          <p:nvPr/>
        </p:nvSpPr>
        <p:spPr bwMode="auto">
          <a:xfrm>
            <a:off x="5673716" y="1081231"/>
            <a:ext cx="4566032" cy="949168"/>
          </a:xfrm>
          <a:custGeom>
            <a:avLst/>
            <a:gdLst>
              <a:gd name="T0" fmla="*/ 2907 w 3244"/>
              <a:gd name="T1" fmla="*/ 674 h 674"/>
              <a:gd name="T2" fmla="*/ 3244 w 3244"/>
              <a:gd name="T3" fmla="*/ 337 h 674"/>
              <a:gd name="T4" fmla="*/ 2907 w 3244"/>
              <a:gd name="T5" fmla="*/ 0 h 674"/>
              <a:gd name="T6" fmla="*/ 337 w 3244"/>
              <a:gd name="T7" fmla="*/ 0 h 674"/>
              <a:gd name="T8" fmla="*/ 0 w 3244"/>
              <a:gd name="T9" fmla="*/ 337 h 674"/>
              <a:gd name="T10" fmla="*/ 337 w 3244"/>
              <a:gd name="T11" fmla="*/ 674 h 674"/>
              <a:gd name="T12" fmla="*/ 2907 w 3244"/>
              <a:gd name="T13" fmla="*/ 674 h 674"/>
            </a:gdLst>
            <a:ahLst/>
            <a:cxnLst>
              <a:cxn ang="0">
                <a:pos x="T0" y="T1"/>
              </a:cxn>
              <a:cxn ang="0">
                <a:pos x="T2" y="T3"/>
              </a:cxn>
              <a:cxn ang="0">
                <a:pos x="T4" y="T5"/>
              </a:cxn>
              <a:cxn ang="0">
                <a:pos x="T6" y="T7"/>
              </a:cxn>
              <a:cxn ang="0">
                <a:pos x="T8" y="T9"/>
              </a:cxn>
              <a:cxn ang="0">
                <a:pos x="T10" y="T11"/>
              </a:cxn>
              <a:cxn ang="0">
                <a:pos x="T12" y="T13"/>
              </a:cxn>
            </a:cxnLst>
            <a:rect l="0" t="0" r="r" b="b"/>
            <a:pathLst>
              <a:path w="3244" h="674">
                <a:moveTo>
                  <a:pt x="2907" y="674"/>
                </a:moveTo>
                <a:cubicBezTo>
                  <a:pt x="3093" y="674"/>
                  <a:pt x="3244" y="523"/>
                  <a:pt x="3244" y="337"/>
                </a:cubicBezTo>
                <a:cubicBezTo>
                  <a:pt x="3244" y="151"/>
                  <a:pt x="3093" y="0"/>
                  <a:pt x="2907" y="0"/>
                </a:cubicBezTo>
                <a:cubicBezTo>
                  <a:pt x="337" y="0"/>
                  <a:pt x="337" y="0"/>
                  <a:pt x="337" y="0"/>
                </a:cubicBezTo>
                <a:cubicBezTo>
                  <a:pt x="151" y="0"/>
                  <a:pt x="0" y="151"/>
                  <a:pt x="0" y="337"/>
                </a:cubicBezTo>
                <a:cubicBezTo>
                  <a:pt x="0" y="523"/>
                  <a:pt x="151" y="674"/>
                  <a:pt x="337" y="674"/>
                </a:cubicBezTo>
                <a:lnTo>
                  <a:pt x="2907" y="674"/>
                </a:lnTo>
                <a:close/>
              </a:path>
            </a:pathLst>
          </a:custGeom>
          <a:solidFill>
            <a:srgbClr val="8F7EB9"/>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pic>
        <p:nvPicPr>
          <p:cNvPr id="10" name="图片 9"/>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5396539" y="879828"/>
            <a:ext cx="5119200" cy="1491293"/>
          </a:xfrm>
          <a:prstGeom prst="rect">
            <a:avLst/>
          </a:prstGeom>
          <a:ln>
            <a:solidFill>
              <a:schemeClr val="accent1">
                <a:lumMod val="60000"/>
                <a:lumOff val="40000"/>
              </a:schemeClr>
            </a:solidFill>
          </a:ln>
        </p:spPr>
      </p:pic>
      <p:pic>
        <p:nvPicPr>
          <p:cNvPr id="11" name="图片 10"/>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5396539" y="2122191"/>
            <a:ext cx="5119200" cy="1491293"/>
          </a:xfrm>
          <a:prstGeom prst="rect">
            <a:avLst/>
          </a:prstGeom>
        </p:spPr>
      </p:pic>
      <p:pic>
        <p:nvPicPr>
          <p:cNvPr id="12" name="图片 11"/>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5396539" y="3364554"/>
            <a:ext cx="5119200" cy="1491293"/>
          </a:xfrm>
          <a:prstGeom prst="rect">
            <a:avLst/>
          </a:prstGeom>
        </p:spPr>
      </p:pic>
      <p:pic>
        <p:nvPicPr>
          <p:cNvPr id="13" name="图片 12"/>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5396539" y="4606916"/>
            <a:ext cx="5119200" cy="1491293"/>
          </a:xfrm>
          <a:prstGeom prst="rect">
            <a:avLst/>
          </a:prstGeom>
        </p:spPr>
      </p:pic>
      <p:grpSp>
        <p:nvGrpSpPr>
          <p:cNvPr id="14" name="组合 13"/>
          <p:cNvGrpSpPr/>
          <p:nvPr/>
        </p:nvGrpSpPr>
        <p:grpSpPr>
          <a:xfrm>
            <a:off x="5983185" y="5110731"/>
            <a:ext cx="344487" cy="336550"/>
            <a:chOff x="4503738" y="9809163"/>
            <a:chExt cx="344487" cy="336550"/>
          </a:xfrm>
        </p:grpSpPr>
        <p:sp>
          <p:nvSpPr>
            <p:cNvPr id="15" name="Freeform 23"/>
            <p:cNvSpPr>
              <a:spLocks noEditPoints="1"/>
            </p:cNvSpPr>
            <p:nvPr/>
          </p:nvSpPr>
          <p:spPr bwMode="auto">
            <a:xfrm>
              <a:off x="4503738" y="9809163"/>
              <a:ext cx="344487" cy="336550"/>
            </a:xfrm>
            <a:custGeom>
              <a:avLst/>
              <a:gdLst>
                <a:gd name="T0" fmla="*/ 105 w 108"/>
                <a:gd name="T1" fmla="*/ 95 h 107"/>
                <a:gd name="T2" fmla="*/ 76 w 108"/>
                <a:gd name="T3" fmla="*/ 66 h 107"/>
                <a:gd name="T4" fmla="*/ 83 w 108"/>
                <a:gd name="T5" fmla="*/ 42 h 107"/>
                <a:gd name="T6" fmla="*/ 42 w 108"/>
                <a:gd name="T7" fmla="*/ 0 h 107"/>
                <a:gd name="T8" fmla="*/ 0 w 108"/>
                <a:gd name="T9" fmla="*/ 42 h 107"/>
                <a:gd name="T10" fmla="*/ 42 w 108"/>
                <a:gd name="T11" fmla="*/ 83 h 107"/>
                <a:gd name="T12" fmla="*/ 66 w 108"/>
                <a:gd name="T13" fmla="*/ 76 h 107"/>
                <a:gd name="T14" fmla="*/ 95 w 108"/>
                <a:gd name="T15" fmla="*/ 105 h 107"/>
                <a:gd name="T16" fmla="*/ 100 w 108"/>
                <a:gd name="T17" fmla="*/ 107 h 107"/>
                <a:gd name="T18" fmla="*/ 105 w 108"/>
                <a:gd name="T19" fmla="*/ 105 h 107"/>
                <a:gd name="T20" fmla="*/ 105 w 108"/>
                <a:gd name="T21" fmla="*/ 95 h 107"/>
                <a:gd name="T22" fmla="*/ 7 w 108"/>
                <a:gd name="T23" fmla="*/ 42 h 107"/>
                <a:gd name="T24" fmla="*/ 42 w 108"/>
                <a:gd name="T25" fmla="*/ 7 h 107"/>
                <a:gd name="T26" fmla="*/ 76 w 108"/>
                <a:gd name="T27" fmla="*/ 42 h 107"/>
                <a:gd name="T28" fmla="*/ 42 w 108"/>
                <a:gd name="T29" fmla="*/ 76 h 107"/>
                <a:gd name="T30" fmla="*/ 7 w 108"/>
                <a:gd name="T31" fmla="*/ 42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8" h="107">
                  <a:moveTo>
                    <a:pt x="105" y="95"/>
                  </a:moveTo>
                  <a:cubicBezTo>
                    <a:pt x="76" y="66"/>
                    <a:pt x="76" y="66"/>
                    <a:pt x="76" y="66"/>
                  </a:cubicBezTo>
                  <a:cubicBezTo>
                    <a:pt x="81" y="59"/>
                    <a:pt x="83" y="51"/>
                    <a:pt x="83" y="42"/>
                  </a:cubicBezTo>
                  <a:cubicBezTo>
                    <a:pt x="83" y="19"/>
                    <a:pt x="65" y="0"/>
                    <a:pt x="42" y="0"/>
                  </a:cubicBezTo>
                  <a:cubicBezTo>
                    <a:pt x="19" y="0"/>
                    <a:pt x="0" y="19"/>
                    <a:pt x="0" y="42"/>
                  </a:cubicBezTo>
                  <a:cubicBezTo>
                    <a:pt x="0" y="65"/>
                    <a:pt x="19" y="83"/>
                    <a:pt x="42" y="83"/>
                  </a:cubicBezTo>
                  <a:cubicBezTo>
                    <a:pt x="51" y="83"/>
                    <a:pt x="59" y="81"/>
                    <a:pt x="66" y="76"/>
                  </a:cubicBezTo>
                  <a:cubicBezTo>
                    <a:pt x="95" y="105"/>
                    <a:pt x="95" y="105"/>
                    <a:pt x="95" y="105"/>
                  </a:cubicBezTo>
                  <a:cubicBezTo>
                    <a:pt x="96" y="106"/>
                    <a:pt x="98" y="107"/>
                    <a:pt x="100" y="107"/>
                  </a:cubicBezTo>
                  <a:cubicBezTo>
                    <a:pt x="101" y="107"/>
                    <a:pt x="103" y="106"/>
                    <a:pt x="105" y="105"/>
                  </a:cubicBezTo>
                  <a:cubicBezTo>
                    <a:pt x="108" y="102"/>
                    <a:pt x="108" y="97"/>
                    <a:pt x="105" y="95"/>
                  </a:cubicBezTo>
                  <a:moveTo>
                    <a:pt x="7" y="42"/>
                  </a:moveTo>
                  <a:cubicBezTo>
                    <a:pt x="7" y="23"/>
                    <a:pt x="23" y="7"/>
                    <a:pt x="42" y="7"/>
                  </a:cubicBezTo>
                  <a:cubicBezTo>
                    <a:pt x="61" y="7"/>
                    <a:pt x="76" y="23"/>
                    <a:pt x="76" y="42"/>
                  </a:cubicBezTo>
                  <a:cubicBezTo>
                    <a:pt x="76" y="61"/>
                    <a:pt x="61" y="76"/>
                    <a:pt x="42" y="76"/>
                  </a:cubicBezTo>
                  <a:cubicBezTo>
                    <a:pt x="23" y="76"/>
                    <a:pt x="7" y="61"/>
                    <a:pt x="7" y="42"/>
                  </a:cubicBezTo>
                </a:path>
              </a:pathLst>
            </a:custGeom>
            <a:solidFill>
              <a:srgbClr val="FFFFFF"/>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 name="Freeform 24"/>
            <p:cNvSpPr/>
            <p:nvPr/>
          </p:nvSpPr>
          <p:spPr bwMode="auto">
            <a:xfrm>
              <a:off x="4567238" y="9869488"/>
              <a:ext cx="138112" cy="138113"/>
            </a:xfrm>
            <a:custGeom>
              <a:avLst/>
              <a:gdLst>
                <a:gd name="T0" fmla="*/ 39 w 43"/>
                <a:gd name="T1" fmla="*/ 18 h 44"/>
                <a:gd name="T2" fmla="*/ 25 w 43"/>
                <a:gd name="T3" fmla="*/ 18 h 44"/>
                <a:gd name="T4" fmla="*/ 25 w 43"/>
                <a:gd name="T5" fmla="*/ 4 h 44"/>
                <a:gd name="T6" fmla="*/ 21 w 43"/>
                <a:gd name="T7" fmla="*/ 0 h 44"/>
                <a:gd name="T8" fmla="*/ 18 w 43"/>
                <a:gd name="T9" fmla="*/ 4 h 44"/>
                <a:gd name="T10" fmla="*/ 18 w 43"/>
                <a:gd name="T11" fmla="*/ 18 h 44"/>
                <a:gd name="T12" fmla="*/ 3 w 43"/>
                <a:gd name="T13" fmla="*/ 18 h 44"/>
                <a:gd name="T14" fmla="*/ 0 w 43"/>
                <a:gd name="T15" fmla="*/ 22 h 44"/>
                <a:gd name="T16" fmla="*/ 3 w 43"/>
                <a:gd name="T17" fmla="*/ 26 h 44"/>
                <a:gd name="T18" fmla="*/ 18 w 43"/>
                <a:gd name="T19" fmla="*/ 26 h 44"/>
                <a:gd name="T20" fmla="*/ 18 w 43"/>
                <a:gd name="T21" fmla="*/ 40 h 44"/>
                <a:gd name="T22" fmla="*/ 21 w 43"/>
                <a:gd name="T23" fmla="*/ 44 h 44"/>
                <a:gd name="T24" fmla="*/ 25 w 43"/>
                <a:gd name="T25" fmla="*/ 40 h 44"/>
                <a:gd name="T26" fmla="*/ 25 w 43"/>
                <a:gd name="T27" fmla="*/ 26 h 44"/>
                <a:gd name="T28" fmla="*/ 39 w 43"/>
                <a:gd name="T29" fmla="*/ 26 h 44"/>
                <a:gd name="T30" fmla="*/ 43 w 43"/>
                <a:gd name="T31" fmla="*/ 22 h 44"/>
                <a:gd name="T32" fmla="*/ 39 w 43"/>
                <a:gd name="T33" fmla="*/ 1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 h="44">
                  <a:moveTo>
                    <a:pt x="39" y="18"/>
                  </a:moveTo>
                  <a:cubicBezTo>
                    <a:pt x="25" y="18"/>
                    <a:pt x="25" y="18"/>
                    <a:pt x="25" y="18"/>
                  </a:cubicBezTo>
                  <a:cubicBezTo>
                    <a:pt x="25" y="4"/>
                    <a:pt x="25" y="4"/>
                    <a:pt x="25" y="4"/>
                  </a:cubicBezTo>
                  <a:cubicBezTo>
                    <a:pt x="25" y="2"/>
                    <a:pt x="23" y="0"/>
                    <a:pt x="21" y="0"/>
                  </a:cubicBezTo>
                  <a:cubicBezTo>
                    <a:pt x="19" y="0"/>
                    <a:pt x="18" y="2"/>
                    <a:pt x="18" y="4"/>
                  </a:cubicBezTo>
                  <a:cubicBezTo>
                    <a:pt x="18" y="18"/>
                    <a:pt x="18" y="18"/>
                    <a:pt x="18" y="18"/>
                  </a:cubicBezTo>
                  <a:cubicBezTo>
                    <a:pt x="3" y="18"/>
                    <a:pt x="3" y="18"/>
                    <a:pt x="3" y="18"/>
                  </a:cubicBezTo>
                  <a:cubicBezTo>
                    <a:pt x="1" y="18"/>
                    <a:pt x="0" y="20"/>
                    <a:pt x="0" y="22"/>
                  </a:cubicBezTo>
                  <a:cubicBezTo>
                    <a:pt x="0" y="24"/>
                    <a:pt x="1" y="26"/>
                    <a:pt x="3" y="26"/>
                  </a:cubicBezTo>
                  <a:cubicBezTo>
                    <a:pt x="18" y="26"/>
                    <a:pt x="18" y="26"/>
                    <a:pt x="18" y="26"/>
                  </a:cubicBezTo>
                  <a:cubicBezTo>
                    <a:pt x="18" y="40"/>
                    <a:pt x="18" y="40"/>
                    <a:pt x="18" y="40"/>
                  </a:cubicBezTo>
                  <a:cubicBezTo>
                    <a:pt x="18" y="42"/>
                    <a:pt x="19" y="44"/>
                    <a:pt x="21" y="44"/>
                  </a:cubicBezTo>
                  <a:cubicBezTo>
                    <a:pt x="23" y="44"/>
                    <a:pt x="25" y="42"/>
                    <a:pt x="25" y="40"/>
                  </a:cubicBezTo>
                  <a:cubicBezTo>
                    <a:pt x="25" y="26"/>
                    <a:pt x="25" y="26"/>
                    <a:pt x="25" y="26"/>
                  </a:cubicBezTo>
                  <a:cubicBezTo>
                    <a:pt x="39" y="26"/>
                    <a:pt x="39" y="26"/>
                    <a:pt x="39" y="26"/>
                  </a:cubicBezTo>
                  <a:cubicBezTo>
                    <a:pt x="41" y="26"/>
                    <a:pt x="43" y="24"/>
                    <a:pt x="43" y="22"/>
                  </a:cubicBezTo>
                  <a:cubicBezTo>
                    <a:pt x="43" y="20"/>
                    <a:pt x="41" y="18"/>
                    <a:pt x="39" y="18"/>
                  </a:cubicBezTo>
                </a:path>
              </a:pathLst>
            </a:custGeom>
            <a:solidFill>
              <a:srgbClr val="FFFFFF"/>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17" name="组合 16"/>
          <p:cNvGrpSpPr/>
          <p:nvPr/>
        </p:nvGrpSpPr>
        <p:grpSpPr>
          <a:xfrm>
            <a:off x="5849835" y="1306992"/>
            <a:ext cx="608012" cy="365125"/>
            <a:chOff x="4370388" y="1439863"/>
            <a:chExt cx="608012" cy="365125"/>
          </a:xfrm>
        </p:grpSpPr>
        <p:sp>
          <p:nvSpPr>
            <p:cNvPr id="18" name="Freeform 25"/>
            <p:cNvSpPr>
              <a:spLocks noEditPoints="1"/>
            </p:cNvSpPr>
            <p:nvPr/>
          </p:nvSpPr>
          <p:spPr bwMode="auto">
            <a:xfrm>
              <a:off x="4605338" y="1439863"/>
              <a:ext cx="373062" cy="365125"/>
            </a:xfrm>
            <a:custGeom>
              <a:avLst/>
              <a:gdLst>
                <a:gd name="T0" fmla="*/ 117 w 117"/>
                <a:gd name="T1" fmla="*/ 58 h 116"/>
                <a:gd name="T2" fmla="*/ 101 w 117"/>
                <a:gd name="T3" fmla="*/ 51 h 116"/>
                <a:gd name="T4" fmla="*/ 106 w 117"/>
                <a:gd name="T5" fmla="*/ 39 h 116"/>
                <a:gd name="T6" fmla="*/ 99 w 117"/>
                <a:gd name="T7" fmla="*/ 26 h 116"/>
                <a:gd name="T8" fmla="*/ 86 w 117"/>
                <a:gd name="T9" fmla="*/ 24 h 116"/>
                <a:gd name="T10" fmla="*/ 87 w 117"/>
                <a:gd name="T11" fmla="*/ 7 h 116"/>
                <a:gd name="T12" fmla="*/ 74 w 117"/>
                <a:gd name="T13" fmla="*/ 17 h 116"/>
                <a:gd name="T14" fmla="*/ 65 w 117"/>
                <a:gd name="T15" fmla="*/ 7 h 116"/>
                <a:gd name="T16" fmla="*/ 51 w 117"/>
                <a:gd name="T17" fmla="*/ 7 h 116"/>
                <a:gd name="T18" fmla="*/ 43 w 117"/>
                <a:gd name="T19" fmla="*/ 17 h 116"/>
                <a:gd name="T20" fmla="*/ 29 w 117"/>
                <a:gd name="T21" fmla="*/ 7 h 116"/>
                <a:gd name="T22" fmla="*/ 30 w 117"/>
                <a:gd name="T23" fmla="*/ 24 h 116"/>
                <a:gd name="T24" fmla="*/ 18 w 117"/>
                <a:gd name="T25" fmla="*/ 26 h 116"/>
                <a:gd name="T26" fmla="*/ 10 w 117"/>
                <a:gd name="T27" fmla="*/ 39 h 116"/>
                <a:gd name="T28" fmla="*/ 15 w 117"/>
                <a:gd name="T29" fmla="*/ 51 h 116"/>
                <a:gd name="T30" fmla="*/ 0 w 117"/>
                <a:gd name="T31" fmla="*/ 58 h 116"/>
                <a:gd name="T32" fmla="*/ 15 w 117"/>
                <a:gd name="T33" fmla="*/ 65 h 116"/>
                <a:gd name="T34" fmla="*/ 10 w 117"/>
                <a:gd name="T35" fmla="*/ 77 h 116"/>
                <a:gd name="T36" fmla="*/ 18 w 117"/>
                <a:gd name="T37" fmla="*/ 90 h 116"/>
                <a:gd name="T38" fmla="*/ 30 w 117"/>
                <a:gd name="T39" fmla="*/ 92 h 116"/>
                <a:gd name="T40" fmla="*/ 29 w 117"/>
                <a:gd name="T41" fmla="*/ 108 h 116"/>
                <a:gd name="T42" fmla="*/ 43 w 117"/>
                <a:gd name="T43" fmla="*/ 99 h 116"/>
                <a:gd name="T44" fmla="*/ 51 w 117"/>
                <a:gd name="T45" fmla="*/ 109 h 116"/>
                <a:gd name="T46" fmla="*/ 65 w 117"/>
                <a:gd name="T47" fmla="*/ 109 h 116"/>
                <a:gd name="T48" fmla="*/ 74 w 117"/>
                <a:gd name="T49" fmla="*/ 99 h 116"/>
                <a:gd name="T50" fmla="*/ 87 w 117"/>
                <a:gd name="T51" fmla="*/ 108 h 116"/>
                <a:gd name="T52" fmla="*/ 86 w 117"/>
                <a:gd name="T53" fmla="*/ 92 h 116"/>
                <a:gd name="T54" fmla="*/ 99 w 117"/>
                <a:gd name="T55" fmla="*/ 90 h 116"/>
                <a:gd name="T56" fmla="*/ 106 w 117"/>
                <a:gd name="T57" fmla="*/ 77 h 116"/>
                <a:gd name="T58" fmla="*/ 101 w 117"/>
                <a:gd name="T59" fmla="*/ 65 h 116"/>
                <a:gd name="T60" fmla="*/ 58 w 117"/>
                <a:gd name="T61" fmla="*/ 94 h 116"/>
                <a:gd name="T62" fmla="*/ 58 w 117"/>
                <a:gd name="T63" fmla="*/ 21 h 116"/>
                <a:gd name="T64" fmla="*/ 58 w 117"/>
                <a:gd name="T65" fmla="*/ 94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7" h="116">
                  <a:moveTo>
                    <a:pt x="109" y="65"/>
                  </a:moveTo>
                  <a:cubicBezTo>
                    <a:pt x="113" y="65"/>
                    <a:pt x="117" y="62"/>
                    <a:pt x="117" y="58"/>
                  </a:cubicBezTo>
                  <a:cubicBezTo>
                    <a:pt x="117" y="54"/>
                    <a:pt x="113" y="51"/>
                    <a:pt x="109" y="51"/>
                  </a:cubicBezTo>
                  <a:cubicBezTo>
                    <a:pt x="101" y="51"/>
                    <a:pt x="101" y="51"/>
                    <a:pt x="101" y="51"/>
                  </a:cubicBezTo>
                  <a:cubicBezTo>
                    <a:pt x="101" y="48"/>
                    <a:pt x="100" y="45"/>
                    <a:pt x="99" y="43"/>
                  </a:cubicBezTo>
                  <a:cubicBezTo>
                    <a:pt x="106" y="39"/>
                    <a:pt x="106" y="39"/>
                    <a:pt x="106" y="39"/>
                  </a:cubicBezTo>
                  <a:cubicBezTo>
                    <a:pt x="110" y="37"/>
                    <a:pt x="111" y="32"/>
                    <a:pt x="109" y="29"/>
                  </a:cubicBezTo>
                  <a:cubicBezTo>
                    <a:pt x="107" y="25"/>
                    <a:pt x="102" y="24"/>
                    <a:pt x="99" y="26"/>
                  </a:cubicBezTo>
                  <a:cubicBezTo>
                    <a:pt x="92" y="30"/>
                    <a:pt x="92" y="30"/>
                    <a:pt x="92" y="30"/>
                  </a:cubicBezTo>
                  <a:cubicBezTo>
                    <a:pt x="90" y="28"/>
                    <a:pt x="88" y="26"/>
                    <a:pt x="86" y="24"/>
                  </a:cubicBezTo>
                  <a:cubicBezTo>
                    <a:pt x="90" y="17"/>
                    <a:pt x="90" y="17"/>
                    <a:pt x="90" y="17"/>
                  </a:cubicBezTo>
                  <a:cubicBezTo>
                    <a:pt x="92" y="14"/>
                    <a:pt x="91" y="9"/>
                    <a:pt x="87" y="7"/>
                  </a:cubicBezTo>
                  <a:cubicBezTo>
                    <a:pt x="84" y="5"/>
                    <a:pt x="80" y="7"/>
                    <a:pt x="78" y="10"/>
                  </a:cubicBezTo>
                  <a:cubicBezTo>
                    <a:pt x="74" y="17"/>
                    <a:pt x="74" y="17"/>
                    <a:pt x="74" y="17"/>
                  </a:cubicBezTo>
                  <a:cubicBezTo>
                    <a:pt x="71" y="16"/>
                    <a:pt x="68" y="15"/>
                    <a:pt x="65" y="15"/>
                  </a:cubicBezTo>
                  <a:cubicBezTo>
                    <a:pt x="65" y="7"/>
                    <a:pt x="65" y="7"/>
                    <a:pt x="65" y="7"/>
                  </a:cubicBezTo>
                  <a:cubicBezTo>
                    <a:pt x="65" y="3"/>
                    <a:pt x="62" y="0"/>
                    <a:pt x="58" y="0"/>
                  </a:cubicBezTo>
                  <a:cubicBezTo>
                    <a:pt x="54" y="0"/>
                    <a:pt x="51" y="3"/>
                    <a:pt x="51" y="7"/>
                  </a:cubicBezTo>
                  <a:cubicBezTo>
                    <a:pt x="51" y="15"/>
                    <a:pt x="51" y="15"/>
                    <a:pt x="51" y="15"/>
                  </a:cubicBezTo>
                  <a:cubicBezTo>
                    <a:pt x="48" y="15"/>
                    <a:pt x="46" y="16"/>
                    <a:pt x="43" y="17"/>
                  </a:cubicBezTo>
                  <a:cubicBezTo>
                    <a:pt x="39" y="10"/>
                    <a:pt x="39" y="10"/>
                    <a:pt x="39" y="10"/>
                  </a:cubicBezTo>
                  <a:cubicBezTo>
                    <a:pt x="37" y="7"/>
                    <a:pt x="33" y="5"/>
                    <a:pt x="29" y="7"/>
                  </a:cubicBezTo>
                  <a:cubicBezTo>
                    <a:pt x="26" y="9"/>
                    <a:pt x="24" y="14"/>
                    <a:pt x="26" y="17"/>
                  </a:cubicBezTo>
                  <a:cubicBezTo>
                    <a:pt x="30" y="24"/>
                    <a:pt x="30" y="24"/>
                    <a:pt x="30" y="24"/>
                  </a:cubicBezTo>
                  <a:cubicBezTo>
                    <a:pt x="28" y="26"/>
                    <a:pt x="26" y="28"/>
                    <a:pt x="25" y="30"/>
                  </a:cubicBezTo>
                  <a:cubicBezTo>
                    <a:pt x="18" y="26"/>
                    <a:pt x="18" y="26"/>
                    <a:pt x="18" y="26"/>
                  </a:cubicBezTo>
                  <a:cubicBezTo>
                    <a:pt x="14" y="24"/>
                    <a:pt x="10" y="25"/>
                    <a:pt x="8" y="29"/>
                  </a:cubicBezTo>
                  <a:cubicBezTo>
                    <a:pt x="6" y="32"/>
                    <a:pt x="7" y="37"/>
                    <a:pt x="10" y="39"/>
                  </a:cubicBezTo>
                  <a:cubicBezTo>
                    <a:pt x="17" y="43"/>
                    <a:pt x="17" y="43"/>
                    <a:pt x="17" y="43"/>
                  </a:cubicBezTo>
                  <a:cubicBezTo>
                    <a:pt x="16" y="45"/>
                    <a:pt x="16" y="48"/>
                    <a:pt x="15" y="51"/>
                  </a:cubicBezTo>
                  <a:cubicBezTo>
                    <a:pt x="7" y="51"/>
                    <a:pt x="7" y="51"/>
                    <a:pt x="7" y="51"/>
                  </a:cubicBezTo>
                  <a:cubicBezTo>
                    <a:pt x="3" y="51"/>
                    <a:pt x="0" y="54"/>
                    <a:pt x="0" y="58"/>
                  </a:cubicBezTo>
                  <a:cubicBezTo>
                    <a:pt x="0" y="62"/>
                    <a:pt x="3" y="65"/>
                    <a:pt x="7" y="65"/>
                  </a:cubicBezTo>
                  <a:cubicBezTo>
                    <a:pt x="15" y="65"/>
                    <a:pt x="15" y="65"/>
                    <a:pt x="15" y="65"/>
                  </a:cubicBezTo>
                  <a:cubicBezTo>
                    <a:pt x="16" y="68"/>
                    <a:pt x="16" y="71"/>
                    <a:pt x="17" y="73"/>
                  </a:cubicBezTo>
                  <a:cubicBezTo>
                    <a:pt x="10" y="77"/>
                    <a:pt x="10" y="77"/>
                    <a:pt x="10" y="77"/>
                  </a:cubicBezTo>
                  <a:cubicBezTo>
                    <a:pt x="7" y="79"/>
                    <a:pt x="6" y="84"/>
                    <a:pt x="8" y="87"/>
                  </a:cubicBezTo>
                  <a:cubicBezTo>
                    <a:pt x="10" y="91"/>
                    <a:pt x="14" y="92"/>
                    <a:pt x="18" y="90"/>
                  </a:cubicBezTo>
                  <a:cubicBezTo>
                    <a:pt x="25" y="86"/>
                    <a:pt x="25" y="86"/>
                    <a:pt x="25" y="86"/>
                  </a:cubicBezTo>
                  <a:cubicBezTo>
                    <a:pt x="26" y="88"/>
                    <a:pt x="28" y="90"/>
                    <a:pt x="30" y="92"/>
                  </a:cubicBezTo>
                  <a:cubicBezTo>
                    <a:pt x="26" y="99"/>
                    <a:pt x="26" y="99"/>
                    <a:pt x="26" y="99"/>
                  </a:cubicBezTo>
                  <a:cubicBezTo>
                    <a:pt x="24" y="102"/>
                    <a:pt x="26" y="106"/>
                    <a:pt x="29" y="108"/>
                  </a:cubicBezTo>
                  <a:cubicBezTo>
                    <a:pt x="33" y="110"/>
                    <a:pt x="37" y="109"/>
                    <a:pt x="39" y="106"/>
                  </a:cubicBezTo>
                  <a:cubicBezTo>
                    <a:pt x="43" y="99"/>
                    <a:pt x="43" y="99"/>
                    <a:pt x="43" y="99"/>
                  </a:cubicBezTo>
                  <a:cubicBezTo>
                    <a:pt x="46" y="100"/>
                    <a:pt x="48" y="101"/>
                    <a:pt x="51" y="101"/>
                  </a:cubicBezTo>
                  <a:cubicBezTo>
                    <a:pt x="51" y="109"/>
                    <a:pt x="51" y="109"/>
                    <a:pt x="51" y="109"/>
                  </a:cubicBezTo>
                  <a:cubicBezTo>
                    <a:pt x="51" y="113"/>
                    <a:pt x="54" y="116"/>
                    <a:pt x="58" y="116"/>
                  </a:cubicBezTo>
                  <a:cubicBezTo>
                    <a:pt x="62" y="116"/>
                    <a:pt x="65" y="113"/>
                    <a:pt x="65" y="109"/>
                  </a:cubicBezTo>
                  <a:cubicBezTo>
                    <a:pt x="65" y="101"/>
                    <a:pt x="65" y="101"/>
                    <a:pt x="65" y="101"/>
                  </a:cubicBezTo>
                  <a:cubicBezTo>
                    <a:pt x="68" y="101"/>
                    <a:pt x="71" y="100"/>
                    <a:pt x="74" y="99"/>
                  </a:cubicBezTo>
                  <a:cubicBezTo>
                    <a:pt x="78" y="106"/>
                    <a:pt x="78" y="106"/>
                    <a:pt x="78" y="106"/>
                  </a:cubicBezTo>
                  <a:cubicBezTo>
                    <a:pt x="80" y="109"/>
                    <a:pt x="84" y="110"/>
                    <a:pt x="87" y="108"/>
                  </a:cubicBezTo>
                  <a:cubicBezTo>
                    <a:pt x="91" y="106"/>
                    <a:pt x="92" y="102"/>
                    <a:pt x="90" y="99"/>
                  </a:cubicBezTo>
                  <a:cubicBezTo>
                    <a:pt x="86" y="92"/>
                    <a:pt x="86" y="92"/>
                    <a:pt x="86" y="92"/>
                  </a:cubicBezTo>
                  <a:cubicBezTo>
                    <a:pt x="88" y="90"/>
                    <a:pt x="90" y="88"/>
                    <a:pt x="92" y="86"/>
                  </a:cubicBezTo>
                  <a:cubicBezTo>
                    <a:pt x="99" y="90"/>
                    <a:pt x="99" y="90"/>
                    <a:pt x="99" y="90"/>
                  </a:cubicBezTo>
                  <a:cubicBezTo>
                    <a:pt x="102" y="92"/>
                    <a:pt x="107" y="91"/>
                    <a:pt x="109" y="87"/>
                  </a:cubicBezTo>
                  <a:cubicBezTo>
                    <a:pt x="111" y="84"/>
                    <a:pt x="110" y="79"/>
                    <a:pt x="106" y="77"/>
                  </a:cubicBezTo>
                  <a:cubicBezTo>
                    <a:pt x="99" y="73"/>
                    <a:pt x="99" y="73"/>
                    <a:pt x="99" y="73"/>
                  </a:cubicBezTo>
                  <a:cubicBezTo>
                    <a:pt x="100" y="71"/>
                    <a:pt x="101" y="68"/>
                    <a:pt x="101" y="65"/>
                  </a:cubicBezTo>
                  <a:lnTo>
                    <a:pt x="109" y="65"/>
                  </a:lnTo>
                  <a:close/>
                  <a:moveTo>
                    <a:pt x="58" y="94"/>
                  </a:moveTo>
                  <a:cubicBezTo>
                    <a:pt x="38" y="94"/>
                    <a:pt x="22" y="78"/>
                    <a:pt x="22" y="58"/>
                  </a:cubicBezTo>
                  <a:cubicBezTo>
                    <a:pt x="22" y="38"/>
                    <a:pt x="38" y="21"/>
                    <a:pt x="58" y="21"/>
                  </a:cubicBezTo>
                  <a:cubicBezTo>
                    <a:pt x="78" y="21"/>
                    <a:pt x="95" y="38"/>
                    <a:pt x="95" y="58"/>
                  </a:cubicBezTo>
                  <a:cubicBezTo>
                    <a:pt x="95" y="78"/>
                    <a:pt x="78" y="94"/>
                    <a:pt x="58" y="94"/>
                  </a:cubicBezTo>
                </a:path>
              </a:pathLst>
            </a:custGeom>
            <a:solidFill>
              <a:srgbClr val="FFFFFF"/>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 name="Freeform 26"/>
            <p:cNvSpPr>
              <a:spLocks noEditPoints="1"/>
            </p:cNvSpPr>
            <p:nvPr/>
          </p:nvSpPr>
          <p:spPr bwMode="auto">
            <a:xfrm>
              <a:off x="4370388" y="1552576"/>
              <a:ext cx="244475" cy="242888"/>
            </a:xfrm>
            <a:custGeom>
              <a:avLst/>
              <a:gdLst>
                <a:gd name="T0" fmla="*/ 70 w 77"/>
                <a:gd name="T1" fmla="*/ 31 h 77"/>
                <a:gd name="T2" fmla="*/ 64 w 77"/>
                <a:gd name="T3" fmla="*/ 31 h 77"/>
                <a:gd name="T4" fmla="*/ 61 w 77"/>
                <a:gd name="T5" fmla="*/ 26 h 77"/>
                <a:gd name="T6" fmla="*/ 66 w 77"/>
                <a:gd name="T7" fmla="*/ 21 h 77"/>
                <a:gd name="T8" fmla="*/ 66 w 77"/>
                <a:gd name="T9" fmla="*/ 11 h 77"/>
                <a:gd name="T10" fmla="*/ 56 w 77"/>
                <a:gd name="T11" fmla="*/ 11 h 77"/>
                <a:gd name="T12" fmla="*/ 51 w 77"/>
                <a:gd name="T13" fmla="*/ 16 h 77"/>
                <a:gd name="T14" fmla="*/ 46 w 77"/>
                <a:gd name="T15" fmla="*/ 14 h 77"/>
                <a:gd name="T16" fmla="*/ 46 w 77"/>
                <a:gd name="T17" fmla="*/ 7 h 77"/>
                <a:gd name="T18" fmla="*/ 39 w 77"/>
                <a:gd name="T19" fmla="*/ 0 h 77"/>
                <a:gd name="T20" fmla="*/ 32 w 77"/>
                <a:gd name="T21" fmla="*/ 7 h 77"/>
                <a:gd name="T22" fmla="*/ 32 w 77"/>
                <a:gd name="T23" fmla="*/ 14 h 77"/>
                <a:gd name="T24" fmla="*/ 26 w 77"/>
                <a:gd name="T25" fmla="*/ 16 h 77"/>
                <a:gd name="T26" fmla="*/ 22 w 77"/>
                <a:gd name="T27" fmla="*/ 11 h 77"/>
                <a:gd name="T28" fmla="*/ 11 w 77"/>
                <a:gd name="T29" fmla="*/ 11 h 77"/>
                <a:gd name="T30" fmla="*/ 11 w 77"/>
                <a:gd name="T31" fmla="*/ 21 h 77"/>
                <a:gd name="T32" fmla="*/ 16 w 77"/>
                <a:gd name="T33" fmla="*/ 26 h 77"/>
                <a:gd name="T34" fmla="*/ 14 w 77"/>
                <a:gd name="T35" fmla="*/ 31 h 77"/>
                <a:gd name="T36" fmla="*/ 7 w 77"/>
                <a:gd name="T37" fmla="*/ 31 h 77"/>
                <a:gd name="T38" fmla="*/ 0 w 77"/>
                <a:gd name="T39" fmla="*/ 38 h 77"/>
                <a:gd name="T40" fmla="*/ 7 w 77"/>
                <a:gd name="T41" fmla="*/ 46 h 77"/>
                <a:gd name="T42" fmla="*/ 14 w 77"/>
                <a:gd name="T43" fmla="*/ 46 h 77"/>
                <a:gd name="T44" fmla="*/ 16 w 77"/>
                <a:gd name="T45" fmla="*/ 51 h 77"/>
                <a:gd name="T46" fmla="*/ 11 w 77"/>
                <a:gd name="T47" fmla="*/ 56 h 77"/>
                <a:gd name="T48" fmla="*/ 11 w 77"/>
                <a:gd name="T49" fmla="*/ 66 h 77"/>
                <a:gd name="T50" fmla="*/ 22 w 77"/>
                <a:gd name="T51" fmla="*/ 66 h 77"/>
                <a:gd name="T52" fmla="*/ 26 w 77"/>
                <a:gd name="T53" fmla="*/ 61 h 77"/>
                <a:gd name="T54" fmla="*/ 32 w 77"/>
                <a:gd name="T55" fmla="*/ 63 h 77"/>
                <a:gd name="T56" fmla="*/ 32 w 77"/>
                <a:gd name="T57" fmla="*/ 70 h 77"/>
                <a:gd name="T58" fmla="*/ 39 w 77"/>
                <a:gd name="T59" fmla="*/ 77 h 77"/>
                <a:gd name="T60" fmla="*/ 46 w 77"/>
                <a:gd name="T61" fmla="*/ 70 h 77"/>
                <a:gd name="T62" fmla="*/ 46 w 77"/>
                <a:gd name="T63" fmla="*/ 63 h 77"/>
                <a:gd name="T64" fmla="*/ 51 w 77"/>
                <a:gd name="T65" fmla="*/ 61 h 77"/>
                <a:gd name="T66" fmla="*/ 56 w 77"/>
                <a:gd name="T67" fmla="*/ 66 h 77"/>
                <a:gd name="T68" fmla="*/ 66 w 77"/>
                <a:gd name="T69" fmla="*/ 66 h 77"/>
                <a:gd name="T70" fmla="*/ 66 w 77"/>
                <a:gd name="T71" fmla="*/ 56 h 77"/>
                <a:gd name="T72" fmla="*/ 61 w 77"/>
                <a:gd name="T73" fmla="*/ 51 h 77"/>
                <a:gd name="T74" fmla="*/ 64 w 77"/>
                <a:gd name="T75" fmla="*/ 46 h 77"/>
                <a:gd name="T76" fmla="*/ 70 w 77"/>
                <a:gd name="T77" fmla="*/ 46 h 77"/>
                <a:gd name="T78" fmla="*/ 77 w 77"/>
                <a:gd name="T79" fmla="*/ 38 h 77"/>
                <a:gd name="T80" fmla="*/ 70 w 77"/>
                <a:gd name="T81" fmla="*/ 31 h 77"/>
                <a:gd name="T82" fmla="*/ 39 w 77"/>
                <a:gd name="T83" fmla="*/ 57 h 77"/>
                <a:gd name="T84" fmla="*/ 20 w 77"/>
                <a:gd name="T85" fmla="*/ 38 h 77"/>
                <a:gd name="T86" fmla="*/ 39 w 77"/>
                <a:gd name="T87" fmla="*/ 20 h 77"/>
                <a:gd name="T88" fmla="*/ 57 w 77"/>
                <a:gd name="T89" fmla="*/ 38 h 77"/>
                <a:gd name="T90" fmla="*/ 39 w 77"/>
                <a:gd name="T91" fmla="*/ 5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7" h="77">
                  <a:moveTo>
                    <a:pt x="70" y="31"/>
                  </a:moveTo>
                  <a:cubicBezTo>
                    <a:pt x="64" y="31"/>
                    <a:pt x="64" y="31"/>
                    <a:pt x="64" y="31"/>
                  </a:cubicBezTo>
                  <a:cubicBezTo>
                    <a:pt x="63" y="29"/>
                    <a:pt x="62" y="28"/>
                    <a:pt x="61" y="26"/>
                  </a:cubicBezTo>
                  <a:cubicBezTo>
                    <a:pt x="66" y="21"/>
                    <a:pt x="66" y="21"/>
                    <a:pt x="66" y="21"/>
                  </a:cubicBezTo>
                  <a:cubicBezTo>
                    <a:pt x="69" y="18"/>
                    <a:pt x="69" y="14"/>
                    <a:pt x="66" y="11"/>
                  </a:cubicBezTo>
                  <a:cubicBezTo>
                    <a:pt x="63" y="8"/>
                    <a:pt x="59" y="8"/>
                    <a:pt x="56" y="11"/>
                  </a:cubicBezTo>
                  <a:cubicBezTo>
                    <a:pt x="51" y="16"/>
                    <a:pt x="51" y="16"/>
                    <a:pt x="51" y="16"/>
                  </a:cubicBezTo>
                  <a:cubicBezTo>
                    <a:pt x="50" y="15"/>
                    <a:pt x="48" y="14"/>
                    <a:pt x="46" y="14"/>
                  </a:cubicBezTo>
                  <a:cubicBezTo>
                    <a:pt x="46" y="7"/>
                    <a:pt x="46" y="7"/>
                    <a:pt x="46" y="7"/>
                  </a:cubicBezTo>
                  <a:cubicBezTo>
                    <a:pt x="46" y="3"/>
                    <a:pt x="43" y="0"/>
                    <a:pt x="39" y="0"/>
                  </a:cubicBezTo>
                  <a:cubicBezTo>
                    <a:pt x="35" y="0"/>
                    <a:pt x="32" y="3"/>
                    <a:pt x="32" y="7"/>
                  </a:cubicBezTo>
                  <a:cubicBezTo>
                    <a:pt x="32" y="14"/>
                    <a:pt x="32" y="14"/>
                    <a:pt x="32" y="14"/>
                  </a:cubicBezTo>
                  <a:cubicBezTo>
                    <a:pt x="30" y="14"/>
                    <a:pt x="28" y="15"/>
                    <a:pt x="26" y="16"/>
                  </a:cubicBezTo>
                  <a:cubicBezTo>
                    <a:pt x="22" y="11"/>
                    <a:pt x="22" y="11"/>
                    <a:pt x="22" y="11"/>
                  </a:cubicBezTo>
                  <a:cubicBezTo>
                    <a:pt x="19" y="8"/>
                    <a:pt x="14" y="8"/>
                    <a:pt x="11" y="11"/>
                  </a:cubicBezTo>
                  <a:cubicBezTo>
                    <a:pt x="9" y="14"/>
                    <a:pt x="9" y="18"/>
                    <a:pt x="11" y="21"/>
                  </a:cubicBezTo>
                  <a:cubicBezTo>
                    <a:pt x="16" y="26"/>
                    <a:pt x="16" y="26"/>
                    <a:pt x="16" y="26"/>
                  </a:cubicBezTo>
                  <a:cubicBezTo>
                    <a:pt x="15" y="28"/>
                    <a:pt x="15" y="29"/>
                    <a:pt x="14" y="31"/>
                  </a:cubicBezTo>
                  <a:cubicBezTo>
                    <a:pt x="7" y="31"/>
                    <a:pt x="7" y="31"/>
                    <a:pt x="7" y="31"/>
                  </a:cubicBezTo>
                  <a:cubicBezTo>
                    <a:pt x="3" y="31"/>
                    <a:pt x="0" y="34"/>
                    <a:pt x="0" y="38"/>
                  </a:cubicBezTo>
                  <a:cubicBezTo>
                    <a:pt x="0" y="42"/>
                    <a:pt x="3" y="46"/>
                    <a:pt x="7" y="46"/>
                  </a:cubicBezTo>
                  <a:cubicBezTo>
                    <a:pt x="14" y="46"/>
                    <a:pt x="14" y="46"/>
                    <a:pt x="14" y="46"/>
                  </a:cubicBezTo>
                  <a:cubicBezTo>
                    <a:pt x="15" y="47"/>
                    <a:pt x="15" y="49"/>
                    <a:pt x="16" y="51"/>
                  </a:cubicBezTo>
                  <a:cubicBezTo>
                    <a:pt x="11" y="56"/>
                    <a:pt x="11" y="56"/>
                    <a:pt x="11" y="56"/>
                  </a:cubicBezTo>
                  <a:cubicBezTo>
                    <a:pt x="9" y="58"/>
                    <a:pt x="9" y="63"/>
                    <a:pt x="11" y="66"/>
                  </a:cubicBezTo>
                  <a:cubicBezTo>
                    <a:pt x="14" y="69"/>
                    <a:pt x="19" y="69"/>
                    <a:pt x="22" y="66"/>
                  </a:cubicBezTo>
                  <a:cubicBezTo>
                    <a:pt x="26" y="61"/>
                    <a:pt x="26" y="61"/>
                    <a:pt x="26" y="61"/>
                  </a:cubicBezTo>
                  <a:cubicBezTo>
                    <a:pt x="28" y="62"/>
                    <a:pt x="30" y="63"/>
                    <a:pt x="32" y="63"/>
                  </a:cubicBezTo>
                  <a:cubicBezTo>
                    <a:pt x="32" y="70"/>
                    <a:pt x="32" y="70"/>
                    <a:pt x="32" y="70"/>
                  </a:cubicBezTo>
                  <a:cubicBezTo>
                    <a:pt x="32" y="74"/>
                    <a:pt x="35" y="77"/>
                    <a:pt x="39" y="77"/>
                  </a:cubicBezTo>
                  <a:cubicBezTo>
                    <a:pt x="43" y="77"/>
                    <a:pt x="46" y="74"/>
                    <a:pt x="46" y="70"/>
                  </a:cubicBezTo>
                  <a:cubicBezTo>
                    <a:pt x="46" y="63"/>
                    <a:pt x="46" y="63"/>
                    <a:pt x="46" y="63"/>
                  </a:cubicBezTo>
                  <a:cubicBezTo>
                    <a:pt x="48" y="63"/>
                    <a:pt x="50" y="62"/>
                    <a:pt x="51" y="61"/>
                  </a:cubicBezTo>
                  <a:cubicBezTo>
                    <a:pt x="56" y="66"/>
                    <a:pt x="56" y="66"/>
                    <a:pt x="56" y="66"/>
                  </a:cubicBezTo>
                  <a:cubicBezTo>
                    <a:pt x="59" y="69"/>
                    <a:pt x="63" y="69"/>
                    <a:pt x="66" y="66"/>
                  </a:cubicBezTo>
                  <a:cubicBezTo>
                    <a:pt x="69" y="63"/>
                    <a:pt x="69" y="58"/>
                    <a:pt x="66" y="56"/>
                  </a:cubicBezTo>
                  <a:cubicBezTo>
                    <a:pt x="61" y="51"/>
                    <a:pt x="61" y="51"/>
                    <a:pt x="61" y="51"/>
                  </a:cubicBezTo>
                  <a:cubicBezTo>
                    <a:pt x="62" y="49"/>
                    <a:pt x="63" y="47"/>
                    <a:pt x="64" y="46"/>
                  </a:cubicBezTo>
                  <a:cubicBezTo>
                    <a:pt x="70" y="46"/>
                    <a:pt x="70" y="46"/>
                    <a:pt x="70" y="46"/>
                  </a:cubicBezTo>
                  <a:cubicBezTo>
                    <a:pt x="74" y="46"/>
                    <a:pt x="77" y="42"/>
                    <a:pt x="77" y="38"/>
                  </a:cubicBezTo>
                  <a:cubicBezTo>
                    <a:pt x="77" y="34"/>
                    <a:pt x="74" y="31"/>
                    <a:pt x="70" y="31"/>
                  </a:cubicBezTo>
                  <a:moveTo>
                    <a:pt x="39" y="57"/>
                  </a:moveTo>
                  <a:cubicBezTo>
                    <a:pt x="29" y="57"/>
                    <a:pt x="20" y="49"/>
                    <a:pt x="20" y="38"/>
                  </a:cubicBezTo>
                  <a:cubicBezTo>
                    <a:pt x="20" y="28"/>
                    <a:pt x="29" y="20"/>
                    <a:pt x="39" y="20"/>
                  </a:cubicBezTo>
                  <a:cubicBezTo>
                    <a:pt x="49" y="20"/>
                    <a:pt x="57" y="28"/>
                    <a:pt x="57" y="38"/>
                  </a:cubicBezTo>
                  <a:cubicBezTo>
                    <a:pt x="57" y="49"/>
                    <a:pt x="49" y="57"/>
                    <a:pt x="39" y="57"/>
                  </a:cubicBezTo>
                </a:path>
              </a:pathLst>
            </a:custGeom>
            <a:solidFill>
              <a:srgbClr val="FFFFFF"/>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20" name="组合 19"/>
          <p:cNvGrpSpPr/>
          <p:nvPr/>
        </p:nvGrpSpPr>
        <p:grpSpPr>
          <a:xfrm>
            <a:off x="5935560" y="3851195"/>
            <a:ext cx="433387" cy="374650"/>
            <a:chOff x="4456113" y="6981826"/>
            <a:chExt cx="433387" cy="374650"/>
          </a:xfrm>
        </p:grpSpPr>
        <p:sp>
          <p:nvSpPr>
            <p:cNvPr id="21" name="Freeform 27"/>
            <p:cNvSpPr>
              <a:spLocks noEditPoints="1"/>
            </p:cNvSpPr>
            <p:nvPr/>
          </p:nvSpPr>
          <p:spPr bwMode="auto">
            <a:xfrm>
              <a:off x="4456113" y="6981826"/>
              <a:ext cx="306387" cy="374650"/>
            </a:xfrm>
            <a:custGeom>
              <a:avLst/>
              <a:gdLst>
                <a:gd name="T0" fmla="*/ 67 w 96"/>
                <a:gd name="T1" fmla="*/ 48 h 119"/>
                <a:gd name="T2" fmla="*/ 76 w 96"/>
                <a:gd name="T3" fmla="*/ 28 h 119"/>
                <a:gd name="T4" fmla="*/ 48 w 96"/>
                <a:gd name="T5" fmla="*/ 0 h 119"/>
                <a:gd name="T6" fmla="*/ 20 w 96"/>
                <a:gd name="T7" fmla="*/ 28 h 119"/>
                <a:gd name="T8" fmla="*/ 29 w 96"/>
                <a:gd name="T9" fmla="*/ 48 h 119"/>
                <a:gd name="T10" fmla="*/ 0 w 96"/>
                <a:gd name="T11" fmla="*/ 92 h 119"/>
                <a:gd name="T12" fmla="*/ 0 w 96"/>
                <a:gd name="T13" fmla="*/ 119 h 119"/>
                <a:gd name="T14" fmla="*/ 96 w 96"/>
                <a:gd name="T15" fmla="*/ 119 h 119"/>
                <a:gd name="T16" fmla="*/ 96 w 96"/>
                <a:gd name="T17" fmla="*/ 92 h 119"/>
                <a:gd name="T18" fmla="*/ 67 w 96"/>
                <a:gd name="T19" fmla="*/ 48 h 119"/>
                <a:gd name="T20" fmla="*/ 27 w 96"/>
                <a:gd name="T21" fmla="*/ 28 h 119"/>
                <a:gd name="T22" fmla="*/ 48 w 96"/>
                <a:gd name="T23" fmla="*/ 8 h 119"/>
                <a:gd name="T24" fmla="*/ 69 w 96"/>
                <a:gd name="T25" fmla="*/ 28 h 119"/>
                <a:gd name="T26" fmla="*/ 59 w 96"/>
                <a:gd name="T27" fmla="*/ 46 h 119"/>
                <a:gd name="T28" fmla="*/ 48 w 96"/>
                <a:gd name="T29" fmla="*/ 49 h 119"/>
                <a:gd name="T30" fmla="*/ 37 w 96"/>
                <a:gd name="T31" fmla="*/ 46 h 119"/>
                <a:gd name="T32" fmla="*/ 27 w 96"/>
                <a:gd name="T33" fmla="*/ 28 h 119"/>
                <a:gd name="T34" fmla="*/ 83 w 96"/>
                <a:gd name="T35" fmla="*/ 107 h 119"/>
                <a:gd name="T36" fmla="*/ 13 w 96"/>
                <a:gd name="T37" fmla="*/ 107 h 119"/>
                <a:gd name="T38" fmla="*/ 13 w 96"/>
                <a:gd name="T39" fmla="*/ 92 h 119"/>
                <a:gd name="T40" fmla="*/ 48 w 96"/>
                <a:gd name="T41" fmla="*/ 57 h 119"/>
                <a:gd name="T42" fmla="*/ 83 w 96"/>
                <a:gd name="T43" fmla="*/ 92 h 119"/>
                <a:gd name="T44" fmla="*/ 83 w 96"/>
                <a:gd name="T45" fmla="*/ 10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6" h="119">
                  <a:moveTo>
                    <a:pt x="67" y="48"/>
                  </a:moveTo>
                  <a:cubicBezTo>
                    <a:pt x="73" y="43"/>
                    <a:pt x="76" y="36"/>
                    <a:pt x="76" y="28"/>
                  </a:cubicBezTo>
                  <a:cubicBezTo>
                    <a:pt x="76" y="13"/>
                    <a:pt x="63" y="0"/>
                    <a:pt x="48" y="0"/>
                  </a:cubicBezTo>
                  <a:cubicBezTo>
                    <a:pt x="33" y="0"/>
                    <a:pt x="20" y="13"/>
                    <a:pt x="20" y="28"/>
                  </a:cubicBezTo>
                  <a:cubicBezTo>
                    <a:pt x="20" y="36"/>
                    <a:pt x="24" y="43"/>
                    <a:pt x="29" y="48"/>
                  </a:cubicBezTo>
                  <a:cubicBezTo>
                    <a:pt x="12" y="56"/>
                    <a:pt x="0" y="73"/>
                    <a:pt x="0" y="92"/>
                  </a:cubicBezTo>
                  <a:cubicBezTo>
                    <a:pt x="0" y="119"/>
                    <a:pt x="0" y="119"/>
                    <a:pt x="0" y="119"/>
                  </a:cubicBezTo>
                  <a:cubicBezTo>
                    <a:pt x="96" y="119"/>
                    <a:pt x="96" y="119"/>
                    <a:pt x="96" y="119"/>
                  </a:cubicBezTo>
                  <a:cubicBezTo>
                    <a:pt x="96" y="92"/>
                    <a:pt x="96" y="92"/>
                    <a:pt x="96" y="92"/>
                  </a:cubicBezTo>
                  <a:cubicBezTo>
                    <a:pt x="96" y="73"/>
                    <a:pt x="84" y="56"/>
                    <a:pt x="67" y="48"/>
                  </a:cubicBezTo>
                  <a:moveTo>
                    <a:pt x="27" y="28"/>
                  </a:moveTo>
                  <a:cubicBezTo>
                    <a:pt x="27" y="17"/>
                    <a:pt x="37" y="8"/>
                    <a:pt x="48" y="8"/>
                  </a:cubicBezTo>
                  <a:cubicBezTo>
                    <a:pt x="59" y="8"/>
                    <a:pt x="69" y="17"/>
                    <a:pt x="69" y="28"/>
                  </a:cubicBezTo>
                  <a:cubicBezTo>
                    <a:pt x="69" y="36"/>
                    <a:pt x="65" y="42"/>
                    <a:pt x="59" y="46"/>
                  </a:cubicBezTo>
                  <a:cubicBezTo>
                    <a:pt x="56" y="48"/>
                    <a:pt x="52" y="49"/>
                    <a:pt x="48" y="49"/>
                  </a:cubicBezTo>
                  <a:cubicBezTo>
                    <a:pt x="44" y="49"/>
                    <a:pt x="40" y="48"/>
                    <a:pt x="37" y="46"/>
                  </a:cubicBezTo>
                  <a:cubicBezTo>
                    <a:pt x="31" y="42"/>
                    <a:pt x="27" y="36"/>
                    <a:pt x="27" y="28"/>
                  </a:cubicBezTo>
                  <a:moveTo>
                    <a:pt x="83" y="107"/>
                  </a:moveTo>
                  <a:cubicBezTo>
                    <a:pt x="13" y="107"/>
                    <a:pt x="13" y="107"/>
                    <a:pt x="13" y="107"/>
                  </a:cubicBezTo>
                  <a:cubicBezTo>
                    <a:pt x="13" y="92"/>
                    <a:pt x="13" y="92"/>
                    <a:pt x="13" y="92"/>
                  </a:cubicBezTo>
                  <a:cubicBezTo>
                    <a:pt x="13" y="73"/>
                    <a:pt x="29" y="57"/>
                    <a:pt x="48" y="57"/>
                  </a:cubicBezTo>
                  <a:cubicBezTo>
                    <a:pt x="68" y="57"/>
                    <a:pt x="83" y="73"/>
                    <a:pt x="83" y="92"/>
                  </a:cubicBezTo>
                  <a:lnTo>
                    <a:pt x="83" y="107"/>
                  </a:lnTo>
                  <a:close/>
                </a:path>
              </a:pathLst>
            </a:custGeom>
            <a:solidFill>
              <a:srgbClr val="FFFFFF"/>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 name="Freeform 28"/>
            <p:cNvSpPr/>
            <p:nvPr/>
          </p:nvSpPr>
          <p:spPr bwMode="auto">
            <a:xfrm>
              <a:off x="4749800" y="6988176"/>
              <a:ext cx="139700" cy="195263"/>
            </a:xfrm>
            <a:custGeom>
              <a:avLst/>
              <a:gdLst>
                <a:gd name="T0" fmla="*/ 22 w 44"/>
                <a:gd name="T1" fmla="*/ 62 h 62"/>
                <a:gd name="T2" fmla="*/ 19 w 44"/>
                <a:gd name="T3" fmla="*/ 58 h 62"/>
                <a:gd name="T4" fmla="*/ 19 w 44"/>
                <a:gd name="T5" fmla="*/ 37 h 62"/>
                <a:gd name="T6" fmla="*/ 22 w 44"/>
                <a:gd name="T7" fmla="*/ 37 h 62"/>
                <a:gd name="T8" fmla="*/ 37 w 44"/>
                <a:gd name="T9" fmla="*/ 22 h 62"/>
                <a:gd name="T10" fmla="*/ 22 w 44"/>
                <a:gd name="T11" fmla="*/ 7 h 62"/>
                <a:gd name="T12" fmla="*/ 8 w 44"/>
                <a:gd name="T13" fmla="*/ 22 h 62"/>
                <a:gd name="T14" fmla="*/ 4 w 44"/>
                <a:gd name="T15" fmla="*/ 26 h 62"/>
                <a:gd name="T16" fmla="*/ 0 w 44"/>
                <a:gd name="T17" fmla="*/ 22 h 62"/>
                <a:gd name="T18" fmla="*/ 22 w 44"/>
                <a:gd name="T19" fmla="*/ 0 h 62"/>
                <a:gd name="T20" fmla="*/ 44 w 44"/>
                <a:gd name="T21" fmla="*/ 22 h 62"/>
                <a:gd name="T22" fmla="*/ 26 w 44"/>
                <a:gd name="T23" fmla="*/ 44 h 62"/>
                <a:gd name="T24" fmla="*/ 26 w 44"/>
                <a:gd name="T25" fmla="*/ 58 h 62"/>
                <a:gd name="T26" fmla="*/ 22 w 44"/>
                <a:gd name="T27" fmla="*/ 62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4" h="62">
                  <a:moveTo>
                    <a:pt x="22" y="62"/>
                  </a:moveTo>
                  <a:cubicBezTo>
                    <a:pt x="20" y="62"/>
                    <a:pt x="19" y="60"/>
                    <a:pt x="19" y="58"/>
                  </a:cubicBezTo>
                  <a:cubicBezTo>
                    <a:pt x="19" y="37"/>
                    <a:pt x="19" y="37"/>
                    <a:pt x="19" y="37"/>
                  </a:cubicBezTo>
                  <a:cubicBezTo>
                    <a:pt x="22" y="37"/>
                    <a:pt x="22" y="37"/>
                    <a:pt x="22" y="37"/>
                  </a:cubicBezTo>
                  <a:cubicBezTo>
                    <a:pt x="31" y="37"/>
                    <a:pt x="37" y="30"/>
                    <a:pt x="37" y="22"/>
                  </a:cubicBezTo>
                  <a:cubicBezTo>
                    <a:pt x="37" y="14"/>
                    <a:pt x="31" y="7"/>
                    <a:pt x="22" y="7"/>
                  </a:cubicBezTo>
                  <a:cubicBezTo>
                    <a:pt x="14" y="7"/>
                    <a:pt x="8" y="14"/>
                    <a:pt x="8" y="22"/>
                  </a:cubicBezTo>
                  <a:cubicBezTo>
                    <a:pt x="8" y="24"/>
                    <a:pt x="6" y="26"/>
                    <a:pt x="4" y="26"/>
                  </a:cubicBezTo>
                  <a:cubicBezTo>
                    <a:pt x="2" y="26"/>
                    <a:pt x="0" y="24"/>
                    <a:pt x="0" y="22"/>
                  </a:cubicBezTo>
                  <a:cubicBezTo>
                    <a:pt x="0" y="10"/>
                    <a:pt x="10" y="0"/>
                    <a:pt x="22" y="0"/>
                  </a:cubicBezTo>
                  <a:cubicBezTo>
                    <a:pt x="34" y="0"/>
                    <a:pt x="44" y="10"/>
                    <a:pt x="44" y="22"/>
                  </a:cubicBezTo>
                  <a:cubicBezTo>
                    <a:pt x="44" y="33"/>
                    <a:pt x="36" y="42"/>
                    <a:pt x="26" y="44"/>
                  </a:cubicBezTo>
                  <a:cubicBezTo>
                    <a:pt x="26" y="58"/>
                    <a:pt x="26" y="58"/>
                    <a:pt x="26" y="58"/>
                  </a:cubicBezTo>
                  <a:cubicBezTo>
                    <a:pt x="26" y="60"/>
                    <a:pt x="24" y="62"/>
                    <a:pt x="22" y="62"/>
                  </a:cubicBezTo>
                </a:path>
              </a:pathLst>
            </a:custGeom>
            <a:solidFill>
              <a:srgbClr val="FFFFFF"/>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 name="Oval 29"/>
            <p:cNvSpPr>
              <a:spLocks noChangeArrowheads="1"/>
            </p:cNvSpPr>
            <p:nvPr/>
          </p:nvSpPr>
          <p:spPr bwMode="auto">
            <a:xfrm>
              <a:off x="4803775" y="7196138"/>
              <a:ext cx="34925" cy="33338"/>
            </a:xfrm>
            <a:prstGeom prst="ellipse">
              <a:avLst/>
            </a:prstGeom>
            <a:solidFill>
              <a:srgbClr val="FFFFFF"/>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24" name="Freeform 30"/>
          <p:cNvSpPr>
            <a:spLocks noEditPoints="1"/>
          </p:cNvSpPr>
          <p:nvPr/>
        </p:nvSpPr>
        <p:spPr bwMode="auto">
          <a:xfrm>
            <a:off x="5892697" y="2605565"/>
            <a:ext cx="525462" cy="379413"/>
          </a:xfrm>
          <a:custGeom>
            <a:avLst/>
            <a:gdLst>
              <a:gd name="T0" fmla="*/ 47 w 165"/>
              <a:gd name="T1" fmla="*/ 57 h 121"/>
              <a:gd name="T2" fmla="*/ 60 w 165"/>
              <a:gd name="T3" fmla="*/ 82 h 121"/>
              <a:gd name="T4" fmla="*/ 98 w 165"/>
              <a:gd name="T5" fmla="*/ 78 h 121"/>
              <a:gd name="T6" fmla="*/ 104 w 165"/>
              <a:gd name="T7" fmla="*/ 68 h 121"/>
              <a:gd name="T8" fmla="*/ 77 w 165"/>
              <a:gd name="T9" fmla="*/ 28 h 121"/>
              <a:gd name="T10" fmla="*/ 141 w 165"/>
              <a:gd name="T11" fmla="*/ 121 h 121"/>
              <a:gd name="T12" fmla="*/ 117 w 165"/>
              <a:gd name="T13" fmla="*/ 91 h 121"/>
              <a:gd name="T14" fmla="*/ 77 w 165"/>
              <a:gd name="T15" fmla="*/ 94 h 121"/>
              <a:gd name="T16" fmla="*/ 30 w 165"/>
              <a:gd name="T17" fmla="*/ 115 h 121"/>
              <a:gd name="T18" fmla="*/ 30 w 165"/>
              <a:gd name="T19" fmla="*/ 55 h 121"/>
              <a:gd name="T20" fmla="*/ 43 w 165"/>
              <a:gd name="T21" fmla="*/ 45 h 121"/>
              <a:gd name="T22" fmla="*/ 34 w 165"/>
              <a:gd name="T23" fmla="*/ 39 h 121"/>
              <a:gd name="T24" fmla="*/ 5 w 165"/>
              <a:gd name="T25" fmla="*/ 24 h 121"/>
              <a:gd name="T26" fmla="*/ 42 w 165"/>
              <a:gd name="T27" fmla="*/ 24 h 121"/>
              <a:gd name="T28" fmla="*/ 50 w 165"/>
              <a:gd name="T29" fmla="*/ 32 h 121"/>
              <a:gd name="T30" fmla="*/ 104 w 165"/>
              <a:gd name="T31" fmla="*/ 33 h 121"/>
              <a:gd name="T32" fmla="*/ 110 w 165"/>
              <a:gd name="T33" fmla="*/ 24 h 121"/>
              <a:gd name="T34" fmla="*/ 159 w 165"/>
              <a:gd name="T35" fmla="*/ 24 h 121"/>
              <a:gd name="T36" fmla="*/ 118 w 165"/>
              <a:gd name="T37" fmla="*/ 42 h 121"/>
              <a:gd name="T38" fmla="*/ 113 w 165"/>
              <a:gd name="T39" fmla="*/ 57 h 121"/>
              <a:gd name="T40" fmla="*/ 125 w 165"/>
              <a:gd name="T41" fmla="*/ 79 h 121"/>
              <a:gd name="T42" fmla="*/ 165 w 165"/>
              <a:gd name="T43" fmla="*/ 97 h 121"/>
              <a:gd name="T44" fmla="*/ 41 w 165"/>
              <a:gd name="T45" fmla="*/ 64 h 121"/>
              <a:gd name="T46" fmla="*/ 7 w 165"/>
              <a:gd name="T47" fmla="*/ 85 h 121"/>
              <a:gd name="T48" fmla="*/ 53 w 165"/>
              <a:gd name="T49" fmla="*/ 85 h 121"/>
              <a:gd name="T50" fmla="*/ 116 w 165"/>
              <a:gd name="T51" fmla="*/ 27 h 121"/>
              <a:gd name="T52" fmla="*/ 123 w 165"/>
              <a:gd name="T53" fmla="*/ 39 h 121"/>
              <a:gd name="T54" fmla="*/ 153 w 165"/>
              <a:gd name="T55" fmla="*/ 24 h 121"/>
              <a:gd name="T56" fmla="*/ 116 w 165"/>
              <a:gd name="T57" fmla="*/ 24 h 121"/>
              <a:gd name="T58" fmla="*/ 23 w 165"/>
              <a:gd name="T59" fmla="*/ 12 h 121"/>
              <a:gd name="T60" fmla="*/ 23 w 165"/>
              <a:gd name="T61" fmla="*/ 37 h 121"/>
              <a:gd name="T62" fmla="*/ 28 w 165"/>
              <a:gd name="T63" fmla="*/ 27 h 121"/>
              <a:gd name="T64" fmla="*/ 158 w 165"/>
              <a:gd name="T65" fmla="*/ 97 h 121"/>
              <a:gd name="T66" fmla="*/ 123 w 165"/>
              <a:gd name="T67" fmla="*/ 97 h 121"/>
              <a:gd name="T68" fmla="*/ 158 w 165"/>
              <a:gd name="T69" fmla="*/ 97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5" h="121">
                <a:moveTo>
                  <a:pt x="77" y="28"/>
                </a:moveTo>
                <a:cubicBezTo>
                  <a:pt x="61" y="28"/>
                  <a:pt x="47" y="41"/>
                  <a:pt x="47" y="57"/>
                </a:cubicBezTo>
                <a:cubicBezTo>
                  <a:pt x="47" y="58"/>
                  <a:pt x="47" y="59"/>
                  <a:pt x="48" y="60"/>
                </a:cubicBezTo>
                <a:cubicBezTo>
                  <a:pt x="55" y="65"/>
                  <a:pt x="59" y="73"/>
                  <a:pt x="60" y="82"/>
                </a:cubicBezTo>
                <a:cubicBezTo>
                  <a:pt x="65" y="85"/>
                  <a:pt x="71" y="87"/>
                  <a:pt x="77" y="87"/>
                </a:cubicBezTo>
                <a:cubicBezTo>
                  <a:pt x="85" y="87"/>
                  <a:pt x="92" y="83"/>
                  <a:pt x="98" y="78"/>
                </a:cubicBezTo>
                <a:cubicBezTo>
                  <a:pt x="97" y="76"/>
                  <a:pt x="97" y="73"/>
                  <a:pt x="98" y="71"/>
                </a:cubicBezTo>
                <a:cubicBezTo>
                  <a:pt x="100" y="69"/>
                  <a:pt x="102" y="68"/>
                  <a:pt x="104" y="68"/>
                </a:cubicBezTo>
                <a:cubicBezTo>
                  <a:pt x="105" y="65"/>
                  <a:pt x="106" y="61"/>
                  <a:pt x="106" y="57"/>
                </a:cubicBezTo>
                <a:cubicBezTo>
                  <a:pt x="106" y="41"/>
                  <a:pt x="93" y="28"/>
                  <a:pt x="77" y="28"/>
                </a:cubicBezTo>
                <a:moveTo>
                  <a:pt x="165" y="97"/>
                </a:moveTo>
                <a:cubicBezTo>
                  <a:pt x="165" y="111"/>
                  <a:pt x="154" y="121"/>
                  <a:pt x="141" y="121"/>
                </a:cubicBezTo>
                <a:cubicBezTo>
                  <a:pt x="127" y="121"/>
                  <a:pt x="116" y="111"/>
                  <a:pt x="116" y="97"/>
                </a:cubicBezTo>
                <a:cubicBezTo>
                  <a:pt x="116" y="95"/>
                  <a:pt x="117" y="93"/>
                  <a:pt x="117" y="91"/>
                </a:cubicBezTo>
                <a:cubicBezTo>
                  <a:pt x="115" y="90"/>
                  <a:pt x="106" y="84"/>
                  <a:pt x="103" y="83"/>
                </a:cubicBezTo>
                <a:cubicBezTo>
                  <a:pt x="96" y="90"/>
                  <a:pt x="87" y="94"/>
                  <a:pt x="77" y="94"/>
                </a:cubicBezTo>
                <a:cubicBezTo>
                  <a:pt x="71" y="94"/>
                  <a:pt x="65" y="92"/>
                  <a:pt x="60" y="90"/>
                </a:cubicBezTo>
                <a:cubicBezTo>
                  <a:pt x="58" y="104"/>
                  <a:pt x="45" y="115"/>
                  <a:pt x="30" y="115"/>
                </a:cubicBezTo>
                <a:cubicBezTo>
                  <a:pt x="13" y="115"/>
                  <a:pt x="0" y="102"/>
                  <a:pt x="0" y="85"/>
                </a:cubicBezTo>
                <a:cubicBezTo>
                  <a:pt x="0" y="68"/>
                  <a:pt x="13" y="55"/>
                  <a:pt x="30" y="55"/>
                </a:cubicBezTo>
                <a:cubicBezTo>
                  <a:pt x="34" y="55"/>
                  <a:pt x="37" y="55"/>
                  <a:pt x="40" y="56"/>
                </a:cubicBezTo>
                <a:cubicBezTo>
                  <a:pt x="40" y="52"/>
                  <a:pt x="41" y="48"/>
                  <a:pt x="43" y="45"/>
                </a:cubicBezTo>
                <a:cubicBezTo>
                  <a:pt x="42" y="45"/>
                  <a:pt x="42" y="45"/>
                  <a:pt x="42" y="45"/>
                </a:cubicBezTo>
                <a:cubicBezTo>
                  <a:pt x="34" y="39"/>
                  <a:pt x="34" y="39"/>
                  <a:pt x="34" y="39"/>
                </a:cubicBezTo>
                <a:cubicBezTo>
                  <a:pt x="31" y="41"/>
                  <a:pt x="27" y="43"/>
                  <a:pt x="23" y="43"/>
                </a:cubicBezTo>
                <a:cubicBezTo>
                  <a:pt x="13" y="43"/>
                  <a:pt x="5" y="34"/>
                  <a:pt x="5" y="24"/>
                </a:cubicBezTo>
                <a:cubicBezTo>
                  <a:pt x="5" y="14"/>
                  <a:pt x="13" y="6"/>
                  <a:pt x="23" y="6"/>
                </a:cubicBezTo>
                <a:cubicBezTo>
                  <a:pt x="34" y="6"/>
                  <a:pt x="42" y="14"/>
                  <a:pt x="42" y="24"/>
                </a:cubicBezTo>
                <a:cubicBezTo>
                  <a:pt x="42" y="25"/>
                  <a:pt x="42" y="26"/>
                  <a:pt x="42" y="27"/>
                </a:cubicBezTo>
                <a:cubicBezTo>
                  <a:pt x="50" y="32"/>
                  <a:pt x="50" y="32"/>
                  <a:pt x="50" y="32"/>
                </a:cubicBezTo>
                <a:cubicBezTo>
                  <a:pt x="57" y="25"/>
                  <a:pt x="66" y="21"/>
                  <a:pt x="77" y="21"/>
                </a:cubicBezTo>
                <a:cubicBezTo>
                  <a:pt x="88" y="21"/>
                  <a:pt x="98" y="26"/>
                  <a:pt x="104" y="33"/>
                </a:cubicBezTo>
                <a:cubicBezTo>
                  <a:pt x="111" y="30"/>
                  <a:pt x="111" y="30"/>
                  <a:pt x="111" y="30"/>
                </a:cubicBezTo>
                <a:cubicBezTo>
                  <a:pt x="110" y="28"/>
                  <a:pt x="110" y="26"/>
                  <a:pt x="110" y="24"/>
                </a:cubicBezTo>
                <a:cubicBezTo>
                  <a:pt x="110" y="11"/>
                  <a:pt x="121" y="0"/>
                  <a:pt x="135" y="0"/>
                </a:cubicBezTo>
                <a:cubicBezTo>
                  <a:pt x="148" y="0"/>
                  <a:pt x="159" y="11"/>
                  <a:pt x="159" y="24"/>
                </a:cubicBezTo>
                <a:cubicBezTo>
                  <a:pt x="159" y="38"/>
                  <a:pt x="148" y="49"/>
                  <a:pt x="135" y="49"/>
                </a:cubicBezTo>
                <a:cubicBezTo>
                  <a:pt x="128" y="49"/>
                  <a:pt x="122" y="46"/>
                  <a:pt x="118" y="42"/>
                </a:cubicBezTo>
                <a:cubicBezTo>
                  <a:pt x="111" y="46"/>
                  <a:pt x="111" y="46"/>
                  <a:pt x="111" y="46"/>
                </a:cubicBezTo>
                <a:cubicBezTo>
                  <a:pt x="113" y="49"/>
                  <a:pt x="113" y="53"/>
                  <a:pt x="113" y="57"/>
                </a:cubicBezTo>
                <a:cubicBezTo>
                  <a:pt x="113" y="62"/>
                  <a:pt x="112" y="66"/>
                  <a:pt x="111" y="70"/>
                </a:cubicBezTo>
                <a:cubicBezTo>
                  <a:pt x="125" y="79"/>
                  <a:pt x="125" y="79"/>
                  <a:pt x="125" y="79"/>
                </a:cubicBezTo>
                <a:cubicBezTo>
                  <a:pt x="129" y="75"/>
                  <a:pt x="135" y="73"/>
                  <a:pt x="141" y="73"/>
                </a:cubicBezTo>
                <a:cubicBezTo>
                  <a:pt x="154" y="73"/>
                  <a:pt x="165" y="84"/>
                  <a:pt x="165" y="97"/>
                </a:cubicBezTo>
                <a:moveTo>
                  <a:pt x="53" y="85"/>
                </a:moveTo>
                <a:cubicBezTo>
                  <a:pt x="53" y="76"/>
                  <a:pt x="48" y="68"/>
                  <a:pt x="41" y="64"/>
                </a:cubicBezTo>
                <a:cubicBezTo>
                  <a:pt x="38" y="63"/>
                  <a:pt x="34" y="62"/>
                  <a:pt x="30" y="62"/>
                </a:cubicBezTo>
                <a:cubicBezTo>
                  <a:pt x="17" y="62"/>
                  <a:pt x="7" y="72"/>
                  <a:pt x="7" y="85"/>
                </a:cubicBezTo>
                <a:cubicBezTo>
                  <a:pt x="7" y="98"/>
                  <a:pt x="17" y="108"/>
                  <a:pt x="30" y="108"/>
                </a:cubicBezTo>
                <a:cubicBezTo>
                  <a:pt x="43" y="108"/>
                  <a:pt x="53" y="98"/>
                  <a:pt x="53" y="85"/>
                </a:cubicBezTo>
                <a:close/>
                <a:moveTo>
                  <a:pt x="116" y="24"/>
                </a:moveTo>
                <a:cubicBezTo>
                  <a:pt x="116" y="25"/>
                  <a:pt x="116" y="26"/>
                  <a:pt x="116" y="27"/>
                </a:cubicBezTo>
                <a:cubicBezTo>
                  <a:pt x="119" y="26"/>
                  <a:pt x="123" y="27"/>
                  <a:pt x="125" y="30"/>
                </a:cubicBezTo>
                <a:cubicBezTo>
                  <a:pt x="126" y="33"/>
                  <a:pt x="126" y="37"/>
                  <a:pt x="123" y="39"/>
                </a:cubicBezTo>
                <a:cubicBezTo>
                  <a:pt x="126" y="41"/>
                  <a:pt x="130" y="43"/>
                  <a:pt x="135" y="43"/>
                </a:cubicBezTo>
                <a:cubicBezTo>
                  <a:pt x="145" y="43"/>
                  <a:pt x="153" y="35"/>
                  <a:pt x="153" y="24"/>
                </a:cubicBezTo>
                <a:cubicBezTo>
                  <a:pt x="153" y="14"/>
                  <a:pt x="145" y="6"/>
                  <a:pt x="135" y="6"/>
                </a:cubicBezTo>
                <a:cubicBezTo>
                  <a:pt x="124" y="6"/>
                  <a:pt x="116" y="14"/>
                  <a:pt x="116" y="24"/>
                </a:cubicBezTo>
                <a:moveTo>
                  <a:pt x="36" y="24"/>
                </a:moveTo>
                <a:cubicBezTo>
                  <a:pt x="36" y="17"/>
                  <a:pt x="30" y="12"/>
                  <a:pt x="23" y="12"/>
                </a:cubicBezTo>
                <a:cubicBezTo>
                  <a:pt x="17" y="12"/>
                  <a:pt x="11" y="17"/>
                  <a:pt x="11" y="24"/>
                </a:cubicBezTo>
                <a:cubicBezTo>
                  <a:pt x="11" y="31"/>
                  <a:pt x="17" y="37"/>
                  <a:pt x="23" y="37"/>
                </a:cubicBezTo>
                <a:cubicBezTo>
                  <a:pt x="25" y="37"/>
                  <a:pt x="27" y="36"/>
                  <a:pt x="29" y="36"/>
                </a:cubicBezTo>
                <a:cubicBezTo>
                  <a:pt x="27" y="33"/>
                  <a:pt x="27" y="30"/>
                  <a:pt x="28" y="27"/>
                </a:cubicBezTo>
                <a:cubicBezTo>
                  <a:pt x="30" y="25"/>
                  <a:pt x="33" y="24"/>
                  <a:pt x="36" y="24"/>
                </a:cubicBezTo>
                <a:moveTo>
                  <a:pt x="158" y="97"/>
                </a:moveTo>
                <a:cubicBezTo>
                  <a:pt x="158" y="87"/>
                  <a:pt x="150" y="79"/>
                  <a:pt x="141" y="79"/>
                </a:cubicBezTo>
                <a:cubicBezTo>
                  <a:pt x="131" y="79"/>
                  <a:pt x="123" y="87"/>
                  <a:pt x="123" y="97"/>
                </a:cubicBezTo>
                <a:cubicBezTo>
                  <a:pt x="123" y="107"/>
                  <a:pt x="131" y="115"/>
                  <a:pt x="141" y="115"/>
                </a:cubicBezTo>
                <a:cubicBezTo>
                  <a:pt x="150" y="115"/>
                  <a:pt x="158" y="107"/>
                  <a:pt x="158" y="97"/>
                </a:cubicBezTo>
              </a:path>
            </a:pathLst>
          </a:custGeom>
          <a:solidFill>
            <a:srgbClr val="FFFFFF"/>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 name="文本框 43"/>
          <p:cNvSpPr txBox="1"/>
          <p:nvPr/>
        </p:nvSpPr>
        <p:spPr>
          <a:xfrm>
            <a:off x="6542671" y="1337339"/>
            <a:ext cx="380232" cy="461665"/>
          </a:xfrm>
          <a:prstGeom prst="rect">
            <a:avLst/>
          </a:prstGeom>
          <a:noFill/>
        </p:spPr>
        <p:txBody>
          <a:bodyPr wrap="none" rtlCol="0">
            <a:spAutoFit/>
          </a:bodyPr>
          <a:lstStyle/>
          <a:p>
            <a:r>
              <a:rPr lang="en-US" altLang="zh-CN" sz="2400" dirty="0" smtClean="0">
                <a:solidFill>
                  <a:srgbClr val="8F7EB9"/>
                </a:solidFill>
                <a:latin typeface="Agency FB" panose="020B0503020202020204" pitchFamily="34" charset="0"/>
              </a:rPr>
              <a:t>01</a:t>
            </a:r>
            <a:endParaRPr lang="zh-CN" altLang="en-US" sz="2400" dirty="0">
              <a:solidFill>
                <a:srgbClr val="8F7EB9"/>
              </a:solidFill>
              <a:latin typeface="Agency FB" panose="020B0503020202020204" pitchFamily="34" charset="0"/>
            </a:endParaRPr>
          </a:p>
        </p:txBody>
      </p:sp>
      <p:sp>
        <p:nvSpPr>
          <p:cNvPr id="26" name="文本框 45"/>
          <p:cNvSpPr txBox="1"/>
          <p:nvPr/>
        </p:nvSpPr>
        <p:spPr>
          <a:xfrm>
            <a:off x="6542671" y="3819467"/>
            <a:ext cx="447558" cy="461665"/>
          </a:xfrm>
          <a:prstGeom prst="rect">
            <a:avLst/>
          </a:prstGeom>
          <a:noFill/>
        </p:spPr>
        <p:txBody>
          <a:bodyPr wrap="none" rtlCol="0">
            <a:spAutoFit/>
          </a:bodyPr>
          <a:lstStyle/>
          <a:p>
            <a:r>
              <a:rPr lang="en-US" altLang="zh-CN" sz="2400" dirty="0" smtClean="0">
                <a:solidFill>
                  <a:srgbClr val="76A42D"/>
                </a:solidFill>
                <a:latin typeface="Agency FB" panose="020B0503020202020204" pitchFamily="34" charset="0"/>
              </a:rPr>
              <a:t>03</a:t>
            </a:r>
            <a:endParaRPr lang="zh-CN" altLang="en-US" sz="2400" dirty="0">
              <a:solidFill>
                <a:srgbClr val="76A42D"/>
              </a:solidFill>
              <a:latin typeface="Agency FB" panose="020B0503020202020204" pitchFamily="34" charset="0"/>
            </a:endParaRPr>
          </a:p>
        </p:txBody>
      </p:sp>
      <p:sp>
        <p:nvSpPr>
          <p:cNvPr id="27" name="文本框 44"/>
          <p:cNvSpPr txBox="1"/>
          <p:nvPr/>
        </p:nvSpPr>
        <p:spPr>
          <a:xfrm>
            <a:off x="6542671" y="2578403"/>
            <a:ext cx="437940" cy="461665"/>
          </a:xfrm>
          <a:prstGeom prst="rect">
            <a:avLst/>
          </a:prstGeom>
          <a:noFill/>
        </p:spPr>
        <p:txBody>
          <a:bodyPr wrap="none" rtlCol="0">
            <a:spAutoFit/>
          </a:bodyPr>
          <a:lstStyle/>
          <a:p>
            <a:r>
              <a:rPr lang="en-US" altLang="zh-CN" sz="2400" dirty="0" smtClean="0">
                <a:solidFill>
                  <a:srgbClr val="20A0D5"/>
                </a:solidFill>
                <a:latin typeface="Agency FB" panose="020B0503020202020204" pitchFamily="34" charset="0"/>
              </a:rPr>
              <a:t>02</a:t>
            </a:r>
            <a:endParaRPr lang="zh-CN" altLang="en-US" sz="2400" dirty="0">
              <a:solidFill>
                <a:srgbClr val="20A0D5"/>
              </a:solidFill>
              <a:latin typeface="Agency FB" panose="020B0503020202020204" pitchFamily="34" charset="0"/>
            </a:endParaRPr>
          </a:p>
        </p:txBody>
      </p:sp>
      <p:sp>
        <p:nvSpPr>
          <p:cNvPr id="28" name="文本框 46"/>
          <p:cNvSpPr txBox="1"/>
          <p:nvPr/>
        </p:nvSpPr>
        <p:spPr>
          <a:xfrm>
            <a:off x="6542671" y="5060530"/>
            <a:ext cx="436338" cy="461665"/>
          </a:xfrm>
          <a:prstGeom prst="rect">
            <a:avLst/>
          </a:prstGeom>
          <a:noFill/>
        </p:spPr>
        <p:txBody>
          <a:bodyPr wrap="none" rtlCol="0">
            <a:spAutoFit/>
          </a:bodyPr>
          <a:lstStyle/>
          <a:p>
            <a:r>
              <a:rPr lang="en-US" altLang="zh-CN" sz="2400" dirty="0" smtClean="0">
                <a:solidFill>
                  <a:srgbClr val="F1891A"/>
                </a:solidFill>
                <a:latin typeface="Agency FB" panose="020B0503020202020204" pitchFamily="34" charset="0"/>
              </a:rPr>
              <a:t>04</a:t>
            </a:r>
            <a:endParaRPr lang="zh-CN" altLang="en-US" sz="2400" dirty="0">
              <a:solidFill>
                <a:srgbClr val="F1891A"/>
              </a:solidFill>
              <a:latin typeface="Agency FB" panose="020B0503020202020204" pitchFamily="34" charset="0"/>
            </a:endParaRPr>
          </a:p>
        </p:txBody>
      </p:sp>
      <p:sp>
        <p:nvSpPr>
          <p:cNvPr id="29" name="文本框 55"/>
          <p:cNvSpPr txBox="1"/>
          <p:nvPr/>
        </p:nvSpPr>
        <p:spPr>
          <a:xfrm>
            <a:off x="7056870" y="1194587"/>
            <a:ext cx="2656496" cy="861774"/>
          </a:xfrm>
          <a:prstGeom prst="rect">
            <a:avLst/>
          </a:prstGeom>
          <a:noFill/>
        </p:spPr>
        <p:txBody>
          <a:bodyPr wrap="none" rtlCol="0">
            <a:spAutoFit/>
          </a:bodyPr>
          <a:lstStyle/>
          <a:p>
            <a:pPr marL="0" lvl="1"/>
            <a:r>
              <a:rPr lang="zh-CN" altLang="en-US" sz="3200" b="1" dirty="0">
                <a:solidFill>
                  <a:schemeClr val="bg1"/>
                </a:solidFill>
              </a:rPr>
              <a:t>过程监测仪器</a:t>
            </a:r>
            <a:endParaRPr lang="en-US" altLang="zh-CN" sz="3200" b="1" dirty="0">
              <a:solidFill>
                <a:schemeClr val="bg1"/>
              </a:solidFill>
            </a:endParaRPr>
          </a:p>
          <a:p>
            <a:endParaRPr lang="zh-CN" altLang="en-US"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30" name="文本框 56"/>
          <p:cNvSpPr txBox="1"/>
          <p:nvPr/>
        </p:nvSpPr>
        <p:spPr>
          <a:xfrm>
            <a:off x="7277122" y="2620450"/>
            <a:ext cx="1826141" cy="861774"/>
          </a:xfrm>
          <a:prstGeom prst="rect">
            <a:avLst/>
          </a:prstGeom>
          <a:noFill/>
        </p:spPr>
        <p:txBody>
          <a:bodyPr wrap="none" rtlCol="0">
            <a:spAutoFit/>
          </a:bodyPr>
          <a:lstStyle/>
          <a:p>
            <a:pPr marL="0" lvl="1"/>
            <a:r>
              <a:rPr lang="zh-CN" altLang="en-US" sz="3200" b="1" dirty="0">
                <a:solidFill>
                  <a:schemeClr val="bg1"/>
                </a:solidFill>
              </a:rPr>
              <a:t>专用仪器</a:t>
            </a:r>
            <a:endParaRPr lang="en-US" altLang="zh-CN" sz="3200" b="1" dirty="0">
              <a:solidFill>
                <a:schemeClr val="bg1"/>
              </a:solidFill>
            </a:endParaRPr>
          </a:p>
          <a:p>
            <a:endParaRPr lang="zh-CN" altLang="en-US"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31" name="文本框 57"/>
          <p:cNvSpPr txBox="1"/>
          <p:nvPr/>
        </p:nvSpPr>
        <p:spPr>
          <a:xfrm>
            <a:off x="6766450" y="3773119"/>
            <a:ext cx="2287806" cy="584775"/>
          </a:xfrm>
          <a:prstGeom prst="rect">
            <a:avLst/>
          </a:prstGeom>
          <a:noFill/>
        </p:spPr>
        <p:txBody>
          <a:bodyPr wrap="none" rtlCol="0">
            <a:spAutoFit/>
          </a:bodyPr>
          <a:lstStyle/>
          <a:p>
            <a:pPr lvl="1"/>
            <a:r>
              <a:rPr lang="zh-CN" altLang="en-US" sz="3200" b="1" dirty="0">
                <a:solidFill>
                  <a:schemeClr val="bg1"/>
                </a:solidFill>
              </a:rPr>
              <a:t>通用仪器</a:t>
            </a:r>
            <a:endParaRPr lang="en-US" altLang="zh-CN" sz="3200" b="1" dirty="0">
              <a:solidFill>
                <a:schemeClr val="bg1"/>
              </a:solidFill>
            </a:endParaRPr>
          </a:p>
        </p:txBody>
      </p:sp>
      <p:sp>
        <p:nvSpPr>
          <p:cNvPr id="32" name="文本框 58"/>
          <p:cNvSpPr txBox="1"/>
          <p:nvPr/>
        </p:nvSpPr>
        <p:spPr>
          <a:xfrm>
            <a:off x="6815457" y="4986618"/>
            <a:ext cx="2287806" cy="584775"/>
          </a:xfrm>
          <a:prstGeom prst="rect">
            <a:avLst/>
          </a:prstGeom>
          <a:noFill/>
        </p:spPr>
        <p:txBody>
          <a:bodyPr wrap="none" rtlCol="0">
            <a:spAutoFit/>
          </a:bodyPr>
          <a:lstStyle/>
          <a:p>
            <a:pPr lvl="1"/>
            <a:r>
              <a:rPr lang="zh-CN" altLang="en-US" sz="3200" b="1" dirty="0">
                <a:solidFill>
                  <a:schemeClr val="bg1"/>
                </a:solidFill>
              </a:rPr>
              <a:t>图像仪器</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0" y="6334579"/>
            <a:ext cx="12193588" cy="530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5" name="椭圆 4"/>
          <p:cNvSpPr/>
          <p:nvPr/>
        </p:nvSpPr>
        <p:spPr>
          <a:xfrm>
            <a:off x="478971" y="275771"/>
            <a:ext cx="10871200" cy="1611086"/>
          </a:xfrm>
          <a:prstGeom prst="ellipse">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2301308" y="584405"/>
            <a:ext cx="7968343" cy="1077218"/>
          </a:xfrm>
          <a:prstGeom prst="rect">
            <a:avLst/>
          </a:prstGeom>
        </p:spPr>
        <p:txBody>
          <a:bodyPr wrap="square">
            <a:spAutoFit/>
          </a:bodyPr>
          <a:lstStyle/>
          <a:p>
            <a:pPr marL="457200" indent="-457200">
              <a:buFont typeface="Wingdings" panose="05000000000000000000" pitchFamily="2" charset="2"/>
              <a:buChar char="u"/>
            </a:pPr>
            <a:r>
              <a:rPr lang="zh-CN" altLang="en-US" sz="3200" dirty="0">
                <a:solidFill>
                  <a:schemeClr val="accent2">
                    <a:lumMod val="75000"/>
                  </a:schemeClr>
                </a:solidFill>
                <a:latin typeface="微软雅黑" panose="020B0503020204020204" pitchFamily="34" charset="-122"/>
                <a:ea typeface="微软雅黑" panose="020B0503020204020204" pitchFamily="34" charset="-122"/>
              </a:rPr>
              <a:t>什么样的近红外光谱仪器最好？</a:t>
            </a:r>
            <a:endParaRPr lang="en-US" altLang="zh-CN" sz="3200" dirty="0">
              <a:solidFill>
                <a:schemeClr val="accent2">
                  <a:lumMod val="75000"/>
                </a:schemeClr>
              </a:solidFill>
              <a:latin typeface="微软雅黑" panose="020B0503020204020204" pitchFamily="34" charset="-122"/>
              <a:ea typeface="微软雅黑" panose="020B0503020204020204" pitchFamily="34" charset="-122"/>
            </a:endParaRPr>
          </a:p>
          <a:p>
            <a:pPr marL="457200" indent="-457200">
              <a:buFont typeface="Wingdings" panose="05000000000000000000" pitchFamily="2" charset="2"/>
              <a:buChar char="u"/>
            </a:pPr>
            <a:r>
              <a:rPr lang="zh-CN" altLang="en-US" sz="3200" dirty="0">
                <a:solidFill>
                  <a:schemeClr val="accent2">
                    <a:lumMod val="75000"/>
                  </a:schemeClr>
                </a:solidFill>
                <a:latin typeface="微软雅黑" panose="020B0503020204020204" pitchFamily="34" charset="-122"/>
                <a:ea typeface="微软雅黑" panose="020B0503020204020204" pitchFamily="34" charset="-122"/>
              </a:rPr>
              <a:t>如何选择一台合适的近红外光谱仪器？</a:t>
            </a:r>
          </a:p>
        </p:txBody>
      </p:sp>
      <p:pic>
        <p:nvPicPr>
          <p:cNvPr id="9"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2244043" y="2160013"/>
            <a:ext cx="7451499" cy="375494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0" y="6334579"/>
            <a:ext cx="12193588" cy="530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1266"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0" y="0"/>
            <a:ext cx="8686800" cy="914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 name="矩形 1"/>
          <p:cNvSpPr/>
          <p:nvPr/>
        </p:nvSpPr>
        <p:spPr>
          <a:xfrm>
            <a:off x="0" y="0"/>
            <a:ext cx="7109639" cy="646331"/>
          </a:xfrm>
          <a:prstGeom prst="rect">
            <a:avLst/>
          </a:prstGeom>
        </p:spPr>
        <p:txBody>
          <a:bodyPr wrap="none">
            <a:spAutoFit/>
          </a:bodyPr>
          <a:lstStyle/>
          <a:p>
            <a:r>
              <a:rPr lang="zh-CN" altLang="en-US" sz="3600" b="1" dirty="0">
                <a:latin typeface="微软雅黑" panose="020B0503020204020204" pitchFamily="34" charset="-122"/>
                <a:ea typeface="微软雅黑" panose="020B0503020204020204" pitchFamily="34" charset="-122"/>
              </a:rPr>
              <a:t>三、近红外光谱仪的主要性能指标</a:t>
            </a:r>
          </a:p>
        </p:txBody>
      </p:sp>
      <p:sp>
        <p:nvSpPr>
          <p:cNvPr id="5" name="Freeform 5"/>
          <p:cNvSpPr/>
          <p:nvPr/>
        </p:nvSpPr>
        <p:spPr bwMode="auto">
          <a:xfrm>
            <a:off x="5969001" y="1701791"/>
            <a:ext cx="2554288" cy="2614613"/>
          </a:xfrm>
          <a:custGeom>
            <a:avLst/>
            <a:gdLst>
              <a:gd name="T0" fmla="*/ 0 w 800"/>
              <a:gd name="T1" fmla="*/ 819 h 819"/>
              <a:gd name="T2" fmla="*/ 412 w 800"/>
              <a:gd name="T3" fmla="*/ 819 h 819"/>
              <a:gd name="T4" fmla="*/ 800 w 800"/>
              <a:gd name="T5" fmla="*/ 431 h 819"/>
              <a:gd name="T6" fmla="*/ 800 w 800"/>
              <a:gd name="T7" fmla="*/ 0 h 819"/>
              <a:gd name="T8" fmla="*/ 388 w 800"/>
              <a:gd name="T9" fmla="*/ 0 h 819"/>
              <a:gd name="T10" fmla="*/ 0 w 800"/>
              <a:gd name="T11" fmla="*/ 388 h 819"/>
              <a:gd name="T12" fmla="*/ 0 w 800"/>
              <a:gd name="T13" fmla="*/ 819 h 819"/>
            </a:gdLst>
            <a:ahLst/>
            <a:cxnLst>
              <a:cxn ang="0">
                <a:pos x="T0" y="T1"/>
              </a:cxn>
              <a:cxn ang="0">
                <a:pos x="T2" y="T3"/>
              </a:cxn>
              <a:cxn ang="0">
                <a:pos x="T4" y="T5"/>
              </a:cxn>
              <a:cxn ang="0">
                <a:pos x="T6" y="T7"/>
              </a:cxn>
              <a:cxn ang="0">
                <a:pos x="T8" y="T9"/>
              </a:cxn>
              <a:cxn ang="0">
                <a:pos x="T10" y="T11"/>
              </a:cxn>
              <a:cxn ang="0">
                <a:pos x="T12" y="T13"/>
              </a:cxn>
            </a:cxnLst>
            <a:rect l="0" t="0" r="r" b="b"/>
            <a:pathLst>
              <a:path w="800" h="819">
                <a:moveTo>
                  <a:pt x="0" y="819"/>
                </a:moveTo>
                <a:cubicBezTo>
                  <a:pt x="412" y="819"/>
                  <a:pt x="412" y="819"/>
                  <a:pt x="412" y="819"/>
                </a:cubicBezTo>
                <a:cubicBezTo>
                  <a:pt x="625" y="819"/>
                  <a:pt x="800" y="644"/>
                  <a:pt x="800" y="431"/>
                </a:cubicBezTo>
                <a:cubicBezTo>
                  <a:pt x="800" y="0"/>
                  <a:pt x="800" y="0"/>
                  <a:pt x="800" y="0"/>
                </a:cubicBezTo>
                <a:cubicBezTo>
                  <a:pt x="388" y="0"/>
                  <a:pt x="388" y="0"/>
                  <a:pt x="388" y="0"/>
                </a:cubicBezTo>
                <a:cubicBezTo>
                  <a:pt x="175" y="0"/>
                  <a:pt x="0" y="175"/>
                  <a:pt x="0" y="388"/>
                </a:cubicBezTo>
                <a:lnTo>
                  <a:pt x="0" y="819"/>
                </a:lnTo>
                <a:close/>
              </a:path>
            </a:pathLst>
          </a:custGeom>
          <a:solidFill>
            <a:srgbClr val="F18B00"/>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 name="Freeform 6"/>
          <p:cNvSpPr/>
          <p:nvPr/>
        </p:nvSpPr>
        <p:spPr bwMode="auto">
          <a:xfrm>
            <a:off x="6089655" y="1791158"/>
            <a:ext cx="2249488" cy="2314575"/>
          </a:xfrm>
          <a:custGeom>
            <a:avLst/>
            <a:gdLst>
              <a:gd name="T0" fmla="*/ 0 w 705"/>
              <a:gd name="T1" fmla="*/ 725 h 725"/>
              <a:gd name="T2" fmla="*/ 365 w 705"/>
              <a:gd name="T3" fmla="*/ 725 h 725"/>
              <a:gd name="T4" fmla="*/ 705 w 705"/>
              <a:gd name="T5" fmla="*/ 384 h 725"/>
              <a:gd name="T6" fmla="*/ 705 w 705"/>
              <a:gd name="T7" fmla="*/ 0 h 725"/>
              <a:gd name="T8" fmla="*/ 341 w 705"/>
              <a:gd name="T9" fmla="*/ 0 h 725"/>
              <a:gd name="T10" fmla="*/ 0 w 705"/>
              <a:gd name="T11" fmla="*/ 341 h 725"/>
              <a:gd name="T12" fmla="*/ 0 w 705"/>
              <a:gd name="T13" fmla="*/ 725 h 725"/>
            </a:gdLst>
            <a:ahLst/>
            <a:cxnLst>
              <a:cxn ang="0">
                <a:pos x="T0" y="T1"/>
              </a:cxn>
              <a:cxn ang="0">
                <a:pos x="T2" y="T3"/>
              </a:cxn>
              <a:cxn ang="0">
                <a:pos x="T4" y="T5"/>
              </a:cxn>
              <a:cxn ang="0">
                <a:pos x="T6" y="T7"/>
              </a:cxn>
              <a:cxn ang="0">
                <a:pos x="T8" y="T9"/>
              </a:cxn>
              <a:cxn ang="0">
                <a:pos x="T10" y="T11"/>
              </a:cxn>
              <a:cxn ang="0">
                <a:pos x="T12" y="T13"/>
              </a:cxn>
            </a:cxnLst>
            <a:rect l="0" t="0" r="r" b="b"/>
            <a:pathLst>
              <a:path w="705" h="725">
                <a:moveTo>
                  <a:pt x="0" y="725"/>
                </a:moveTo>
                <a:cubicBezTo>
                  <a:pt x="365" y="725"/>
                  <a:pt x="365" y="725"/>
                  <a:pt x="365" y="725"/>
                </a:cubicBezTo>
                <a:cubicBezTo>
                  <a:pt x="552" y="725"/>
                  <a:pt x="705" y="571"/>
                  <a:pt x="705" y="384"/>
                </a:cubicBezTo>
                <a:cubicBezTo>
                  <a:pt x="705" y="0"/>
                  <a:pt x="705" y="0"/>
                  <a:pt x="705" y="0"/>
                </a:cubicBezTo>
                <a:cubicBezTo>
                  <a:pt x="341" y="0"/>
                  <a:pt x="341" y="0"/>
                  <a:pt x="341" y="0"/>
                </a:cubicBezTo>
                <a:cubicBezTo>
                  <a:pt x="154" y="0"/>
                  <a:pt x="0" y="154"/>
                  <a:pt x="0" y="341"/>
                </a:cubicBezTo>
                <a:lnTo>
                  <a:pt x="0" y="725"/>
                </a:lnTo>
                <a:close/>
              </a:path>
            </a:pathLst>
          </a:custGeom>
          <a:solidFill>
            <a:srgbClr val="FCFCFD"/>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 name="Freeform 7"/>
          <p:cNvSpPr/>
          <p:nvPr/>
        </p:nvSpPr>
        <p:spPr bwMode="auto">
          <a:xfrm>
            <a:off x="5969001" y="4316404"/>
            <a:ext cx="2109788" cy="2160588"/>
          </a:xfrm>
          <a:custGeom>
            <a:avLst/>
            <a:gdLst>
              <a:gd name="T0" fmla="*/ 0 w 661"/>
              <a:gd name="T1" fmla="*/ 0 h 677"/>
              <a:gd name="T2" fmla="*/ 340 w 661"/>
              <a:gd name="T3" fmla="*/ 0 h 677"/>
              <a:gd name="T4" fmla="*/ 661 w 661"/>
              <a:gd name="T5" fmla="*/ 321 h 677"/>
              <a:gd name="T6" fmla="*/ 661 w 661"/>
              <a:gd name="T7" fmla="*/ 677 h 677"/>
              <a:gd name="T8" fmla="*/ 321 w 661"/>
              <a:gd name="T9" fmla="*/ 677 h 677"/>
              <a:gd name="T10" fmla="*/ 0 w 661"/>
              <a:gd name="T11" fmla="*/ 356 h 677"/>
              <a:gd name="T12" fmla="*/ 0 w 661"/>
              <a:gd name="T13" fmla="*/ 0 h 677"/>
            </a:gdLst>
            <a:ahLst/>
            <a:cxnLst>
              <a:cxn ang="0">
                <a:pos x="T0" y="T1"/>
              </a:cxn>
              <a:cxn ang="0">
                <a:pos x="T2" y="T3"/>
              </a:cxn>
              <a:cxn ang="0">
                <a:pos x="T4" y="T5"/>
              </a:cxn>
              <a:cxn ang="0">
                <a:pos x="T6" y="T7"/>
              </a:cxn>
              <a:cxn ang="0">
                <a:pos x="T8" y="T9"/>
              </a:cxn>
              <a:cxn ang="0">
                <a:pos x="T10" y="T11"/>
              </a:cxn>
              <a:cxn ang="0">
                <a:pos x="T12" y="T13"/>
              </a:cxn>
            </a:cxnLst>
            <a:rect l="0" t="0" r="r" b="b"/>
            <a:pathLst>
              <a:path w="661" h="677">
                <a:moveTo>
                  <a:pt x="0" y="0"/>
                </a:moveTo>
                <a:cubicBezTo>
                  <a:pt x="340" y="0"/>
                  <a:pt x="340" y="0"/>
                  <a:pt x="340" y="0"/>
                </a:cubicBezTo>
                <a:cubicBezTo>
                  <a:pt x="517" y="0"/>
                  <a:pt x="661" y="144"/>
                  <a:pt x="661" y="321"/>
                </a:cubicBezTo>
                <a:cubicBezTo>
                  <a:pt x="661" y="677"/>
                  <a:pt x="661" y="677"/>
                  <a:pt x="661" y="677"/>
                </a:cubicBezTo>
                <a:cubicBezTo>
                  <a:pt x="321" y="677"/>
                  <a:pt x="321" y="677"/>
                  <a:pt x="321" y="677"/>
                </a:cubicBezTo>
                <a:cubicBezTo>
                  <a:pt x="144" y="677"/>
                  <a:pt x="0" y="532"/>
                  <a:pt x="0" y="356"/>
                </a:cubicBezTo>
                <a:lnTo>
                  <a:pt x="0" y="0"/>
                </a:lnTo>
                <a:close/>
              </a:path>
            </a:pathLst>
          </a:custGeom>
          <a:solidFill>
            <a:srgbClr val="EB5902"/>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 name="Freeform 8"/>
          <p:cNvSpPr/>
          <p:nvPr/>
        </p:nvSpPr>
        <p:spPr bwMode="auto">
          <a:xfrm>
            <a:off x="6119813" y="4465629"/>
            <a:ext cx="1809750" cy="1860550"/>
          </a:xfrm>
          <a:custGeom>
            <a:avLst/>
            <a:gdLst>
              <a:gd name="T0" fmla="*/ 0 w 567"/>
              <a:gd name="T1" fmla="*/ 0 h 583"/>
              <a:gd name="T2" fmla="*/ 0 w 567"/>
              <a:gd name="T3" fmla="*/ 309 h 583"/>
              <a:gd name="T4" fmla="*/ 274 w 567"/>
              <a:gd name="T5" fmla="*/ 583 h 583"/>
              <a:gd name="T6" fmla="*/ 567 w 567"/>
              <a:gd name="T7" fmla="*/ 583 h 583"/>
              <a:gd name="T8" fmla="*/ 567 w 567"/>
              <a:gd name="T9" fmla="*/ 274 h 583"/>
              <a:gd name="T10" fmla="*/ 293 w 567"/>
              <a:gd name="T11" fmla="*/ 0 h 583"/>
              <a:gd name="T12" fmla="*/ 0 w 567"/>
              <a:gd name="T13" fmla="*/ 0 h 583"/>
            </a:gdLst>
            <a:ahLst/>
            <a:cxnLst>
              <a:cxn ang="0">
                <a:pos x="T0" y="T1"/>
              </a:cxn>
              <a:cxn ang="0">
                <a:pos x="T2" y="T3"/>
              </a:cxn>
              <a:cxn ang="0">
                <a:pos x="T4" y="T5"/>
              </a:cxn>
              <a:cxn ang="0">
                <a:pos x="T6" y="T7"/>
              </a:cxn>
              <a:cxn ang="0">
                <a:pos x="T8" y="T9"/>
              </a:cxn>
              <a:cxn ang="0">
                <a:pos x="T10" y="T11"/>
              </a:cxn>
              <a:cxn ang="0">
                <a:pos x="T12" y="T13"/>
              </a:cxn>
            </a:cxnLst>
            <a:rect l="0" t="0" r="r" b="b"/>
            <a:pathLst>
              <a:path w="567" h="583">
                <a:moveTo>
                  <a:pt x="0" y="0"/>
                </a:moveTo>
                <a:cubicBezTo>
                  <a:pt x="0" y="309"/>
                  <a:pt x="0" y="309"/>
                  <a:pt x="0" y="309"/>
                </a:cubicBezTo>
                <a:cubicBezTo>
                  <a:pt x="0" y="459"/>
                  <a:pt x="124" y="583"/>
                  <a:pt x="274" y="583"/>
                </a:cubicBezTo>
                <a:cubicBezTo>
                  <a:pt x="567" y="583"/>
                  <a:pt x="567" y="583"/>
                  <a:pt x="567" y="583"/>
                </a:cubicBezTo>
                <a:cubicBezTo>
                  <a:pt x="567" y="274"/>
                  <a:pt x="567" y="274"/>
                  <a:pt x="567" y="274"/>
                </a:cubicBezTo>
                <a:cubicBezTo>
                  <a:pt x="567" y="123"/>
                  <a:pt x="444" y="0"/>
                  <a:pt x="293" y="0"/>
                </a:cubicBezTo>
                <a:lnTo>
                  <a:pt x="0" y="0"/>
                </a:lnTo>
                <a:close/>
              </a:path>
            </a:pathLst>
          </a:custGeom>
          <a:solidFill>
            <a:srgbClr val="FCFCFD"/>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 name="Freeform 9"/>
          <p:cNvSpPr/>
          <p:nvPr/>
        </p:nvSpPr>
        <p:spPr bwMode="auto">
          <a:xfrm>
            <a:off x="3198813" y="1701791"/>
            <a:ext cx="2554288" cy="2614613"/>
          </a:xfrm>
          <a:custGeom>
            <a:avLst/>
            <a:gdLst>
              <a:gd name="T0" fmla="*/ 800 w 800"/>
              <a:gd name="T1" fmla="*/ 819 h 819"/>
              <a:gd name="T2" fmla="*/ 388 w 800"/>
              <a:gd name="T3" fmla="*/ 819 h 819"/>
              <a:gd name="T4" fmla="*/ 0 w 800"/>
              <a:gd name="T5" fmla="*/ 431 h 819"/>
              <a:gd name="T6" fmla="*/ 0 w 800"/>
              <a:gd name="T7" fmla="*/ 0 h 819"/>
              <a:gd name="T8" fmla="*/ 412 w 800"/>
              <a:gd name="T9" fmla="*/ 0 h 819"/>
              <a:gd name="T10" fmla="*/ 800 w 800"/>
              <a:gd name="T11" fmla="*/ 388 h 819"/>
              <a:gd name="T12" fmla="*/ 800 w 800"/>
              <a:gd name="T13" fmla="*/ 819 h 819"/>
            </a:gdLst>
            <a:ahLst/>
            <a:cxnLst>
              <a:cxn ang="0">
                <a:pos x="T0" y="T1"/>
              </a:cxn>
              <a:cxn ang="0">
                <a:pos x="T2" y="T3"/>
              </a:cxn>
              <a:cxn ang="0">
                <a:pos x="T4" y="T5"/>
              </a:cxn>
              <a:cxn ang="0">
                <a:pos x="T6" y="T7"/>
              </a:cxn>
              <a:cxn ang="0">
                <a:pos x="T8" y="T9"/>
              </a:cxn>
              <a:cxn ang="0">
                <a:pos x="T10" y="T11"/>
              </a:cxn>
              <a:cxn ang="0">
                <a:pos x="T12" y="T13"/>
              </a:cxn>
            </a:cxnLst>
            <a:rect l="0" t="0" r="r" b="b"/>
            <a:pathLst>
              <a:path w="800" h="819">
                <a:moveTo>
                  <a:pt x="800" y="819"/>
                </a:moveTo>
                <a:cubicBezTo>
                  <a:pt x="388" y="819"/>
                  <a:pt x="388" y="819"/>
                  <a:pt x="388" y="819"/>
                </a:cubicBezTo>
                <a:cubicBezTo>
                  <a:pt x="175" y="819"/>
                  <a:pt x="0" y="644"/>
                  <a:pt x="0" y="431"/>
                </a:cubicBezTo>
                <a:cubicBezTo>
                  <a:pt x="0" y="0"/>
                  <a:pt x="0" y="0"/>
                  <a:pt x="0" y="0"/>
                </a:cubicBezTo>
                <a:cubicBezTo>
                  <a:pt x="412" y="0"/>
                  <a:pt x="412" y="0"/>
                  <a:pt x="412" y="0"/>
                </a:cubicBezTo>
                <a:cubicBezTo>
                  <a:pt x="625" y="0"/>
                  <a:pt x="800" y="175"/>
                  <a:pt x="800" y="388"/>
                </a:cubicBezTo>
                <a:lnTo>
                  <a:pt x="800" y="819"/>
                </a:lnTo>
                <a:close/>
              </a:path>
            </a:pathLst>
          </a:custGeom>
          <a:solidFill>
            <a:srgbClr val="FABE00"/>
          </a:solidFill>
          <a:ln w="9525">
            <a:solidFill>
              <a:schemeClr val="accent1">
                <a:lumMod val="75000"/>
              </a:schemeClr>
            </a:solidFill>
            <a:round/>
          </a:ln>
        </p:spPr>
        <p:txBody>
          <a:bodyPr vert="horz" wrap="square" lIns="91440" tIns="45720" rIns="91440" bIns="45720" numCol="1" anchor="t" anchorCtr="0" compatLnSpc="1"/>
          <a:lstStyle/>
          <a:p>
            <a:endParaRPr lang="zh-CN" altLang="en-US"/>
          </a:p>
        </p:txBody>
      </p:sp>
      <p:sp>
        <p:nvSpPr>
          <p:cNvPr id="10" name="Freeform 10"/>
          <p:cNvSpPr/>
          <p:nvPr/>
        </p:nvSpPr>
        <p:spPr bwMode="auto">
          <a:xfrm>
            <a:off x="3351213" y="1851016"/>
            <a:ext cx="2251075" cy="2314575"/>
          </a:xfrm>
          <a:custGeom>
            <a:avLst/>
            <a:gdLst>
              <a:gd name="T0" fmla="*/ 705 w 705"/>
              <a:gd name="T1" fmla="*/ 725 h 725"/>
              <a:gd name="T2" fmla="*/ 705 w 705"/>
              <a:gd name="T3" fmla="*/ 341 h 725"/>
              <a:gd name="T4" fmla="*/ 364 w 705"/>
              <a:gd name="T5" fmla="*/ 0 h 725"/>
              <a:gd name="T6" fmla="*/ 0 w 705"/>
              <a:gd name="T7" fmla="*/ 0 h 725"/>
              <a:gd name="T8" fmla="*/ 0 w 705"/>
              <a:gd name="T9" fmla="*/ 384 h 725"/>
              <a:gd name="T10" fmla="*/ 340 w 705"/>
              <a:gd name="T11" fmla="*/ 725 h 725"/>
              <a:gd name="T12" fmla="*/ 705 w 705"/>
              <a:gd name="T13" fmla="*/ 725 h 725"/>
            </a:gdLst>
            <a:ahLst/>
            <a:cxnLst>
              <a:cxn ang="0">
                <a:pos x="T0" y="T1"/>
              </a:cxn>
              <a:cxn ang="0">
                <a:pos x="T2" y="T3"/>
              </a:cxn>
              <a:cxn ang="0">
                <a:pos x="T4" y="T5"/>
              </a:cxn>
              <a:cxn ang="0">
                <a:pos x="T6" y="T7"/>
              </a:cxn>
              <a:cxn ang="0">
                <a:pos x="T8" y="T9"/>
              </a:cxn>
              <a:cxn ang="0">
                <a:pos x="T10" y="T11"/>
              </a:cxn>
              <a:cxn ang="0">
                <a:pos x="T12" y="T13"/>
              </a:cxn>
            </a:cxnLst>
            <a:rect l="0" t="0" r="r" b="b"/>
            <a:pathLst>
              <a:path w="705" h="725">
                <a:moveTo>
                  <a:pt x="705" y="725"/>
                </a:moveTo>
                <a:cubicBezTo>
                  <a:pt x="705" y="341"/>
                  <a:pt x="705" y="341"/>
                  <a:pt x="705" y="341"/>
                </a:cubicBezTo>
                <a:cubicBezTo>
                  <a:pt x="705" y="154"/>
                  <a:pt x="551" y="0"/>
                  <a:pt x="364" y="0"/>
                </a:cubicBezTo>
                <a:cubicBezTo>
                  <a:pt x="0" y="0"/>
                  <a:pt x="0" y="0"/>
                  <a:pt x="0" y="0"/>
                </a:cubicBezTo>
                <a:cubicBezTo>
                  <a:pt x="0" y="384"/>
                  <a:pt x="0" y="384"/>
                  <a:pt x="0" y="384"/>
                </a:cubicBezTo>
                <a:cubicBezTo>
                  <a:pt x="0" y="571"/>
                  <a:pt x="153" y="725"/>
                  <a:pt x="340" y="725"/>
                </a:cubicBezTo>
                <a:lnTo>
                  <a:pt x="705" y="725"/>
                </a:lnTo>
                <a:close/>
              </a:path>
            </a:pathLst>
          </a:custGeom>
          <a:solidFill>
            <a:srgbClr val="FCFCFD"/>
          </a:solidFill>
          <a:ln w="9525">
            <a:solidFill>
              <a:srgbClr val="000000"/>
            </a:solidFill>
            <a:round/>
          </a:ln>
        </p:spPr>
        <p:txBody>
          <a:bodyPr vert="horz" wrap="square" lIns="91440" tIns="45720" rIns="91440" bIns="45720" numCol="1" anchor="t" anchorCtr="0" compatLnSpc="1"/>
          <a:lstStyle/>
          <a:p>
            <a:endParaRPr lang="zh-CN" altLang="en-US"/>
          </a:p>
        </p:txBody>
      </p:sp>
      <p:sp>
        <p:nvSpPr>
          <p:cNvPr id="11" name="Freeform 11"/>
          <p:cNvSpPr/>
          <p:nvPr/>
        </p:nvSpPr>
        <p:spPr bwMode="auto">
          <a:xfrm>
            <a:off x="5126038" y="631816"/>
            <a:ext cx="719138" cy="1822450"/>
          </a:xfrm>
          <a:custGeom>
            <a:avLst/>
            <a:gdLst>
              <a:gd name="T0" fmla="*/ 117 w 225"/>
              <a:gd name="T1" fmla="*/ 132 h 571"/>
              <a:gd name="T2" fmla="*/ 63 w 225"/>
              <a:gd name="T3" fmla="*/ 132 h 571"/>
              <a:gd name="T4" fmla="*/ 0 w 225"/>
              <a:gd name="T5" fmla="*/ 69 h 571"/>
              <a:gd name="T6" fmla="*/ 0 w 225"/>
              <a:gd name="T7" fmla="*/ 0 h 571"/>
              <a:gd name="T8" fmla="*/ 66 w 225"/>
              <a:gd name="T9" fmla="*/ 0 h 571"/>
              <a:gd name="T10" fmla="*/ 129 w 225"/>
              <a:gd name="T11" fmla="*/ 63 h 571"/>
              <a:gd name="T12" fmla="*/ 129 w 225"/>
              <a:gd name="T13" fmla="*/ 115 h 571"/>
              <a:gd name="T14" fmla="*/ 225 w 225"/>
              <a:gd name="T15" fmla="*/ 558 h 571"/>
              <a:gd name="T16" fmla="*/ 205 w 225"/>
              <a:gd name="T17" fmla="*/ 558 h 571"/>
              <a:gd name="T18" fmla="*/ 117 w 225"/>
              <a:gd name="T19" fmla="*/ 132 h 5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5" h="571">
                <a:moveTo>
                  <a:pt x="117" y="132"/>
                </a:moveTo>
                <a:cubicBezTo>
                  <a:pt x="63" y="132"/>
                  <a:pt x="63" y="132"/>
                  <a:pt x="63" y="132"/>
                </a:cubicBezTo>
                <a:cubicBezTo>
                  <a:pt x="28" y="132"/>
                  <a:pt x="0" y="104"/>
                  <a:pt x="0" y="69"/>
                </a:cubicBezTo>
                <a:cubicBezTo>
                  <a:pt x="0" y="0"/>
                  <a:pt x="0" y="0"/>
                  <a:pt x="0" y="0"/>
                </a:cubicBezTo>
                <a:cubicBezTo>
                  <a:pt x="66" y="0"/>
                  <a:pt x="66" y="0"/>
                  <a:pt x="66" y="0"/>
                </a:cubicBezTo>
                <a:cubicBezTo>
                  <a:pt x="101" y="0"/>
                  <a:pt x="129" y="28"/>
                  <a:pt x="129" y="63"/>
                </a:cubicBezTo>
                <a:cubicBezTo>
                  <a:pt x="129" y="115"/>
                  <a:pt x="129" y="115"/>
                  <a:pt x="129" y="115"/>
                </a:cubicBezTo>
                <a:cubicBezTo>
                  <a:pt x="219" y="218"/>
                  <a:pt x="225" y="428"/>
                  <a:pt x="225" y="558"/>
                </a:cubicBezTo>
                <a:cubicBezTo>
                  <a:pt x="225" y="571"/>
                  <a:pt x="205" y="571"/>
                  <a:pt x="205" y="558"/>
                </a:cubicBezTo>
                <a:cubicBezTo>
                  <a:pt x="205" y="420"/>
                  <a:pt x="204" y="247"/>
                  <a:pt x="117" y="132"/>
                </a:cubicBezTo>
                <a:close/>
              </a:path>
            </a:pathLst>
          </a:custGeom>
          <a:solidFill>
            <a:srgbClr val="51322F"/>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 name="Freeform 12"/>
          <p:cNvSpPr/>
          <p:nvPr/>
        </p:nvSpPr>
        <p:spPr bwMode="auto">
          <a:xfrm>
            <a:off x="5876926" y="631816"/>
            <a:ext cx="717550" cy="1822450"/>
          </a:xfrm>
          <a:custGeom>
            <a:avLst/>
            <a:gdLst>
              <a:gd name="T0" fmla="*/ 108 w 225"/>
              <a:gd name="T1" fmla="*/ 132 h 571"/>
              <a:gd name="T2" fmla="*/ 163 w 225"/>
              <a:gd name="T3" fmla="*/ 132 h 571"/>
              <a:gd name="T4" fmla="*/ 225 w 225"/>
              <a:gd name="T5" fmla="*/ 69 h 571"/>
              <a:gd name="T6" fmla="*/ 225 w 225"/>
              <a:gd name="T7" fmla="*/ 0 h 571"/>
              <a:gd name="T8" fmla="*/ 159 w 225"/>
              <a:gd name="T9" fmla="*/ 0 h 571"/>
              <a:gd name="T10" fmla="*/ 97 w 225"/>
              <a:gd name="T11" fmla="*/ 63 h 571"/>
              <a:gd name="T12" fmla="*/ 97 w 225"/>
              <a:gd name="T13" fmla="*/ 115 h 571"/>
              <a:gd name="T14" fmla="*/ 0 w 225"/>
              <a:gd name="T15" fmla="*/ 558 h 571"/>
              <a:gd name="T16" fmla="*/ 20 w 225"/>
              <a:gd name="T17" fmla="*/ 558 h 571"/>
              <a:gd name="T18" fmla="*/ 108 w 225"/>
              <a:gd name="T19" fmla="*/ 132 h 5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5" h="571">
                <a:moveTo>
                  <a:pt x="108" y="132"/>
                </a:moveTo>
                <a:cubicBezTo>
                  <a:pt x="163" y="132"/>
                  <a:pt x="163" y="132"/>
                  <a:pt x="163" y="132"/>
                </a:cubicBezTo>
                <a:cubicBezTo>
                  <a:pt x="197" y="132"/>
                  <a:pt x="225" y="104"/>
                  <a:pt x="225" y="69"/>
                </a:cubicBezTo>
                <a:cubicBezTo>
                  <a:pt x="225" y="0"/>
                  <a:pt x="225" y="0"/>
                  <a:pt x="225" y="0"/>
                </a:cubicBezTo>
                <a:cubicBezTo>
                  <a:pt x="159" y="0"/>
                  <a:pt x="159" y="0"/>
                  <a:pt x="159" y="0"/>
                </a:cubicBezTo>
                <a:cubicBezTo>
                  <a:pt x="125" y="0"/>
                  <a:pt x="97" y="28"/>
                  <a:pt x="97" y="63"/>
                </a:cubicBezTo>
                <a:cubicBezTo>
                  <a:pt x="97" y="115"/>
                  <a:pt x="97" y="115"/>
                  <a:pt x="97" y="115"/>
                </a:cubicBezTo>
                <a:cubicBezTo>
                  <a:pt x="6" y="218"/>
                  <a:pt x="0" y="428"/>
                  <a:pt x="0" y="558"/>
                </a:cubicBezTo>
                <a:cubicBezTo>
                  <a:pt x="0" y="571"/>
                  <a:pt x="20" y="571"/>
                  <a:pt x="20" y="558"/>
                </a:cubicBezTo>
                <a:cubicBezTo>
                  <a:pt x="20" y="420"/>
                  <a:pt x="21" y="247"/>
                  <a:pt x="108" y="132"/>
                </a:cubicBezTo>
                <a:close/>
              </a:path>
            </a:pathLst>
          </a:custGeom>
          <a:solidFill>
            <a:srgbClr val="51322F"/>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 name="Freeform 13"/>
          <p:cNvSpPr/>
          <p:nvPr/>
        </p:nvSpPr>
        <p:spPr bwMode="auto">
          <a:xfrm>
            <a:off x="3641726" y="4316404"/>
            <a:ext cx="2111375" cy="2160588"/>
          </a:xfrm>
          <a:custGeom>
            <a:avLst/>
            <a:gdLst>
              <a:gd name="T0" fmla="*/ 661 w 661"/>
              <a:gd name="T1" fmla="*/ 0 h 677"/>
              <a:gd name="T2" fmla="*/ 321 w 661"/>
              <a:gd name="T3" fmla="*/ 0 h 677"/>
              <a:gd name="T4" fmla="*/ 0 w 661"/>
              <a:gd name="T5" fmla="*/ 321 h 677"/>
              <a:gd name="T6" fmla="*/ 0 w 661"/>
              <a:gd name="T7" fmla="*/ 677 h 677"/>
              <a:gd name="T8" fmla="*/ 340 w 661"/>
              <a:gd name="T9" fmla="*/ 677 h 677"/>
              <a:gd name="T10" fmla="*/ 661 w 661"/>
              <a:gd name="T11" fmla="*/ 356 h 677"/>
              <a:gd name="T12" fmla="*/ 661 w 661"/>
              <a:gd name="T13" fmla="*/ 0 h 677"/>
            </a:gdLst>
            <a:ahLst/>
            <a:cxnLst>
              <a:cxn ang="0">
                <a:pos x="T0" y="T1"/>
              </a:cxn>
              <a:cxn ang="0">
                <a:pos x="T2" y="T3"/>
              </a:cxn>
              <a:cxn ang="0">
                <a:pos x="T4" y="T5"/>
              </a:cxn>
              <a:cxn ang="0">
                <a:pos x="T6" y="T7"/>
              </a:cxn>
              <a:cxn ang="0">
                <a:pos x="T8" y="T9"/>
              </a:cxn>
              <a:cxn ang="0">
                <a:pos x="T10" y="T11"/>
              </a:cxn>
              <a:cxn ang="0">
                <a:pos x="T12" y="T13"/>
              </a:cxn>
            </a:cxnLst>
            <a:rect l="0" t="0" r="r" b="b"/>
            <a:pathLst>
              <a:path w="661" h="677">
                <a:moveTo>
                  <a:pt x="661" y="0"/>
                </a:moveTo>
                <a:cubicBezTo>
                  <a:pt x="321" y="0"/>
                  <a:pt x="321" y="0"/>
                  <a:pt x="321" y="0"/>
                </a:cubicBezTo>
                <a:cubicBezTo>
                  <a:pt x="144" y="0"/>
                  <a:pt x="0" y="144"/>
                  <a:pt x="0" y="321"/>
                </a:cubicBezTo>
                <a:cubicBezTo>
                  <a:pt x="0" y="677"/>
                  <a:pt x="0" y="677"/>
                  <a:pt x="0" y="677"/>
                </a:cubicBezTo>
                <a:cubicBezTo>
                  <a:pt x="340" y="677"/>
                  <a:pt x="340" y="677"/>
                  <a:pt x="340" y="677"/>
                </a:cubicBezTo>
                <a:cubicBezTo>
                  <a:pt x="517" y="677"/>
                  <a:pt x="661" y="532"/>
                  <a:pt x="661" y="356"/>
                </a:cubicBezTo>
                <a:lnTo>
                  <a:pt x="661" y="0"/>
                </a:lnTo>
                <a:close/>
              </a:path>
            </a:pathLst>
          </a:custGeom>
          <a:solidFill>
            <a:srgbClr val="E60012"/>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 name="Freeform 14"/>
          <p:cNvSpPr/>
          <p:nvPr/>
        </p:nvSpPr>
        <p:spPr bwMode="auto">
          <a:xfrm>
            <a:off x="3792538" y="4465629"/>
            <a:ext cx="1809750" cy="1860550"/>
          </a:xfrm>
          <a:custGeom>
            <a:avLst/>
            <a:gdLst>
              <a:gd name="T0" fmla="*/ 567 w 567"/>
              <a:gd name="T1" fmla="*/ 0 h 583"/>
              <a:gd name="T2" fmla="*/ 274 w 567"/>
              <a:gd name="T3" fmla="*/ 0 h 583"/>
              <a:gd name="T4" fmla="*/ 0 w 567"/>
              <a:gd name="T5" fmla="*/ 274 h 583"/>
              <a:gd name="T6" fmla="*/ 0 w 567"/>
              <a:gd name="T7" fmla="*/ 583 h 583"/>
              <a:gd name="T8" fmla="*/ 293 w 567"/>
              <a:gd name="T9" fmla="*/ 583 h 583"/>
              <a:gd name="T10" fmla="*/ 567 w 567"/>
              <a:gd name="T11" fmla="*/ 309 h 583"/>
              <a:gd name="T12" fmla="*/ 567 w 567"/>
              <a:gd name="T13" fmla="*/ 0 h 583"/>
            </a:gdLst>
            <a:ahLst/>
            <a:cxnLst>
              <a:cxn ang="0">
                <a:pos x="T0" y="T1"/>
              </a:cxn>
              <a:cxn ang="0">
                <a:pos x="T2" y="T3"/>
              </a:cxn>
              <a:cxn ang="0">
                <a:pos x="T4" y="T5"/>
              </a:cxn>
              <a:cxn ang="0">
                <a:pos x="T6" y="T7"/>
              </a:cxn>
              <a:cxn ang="0">
                <a:pos x="T8" y="T9"/>
              </a:cxn>
              <a:cxn ang="0">
                <a:pos x="T10" y="T11"/>
              </a:cxn>
              <a:cxn ang="0">
                <a:pos x="T12" y="T13"/>
              </a:cxn>
            </a:cxnLst>
            <a:rect l="0" t="0" r="r" b="b"/>
            <a:pathLst>
              <a:path w="567" h="583">
                <a:moveTo>
                  <a:pt x="567" y="0"/>
                </a:moveTo>
                <a:cubicBezTo>
                  <a:pt x="274" y="0"/>
                  <a:pt x="274" y="0"/>
                  <a:pt x="274" y="0"/>
                </a:cubicBezTo>
                <a:cubicBezTo>
                  <a:pt x="123" y="0"/>
                  <a:pt x="0" y="123"/>
                  <a:pt x="0" y="274"/>
                </a:cubicBezTo>
                <a:cubicBezTo>
                  <a:pt x="0" y="583"/>
                  <a:pt x="0" y="583"/>
                  <a:pt x="0" y="583"/>
                </a:cubicBezTo>
                <a:cubicBezTo>
                  <a:pt x="293" y="583"/>
                  <a:pt x="293" y="583"/>
                  <a:pt x="293" y="583"/>
                </a:cubicBezTo>
                <a:cubicBezTo>
                  <a:pt x="443" y="583"/>
                  <a:pt x="567" y="459"/>
                  <a:pt x="567" y="309"/>
                </a:cubicBezTo>
                <a:lnTo>
                  <a:pt x="567" y="0"/>
                </a:lnTo>
                <a:close/>
              </a:path>
            </a:pathLst>
          </a:custGeom>
          <a:solidFill>
            <a:srgbClr val="FCFCFD"/>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 name="Freeform 15"/>
          <p:cNvSpPr/>
          <p:nvPr/>
        </p:nvSpPr>
        <p:spPr bwMode="auto">
          <a:xfrm>
            <a:off x="5753101" y="2195504"/>
            <a:ext cx="215900" cy="3975100"/>
          </a:xfrm>
          <a:custGeom>
            <a:avLst/>
            <a:gdLst>
              <a:gd name="T0" fmla="*/ 34 w 68"/>
              <a:gd name="T1" fmla="*/ 0 h 1245"/>
              <a:gd name="T2" fmla="*/ 34 w 68"/>
              <a:gd name="T3" fmla="*/ 0 h 1245"/>
              <a:gd name="T4" fmla="*/ 68 w 68"/>
              <a:gd name="T5" fmla="*/ 34 h 1245"/>
              <a:gd name="T6" fmla="*/ 68 w 68"/>
              <a:gd name="T7" fmla="*/ 1211 h 1245"/>
              <a:gd name="T8" fmla="*/ 34 w 68"/>
              <a:gd name="T9" fmla="*/ 1245 h 1245"/>
              <a:gd name="T10" fmla="*/ 34 w 68"/>
              <a:gd name="T11" fmla="*/ 1245 h 1245"/>
              <a:gd name="T12" fmla="*/ 0 w 68"/>
              <a:gd name="T13" fmla="*/ 1211 h 1245"/>
              <a:gd name="T14" fmla="*/ 0 w 68"/>
              <a:gd name="T15" fmla="*/ 34 h 1245"/>
              <a:gd name="T16" fmla="*/ 34 w 68"/>
              <a:gd name="T17" fmla="*/ 0 h 1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1245">
                <a:moveTo>
                  <a:pt x="34" y="0"/>
                </a:moveTo>
                <a:cubicBezTo>
                  <a:pt x="34" y="0"/>
                  <a:pt x="34" y="0"/>
                  <a:pt x="34" y="0"/>
                </a:cubicBezTo>
                <a:cubicBezTo>
                  <a:pt x="53" y="0"/>
                  <a:pt x="68" y="16"/>
                  <a:pt x="68" y="34"/>
                </a:cubicBezTo>
                <a:cubicBezTo>
                  <a:pt x="68" y="1211"/>
                  <a:pt x="68" y="1211"/>
                  <a:pt x="68" y="1211"/>
                </a:cubicBezTo>
                <a:cubicBezTo>
                  <a:pt x="68" y="1229"/>
                  <a:pt x="53" y="1245"/>
                  <a:pt x="34" y="1245"/>
                </a:cubicBezTo>
                <a:cubicBezTo>
                  <a:pt x="34" y="1245"/>
                  <a:pt x="34" y="1245"/>
                  <a:pt x="34" y="1245"/>
                </a:cubicBezTo>
                <a:cubicBezTo>
                  <a:pt x="15" y="1245"/>
                  <a:pt x="0" y="1229"/>
                  <a:pt x="0" y="1211"/>
                </a:cubicBezTo>
                <a:cubicBezTo>
                  <a:pt x="0" y="34"/>
                  <a:pt x="0" y="34"/>
                  <a:pt x="0" y="34"/>
                </a:cubicBezTo>
                <a:cubicBezTo>
                  <a:pt x="0" y="16"/>
                  <a:pt x="15" y="0"/>
                  <a:pt x="34" y="0"/>
                </a:cubicBezTo>
                <a:close/>
              </a:path>
            </a:pathLst>
          </a:custGeom>
          <a:solidFill>
            <a:srgbClr val="51322F"/>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 name="Freeform 16"/>
          <p:cNvSpPr>
            <a:spLocks noEditPoints="1"/>
          </p:cNvSpPr>
          <p:nvPr/>
        </p:nvSpPr>
        <p:spPr bwMode="auto">
          <a:xfrm>
            <a:off x="3441701" y="1941504"/>
            <a:ext cx="407988" cy="436563"/>
          </a:xfrm>
          <a:custGeom>
            <a:avLst/>
            <a:gdLst>
              <a:gd name="T0" fmla="*/ 35 w 128"/>
              <a:gd name="T1" fmla="*/ 115 h 137"/>
              <a:gd name="T2" fmla="*/ 28 w 128"/>
              <a:gd name="T3" fmla="*/ 128 h 137"/>
              <a:gd name="T4" fmla="*/ 14 w 128"/>
              <a:gd name="T5" fmla="*/ 137 h 137"/>
              <a:gd name="T6" fmla="*/ 5 w 128"/>
              <a:gd name="T7" fmla="*/ 135 h 137"/>
              <a:gd name="T8" fmla="*/ 0 w 128"/>
              <a:gd name="T9" fmla="*/ 122 h 137"/>
              <a:gd name="T10" fmla="*/ 1 w 128"/>
              <a:gd name="T11" fmla="*/ 116 h 137"/>
              <a:gd name="T12" fmla="*/ 50 w 128"/>
              <a:gd name="T13" fmla="*/ 8 h 137"/>
              <a:gd name="T14" fmla="*/ 56 w 128"/>
              <a:gd name="T15" fmla="*/ 2 h 137"/>
              <a:gd name="T16" fmla="*/ 64 w 128"/>
              <a:gd name="T17" fmla="*/ 0 h 137"/>
              <a:gd name="T18" fmla="*/ 73 w 128"/>
              <a:gd name="T19" fmla="*/ 2 h 137"/>
              <a:gd name="T20" fmla="*/ 79 w 128"/>
              <a:gd name="T21" fmla="*/ 8 h 137"/>
              <a:gd name="T22" fmla="*/ 127 w 128"/>
              <a:gd name="T23" fmla="*/ 116 h 137"/>
              <a:gd name="T24" fmla="*/ 128 w 128"/>
              <a:gd name="T25" fmla="*/ 122 h 137"/>
              <a:gd name="T26" fmla="*/ 122 w 128"/>
              <a:gd name="T27" fmla="*/ 135 h 137"/>
              <a:gd name="T28" fmla="*/ 113 w 128"/>
              <a:gd name="T29" fmla="*/ 137 h 137"/>
              <a:gd name="T30" fmla="*/ 100 w 128"/>
              <a:gd name="T31" fmla="*/ 128 h 137"/>
              <a:gd name="T32" fmla="*/ 93 w 128"/>
              <a:gd name="T33" fmla="*/ 115 h 137"/>
              <a:gd name="T34" fmla="*/ 35 w 128"/>
              <a:gd name="T35" fmla="*/ 115 h 137"/>
              <a:gd name="T36" fmla="*/ 81 w 128"/>
              <a:gd name="T37" fmla="*/ 89 h 137"/>
              <a:gd name="T38" fmla="*/ 64 w 128"/>
              <a:gd name="T39" fmla="*/ 49 h 137"/>
              <a:gd name="T40" fmla="*/ 46 w 128"/>
              <a:gd name="T41" fmla="*/ 89 h 137"/>
              <a:gd name="T42" fmla="*/ 81 w 128"/>
              <a:gd name="T43" fmla="*/ 8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8" h="137">
                <a:moveTo>
                  <a:pt x="35" y="115"/>
                </a:moveTo>
                <a:cubicBezTo>
                  <a:pt x="28" y="128"/>
                  <a:pt x="28" y="128"/>
                  <a:pt x="28" y="128"/>
                </a:cubicBezTo>
                <a:cubicBezTo>
                  <a:pt x="25" y="134"/>
                  <a:pt x="21" y="137"/>
                  <a:pt x="14" y="137"/>
                </a:cubicBezTo>
                <a:cubicBezTo>
                  <a:pt x="12" y="137"/>
                  <a:pt x="9" y="136"/>
                  <a:pt x="5" y="135"/>
                </a:cubicBezTo>
                <a:cubicBezTo>
                  <a:pt x="1" y="133"/>
                  <a:pt x="0" y="129"/>
                  <a:pt x="0" y="122"/>
                </a:cubicBezTo>
                <a:cubicBezTo>
                  <a:pt x="0" y="120"/>
                  <a:pt x="0" y="118"/>
                  <a:pt x="1" y="116"/>
                </a:cubicBezTo>
                <a:cubicBezTo>
                  <a:pt x="50" y="8"/>
                  <a:pt x="50" y="8"/>
                  <a:pt x="50" y="8"/>
                </a:cubicBezTo>
                <a:cubicBezTo>
                  <a:pt x="51" y="5"/>
                  <a:pt x="53" y="3"/>
                  <a:pt x="56" y="2"/>
                </a:cubicBezTo>
                <a:cubicBezTo>
                  <a:pt x="59" y="1"/>
                  <a:pt x="61" y="0"/>
                  <a:pt x="64" y="0"/>
                </a:cubicBezTo>
                <a:cubicBezTo>
                  <a:pt x="67" y="0"/>
                  <a:pt x="70" y="1"/>
                  <a:pt x="73" y="2"/>
                </a:cubicBezTo>
                <a:cubicBezTo>
                  <a:pt x="76" y="3"/>
                  <a:pt x="78" y="5"/>
                  <a:pt x="79" y="8"/>
                </a:cubicBezTo>
                <a:cubicBezTo>
                  <a:pt x="127" y="116"/>
                  <a:pt x="127" y="116"/>
                  <a:pt x="127" y="116"/>
                </a:cubicBezTo>
                <a:cubicBezTo>
                  <a:pt x="128" y="118"/>
                  <a:pt x="128" y="120"/>
                  <a:pt x="128" y="122"/>
                </a:cubicBezTo>
                <a:cubicBezTo>
                  <a:pt x="128" y="128"/>
                  <a:pt x="126" y="133"/>
                  <a:pt x="122" y="135"/>
                </a:cubicBezTo>
                <a:cubicBezTo>
                  <a:pt x="118" y="136"/>
                  <a:pt x="115" y="137"/>
                  <a:pt x="113" y="137"/>
                </a:cubicBezTo>
                <a:cubicBezTo>
                  <a:pt x="107" y="137"/>
                  <a:pt x="103" y="134"/>
                  <a:pt x="100" y="128"/>
                </a:cubicBezTo>
                <a:cubicBezTo>
                  <a:pt x="93" y="115"/>
                  <a:pt x="93" y="115"/>
                  <a:pt x="93" y="115"/>
                </a:cubicBezTo>
                <a:cubicBezTo>
                  <a:pt x="35" y="115"/>
                  <a:pt x="35" y="115"/>
                  <a:pt x="35" y="115"/>
                </a:cubicBezTo>
                <a:close/>
                <a:moveTo>
                  <a:pt x="81" y="89"/>
                </a:moveTo>
                <a:cubicBezTo>
                  <a:pt x="64" y="49"/>
                  <a:pt x="64" y="49"/>
                  <a:pt x="64" y="49"/>
                </a:cubicBezTo>
                <a:cubicBezTo>
                  <a:pt x="46" y="89"/>
                  <a:pt x="46" y="89"/>
                  <a:pt x="46" y="89"/>
                </a:cubicBezTo>
                <a:lnTo>
                  <a:pt x="81" y="89"/>
                </a:lnTo>
                <a:close/>
              </a:path>
            </a:pathLst>
          </a:custGeom>
          <a:solidFill>
            <a:srgbClr val="FABE00"/>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 name="Freeform 17"/>
          <p:cNvSpPr>
            <a:spLocks noEditPoints="1"/>
          </p:cNvSpPr>
          <p:nvPr/>
        </p:nvSpPr>
        <p:spPr bwMode="auto">
          <a:xfrm>
            <a:off x="7948613" y="1941504"/>
            <a:ext cx="322263" cy="427038"/>
          </a:xfrm>
          <a:custGeom>
            <a:avLst/>
            <a:gdLst>
              <a:gd name="T0" fmla="*/ 101 w 101"/>
              <a:gd name="T1" fmla="*/ 99 h 134"/>
              <a:gd name="T2" fmla="*/ 87 w 101"/>
              <a:gd name="T3" fmla="*/ 125 h 134"/>
              <a:gd name="T4" fmla="*/ 57 w 101"/>
              <a:gd name="T5" fmla="*/ 134 h 134"/>
              <a:gd name="T6" fmla="*/ 15 w 101"/>
              <a:gd name="T7" fmla="*/ 134 h 134"/>
              <a:gd name="T8" fmla="*/ 4 w 101"/>
              <a:gd name="T9" fmla="*/ 130 h 134"/>
              <a:gd name="T10" fmla="*/ 0 w 101"/>
              <a:gd name="T11" fmla="*/ 120 h 134"/>
              <a:gd name="T12" fmla="*/ 0 w 101"/>
              <a:gd name="T13" fmla="*/ 15 h 134"/>
              <a:gd name="T14" fmla="*/ 4 w 101"/>
              <a:gd name="T15" fmla="*/ 4 h 134"/>
              <a:gd name="T16" fmla="*/ 15 w 101"/>
              <a:gd name="T17" fmla="*/ 0 h 134"/>
              <a:gd name="T18" fmla="*/ 49 w 101"/>
              <a:gd name="T19" fmla="*/ 0 h 134"/>
              <a:gd name="T20" fmla="*/ 75 w 101"/>
              <a:gd name="T21" fmla="*/ 4 h 134"/>
              <a:gd name="T22" fmla="*/ 90 w 101"/>
              <a:gd name="T23" fmla="*/ 18 h 134"/>
              <a:gd name="T24" fmla="*/ 95 w 101"/>
              <a:gd name="T25" fmla="*/ 38 h 134"/>
              <a:gd name="T26" fmla="*/ 92 w 101"/>
              <a:gd name="T27" fmla="*/ 53 h 134"/>
              <a:gd name="T28" fmla="*/ 88 w 101"/>
              <a:gd name="T29" fmla="*/ 59 h 134"/>
              <a:gd name="T30" fmla="*/ 84 w 101"/>
              <a:gd name="T31" fmla="*/ 64 h 134"/>
              <a:gd name="T32" fmla="*/ 97 w 101"/>
              <a:gd name="T33" fmla="*/ 76 h 134"/>
              <a:gd name="T34" fmla="*/ 101 w 101"/>
              <a:gd name="T35" fmla="*/ 94 h 134"/>
              <a:gd name="T36" fmla="*/ 101 w 101"/>
              <a:gd name="T37" fmla="*/ 97 h 134"/>
              <a:gd name="T38" fmla="*/ 101 w 101"/>
              <a:gd name="T39" fmla="*/ 99 h 134"/>
              <a:gd name="T40" fmla="*/ 71 w 101"/>
              <a:gd name="T41" fmla="*/ 93 h 134"/>
              <a:gd name="T42" fmla="*/ 66 w 101"/>
              <a:gd name="T43" fmla="*/ 82 h 134"/>
              <a:gd name="T44" fmla="*/ 56 w 101"/>
              <a:gd name="T45" fmla="*/ 78 h 134"/>
              <a:gd name="T46" fmla="*/ 30 w 101"/>
              <a:gd name="T47" fmla="*/ 78 h 134"/>
              <a:gd name="T48" fmla="*/ 30 w 101"/>
              <a:gd name="T49" fmla="*/ 108 h 134"/>
              <a:gd name="T50" fmla="*/ 57 w 101"/>
              <a:gd name="T51" fmla="*/ 108 h 134"/>
              <a:gd name="T52" fmla="*/ 67 w 101"/>
              <a:gd name="T53" fmla="*/ 103 h 134"/>
              <a:gd name="T54" fmla="*/ 71 w 101"/>
              <a:gd name="T55" fmla="*/ 93 h 134"/>
              <a:gd name="T56" fmla="*/ 30 w 101"/>
              <a:gd name="T57" fmla="*/ 28 h 134"/>
              <a:gd name="T58" fmla="*/ 30 w 101"/>
              <a:gd name="T59" fmla="*/ 54 h 134"/>
              <a:gd name="T60" fmla="*/ 54 w 101"/>
              <a:gd name="T61" fmla="*/ 54 h 134"/>
              <a:gd name="T62" fmla="*/ 63 w 101"/>
              <a:gd name="T63" fmla="*/ 50 h 134"/>
              <a:gd name="T64" fmla="*/ 67 w 101"/>
              <a:gd name="T65" fmla="*/ 41 h 134"/>
              <a:gd name="T66" fmla="*/ 63 w 101"/>
              <a:gd name="T67" fmla="*/ 32 h 134"/>
              <a:gd name="T68" fmla="*/ 54 w 101"/>
              <a:gd name="T69" fmla="*/ 28 h 134"/>
              <a:gd name="T70" fmla="*/ 30 w 101"/>
              <a:gd name="T71" fmla="*/ 28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1" h="134">
                <a:moveTo>
                  <a:pt x="101" y="99"/>
                </a:moveTo>
                <a:cubicBezTo>
                  <a:pt x="100" y="110"/>
                  <a:pt x="95" y="118"/>
                  <a:pt x="87" y="125"/>
                </a:cubicBezTo>
                <a:cubicBezTo>
                  <a:pt x="78" y="131"/>
                  <a:pt x="68" y="134"/>
                  <a:pt x="57" y="134"/>
                </a:cubicBezTo>
                <a:cubicBezTo>
                  <a:pt x="15" y="134"/>
                  <a:pt x="15" y="134"/>
                  <a:pt x="15" y="134"/>
                </a:cubicBezTo>
                <a:cubicBezTo>
                  <a:pt x="11" y="134"/>
                  <a:pt x="7" y="133"/>
                  <a:pt x="4" y="130"/>
                </a:cubicBezTo>
                <a:cubicBezTo>
                  <a:pt x="1" y="127"/>
                  <a:pt x="0" y="124"/>
                  <a:pt x="0" y="120"/>
                </a:cubicBezTo>
                <a:cubicBezTo>
                  <a:pt x="0" y="15"/>
                  <a:pt x="0" y="15"/>
                  <a:pt x="0" y="15"/>
                </a:cubicBezTo>
                <a:cubicBezTo>
                  <a:pt x="0" y="11"/>
                  <a:pt x="1" y="7"/>
                  <a:pt x="4" y="4"/>
                </a:cubicBezTo>
                <a:cubicBezTo>
                  <a:pt x="7" y="1"/>
                  <a:pt x="10" y="0"/>
                  <a:pt x="15" y="0"/>
                </a:cubicBezTo>
                <a:cubicBezTo>
                  <a:pt x="49" y="0"/>
                  <a:pt x="49" y="0"/>
                  <a:pt x="49" y="0"/>
                </a:cubicBezTo>
                <a:cubicBezTo>
                  <a:pt x="60" y="0"/>
                  <a:pt x="69" y="1"/>
                  <a:pt x="75" y="4"/>
                </a:cubicBezTo>
                <a:cubicBezTo>
                  <a:pt x="81" y="7"/>
                  <a:pt x="86" y="11"/>
                  <a:pt x="90" y="18"/>
                </a:cubicBezTo>
                <a:cubicBezTo>
                  <a:pt x="93" y="24"/>
                  <a:pt x="95" y="31"/>
                  <a:pt x="95" y="38"/>
                </a:cubicBezTo>
                <a:cubicBezTo>
                  <a:pt x="95" y="44"/>
                  <a:pt x="94" y="49"/>
                  <a:pt x="92" y="53"/>
                </a:cubicBezTo>
                <a:cubicBezTo>
                  <a:pt x="88" y="59"/>
                  <a:pt x="88" y="59"/>
                  <a:pt x="88" y="59"/>
                </a:cubicBezTo>
                <a:cubicBezTo>
                  <a:pt x="84" y="64"/>
                  <a:pt x="84" y="64"/>
                  <a:pt x="84" y="64"/>
                </a:cubicBezTo>
                <a:cubicBezTo>
                  <a:pt x="90" y="67"/>
                  <a:pt x="94" y="71"/>
                  <a:pt x="97" y="76"/>
                </a:cubicBezTo>
                <a:cubicBezTo>
                  <a:pt x="100" y="81"/>
                  <a:pt x="101" y="87"/>
                  <a:pt x="101" y="94"/>
                </a:cubicBezTo>
                <a:cubicBezTo>
                  <a:pt x="101" y="97"/>
                  <a:pt x="101" y="97"/>
                  <a:pt x="101" y="97"/>
                </a:cubicBezTo>
                <a:cubicBezTo>
                  <a:pt x="101" y="99"/>
                  <a:pt x="101" y="99"/>
                  <a:pt x="101" y="99"/>
                </a:cubicBezTo>
                <a:close/>
                <a:moveTo>
                  <a:pt x="71" y="93"/>
                </a:moveTo>
                <a:cubicBezTo>
                  <a:pt x="71" y="89"/>
                  <a:pt x="69" y="85"/>
                  <a:pt x="66" y="82"/>
                </a:cubicBezTo>
                <a:cubicBezTo>
                  <a:pt x="64" y="80"/>
                  <a:pt x="60" y="78"/>
                  <a:pt x="56" y="78"/>
                </a:cubicBezTo>
                <a:cubicBezTo>
                  <a:pt x="30" y="78"/>
                  <a:pt x="30" y="78"/>
                  <a:pt x="30" y="78"/>
                </a:cubicBezTo>
                <a:cubicBezTo>
                  <a:pt x="30" y="108"/>
                  <a:pt x="30" y="108"/>
                  <a:pt x="30" y="108"/>
                </a:cubicBezTo>
                <a:cubicBezTo>
                  <a:pt x="57" y="108"/>
                  <a:pt x="57" y="108"/>
                  <a:pt x="57" y="108"/>
                </a:cubicBezTo>
                <a:cubicBezTo>
                  <a:pt x="60" y="108"/>
                  <a:pt x="64" y="106"/>
                  <a:pt x="67" y="103"/>
                </a:cubicBezTo>
                <a:cubicBezTo>
                  <a:pt x="70" y="101"/>
                  <a:pt x="71" y="97"/>
                  <a:pt x="71" y="93"/>
                </a:cubicBezTo>
                <a:close/>
                <a:moveTo>
                  <a:pt x="30" y="28"/>
                </a:moveTo>
                <a:cubicBezTo>
                  <a:pt x="30" y="54"/>
                  <a:pt x="30" y="54"/>
                  <a:pt x="30" y="54"/>
                </a:cubicBezTo>
                <a:cubicBezTo>
                  <a:pt x="54" y="54"/>
                  <a:pt x="54" y="54"/>
                  <a:pt x="54" y="54"/>
                </a:cubicBezTo>
                <a:cubicBezTo>
                  <a:pt x="57" y="54"/>
                  <a:pt x="60" y="53"/>
                  <a:pt x="63" y="50"/>
                </a:cubicBezTo>
                <a:cubicBezTo>
                  <a:pt x="66" y="48"/>
                  <a:pt x="67" y="45"/>
                  <a:pt x="67" y="41"/>
                </a:cubicBezTo>
                <a:cubicBezTo>
                  <a:pt x="67" y="38"/>
                  <a:pt x="66" y="34"/>
                  <a:pt x="63" y="32"/>
                </a:cubicBezTo>
                <a:cubicBezTo>
                  <a:pt x="61" y="29"/>
                  <a:pt x="58" y="28"/>
                  <a:pt x="54" y="28"/>
                </a:cubicBezTo>
                <a:lnTo>
                  <a:pt x="30" y="28"/>
                </a:lnTo>
                <a:close/>
              </a:path>
            </a:pathLst>
          </a:custGeom>
          <a:solidFill>
            <a:srgbClr val="F18B00"/>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 name="Freeform 18"/>
          <p:cNvSpPr/>
          <p:nvPr/>
        </p:nvSpPr>
        <p:spPr bwMode="auto">
          <a:xfrm>
            <a:off x="3875088" y="5876916"/>
            <a:ext cx="347663" cy="382588"/>
          </a:xfrm>
          <a:custGeom>
            <a:avLst/>
            <a:gdLst>
              <a:gd name="T0" fmla="*/ 61 w 109"/>
              <a:gd name="T1" fmla="*/ 120 h 120"/>
              <a:gd name="T2" fmla="*/ 18 w 109"/>
              <a:gd name="T3" fmla="*/ 102 h 120"/>
              <a:gd name="T4" fmla="*/ 0 w 109"/>
              <a:gd name="T5" fmla="*/ 60 h 120"/>
              <a:gd name="T6" fmla="*/ 18 w 109"/>
              <a:gd name="T7" fmla="*/ 18 h 120"/>
              <a:gd name="T8" fmla="*/ 61 w 109"/>
              <a:gd name="T9" fmla="*/ 0 h 120"/>
              <a:gd name="T10" fmla="*/ 85 w 109"/>
              <a:gd name="T11" fmla="*/ 5 h 120"/>
              <a:gd name="T12" fmla="*/ 101 w 109"/>
              <a:gd name="T13" fmla="*/ 16 h 120"/>
              <a:gd name="T14" fmla="*/ 107 w 109"/>
              <a:gd name="T15" fmla="*/ 24 h 120"/>
              <a:gd name="T16" fmla="*/ 109 w 109"/>
              <a:gd name="T17" fmla="*/ 29 h 120"/>
              <a:gd name="T18" fmla="*/ 105 w 109"/>
              <a:gd name="T19" fmla="*/ 37 h 120"/>
              <a:gd name="T20" fmla="*/ 100 w 109"/>
              <a:gd name="T21" fmla="*/ 41 h 120"/>
              <a:gd name="T22" fmla="*/ 98 w 109"/>
              <a:gd name="T23" fmla="*/ 41 h 120"/>
              <a:gd name="T24" fmla="*/ 96 w 109"/>
              <a:gd name="T25" fmla="*/ 42 h 120"/>
              <a:gd name="T26" fmla="*/ 86 w 109"/>
              <a:gd name="T27" fmla="*/ 37 h 120"/>
              <a:gd name="T28" fmla="*/ 75 w 109"/>
              <a:gd name="T29" fmla="*/ 29 h 120"/>
              <a:gd name="T30" fmla="*/ 61 w 109"/>
              <a:gd name="T31" fmla="*/ 26 h 120"/>
              <a:gd name="T32" fmla="*/ 36 w 109"/>
              <a:gd name="T33" fmla="*/ 36 h 120"/>
              <a:gd name="T34" fmla="*/ 26 w 109"/>
              <a:gd name="T35" fmla="*/ 60 h 120"/>
              <a:gd name="T36" fmla="*/ 36 w 109"/>
              <a:gd name="T37" fmla="*/ 84 h 120"/>
              <a:gd name="T38" fmla="*/ 61 w 109"/>
              <a:gd name="T39" fmla="*/ 95 h 120"/>
              <a:gd name="T40" fmla="*/ 75 w 109"/>
              <a:gd name="T41" fmla="*/ 91 h 120"/>
              <a:gd name="T42" fmla="*/ 86 w 109"/>
              <a:gd name="T43" fmla="*/ 83 h 120"/>
              <a:gd name="T44" fmla="*/ 96 w 109"/>
              <a:gd name="T45" fmla="*/ 79 h 120"/>
              <a:gd name="T46" fmla="*/ 104 w 109"/>
              <a:gd name="T47" fmla="*/ 81 h 120"/>
              <a:gd name="T48" fmla="*/ 108 w 109"/>
              <a:gd name="T49" fmla="*/ 86 h 120"/>
              <a:gd name="T50" fmla="*/ 109 w 109"/>
              <a:gd name="T51" fmla="*/ 91 h 120"/>
              <a:gd name="T52" fmla="*/ 103 w 109"/>
              <a:gd name="T53" fmla="*/ 103 h 120"/>
              <a:gd name="T54" fmla="*/ 85 w 109"/>
              <a:gd name="T55" fmla="*/ 115 h 120"/>
              <a:gd name="T56" fmla="*/ 61 w 109"/>
              <a:gd name="T57" fmla="*/ 12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09" h="120">
                <a:moveTo>
                  <a:pt x="61" y="120"/>
                </a:moveTo>
                <a:cubicBezTo>
                  <a:pt x="44" y="120"/>
                  <a:pt x="30" y="114"/>
                  <a:pt x="18" y="102"/>
                </a:cubicBezTo>
                <a:cubicBezTo>
                  <a:pt x="6" y="90"/>
                  <a:pt x="0" y="76"/>
                  <a:pt x="0" y="60"/>
                </a:cubicBezTo>
                <a:cubicBezTo>
                  <a:pt x="0" y="43"/>
                  <a:pt x="6" y="29"/>
                  <a:pt x="18" y="18"/>
                </a:cubicBezTo>
                <a:cubicBezTo>
                  <a:pt x="30" y="6"/>
                  <a:pt x="44" y="0"/>
                  <a:pt x="61" y="0"/>
                </a:cubicBezTo>
                <a:cubicBezTo>
                  <a:pt x="69" y="0"/>
                  <a:pt x="77" y="2"/>
                  <a:pt x="85" y="5"/>
                </a:cubicBezTo>
                <a:cubicBezTo>
                  <a:pt x="92" y="9"/>
                  <a:pt x="98" y="12"/>
                  <a:pt x="101" y="16"/>
                </a:cubicBezTo>
                <a:cubicBezTo>
                  <a:pt x="105" y="19"/>
                  <a:pt x="107" y="22"/>
                  <a:pt x="107" y="24"/>
                </a:cubicBezTo>
                <a:cubicBezTo>
                  <a:pt x="108" y="25"/>
                  <a:pt x="109" y="27"/>
                  <a:pt x="109" y="29"/>
                </a:cubicBezTo>
                <a:cubicBezTo>
                  <a:pt x="109" y="33"/>
                  <a:pt x="107" y="35"/>
                  <a:pt x="105" y="37"/>
                </a:cubicBezTo>
                <a:cubicBezTo>
                  <a:pt x="103" y="39"/>
                  <a:pt x="102" y="40"/>
                  <a:pt x="100" y="41"/>
                </a:cubicBezTo>
                <a:cubicBezTo>
                  <a:pt x="99" y="41"/>
                  <a:pt x="99" y="41"/>
                  <a:pt x="98" y="41"/>
                </a:cubicBezTo>
                <a:cubicBezTo>
                  <a:pt x="97" y="41"/>
                  <a:pt x="96" y="41"/>
                  <a:pt x="96" y="42"/>
                </a:cubicBezTo>
                <a:cubicBezTo>
                  <a:pt x="92" y="42"/>
                  <a:pt x="88" y="40"/>
                  <a:pt x="86" y="37"/>
                </a:cubicBezTo>
                <a:cubicBezTo>
                  <a:pt x="83" y="34"/>
                  <a:pt x="79" y="31"/>
                  <a:pt x="75" y="29"/>
                </a:cubicBezTo>
                <a:cubicBezTo>
                  <a:pt x="70" y="27"/>
                  <a:pt x="65" y="26"/>
                  <a:pt x="61" y="26"/>
                </a:cubicBezTo>
                <a:cubicBezTo>
                  <a:pt x="51" y="26"/>
                  <a:pt x="43" y="29"/>
                  <a:pt x="36" y="36"/>
                </a:cubicBezTo>
                <a:cubicBezTo>
                  <a:pt x="30" y="43"/>
                  <a:pt x="26" y="51"/>
                  <a:pt x="26" y="60"/>
                </a:cubicBezTo>
                <a:cubicBezTo>
                  <a:pt x="26" y="69"/>
                  <a:pt x="29" y="77"/>
                  <a:pt x="36" y="84"/>
                </a:cubicBezTo>
                <a:cubicBezTo>
                  <a:pt x="43" y="91"/>
                  <a:pt x="51" y="95"/>
                  <a:pt x="61" y="95"/>
                </a:cubicBezTo>
                <a:cubicBezTo>
                  <a:pt x="66" y="95"/>
                  <a:pt x="71" y="93"/>
                  <a:pt x="75" y="91"/>
                </a:cubicBezTo>
                <a:cubicBezTo>
                  <a:pt x="79" y="89"/>
                  <a:pt x="83" y="87"/>
                  <a:pt x="86" y="83"/>
                </a:cubicBezTo>
                <a:cubicBezTo>
                  <a:pt x="89" y="80"/>
                  <a:pt x="92" y="79"/>
                  <a:pt x="96" y="79"/>
                </a:cubicBezTo>
                <a:cubicBezTo>
                  <a:pt x="100" y="79"/>
                  <a:pt x="102" y="79"/>
                  <a:pt x="104" y="81"/>
                </a:cubicBezTo>
                <a:cubicBezTo>
                  <a:pt x="106" y="83"/>
                  <a:pt x="107" y="84"/>
                  <a:pt x="108" y="86"/>
                </a:cubicBezTo>
                <a:cubicBezTo>
                  <a:pt x="108" y="88"/>
                  <a:pt x="109" y="89"/>
                  <a:pt x="109" y="91"/>
                </a:cubicBezTo>
                <a:cubicBezTo>
                  <a:pt x="109" y="95"/>
                  <a:pt x="107" y="99"/>
                  <a:pt x="103" y="103"/>
                </a:cubicBezTo>
                <a:cubicBezTo>
                  <a:pt x="99" y="107"/>
                  <a:pt x="93" y="111"/>
                  <a:pt x="85" y="115"/>
                </a:cubicBezTo>
                <a:cubicBezTo>
                  <a:pt x="77" y="118"/>
                  <a:pt x="69" y="120"/>
                  <a:pt x="61" y="120"/>
                </a:cubicBezTo>
                <a:close/>
              </a:path>
            </a:pathLst>
          </a:custGeom>
          <a:solidFill>
            <a:srgbClr val="E60012"/>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 name="Freeform 19"/>
          <p:cNvSpPr>
            <a:spLocks noEditPoints="1"/>
          </p:cNvSpPr>
          <p:nvPr/>
        </p:nvSpPr>
        <p:spPr bwMode="auto">
          <a:xfrm>
            <a:off x="7518401" y="5876916"/>
            <a:ext cx="334963" cy="373063"/>
          </a:xfrm>
          <a:custGeom>
            <a:avLst/>
            <a:gdLst>
              <a:gd name="T0" fmla="*/ 13 w 105"/>
              <a:gd name="T1" fmla="*/ 117 h 117"/>
              <a:gd name="T2" fmla="*/ 4 w 105"/>
              <a:gd name="T3" fmla="*/ 114 h 117"/>
              <a:gd name="T4" fmla="*/ 0 w 105"/>
              <a:gd name="T5" fmla="*/ 104 h 117"/>
              <a:gd name="T6" fmla="*/ 0 w 105"/>
              <a:gd name="T7" fmla="*/ 13 h 117"/>
              <a:gd name="T8" fmla="*/ 4 w 105"/>
              <a:gd name="T9" fmla="*/ 3 h 117"/>
              <a:gd name="T10" fmla="*/ 13 w 105"/>
              <a:gd name="T11" fmla="*/ 0 h 117"/>
              <a:gd name="T12" fmla="*/ 43 w 105"/>
              <a:gd name="T13" fmla="*/ 0 h 117"/>
              <a:gd name="T14" fmla="*/ 87 w 105"/>
              <a:gd name="T15" fmla="*/ 16 h 117"/>
              <a:gd name="T16" fmla="*/ 105 w 105"/>
              <a:gd name="T17" fmla="*/ 57 h 117"/>
              <a:gd name="T18" fmla="*/ 89 w 105"/>
              <a:gd name="T19" fmla="*/ 100 h 117"/>
              <a:gd name="T20" fmla="*/ 47 w 105"/>
              <a:gd name="T21" fmla="*/ 117 h 117"/>
              <a:gd name="T22" fmla="*/ 13 w 105"/>
              <a:gd name="T23" fmla="*/ 117 h 117"/>
              <a:gd name="T24" fmla="*/ 43 w 105"/>
              <a:gd name="T25" fmla="*/ 93 h 117"/>
              <a:gd name="T26" fmla="*/ 68 w 105"/>
              <a:gd name="T27" fmla="*/ 83 h 117"/>
              <a:gd name="T28" fmla="*/ 78 w 105"/>
              <a:gd name="T29" fmla="*/ 59 h 117"/>
              <a:gd name="T30" fmla="*/ 67 w 105"/>
              <a:gd name="T31" fmla="*/ 34 h 117"/>
              <a:gd name="T32" fmla="*/ 42 w 105"/>
              <a:gd name="T33" fmla="*/ 24 h 117"/>
              <a:gd name="T34" fmla="*/ 26 w 105"/>
              <a:gd name="T35" fmla="*/ 24 h 117"/>
              <a:gd name="T36" fmla="*/ 26 w 105"/>
              <a:gd name="T37" fmla="*/ 93 h 117"/>
              <a:gd name="T38" fmla="*/ 43 w 105"/>
              <a:gd name="T39" fmla="*/ 93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5" h="117">
                <a:moveTo>
                  <a:pt x="13" y="117"/>
                </a:moveTo>
                <a:cubicBezTo>
                  <a:pt x="10" y="117"/>
                  <a:pt x="7" y="116"/>
                  <a:pt x="4" y="114"/>
                </a:cubicBezTo>
                <a:cubicBezTo>
                  <a:pt x="2" y="111"/>
                  <a:pt x="0" y="108"/>
                  <a:pt x="0" y="104"/>
                </a:cubicBezTo>
                <a:cubicBezTo>
                  <a:pt x="0" y="13"/>
                  <a:pt x="0" y="13"/>
                  <a:pt x="0" y="13"/>
                </a:cubicBezTo>
                <a:cubicBezTo>
                  <a:pt x="0" y="9"/>
                  <a:pt x="1" y="6"/>
                  <a:pt x="4" y="3"/>
                </a:cubicBezTo>
                <a:cubicBezTo>
                  <a:pt x="6" y="1"/>
                  <a:pt x="10" y="0"/>
                  <a:pt x="13" y="0"/>
                </a:cubicBezTo>
                <a:cubicBezTo>
                  <a:pt x="43" y="0"/>
                  <a:pt x="43" y="0"/>
                  <a:pt x="43" y="0"/>
                </a:cubicBezTo>
                <a:cubicBezTo>
                  <a:pt x="61" y="0"/>
                  <a:pt x="75" y="5"/>
                  <a:pt x="87" y="16"/>
                </a:cubicBezTo>
                <a:cubicBezTo>
                  <a:pt x="99" y="27"/>
                  <a:pt x="105" y="40"/>
                  <a:pt x="105" y="57"/>
                </a:cubicBezTo>
                <a:cubicBezTo>
                  <a:pt x="105" y="74"/>
                  <a:pt x="99" y="88"/>
                  <a:pt x="89" y="100"/>
                </a:cubicBezTo>
                <a:cubicBezTo>
                  <a:pt x="78" y="111"/>
                  <a:pt x="64" y="117"/>
                  <a:pt x="47" y="117"/>
                </a:cubicBezTo>
                <a:cubicBezTo>
                  <a:pt x="13" y="117"/>
                  <a:pt x="13" y="117"/>
                  <a:pt x="13" y="117"/>
                </a:cubicBezTo>
                <a:close/>
                <a:moveTo>
                  <a:pt x="43" y="93"/>
                </a:moveTo>
                <a:cubicBezTo>
                  <a:pt x="53" y="93"/>
                  <a:pt x="61" y="90"/>
                  <a:pt x="68" y="83"/>
                </a:cubicBezTo>
                <a:cubicBezTo>
                  <a:pt x="75" y="77"/>
                  <a:pt x="78" y="69"/>
                  <a:pt x="78" y="59"/>
                </a:cubicBezTo>
                <a:cubicBezTo>
                  <a:pt x="78" y="49"/>
                  <a:pt x="74" y="41"/>
                  <a:pt x="67" y="34"/>
                </a:cubicBezTo>
                <a:cubicBezTo>
                  <a:pt x="60" y="28"/>
                  <a:pt x="52" y="24"/>
                  <a:pt x="42" y="24"/>
                </a:cubicBezTo>
                <a:cubicBezTo>
                  <a:pt x="26" y="24"/>
                  <a:pt x="26" y="24"/>
                  <a:pt x="26" y="24"/>
                </a:cubicBezTo>
                <a:cubicBezTo>
                  <a:pt x="26" y="93"/>
                  <a:pt x="26" y="93"/>
                  <a:pt x="26" y="93"/>
                </a:cubicBezTo>
                <a:lnTo>
                  <a:pt x="43" y="93"/>
                </a:lnTo>
                <a:close/>
              </a:path>
            </a:pathLst>
          </a:custGeom>
          <a:solidFill>
            <a:srgbClr val="EB5902"/>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 name="矩形 2"/>
          <p:cNvSpPr/>
          <p:nvPr/>
        </p:nvSpPr>
        <p:spPr>
          <a:xfrm>
            <a:off x="3441701" y="2685931"/>
            <a:ext cx="2037737" cy="646331"/>
          </a:xfrm>
          <a:prstGeom prst="rect">
            <a:avLst/>
          </a:prstGeom>
        </p:spPr>
        <p:txBody>
          <a:bodyPr wrap="none">
            <a:spAutoFit/>
          </a:bodyPr>
          <a:lstStyle/>
          <a:p>
            <a:r>
              <a:rPr lang="zh-CN" altLang="en-US" sz="3600" b="1" dirty="0">
                <a:solidFill>
                  <a:schemeClr val="accent5">
                    <a:lumMod val="75000"/>
                  </a:schemeClr>
                </a:solidFill>
              </a:rPr>
              <a:t>波长范围</a:t>
            </a:r>
            <a:endParaRPr lang="zh-CN" altLang="en-US" sz="3600" dirty="0">
              <a:solidFill>
                <a:schemeClr val="accent5">
                  <a:lumMod val="75000"/>
                </a:schemeClr>
              </a:solidFill>
            </a:endParaRPr>
          </a:p>
        </p:txBody>
      </p:sp>
      <p:sp>
        <p:nvSpPr>
          <p:cNvPr id="4" name="矩形 3"/>
          <p:cNvSpPr/>
          <p:nvPr/>
        </p:nvSpPr>
        <p:spPr>
          <a:xfrm>
            <a:off x="6186581" y="2454266"/>
            <a:ext cx="1846116" cy="1200329"/>
          </a:xfrm>
          <a:prstGeom prst="rect">
            <a:avLst/>
          </a:prstGeom>
        </p:spPr>
        <p:txBody>
          <a:bodyPr wrap="square">
            <a:spAutoFit/>
          </a:bodyPr>
          <a:lstStyle/>
          <a:p>
            <a:r>
              <a:rPr lang="zh-CN" altLang="en-US" sz="3600" b="1" dirty="0">
                <a:solidFill>
                  <a:srgbClr val="FF0000"/>
                </a:solidFill>
              </a:rPr>
              <a:t>仪器的分辨率</a:t>
            </a:r>
            <a:endParaRPr lang="zh-CN" altLang="en-US" sz="3600" dirty="0"/>
          </a:p>
        </p:txBody>
      </p:sp>
      <p:sp>
        <p:nvSpPr>
          <p:cNvPr id="7168" name="矩形 7167"/>
          <p:cNvSpPr/>
          <p:nvPr/>
        </p:nvSpPr>
        <p:spPr>
          <a:xfrm>
            <a:off x="3921184" y="4795739"/>
            <a:ext cx="1681104" cy="1077218"/>
          </a:xfrm>
          <a:prstGeom prst="rect">
            <a:avLst/>
          </a:prstGeom>
        </p:spPr>
        <p:txBody>
          <a:bodyPr wrap="square">
            <a:spAutoFit/>
          </a:bodyPr>
          <a:lstStyle/>
          <a:p>
            <a:r>
              <a:rPr lang="zh-CN" altLang="en-US" sz="3200" b="1" smtClean="0">
                <a:solidFill>
                  <a:schemeClr val="accent5">
                    <a:lumMod val="75000"/>
                  </a:schemeClr>
                </a:solidFill>
              </a:rPr>
              <a:t>波长的准确度</a:t>
            </a:r>
            <a:endParaRPr lang="zh-CN" altLang="en-US" sz="3200" dirty="0">
              <a:solidFill>
                <a:schemeClr val="accent5">
                  <a:lumMod val="75000"/>
                </a:schemeClr>
              </a:solidFill>
            </a:endParaRPr>
          </a:p>
        </p:txBody>
      </p:sp>
      <p:sp>
        <p:nvSpPr>
          <p:cNvPr id="7169" name="矩形 7168"/>
          <p:cNvSpPr/>
          <p:nvPr/>
        </p:nvSpPr>
        <p:spPr>
          <a:xfrm>
            <a:off x="6287240" y="4679624"/>
            <a:ext cx="1617831" cy="1077218"/>
          </a:xfrm>
          <a:prstGeom prst="rect">
            <a:avLst/>
          </a:prstGeom>
        </p:spPr>
        <p:txBody>
          <a:bodyPr wrap="square">
            <a:spAutoFit/>
          </a:bodyPr>
          <a:lstStyle/>
          <a:p>
            <a:r>
              <a:rPr lang="zh-CN" altLang="en-US" sz="3200" b="1" dirty="0">
                <a:solidFill>
                  <a:schemeClr val="accent5">
                    <a:lumMod val="75000"/>
                  </a:schemeClr>
                </a:solidFill>
              </a:rPr>
              <a:t>波长的精确度</a:t>
            </a:r>
            <a:endParaRPr lang="zh-CN" altLang="en-US" sz="3200" dirty="0">
              <a:solidFill>
                <a:schemeClr val="accent5">
                  <a:lumMod val="75000"/>
                </a:schemeClr>
              </a:solidFill>
            </a:endParaRPr>
          </a:p>
        </p:txBody>
      </p:sp>
      <p:sp>
        <p:nvSpPr>
          <p:cNvPr id="7171" name="矩形 7170"/>
          <p:cNvSpPr/>
          <p:nvPr/>
        </p:nvSpPr>
        <p:spPr>
          <a:xfrm>
            <a:off x="80587" y="1851016"/>
            <a:ext cx="2691642" cy="1384995"/>
          </a:xfrm>
          <a:prstGeom prst="rect">
            <a:avLst/>
          </a:prstGeom>
        </p:spPr>
        <p:txBody>
          <a:bodyPr wrap="square">
            <a:spAutoFit/>
          </a:bodyPr>
          <a:lstStyle/>
          <a:p>
            <a:r>
              <a:rPr lang="zh-CN" altLang="en-US" sz="2800" dirty="0"/>
              <a:t>指该近红外光谱仪器所能记录的光谱范围。</a:t>
            </a:r>
          </a:p>
        </p:txBody>
      </p:sp>
      <p:sp>
        <p:nvSpPr>
          <p:cNvPr id="7172" name="矩形 7171"/>
          <p:cNvSpPr/>
          <p:nvPr/>
        </p:nvSpPr>
        <p:spPr>
          <a:xfrm>
            <a:off x="8523289" y="684551"/>
            <a:ext cx="3670299" cy="2677656"/>
          </a:xfrm>
          <a:prstGeom prst="rect">
            <a:avLst/>
          </a:prstGeom>
        </p:spPr>
        <p:txBody>
          <a:bodyPr wrap="square">
            <a:spAutoFit/>
          </a:bodyPr>
          <a:lstStyle/>
          <a:p>
            <a:r>
              <a:rPr lang="zh-CN" altLang="en-US" sz="2800" dirty="0" smtClean="0">
                <a:solidFill>
                  <a:srgbClr val="FF0000"/>
                </a:solidFill>
              </a:rPr>
              <a:t>指仪器对于紧密相邻的峰可分辨的最小波长间隔，表示仪器实际分开相邻两谱线的能力，往往用仪器的单色光带宽来表示。</a:t>
            </a:r>
            <a:endParaRPr lang="en-US" altLang="zh-CN" sz="2800" dirty="0">
              <a:solidFill>
                <a:srgbClr val="FF0000"/>
              </a:solidFill>
            </a:endParaRPr>
          </a:p>
        </p:txBody>
      </p:sp>
      <p:sp>
        <p:nvSpPr>
          <p:cNvPr id="7173" name="矩形 7172"/>
          <p:cNvSpPr/>
          <p:nvPr/>
        </p:nvSpPr>
        <p:spPr>
          <a:xfrm>
            <a:off x="130969" y="4293996"/>
            <a:ext cx="3514726" cy="1815882"/>
          </a:xfrm>
          <a:prstGeom prst="rect">
            <a:avLst/>
          </a:prstGeom>
        </p:spPr>
        <p:txBody>
          <a:bodyPr wrap="square">
            <a:spAutoFit/>
          </a:bodyPr>
          <a:lstStyle/>
          <a:p>
            <a:r>
              <a:rPr lang="zh-CN" altLang="en-US" sz="2800" dirty="0"/>
              <a:t>指仪器所显示的波长值和分光系统实际输出单色光的波长值之间的相符程度。</a:t>
            </a:r>
            <a:endParaRPr lang="en-US" altLang="zh-CN" sz="2800" dirty="0"/>
          </a:p>
        </p:txBody>
      </p:sp>
      <p:sp>
        <p:nvSpPr>
          <p:cNvPr id="7174" name="矩形 7173"/>
          <p:cNvSpPr/>
          <p:nvPr/>
        </p:nvSpPr>
        <p:spPr>
          <a:xfrm>
            <a:off x="8547556" y="4426407"/>
            <a:ext cx="3359371" cy="1815882"/>
          </a:xfrm>
          <a:prstGeom prst="rect">
            <a:avLst/>
          </a:prstGeom>
        </p:spPr>
        <p:txBody>
          <a:bodyPr wrap="square">
            <a:spAutoFit/>
          </a:bodyPr>
          <a:lstStyle/>
          <a:p>
            <a:r>
              <a:rPr lang="zh-CN" altLang="en-US" sz="2800" dirty="0"/>
              <a:t>指对同一样品进行多次扫描，光谱谱峰位置间的差异程度或重复性。</a:t>
            </a:r>
            <a:endParaRPr lang="en-US" altLang="zh-CN" sz="2800"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0" y="6334579"/>
            <a:ext cx="12193588" cy="530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Freeform 5"/>
          <p:cNvSpPr/>
          <p:nvPr/>
        </p:nvSpPr>
        <p:spPr bwMode="auto">
          <a:xfrm>
            <a:off x="5796644" y="1286101"/>
            <a:ext cx="2554288" cy="2614613"/>
          </a:xfrm>
          <a:custGeom>
            <a:avLst/>
            <a:gdLst>
              <a:gd name="T0" fmla="*/ 0 w 800"/>
              <a:gd name="T1" fmla="*/ 819 h 819"/>
              <a:gd name="T2" fmla="*/ 412 w 800"/>
              <a:gd name="T3" fmla="*/ 819 h 819"/>
              <a:gd name="T4" fmla="*/ 800 w 800"/>
              <a:gd name="T5" fmla="*/ 431 h 819"/>
              <a:gd name="T6" fmla="*/ 800 w 800"/>
              <a:gd name="T7" fmla="*/ 0 h 819"/>
              <a:gd name="T8" fmla="*/ 388 w 800"/>
              <a:gd name="T9" fmla="*/ 0 h 819"/>
              <a:gd name="T10" fmla="*/ 0 w 800"/>
              <a:gd name="T11" fmla="*/ 388 h 819"/>
              <a:gd name="T12" fmla="*/ 0 w 800"/>
              <a:gd name="T13" fmla="*/ 819 h 819"/>
            </a:gdLst>
            <a:ahLst/>
            <a:cxnLst>
              <a:cxn ang="0">
                <a:pos x="T0" y="T1"/>
              </a:cxn>
              <a:cxn ang="0">
                <a:pos x="T2" y="T3"/>
              </a:cxn>
              <a:cxn ang="0">
                <a:pos x="T4" y="T5"/>
              </a:cxn>
              <a:cxn ang="0">
                <a:pos x="T6" y="T7"/>
              </a:cxn>
              <a:cxn ang="0">
                <a:pos x="T8" y="T9"/>
              </a:cxn>
              <a:cxn ang="0">
                <a:pos x="T10" y="T11"/>
              </a:cxn>
              <a:cxn ang="0">
                <a:pos x="T12" y="T13"/>
              </a:cxn>
            </a:cxnLst>
            <a:rect l="0" t="0" r="r" b="b"/>
            <a:pathLst>
              <a:path w="800" h="819">
                <a:moveTo>
                  <a:pt x="0" y="819"/>
                </a:moveTo>
                <a:cubicBezTo>
                  <a:pt x="412" y="819"/>
                  <a:pt x="412" y="819"/>
                  <a:pt x="412" y="819"/>
                </a:cubicBezTo>
                <a:cubicBezTo>
                  <a:pt x="625" y="819"/>
                  <a:pt x="800" y="644"/>
                  <a:pt x="800" y="431"/>
                </a:cubicBezTo>
                <a:cubicBezTo>
                  <a:pt x="800" y="0"/>
                  <a:pt x="800" y="0"/>
                  <a:pt x="800" y="0"/>
                </a:cubicBezTo>
                <a:cubicBezTo>
                  <a:pt x="388" y="0"/>
                  <a:pt x="388" y="0"/>
                  <a:pt x="388" y="0"/>
                </a:cubicBezTo>
                <a:cubicBezTo>
                  <a:pt x="175" y="0"/>
                  <a:pt x="0" y="175"/>
                  <a:pt x="0" y="388"/>
                </a:cubicBezTo>
                <a:lnTo>
                  <a:pt x="0" y="819"/>
                </a:lnTo>
                <a:close/>
              </a:path>
            </a:pathLst>
          </a:custGeom>
          <a:solidFill>
            <a:srgbClr val="F18B00"/>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 name="Freeform 6"/>
          <p:cNvSpPr/>
          <p:nvPr/>
        </p:nvSpPr>
        <p:spPr bwMode="auto">
          <a:xfrm>
            <a:off x="5947456" y="1435326"/>
            <a:ext cx="2249488" cy="2314575"/>
          </a:xfrm>
          <a:custGeom>
            <a:avLst/>
            <a:gdLst>
              <a:gd name="T0" fmla="*/ 0 w 705"/>
              <a:gd name="T1" fmla="*/ 725 h 725"/>
              <a:gd name="T2" fmla="*/ 365 w 705"/>
              <a:gd name="T3" fmla="*/ 725 h 725"/>
              <a:gd name="T4" fmla="*/ 705 w 705"/>
              <a:gd name="T5" fmla="*/ 384 h 725"/>
              <a:gd name="T6" fmla="*/ 705 w 705"/>
              <a:gd name="T7" fmla="*/ 0 h 725"/>
              <a:gd name="T8" fmla="*/ 341 w 705"/>
              <a:gd name="T9" fmla="*/ 0 h 725"/>
              <a:gd name="T10" fmla="*/ 0 w 705"/>
              <a:gd name="T11" fmla="*/ 341 h 725"/>
              <a:gd name="T12" fmla="*/ 0 w 705"/>
              <a:gd name="T13" fmla="*/ 725 h 725"/>
            </a:gdLst>
            <a:ahLst/>
            <a:cxnLst>
              <a:cxn ang="0">
                <a:pos x="T0" y="T1"/>
              </a:cxn>
              <a:cxn ang="0">
                <a:pos x="T2" y="T3"/>
              </a:cxn>
              <a:cxn ang="0">
                <a:pos x="T4" y="T5"/>
              </a:cxn>
              <a:cxn ang="0">
                <a:pos x="T6" y="T7"/>
              </a:cxn>
              <a:cxn ang="0">
                <a:pos x="T8" y="T9"/>
              </a:cxn>
              <a:cxn ang="0">
                <a:pos x="T10" y="T11"/>
              </a:cxn>
              <a:cxn ang="0">
                <a:pos x="T12" y="T13"/>
              </a:cxn>
            </a:cxnLst>
            <a:rect l="0" t="0" r="r" b="b"/>
            <a:pathLst>
              <a:path w="705" h="725">
                <a:moveTo>
                  <a:pt x="0" y="725"/>
                </a:moveTo>
                <a:cubicBezTo>
                  <a:pt x="365" y="725"/>
                  <a:pt x="365" y="725"/>
                  <a:pt x="365" y="725"/>
                </a:cubicBezTo>
                <a:cubicBezTo>
                  <a:pt x="552" y="725"/>
                  <a:pt x="705" y="571"/>
                  <a:pt x="705" y="384"/>
                </a:cubicBezTo>
                <a:cubicBezTo>
                  <a:pt x="705" y="0"/>
                  <a:pt x="705" y="0"/>
                  <a:pt x="705" y="0"/>
                </a:cubicBezTo>
                <a:cubicBezTo>
                  <a:pt x="341" y="0"/>
                  <a:pt x="341" y="0"/>
                  <a:pt x="341" y="0"/>
                </a:cubicBezTo>
                <a:cubicBezTo>
                  <a:pt x="154" y="0"/>
                  <a:pt x="0" y="154"/>
                  <a:pt x="0" y="341"/>
                </a:cubicBezTo>
                <a:lnTo>
                  <a:pt x="0" y="725"/>
                </a:lnTo>
                <a:close/>
              </a:path>
            </a:pathLst>
          </a:custGeom>
          <a:solidFill>
            <a:srgbClr val="FCFCFD"/>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 name="Freeform 7"/>
          <p:cNvSpPr/>
          <p:nvPr/>
        </p:nvSpPr>
        <p:spPr bwMode="auto">
          <a:xfrm>
            <a:off x="5796644" y="3900714"/>
            <a:ext cx="2109788" cy="2160588"/>
          </a:xfrm>
          <a:custGeom>
            <a:avLst/>
            <a:gdLst>
              <a:gd name="T0" fmla="*/ 0 w 661"/>
              <a:gd name="T1" fmla="*/ 0 h 677"/>
              <a:gd name="T2" fmla="*/ 340 w 661"/>
              <a:gd name="T3" fmla="*/ 0 h 677"/>
              <a:gd name="T4" fmla="*/ 661 w 661"/>
              <a:gd name="T5" fmla="*/ 321 h 677"/>
              <a:gd name="T6" fmla="*/ 661 w 661"/>
              <a:gd name="T7" fmla="*/ 677 h 677"/>
              <a:gd name="T8" fmla="*/ 321 w 661"/>
              <a:gd name="T9" fmla="*/ 677 h 677"/>
              <a:gd name="T10" fmla="*/ 0 w 661"/>
              <a:gd name="T11" fmla="*/ 356 h 677"/>
              <a:gd name="T12" fmla="*/ 0 w 661"/>
              <a:gd name="T13" fmla="*/ 0 h 677"/>
            </a:gdLst>
            <a:ahLst/>
            <a:cxnLst>
              <a:cxn ang="0">
                <a:pos x="T0" y="T1"/>
              </a:cxn>
              <a:cxn ang="0">
                <a:pos x="T2" y="T3"/>
              </a:cxn>
              <a:cxn ang="0">
                <a:pos x="T4" y="T5"/>
              </a:cxn>
              <a:cxn ang="0">
                <a:pos x="T6" y="T7"/>
              </a:cxn>
              <a:cxn ang="0">
                <a:pos x="T8" y="T9"/>
              </a:cxn>
              <a:cxn ang="0">
                <a:pos x="T10" y="T11"/>
              </a:cxn>
              <a:cxn ang="0">
                <a:pos x="T12" y="T13"/>
              </a:cxn>
            </a:cxnLst>
            <a:rect l="0" t="0" r="r" b="b"/>
            <a:pathLst>
              <a:path w="661" h="677">
                <a:moveTo>
                  <a:pt x="0" y="0"/>
                </a:moveTo>
                <a:cubicBezTo>
                  <a:pt x="340" y="0"/>
                  <a:pt x="340" y="0"/>
                  <a:pt x="340" y="0"/>
                </a:cubicBezTo>
                <a:cubicBezTo>
                  <a:pt x="517" y="0"/>
                  <a:pt x="661" y="144"/>
                  <a:pt x="661" y="321"/>
                </a:cubicBezTo>
                <a:cubicBezTo>
                  <a:pt x="661" y="677"/>
                  <a:pt x="661" y="677"/>
                  <a:pt x="661" y="677"/>
                </a:cubicBezTo>
                <a:cubicBezTo>
                  <a:pt x="321" y="677"/>
                  <a:pt x="321" y="677"/>
                  <a:pt x="321" y="677"/>
                </a:cubicBezTo>
                <a:cubicBezTo>
                  <a:pt x="144" y="677"/>
                  <a:pt x="0" y="532"/>
                  <a:pt x="0" y="356"/>
                </a:cubicBezTo>
                <a:lnTo>
                  <a:pt x="0" y="0"/>
                </a:lnTo>
                <a:close/>
              </a:path>
            </a:pathLst>
          </a:custGeom>
          <a:solidFill>
            <a:srgbClr val="EB5902"/>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 name="Freeform 8"/>
          <p:cNvSpPr/>
          <p:nvPr/>
        </p:nvSpPr>
        <p:spPr bwMode="auto">
          <a:xfrm>
            <a:off x="5947456" y="4049939"/>
            <a:ext cx="1809750" cy="1860550"/>
          </a:xfrm>
          <a:custGeom>
            <a:avLst/>
            <a:gdLst>
              <a:gd name="T0" fmla="*/ 0 w 567"/>
              <a:gd name="T1" fmla="*/ 0 h 583"/>
              <a:gd name="T2" fmla="*/ 0 w 567"/>
              <a:gd name="T3" fmla="*/ 309 h 583"/>
              <a:gd name="T4" fmla="*/ 274 w 567"/>
              <a:gd name="T5" fmla="*/ 583 h 583"/>
              <a:gd name="T6" fmla="*/ 567 w 567"/>
              <a:gd name="T7" fmla="*/ 583 h 583"/>
              <a:gd name="T8" fmla="*/ 567 w 567"/>
              <a:gd name="T9" fmla="*/ 274 h 583"/>
              <a:gd name="T10" fmla="*/ 293 w 567"/>
              <a:gd name="T11" fmla="*/ 0 h 583"/>
              <a:gd name="T12" fmla="*/ 0 w 567"/>
              <a:gd name="T13" fmla="*/ 0 h 583"/>
            </a:gdLst>
            <a:ahLst/>
            <a:cxnLst>
              <a:cxn ang="0">
                <a:pos x="T0" y="T1"/>
              </a:cxn>
              <a:cxn ang="0">
                <a:pos x="T2" y="T3"/>
              </a:cxn>
              <a:cxn ang="0">
                <a:pos x="T4" y="T5"/>
              </a:cxn>
              <a:cxn ang="0">
                <a:pos x="T6" y="T7"/>
              </a:cxn>
              <a:cxn ang="0">
                <a:pos x="T8" y="T9"/>
              </a:cxn>
              <a:cxn ang="0">
                <a:pos x="T10" y="T11"/>
              </a:cxn>
              <a:cxn ang="0">
                <a:pos x="T12" y="T13"/>
              </a:cxn>
            </a:cxnLst>
            <a:rect l="0" t="0" r="r" b="b"/>
            <a:pathLst>
              <a:path w="567" h="583">
                <a:moveTo>
                  <a:pt x="0" y="0"/>
                </a:moveTo>
                <a:cubicBezTo>
                  <a:pt x="0" y="309"/>
                  <a:pt x="0" y="309"/>
                  <a:pt x="0" y="309"/>
                </a:cubicBezTo>
                <a:cubicBezTo>
                  <a:pt x="0" y="459"/>
                  <a:pt x="124" y="583"/>
                  <a:pt x="274" y="583"/>
                </a:cubicBezTo>
                <a:cubicBezTo>
                  <a:pt x="567" y="583"/>
                  <a:pt x="567" y="583"/>
                  <a:pt x="567" y="583"/>
                </a:cubicBezTo>
                <a:cubicBezTo>
                  <a:pt x="567" y="274"/>
                  <a:pt x="567" y="274"/>
                  <a:pt x="567" y="274"/>
                </a:cubicBezTo>
                <a:cubicBezTo>
                  <a:pt x="567" y="123"/>
                  <a:pt x="444" y="0"/>
                  <a:pt x="293" y="0"/>
                </a:cubicBezTo>
                <a:lnTo>
                  <a:pt x="0" y="0"/>
                </a:lnTo>
                <a:close/>
              </a:path>
            </a:pathLst>
          </a:custGeom>
          <a:solidFill>
            <a:srgbClr val="FCFCFD"/>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 name="Freeform 9"/>
          <p:cNvSpPr/>
          <p:nvPr/>
        </p:nvSpPr>
        <p:spPr bwMode="auto">
          <a:xfrm>
            <a:off x="3026456" y="1286101"/>
            <a:ext cx="2554288" cy="2614613"/>
          </a:xfrm>
          <a:custGeom>
            <a:avLst/>
            <a:gdLst>
              <a:gd name="T0" fmla="*/ 800 w 800"/>
              <a:gd name="T1" fmla="*/ 819 h 819"/>
              <a:gd name="T2" fmla="*/ 388 w 800"/>
              <a:gd name="T3" fmla="*/ 819 h 819"/>
              <a:gd name="T4" fmla="*/ 0 w 800"/>
              <a:gd name="T5" fmla="*/ 431 h 819"/>
              <a:gd name="T6" fmla="*/ 0 w 800"/>
              <a:gd name="T7" fmla="*/ 0 h 819"/>
              <a:gd name="T8" fmla="*/ 412 w 800"/>
              <a:gd name="T9" fmla="*/ 0 h 819"/>
              <a:gd name="T10" fmla="*/ 800 w 800"/>
              <a:gd name="T11" fmla="*/ 388 h 819"/>
              <a:gd name="T12" fmla="*/ 800 w 800"/>
              <a:gd name="T13" fmla="*/ 819 h 819"/>
            </a:gdLst>
            <a:ahLst/>
            <a:cxnLst>
              <a:cxn ang="0">
                <a:pos x="T0" y="T1"/>
              </a:cxn>
              <a:cxn ang="0">
                <a:pos x="T2" y="T3"/>
              </a:cxn>
              <a:cxn ang="0">
                <a:pos x="T4" y="T5"/>
              </a:cxn>
              <a:cxn ang="0">
                <a:pos x="T6" y="T7"/>
              </a:cxn>
              <a:cxn ang="0">
                <a:pos x="T8" y="T9"/>
              </a:cxn>
              <a:cxn ang="0">
                <a:pos x="T10" y="T11"/>
              </a:cxn>
              <a:cxn ang="0">
                <a:pos x="T12" y="T13"/>
              </a:cxn>
            </a:cxnLst>
            <a:rect l="0" t="0" r="r" b="b"/>
            <a:pathLst>
              <a:path w="800" h="819">
                <a:moveTo>
                  <a:pt x="800" y="819"/>
                </a:moveTo>
                <a:cubicBezTo>
                  <a:pt x="388" y="819"/>
                  <a:pt x="388" y="819"/>
                  <a:pt x="388" y="819"/>
                </a:cubicBezTo>
                <a:cubicBezTo>
                  <a:pt x="175" y="819"/>
                  <a:pt x="0" y="644"/>
                  <a:pt x="0" y="431"/>
                </a:cubicBezTo>
                <a:cubicBezTo>
                  <a:pt x="0" y="0"/>
                  <a:pt x="0" y="0"/>
                  <a:pt x="0" y="0"/>
                </a:cubicBezTo>
                <a:cubicBezTo>
                  <a:pt x="412" y="0"/>
                  <a:pt x="412" y="0"/>
                  <a:pt x="412" y="0"/>
                </a:cubicBezTo>
                <a:cubicBezTo>
                  <a:pt x="625" y="0"/>
                  <a:pt x="800" y="175"/>
                  <a:pt x="800" y="388"/>
                </a:cubicBezTo>
                <a:lnTo>
                  <a:pt x="800" y="819"/>
                </a:lnTo>
                <a:close/>
              </a:path>
            </a:pathLst>
          </a:custGeom>
          <a:solidFill>
            <a:srgbClr val="FABE00"/>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 name="Freeform 10"/>
          <p:cNvSpPr/>
          <p:nvPr/>
        </p:nvSpPr>
        <p:spPr bwMode="auto">
          <a:xfrm>
            <a:off x="3178856" y="1435326"/>
            <a:ext cx="2251075" cy="2314575"/>
          </a:xfrm>
          <a:custGeom>
            <a:avLst/>
            <a:gdLst>
              <a:gd name="T0" fmla="*/ 705 w 705"/>
              <a:gd name="T1" fmla="*/ 725 h 725"/>
              <a:gd name="T2" fmla="*/ 705 w 705"/>
              <a:gd name="T3" fmla="*/ 341 h 725"/>
              <a:gd name="T4" fmla="*/ 364 w 705"/>
              <a:gd name="T5" fmla="*/ 0 h 725"/>
              <a:gd name="T6" fmla="*/ 0 w 705"/>
              <a:gd name="T7" fmla="*/ 0 h 725"/>
              <a:gd name="T8" fmla="*/ 0 w 705"/>
              <a:gd name="T9" fmla="*/ 384 h 725"/>
              <a:gd name="T10" fmla="*/ 340 w 705"/>
              <a:gd name="T11" fmla="*/ 725 h 725"/>
              <a:gd name="T12" fmla="*/ 705 w 705"/>
              <a:gd name="T13" fmla="*/ 725 h 725"/>
            </a:gdLst>
            <a:ahLst/>
            <a:cxnLst>
              <a:cxn ang="0">
                <a:pos x="T0" y="T1"/>
              </a:cxn>
              <a:cxn ang="0">
                <a:pos x="T2" y="T3"/>
              </a:cxn>
              <a:cxn ang="0">
                <a:pos x="T4" y="T5"/>
              </a:cxn>
              <a:cxn ang="0">
                <a:pos x="T6" y="T7"/>
              </a:cxn>
              <a:cxn ang="0">
                <a:pos x="T8" y="T9"/>
              </a:cxn>
              <a:cxn ang="0">
                <a:pos x="T10" y="T11"/>
              </a:cxn>
              <a:cxn ang="0">
                <a:pos x="T12" y="T13"/>
              </a:cxn>
            </a:cxnLst>
            <a:rect l="0" t="0" r="r" b="b"/>
            <a:pathLst>
              <a:path w="705" h="725">
                <a:moveTo>
                  <a:pt x="705" y="725"/>
                </a:moveTo>
                <a:cubicBezTo>
                  <a:pt x="705" y="341"/>
                  <a:pt x="705" y="341"/>
                  <a:pt x="705" y="341"/>
                </a:cubicBezTo>
                <a:cubicBezTo>
                  <a:pt x="705" y="154"/>
                  <a:pt x="551" y="0"/>
                  <a:pt x="364" y="0"/>
                </a:cubicBezTo>
                <a:cubicBezTo>
                  <a:pt x="0" y="0"/>
                  <a:pt x="0" y="0"/>
                  <a:pt x="0" y="0"/>
                </a:cubicBezTo>
                <a:cubicBezTo>
                  <a:pt x="0" y="384"/>
                  <a:pt x="0" y="384"/>
                  <a:pt x="0" y="384"/>
                </a:cubicBezTo>
                <a:cubicBezTo>
                  <a:pt x="0" y="571"/>
                  <a:pt x="153" y="725"/>
                  <a:pt x="340" y="725"/>
                </a:cubicBezTo>
                <a:lnTo>
                  <a:pt x="705" y="725"/>
                </a:lnTo>
                <a:close/>
              </a:path>
            </a:pathLst>
          </a:custGeom>
          <a:solidFill>
            <a:srgbClr val="FCFCFD"/>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 name="Freeform 11"/>
          <p:cNvSpPr/>
          <p:nvPr/>
        </p:nvSpPr>
        <p:spPr bwMode="auto">
          <a:xfrm>
            <a:off x="4953681" y="216126"/>
            <a:ext cx="719138" cy="1822450"/>
          </a:xfrm>
          <a:custGeom>
            <a:avLst/>
            <a:gdLst>
              <a:gd name="T0" fmla="*/ 117 w 225"/>
              <a:gd name="T1" fmla="*/ 132 h 571"/>
              <a:gd name="T2" fmla="*/ 63 w 225"/>
              <a:gd name="T3" fmla="*/ 132 h 571"/>
              <a:gd name="T4" fmla="*/ 0 w 225"/>
              <a:gd name="T5" fmla="*/ 69 h 571"/>
              <a:gd name="T6" fmla="*/ 0 w 225"/>
              <a:gd name="T7" fmla="*/ 0 h 571"/>
              <a:gd name="T8" fmla="*/ 66 w 225"/>
              <a:gd name="T9" fmla="*/ 0 h 571"/>
              <a:gd name="T10" fmla="*/ 129 w 225"/>
              <a:gd name="T11" fmla="*/ 63 h 571"/>
              <a:gd name="T12" fmla="*/ 129 w 225"/>
              <a:gd name="T13" fmla="*/ 115 h 571"/>
              <a:gd name="T14" fmla="*/ 225 w 225"/>
              <a:gd name="T15" fmla="*/ 558 h 571"/>
              <a:gd name="T16" fmla="*/ 205 w 225"/>
              <a:gd name="T17" fmla="*/ 558 h 571"/>
              <a:gd name="T18" fmla="*/ 117 w 225"/>
              <a:gd name="T19" fmla="*/ 132 h 5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5" h="571">
                <a:moveTo>
                  <a:pt x="117" y="132"/>
                </a:moveTo>
                <a:cubicBezTo>
                  <a:pt x="63" y="132"/>
                  <a:pt x="63" y="132"/>
                  <a:pt x="63" y="132"/>
                </a:cubicBezTo>
                <a:cubicBezTo>
                  <a:pt x="28" y="132"/>
                  <a:pt x="0" y="104"/>
                  <a:pt x="0" y="69"/>
                </a:cubicBezTo>
                <a:cubicBezTo>
                  <a:pt x="0" y="0"/>
                  <a:pt x="0" y="0"/>
                  <a:pt x="0" y="0"/>
                </a:cubicBezTo>
                <a:cubicBezTo>
                  <a:pt x="66" y="0"/>
                  <a:pt x="66" y="0"/>
                  <a:pt x="66" y="0"/>
                </a:cubicBezTo>
                <a:cubicBezTo>
                  <a:pt x="101" y="0"/>
                  <a:pt x="129" y="28"/>
                  <a:pt x="129" y="63"/>
                </a:cubicBezTo>
                <a:cubicBezTo>
                  <a:pt x="129" y="115"/>
                  <a:pt x="129" y="115"/>
                  <a:pt x="129" y="115"/>
                </a:cubicBezTo>
                <a:cubicBezTo>
                  <a:pt x="219" y="218"/>
                  <a:pt x="225" y="428"/>
                  <a:pt x="225" y="558"/>
                </a:cubicBezTo>
                <a:cubicBezTo>
                  <a:pt x="225" y="571"/>
                  <a:pt x="205" y="571"/>
                  <a:pt x="205" y="558"/>
                </a:cubicBezTo>
                <a:cubicBezTo>
                  <a:pt x="205" y="420"/>
                  <a:pt x="204" y="247"/>
                  <a:pt x="117" y="132"/>
                </a:cubicBezTo>
                <a:close/>
              </a:path>
            </a:pathLst>
          </a:custGeom>
          <a:solidFill>
            <a:srgbClr val="51322F"/>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 name="Freeform 12"/>
          <p:cNvSpPr/>
          <p:nvPr/>
        </p:nvSpPr>
        <p:spPr bwMode="auto">
          <a:xfrm>
            <a:off x="5704569" y="216126"/>
            <a:ext cx="717550" cy="1822450"/>
          </a:xfrm>
          <a:custGeom>
            <a:avLst/>
            <a:gdLst>
              <a:gd name="T0" fmla="*/ 108 w 225"/>
              <a:gd name="T1" fmla="*/ 132 h 571"/>
              <a:gd name="T2" fmla="*/ 163 w 225"/>
              <a:gd name="T3" fmla="*/ 132 h 571"/>
              <a:gd name="T4" fmla="*/ 225 w 225"/>
              <a:gd name="T5" fmla="*/ 69 h 571"/>
              <a:gd name="T6" fmla="*/ 225 w 225"/>
              <a:gd name="T7" fmla="*/ 0 h 571"/>
              <a:gd name="T8" fmla="*/ 159 w 225"/>
              <a:gd name="T9" fmla="*/ 0 h 571"/>
              <a:gd name="T10" fmla="*/ 97 w 225"/>
              <a:gd name="T11" fmla="*/ 63 h 571"/>
              <a:gd name="T12" fmla="*/ 97 w 225"/>
              <a:gd name="T13" fmla="*/ 115 h 571"/>
              <a:gd name="T14" fmla="*/ 0 w 225"/>
              <a:gd name="T15" fmla="*/ 558 h 571"/>
              <a:gd name="T16" fmla="*/ 20 w 225"/>
              <a:gd name="T17" fmla="*/ 558 h 571"/>
              <a:gd name="T18" fmla="*/ 108 w 225"/>
              <a:gd name="T19" fmla="*/ 132 h 5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5" h="571">
                <a:moveTo>
                  <a:pt x="108" y="132"/>
                </a:moveTo>
                <a:cubicBezTo>
                  <a:pt x="163" y="132"/>
                  <a:pt x="163" y="132"/>
                  <a:pt x="163" y="132"/>
                </a:cubicBezTo>
                <a:cubicBezTo>
                  <a:pt x="197" y="132"/>
                  <a:pt x="225" y="104"/>
                  <a:pt x="225" y="69"/>
                </a:cubicBezTo>
                <a:cubicBezTo>
                  <a:pt x="225" y="0"/>
                  <a:pt x="225" y="0"/>
                  <a:pt x="225" y="0"/>
                </a:cubicBezTo>
                <a:cubicBezTo>
                  <a:pt x="159" y="0"/>
                  <a:pt x="159" y="0"/>
                  <a:pt x="159" y="0"/>
                </a:cubicBezTo>
                <a:cubicBezTo>
                  <a:pt x="125" y="0"/>
                  <a:pt x="97" y="28"/>
                  <a:pt x="97" y="63"/>
                </a:cubicBezTo>
                <a:cubicBezTo>
                  <a:pt x="97" y="115"/>
                  <a:pt x="97" y="115"/>
                  <a:pt x="97" y="115"/>
                </a:cubicBezTo>
                <a:cubicBezTo>
                  <a:pt x="6" y="218"/>
                  <a:pt x="0" y="428"/>
                  <a:pt x="0" y="558"/>
                </a:cubicBezTo>
                <a:cubicBezTo>
                  <a:pt x="0" y="571"/>
                  <a:pt x="20" y="571"/>
                  <a:pt x="20" y="558"/>
                </a:cubicBezTo>
                <a:cubicBezTo>
                  <a:pt x="20" y="420"/>
                  <a:pt x="21" y="247"/>
                  <a:pt x="108" y="132"/>
                </a:cubicBezTo>
                <a:close/>
              </a:path>
            </a:pathLst>
          </a:custGeom>
          <a:solidFill>
            <a:srgbClr val="51322F"/>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 name="Freeform 13"/>
          <p:cNvSpPr/>
          <p:nvPr/>
        </p:nvSpPr>
        <p:spPr bwMode="auto">
          <a:xfrm>
            <a:off x="3469369" y="3900714"/>
            <a:ext cx="2111375" cy="2160588"/>
          </a:xfrm>
          <a:custGeom>
            <a:avLst/>
            <a:gdLst>
              <a:gd name="T0" fmla="*/ 661 w 661"/>
              <a:gd name="T1" fmla="*/ 0 h 677"/>
              <a:gd name="T2" fmla="*/ 321 w 661"/>
              <a:gd name="T3" fmla="*/ 0 h 677"/>
              <a:gd name="T4" fmla="*/ 0 w 661"/>
              <a:gd name="T5" fmla="*/ 321 h 677"/>
              <a:gd name="T6" fmla="*/ 0 w 661"/>
              <a:gd name="T7" fmla="*/ 677 h 677"/>
              <a:gd name="T8" fmla="*/ 340 w 661"/>
              <a:gd name="T9" fmla="*/ 677 h 677"/>
              <a:gd name="T10" fmla="*/ 661 w 661"/>
              <a:gd name="T11" fmla="*/ 356 h 677"/>
              <a:gd name="T12" fmla="*/ 661 w 661"/>
              <a:gd name="T13" fmla="*/ 0 h 677"/>
            </a:gdLst>
            <a:ahLst/>
            <a:cxnLst>
              <a:cxn ang="0">
                <a:pos x="T0" y="T1"/>
              </a:cxn>
              <a:cxn ang="0">
                <a:pos x="T2" y="T3"/>
              </a:cxn>
              <a:cxn ang="0">
                <a:pos x="T4" y="T5"/>
              </a:cxn>
              <a:cxn ang="0">
                <a:pos x="T6" y="T7"/>
              </a:cxn>
              <a:cxn ang="0">
                <a:pos x="T8" y="T9"/>
              </a:cxn>
              <a:cxn ang="0">
                <a:pos x="T10" y="T11"/>
              </a:cxn>
              <a:cxn ang="0">
                <a:pos x="T12" y="T13"/>
              </a:cxn>
            </a:cxnLst>
            <a:rect l="0" t="0" r="r" b="b"/>
            <a:pathLst>
              <a:path w="661" h="677">
                <a:moveTo>
                  <a:pt x="661" y="0"/>
                </a:moveTo>
                <a:cubicBezTo>
                  <a:pt x="321" y="0"/>
                  <a:pt x="321" y="0"/>
                  <a:pt x="321" y="0"/>
                </a:cubicBezTo>
                <a:cubicBezTo>
                  <a:pt x="144" y="0"/>
                  <a:pt x="0" y="144"/>
                  <a:pt x="0" y="321"/>
                </a:cubicBezTo>
                <a:cubicBezTo>
                  <a:pt x="0" y="677"/>
                  <a:pt x="0" y="677"/>
                  <a:pt x="0" y="677"/>
                </a:cubicBezTo>
                <a:cubicBezTo>
                  <a:pt x="340" y="677"/>
                  <a:pt x="340" y="677"/>
                  <a:pt x="340" y="677"/>
                </a:cubicBezTo>
                <a:cubicBezTo>
                  <a:pt x="517" y="677"/>
                  <a:pt x="661" y="532"/>
                  <a:pt x="661" y="356"/>
                </a:cubicBezTo>
                <a:lnTo>
                  <a:pt x="661" y="0"/>
                </a:lnTo>
                <a:close/>
              </a:path>
            </a:pathLst>
          </a:custGeom>
          <a:solidFill>
            <a:srgbClr val="E60012"/>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 name="Freeform 14"/>
          <p:cNvSpPr/>
          <p:nvPr/>
        </p:nvSpPr>
        <p:spPr bwMode="auto">
          <a:xfrm>
            <a:off x="3620181" y="4049939"/>
            <a:ext cx="1809750" cy="1860550"/>
          </a:xfrm>
          <a:custGeom>
            <a:avLst/>
            <a:gdLst>
              <a:gd name="T0" fmla="*/ 567 w 567"/>
              <a:gd name="T1" fmla="*/ 0 h 583"/>
              <a:gd name="T2" fmla="*/ 274 w 567"/>
              <a:gd name="T3" fmla="*/ 0 h 583"/>
              <a:gd name="T4" fmla="*/ 0 w 567"/>
              <a:gd name="T5" fmla="*/ 274 h 583"/>
              <a:gd name="T6" fmla="*/ 0 w 567"/>
              <a:gd name="T7" fmla="*/ 583 h 583"/>
              <a:gd name="T8" fmla="*/ 293 w 567"/>
              <a:gd name="T9" fmla="*/ 583 h 583"/>
              <a:gd name="T10" fmla="*/ 567 w 567"/>
              <a:gd name="T11" fmla="*/ 309 h 583"/>
              <a:gd name="T12" fmla="*/ 567 w 567"/>
              <a:gd name="T13" fmla="*/ 0 h 583"/>
            </a:gdLst>
            <a:ahLst/>
            <a:cxnLst>
              <a:cxn ang="0">
                <a:pos x="T0" y="T1"/>
              </a:cxn>
              <a:cxn ang="0">
                <a:pos x="T2" y="T3"/>
              </a:cxn>
              <a:cxn ang="0">
                <a:pos x="T4" y="T5"/>
              </a:cxn>
              <a:cxn ang="0">
                <a:pos x="T6" y="T7"/>
              </a:cxn>
              <a:cxn ang="0">
                <a:pos x="T8" y="T9"/>
              </a:cxn>
              <a:cxn ang="0">
                <a:pos x="T10" y="T11"/>
              </a:cxn>
              <a:cxn ang="0">
                <a:pos x="T12" y="T13"/>
              </a:cxn>
            </a:cxnLst>
            <a:rect l="0" t="0" r="r" b="b"/>
            <a:pathLst>
              <a:path w="567" h="583">
                <a:moveTo>
                  <a:pt x="567" y="0"/>
                </a:moveTo>
                <a:cubicBezTo>
                  <a:pt x="274" y="0"/>
                  <a:pt x="274" y="0"/>
                  <a:pt x="274" y="0"/>
                </a:cubicBezTo>
                <a:cubicBezTo>
                  <a:pt x="123" y="0"/>
                  <a:pt x="0" y="123"/>
                  <a:pt x="0" y="274"/>
                </a:cubicBezTo>
                <a:cubicBezTo>
                  <a:pt x="0" y="583"/>
                  <a:pt x="0" y="583"/>
                  <a:pt x="0" y="583"/>
                </a:cubicBezTo>
                <a:cubicBezTo>
                  <a:pt x="293" y="583"/>
                  <a:pt x="293" y="583"/>
                  <a:pt x="293" y="583"/>
                </a:cubicBezTo>
                <a:cubicBezTo>
                  <a:pt x="443" y="583"/>
                  <a:pt x="567" y="459"/>
                  <a:pt x="567" y="309"/>
                </a:cubicBezTo>
                <a:lnTo>
                  <a:pt x="567" y="0"/>
                </a:lnTo>
                <a:close/>
              </a:path>
            </a:pathLst>
          </a:custGeom>
          <a:solidFill>
            <a:srgbClr val="FCFCFD"/>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 name="Freeform 15"/>
          <p:cNvSpPr/>
          <p:nvPr/>
        </p:nvSpPr>
        <p:spPr bwMode="auto">
          <a:xfrm>
            <a:off x="5580744" y="1779814"/>
            <a:ext cx="215900" cy="3975100"/>
          </a:xfrm>
          <a:custGeom>
            <a:avLst/>
            <a:gdLst>
              <a:gd name="T0" fmla="*/ 34 w 68"/>
              <a:gd name="T1" fmla="*/ 0 h 1245"/>
              <a:gd name="T2" fmla="*/ 34 w 68"/>
              <a:gd name="T3" fmla="*/ 0 h 1245"/>
              <a:gd name="T4" fmla="*/ 68 w 68"/>
              <a:gd name="T5" fmla="*/ 34 h 1245"/>
              <a:gd name="T6" fmla="*/ 68 w 68"/>
              <a:gd name="T7" fmla="*/ 1211 h 1245"/>
              <a:gd name="T8" fmla="*/ 34 w 68"/>
              <a:gd name="T9" fmla="*/ 1245 h 1245"/>
              <a:gd name="T10" fmla="*/ 34 w 68"/>
              <a:gd name="T11" fmla="*/ 1245 h 1245"/>
              <a:gd name="T12" fmla="*/ 0 w 68"/>
              <a:gd name="T13" fmla="*/ 1211 h 1245"/>
              <a:gd name="T14" fmla="*/ 0 w 68"/>
              <a:gd name="T15" fmla="*/ 34 h 1245"/>
              <a:gd name="T16" fmla="*/ 34 w 68"/>
              <a:gd name="T17" fmla="*/ 0 h 1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1245">
                <a:moveTo>
                  <a:pt x="34" y="0"/>
                </a:moveTo>
                <a:cubicBezTo>
                  <a:pt x="34" y="0"/>
                  <a:pt x="34" y="0"/>
                  <a:pt x="34" y="0"/>
                </a:cubicBezTo>
                <a:cubicBezTo>
                  <a:pt x="53" y="0"/>
                  <a:pt x="68" y="16"/>
                  <a:pt x="68" y="34"/>
                </a:cubicBezTo>
                <a:cubicBezTo>
                  <a:pt x="68" y="1211"/>
                  <a:pt x="68" y="1211"/>
                  <a:pt x="68" y="1211"/>
                </a:cubicBezTo>
                <a:cubicBezTo>
                  <a:pt x="68" y="1229"/>
                  <a:pt x="53" y="1245"/>
                  <a:pt x="34" y="1245"/>
                </a:cubicBezTo>
                <a:cubicBezTo>
                  <a:pt x="34" y="1245"/>
                  <a:pt x="34" y="1245"/>
                  <a:pt x="34" y="1245"/>
                </a:cubicBezTo>
                <a:cubicBezTo>
                  <a:pt x="15" y="1245"/>
                  <a:pt x="0" y="1229"/>
                  <a:pt x="0" y="1211"/>
                </a:cubicBezTo>
                <a:cubicBezTo>
                  <a:pt x="0" y="34"/>
                  <a:pt x="0" y="34"/>
                  <a:pt x="0" y="34"/>
                </a:cubicBezTo>
                <a:cubicBezTo>
                  <a:pt x="0" y="16"/>
                  <a:pt x="15" y="0"/>
                  <a:pt x="34" y="0"/>
                </a:cubicBezTo>
                <a:close/>
              </a:path>
            </a:pathLst>
          </a:custGeom>
          <a:solidFill>
            <a:srgbClr val="51322F"/>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 name="Freeform 16"/>
          <p:cNvSpPr>
            <a:spLocks noEditPoints="1"/>
          </p:cNvSpPr>
          <p:nvPr/>
        </p:nvSpPr>
        <p:spPr bwMode="auto">
          <a:xfrm>
            <a:off x="3269344" y="1525814"/>
            <a:ext cx="407988" cy="436563"/>
          </a:xfrm>
          <a:custGeom>
            <a:avLst/>
            <a:gdLst>
              <a:gd name="T0" fmla="*/ 35 w 128"/>
              <a:gd name="T1" fmla="*/ 115 h 137"/>
              <a:gd name="T2" fmla="*/ 28 w 128"/>
              <a:gd name="T3" fmla="*/ 128 h 137"/>
              <a:gd name="T4" fmla="*/ 14 w 128"/>
              <a:gd name="T5" fmla="*/ 137 h 137"/>
              <a:gd name="T6" fmla="*/ 5 w 128"/>
              <a:gd name="T7" fmla="*/ 135 h 137"/>
              <a:gd name="T8" fmla="*/ 0 w 128"/>
              <a:gd name="T9" fmla="*/ 122 h 137"/>
              <a:gd name="T10" fmla="*/ 1 w 128"/>
              <a:gd name="T11" fmla="*/ 116 h 137"/>
              <a:gd name="T12" fmla="*/ 50 w 128"/>
              <a:gd name="T13" fmla="*/ 8 h 137"/>
              <a:gd name="T14" fmla="*/ 56 w 128"/>
              <a:gd name="T15" fmla="*/ 2 h 137"/>
              <a:gd name="T16" fmla="*/ 64 w 128"/>
              <a:gd name="T17" fmla="*/ 0 h 137"/>
              <a:gd name="T18" fmla="*/ 73 w 128"/>
              <a:gd name="T19" fmla="*/ 2 h 137"/>
              <a:gd name="T20" fmla="*/ 79 w 128"/>
              <a:gd name="T21" fmla="*/ 8 h 137"/>
              <a:gd name="T22" fmla="*/ 127 w 128"/>
              <a:gd name="T23" fmla="*/ 116 h 137"/>
              <a:gd name="T24" fmla="*/ 128 w 128"/>
              <a:gd name="T25" fmla="*/ 122 h 137"/>
              <a:gd name="T26" fmla="*/ 122 w 128"/>
              <a:gd name="T27" fmla="*/ 135 h 137"/>
              <a:gd name="T28" fmla="*/ 113 w 128"/>
              <a:gd name="T29" fmla="*/ 137 h 137"/>
              <a:gd name="T30" fmla="*/ 100 w 128"/>
              <a:gd name="T31" fmla="*/ 128 h 137"/>
              <a:gd name="T32" fmla="*/ 93 w 128"/>
              <a:gd name="T33" fmla="*/ 115 h 137"/>
              <a:gd name="T34" fmla="*/ 35 w 128"/>
              <a:gd name="T35" fmla="*/ 115 h 137"/>
              <a:gd name="T36" fmla="*/ 81 w 128"/>
              <a:gd name="T37" fmla="*/ 89 h 137"/>
              <a:gd name="T38" fmla="*/ 64 w 128"/>
              <a:gd name="T39" fmla="*/ 49 h 137"/>
              <a:gd name="T40" fmla="*/ 46 w 128"/>
              <a:gd name="T41" fmla="*/ 89 h 137"/>
              <a:gd name="T42" fmla="*/ 81 w 128"/>
              <a:gd name="T43" fmla="*/ 8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8" h="137">
                <a:moveTo>
                  <a:pt x="35" y="115"/>
                </a:moveTo>
                <a:cubicBezTo>
                  <a:pt x="28" y="128"/>
                  <a:pt x="28" y="128"/>
                  <a:pt x="28" y="128"/>
                </a:cubicBezTo>
                <a:cubicBezTo>
                  <a:pt x="25" y="134"/>
                  <a:pt x="21" y="137"/>
                  <a:pt x="14" y="137"/>
                </a:cubicBezTo>
                <a:cubicBezTo>
                  <a:pt x="12" y="137"/>
                  <a:pt x="9" y="136"/>
                  <a:pt x="5" y="135"/>
                </a:cubicBezTo>
                <a:cubicBezTo>
                  <a:pt x="1" y="133"/>
                  <a:pt x="0" y="129"/>
                  <a:pt x="0" y="122"/>
                </a:cubicBezTo>
                <a:cubicBezTo>
                  <a:pt x="0" y="120"/>
                  <a:pt x="0" y="118"/>
                  <a:pt x="1" y="116"/>
                </a:cubicBezTo>
                <a:cubicBezTo>
                  <a:pt x="50" y="8"/>
                  <a:pt x="50" y="8"/>
                  <a:pt x="50" y="8"/>
                </a:cubicBezTo>
                <a:cubicBezTo>
                  <a:pt x="51" y="5"/>
                  <a:pt x="53" y="3"/>
                  <a:pt x="56" y="2"/>
                </a:cubicBezTo>
                <a:cubicBezTo>
                  <a:pt x="59" y="1"/>
                  <a:pt x="61" y="0"/>
                  <a:pt x="64" y="0"/>
                </a:cubicBezTo>
                <a:cubicBezTo>
                  <a:pt x="67" y="0"/>
                  <a:pt x="70" y="1"/>
                  <a:pt x="73" y="2"/>
                </a:cubicBezTo>
                <a:cubicBezTo>
                  <a:pt x="76" y="3"/>
                  <a:pt x="78" y="5"/>
                  <a:pt x="79" y="8"/>
                </a:cubicBezTo>
                <a:cubicBezTo>
                  <a:pt x="127" y="116"/>
                  <a:pt x="127" y="116"/>
                  <a:pt x="127" y="116"/>
                </a:cubicBezTo>
                <a:cubicBezTo>
                  <a:pt x="128" y="118"/>
                  <a:pt x="128" y="120"/>
                  <a:pt x="128" y="122"/>
                </a:cubicBezTo>
                <a:cubicBezTo>
                  <a:pt x="128" y="128"/>
                  <a:pt x="126" y="133"/>
                  <a:pt x="122" y="135"/>
                </a:cubicBezTo>
                <a:cubicBezTo>
                  <a:pt x="118" y="136"/>
                  <a:pt x="115" y="137"/>
                  <a:pt x="113" y="137"/>
                </a:cubicBezTo>
                <a:cubicBezTo>
                  <a:pt x="107" y="137"/>
                  <a:pt x="103" y="134"/>
                  <a:pt x="100" y="128"/>
                </a:cubicBezTo>
                <a:cubicBezTo>
                  <a:pt x="93" y="115"/>
                  <a:pt x="93" y="115"/>
                  <a:pt x="93" y="115"/>
                </a:cubicBezTo>
                <a:cubicBezTo>
                  <a:pt x="35" y="115"/>
                  <a:pt x="35" y="115"/>
                  <a:pt x="35" y="115"/>
                </a:cubicBezTo>
                <a:close/>
                <a:moveTo>
                  <a:pt x="81" y="89"/>
                </a:moveTo>
                <a:cubicBezTo>
                  <a:pt x="64" y="49"/>
                  <a:pt x="64" y="49"/>
                  <a:pt x="64" y="49"/>
                </a:cubicBezTo>
                <a:cubicBezTo>
                  <a:pt x="46" y="89"/>
                  <a:pt x="46" y="89"/>
                  <a:pt x="46" y="89"/>
                </a:cubicBezTo>
                <a:lnTo>
                  <a:pt x="81" y="89"/>
                </a:lnTo>
                <a:close/>
              </a:path>
            </a:pathLst>
          </a:custGeom>
          <a:solidFill>
            <a:srgbClr val="FABE00"/>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 name="Freeform 17"/>
          <p:cNvSpPr>
            <a:spLocks noEditPoints="1"/>
          </p:cNvSpPr>
          <p:nvPr/>
        </p:nvSpPr>
        <p:spPr bwMode="auto">
          <a:xfrm>
            <a:off x="7776256" y="1525814"/>
            <a:ext cx="322263" cy="427038"/>
          </a:xfrm>
          <a:custGeom>
            <a:avLst/>
            <a:gdLst>
              <a:gd name="T0" fmla="*/ 101 w 101"/>
              <a:gd name="T1" fmla="*/ 99 h 134"/>
              <a:gd name="T2" fmla="*/ 87 w 101"/>
              <a:gd name="T3" fmla="*/ 125 h 134"/>
              <a:gd name="T4" fmla="*/ 57 w 101"/>
              <a:gd name="T5" fmla="*/ 134 h 134"/>
              <a:gd name="T6" fmla="*/ 15 w 101"/>
              <a:gd name="T7" fmla="*/ 134 h 134"/>
              <a:gd name="T8" fmla="*/ 4 w 101"/>
              <a:gd name="T9" fmla="*/ 130 h 134"/>
              <a:gd name="T10" fmla="*/ 0 w 101"/>
              <a:gd name="T11" fmla="*/ 120 h 134"/>
              <a:gd name="T12" fmla="*/ 0 w 101"/>
              <a:gd name="T13" fmla="*/ 15 h 134"/>
              <a:gd name="T14" fmla="*/ 4 w 101"/>
              <a:gd name="T15" fmla="*/ 4 h 134"/>
              <a:gd name="T16" fmla="*/ 15 w 101"/>
              <a:gd name="T17" fmla="*/ 0 h 134"/>
              <a:gd name="T18" fmla="*/ 49 w 101"/>
              <a:gd name="T19" fmla="*/ 0 h 134"/>
              <a:gd name="T20" fmla="*/ 75 w 101"/>
              <a:gd name="T21" fmla="*/ 4 h 134"/>
              <a:gd name="T22" fmla="*/ 90 w 101"/>
              <a:gd name="T23" fmla="*/ 18 h 134"/>
              <a:gd name="T24" fmla="*/ 95 w 101"/>
              <a:gd name="T25" fmla="*/ 38 h 134"/>
              <a:gd name="T26" fmla="*/ 92 w 101"/>
              <a:gd name="T27" fmla="*/ 53 h 134"/>
              <a:gd name="T28" fmla="*/ 88 w 101"/>
              <a:gd name="T29" fmla="*/ 59 h 134"/>
              <a:gd name="T30" fmla="*/ 84 w 101"/>
              <a:gd name="T31" fmla="*/ 64 h 134"/>
              <a:gd name="T32" fmla="*/ 97 w 101"/>
              <a:gd name="T33" fmla="*/ 76 h 134"/>
              <a:gd name="T34" fmla="*/ 101 w 101"/>
              <a:gd name="T35" fmla="*/ 94 h 134"/>
              <a:gd name="T36" fmla="*/ 101 w 101"/>
              <a:gd name="T37" fmla="*/ 97 h 134"/>
              <a:gd name="T38" fmla="*/ 101 w 101"/>
              <a:gd name="T39" fmla="*/ 99 h 134"/>
              <a:gd name="T40" fmla="*/ 71 w 101"/>
              <a:gd name="T41" fmla="*/ 93 h 134"/>
              <a:gd name="T42" fmla="*/ 66 w 101"/>
              <a:gd name="T43" fmla="*/ 82 h 134"/>
              <a:gd name="T44" fmla="*/ 56 w 101"/>
              <a:gd name="T45" fmla="*/ 78 h 134"/>
              <a:gd name="T46" fmla="*/ 30 w 101"/>
              <a:gd name="T47" fmla="*/ 78 h 134"/>
              <a:gd name="T48" fmla="*/ 30 w 101"/>
              <a:gd name="T49" fmla="*/ 108 h 134"/>
              <a:gd name="T50" fmla="*/ 57 w 101"/>
              <a:gd name="T51" fmla="*/ 108 h 134"/>
              <a:gd name="T52" fmla="*/ 67 w 101"/>
              <a:gd name="T53" fmla="*/ 103 h 134"/>
              <a:gd name="T54" fmla="*/ 71 w 101"/>
              <a:gd name="T55" fmla="*/ 93 h 134"/>
              <a:gd name="T56" fmla="*/ 30 w 101"/>
              <a:gd name="T57" fmla="*/ 28 h 134"/>
              <a:gd name="T58" fmla="*/ 30 w 101"/>
              <a:gd name="T59" fmla="*/ 54 h 134"/>
              <a:gd name="T60" fmla="*/ 54 w 101"/>
              <a:gd name="T61" fmla="*/ 54 h 134"/>
              <a:gd name="T62" fmla="*/ 63 w 101"/>
              <a:gd name="T63" fmla="*/ 50 h 134"/>
              <a:gd name="T64" fmla="*/ 67 w 101"/>
              <a:gd name="T65" fmla="*/ 41 h 134"/>
              <a:gd name="T66" fmla="*/ 63 w 101"/>
              <a:gd name="T67" fmla="*/ 32 h 134"/>
              <a:gd name="T68" fmla="*/ 54 w 101"/>
              <a:gd name="T69" fmla="*/ 28 h 134"/>
              <a:gd name="T70" fmla="*/ 30 w 101"/>
              <a:gd name="T71" fmla="*/ 28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1" h="134">
                <a:moveTo>
                  <a:pt x="101" y="99"/>
                </a:moveTo>
                <a:cubicBezTo>
                  <a:pt x="100" y="110"/>
                  <a:pt x="95" y="118"/>
                  <a:pt x="87" y="125"/>
                </a:cubicBezTo>
                <a:cubicBezTo>
                  <a:pt x="78" y="131"/>
                  <a:pt x="68" y="134"/>
                  <a:pt x="57" y="134"/>
                </a:cubicBezTo>
                <a:cubicBezTo>
                  <a:pt x="15" y="134"/>
                  <a:pt x="15" y="134"/>
                  <a:pt x="15" y="134"/>
                </a:cubicBezTo>
                <a:cubicBezTo>
                  <a:pt x="11" y="134"/>
                  <a:pt x="7" y="133"/>
                  <a:pt x="4" y="130"/>
                </a:cubicBezTo>
                <a:cubicBezTo>
                  <a:pt x="1" y="127"/>
                  <a:pt x="0" y="124"/>
                  <a:pt x="0" y="120"/>
                </a:cubicBezTo>
                <a:cubicBezTo>
                  <a:pt x="0" y="15"/>
                  <a:pt x="0" y="15"/>
                  <a:pt x="0" y="15"/>
                </a:cubicBezTo>
                <a:cubicBezTo>
                  <a:pt x="0" y="11"/>
                  <a:pt x="1" y="7"/>
                  <a:pt x="4" y="4"/>
                </a:cubicBezTo>
                <a:cubicBezTo>
                  <a:pt x="7" y="1"/>
                  <a:pt x="10" y="0"/>
                  <a:pt x="15" y="0"/>
                </a:cubicBezTo>
                <a:cubicBezTo>
                  <a:pt x="49" y="0"/>
                  <a:pt x="49" y="0"/>
                  <a:pt x="49" y="0"/>
                </a:cubicBezTo>
                <a:cubicBezTo>
                  <a:pt x="60" y="0"/>
                  <a:pt x="69" y="1"/>
                  <a:pt x="75" y="4"/>
                </a:cubicBezTo>
                <a:cubicBezTo>
                  <a:pt x="81" y="7"/>
                  <a:pt x="86" y="11"/>
                  <a:pt x="90" y="18"/>
                </a:cubicBezTo>
                <a:cubicBezTo>
                  <a:pt x="93" y="24"/>
                  <a:pt x="95" y="31"/>
                  <a:pt x="95" y="38"/>
                </a:cubicBezTo>
                <a:cubicBezTo>
                  <a:pt x="95" y="44"/>
                  <a:pt x="94" y="49"/>
                  <a:pt x="92" y="53"/>
                </a:cubicBezTo>
                <a:cubicBezTo>
                  <a:pt x="88" y="59"/>
                  <a:pt x="88" y="59"/>
                  <a:pt x="88" y="59"/>
                </a:cubicBezTo>
                <a:cubicBezTo>
                  <a:pt x="84" y="64"/>
                  <a:pt x="84" y="64"/>
                  <a:pt x="84" y="64"/>
                </a:cubicBezTo>
                <a:cubicBezTo>
                  <a:pt x="90" y="67"/>
                  <a:pt x="94" y="71"/>
                  <a:pt x="97" y="76"/>
                </a:cubicBezTo>
                <a:cubicBezTo>
                  <a:pt x="100" y="81"/>
                  <a:pt x="101" y="87"/>
                  <a:pt x="101" y="94"/>
                </a:cubicBezTo>
                <a:cubicBezTo>
                  <a:pt x="101" y="97"/>
                  <a:pt x="101" y="97"/>
                  <a:pt x="101" y="97"/>
                </a:cubicBezTo>
                <a:cubicBezTo>
                  <a:pt x="101" y="99"/>
                  <a:pt x="101" y="99"/>
                  <a:pt x="101" y="99"/>
                </a:cubicBezTo>
                <a:close/>
                <a:moveTo>
                  <a:pt x="71" y="93"/>
                </a:moveTo>
                <a:cubicBezTo>
                  <a:pt x="71" y="89"/>
                  <a:pt x="69" y="85"/>
                  <a:pt x="66" y="82"/>
                </a:cubicBezTo>
                <a:cubicBezTo>
                  <a:pt x="64" y="80"/>
                  <a:pt x="60" y="78"/>
                  <a:pt x="56" y="78"/>
                </a:cubicBezTo>
                <a:cubicBezTo>
                  <a:pt x="30" y="78"/>
                  <a:pt x="30" y="78"/>
                  <a:pt x="30" y="78"/>
                </a:cubicBezTo>
                <a:cubicBezTo>
                  <a:pt x="30" y="108"/>
                  <a:pt x="30" y="108"/>
                  <a:pt x="30" y="108"/>
                </a:cubicBezTo>
                <a:cubicBezTo>
                  <a:pt x="57" y="108"/>
                  <a:pt x="57" y="108"/>
                  <a:pt x="57" y="108"/>
                </a:cubicBezTo>
                <a:cubicBezTo>
                  <a:pt x="60" y="108"/>
                  <a:pt x="64" y="106"/>
                  <a:pt x="67" y="103"/>
                </a:cubicBezTo>
                <a:cubicBezTo>
                  <a:pt x="70" y="101"/>
                  <a:pt x="71" y="97"/>
                  <a:pt x="71" y="93"/>
                </a:cubicBezTo>
                <a:close/>
                <a:moveTo>
                  <a:pt x="30" y="28"/>
                </a:moveTo>
                <a:cubicBezTo>
                  <a:pt x="30" y="54"/>
                  <a:pt x="30" y="54"/>
                  <a:pt x="30" y="54"/>
                </a:cubicBezTo>
                <a:cubicBezTo>
                  <a:pt x="54" y="54"/>
                  <a:pt x="54" y="54"/>
                  <a:pt x="54" y="54"/>
                </a:cubicBezTo>
                <a:cubicBezTo>
                  <a:pt x="57" y="54"/>
                  <a:pt x="60" y="53"/>
                  <a:pt x="63" y="50"/>
                </a:cubicBezTo>
                <a:cubicBezTo>
                  <a:pt x="66" y="48"/>
                  <a:pt x="67" y="45"/>
                  <a:pt x="67" y="41"/>
                </a:cubicBezTo>
                <a:cubicBezTo>
                  <a:pt x="67" y="38"/>
                  <a:pt x="66" y="34"/>
                  <a:pt x="63" y="32"/>
                </a:cubicBezTo>
                <a:cubicBezTo>
                  <a:pt x="61" y="29"/>
                  <a:pt x="58" y="28"/>
                  <a:pt x="54" y="28"/>
                </a:cubicBezTo>
                <a:lnTo>
                  <a:pt x="30" y="28"/>
                </a:lnTo>
                <a:close/>
              </a:path>
            </a:pathLst>
          </a:custGeom>
          <a:solidFill>
            <a:srgbClr val="F18B00"/>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 name="Freeform 18"/>
          <p:cNvSpPr/>
          <p:nvPr/>
        </p:nvSpPr>
        <p:spPr bwMode="auto">
          <a:xfrm>
            <a:off x="3702731" y="5461226"/>
            <a:ext cx="347663" cy="382588"/>
          </a:xfrm>
          <a:custGeom>
            <a:avLst/>
            <a:gdLst>
              <a:gd name="T0" fmla="*/ 61 w 109"/>
              <a:gd name="T1" fmla="*/ 120 h 120"/>
              <a:gd name="T2" fmla="*/ 18 w 109"/>
              <a:gd name="T3" fmla="*/ 102 h 120"/>
              <a:gd name="T4" fmla="*/ 0 w 109"/>
              <a:gd name="T5" fmla="*/ 60 h 120"/>
              <a:gd name="T6" fmla="*/ 18 w 109"/>
              <a:gd name="T7" fmla="*/ 18 h 120"/>
              <a:gd name="T8" fmla="*/ 61 w 109"/>
              <a:gd name="T9" fmla="*/ 0 h 120"/>
              <a:gd name="T10" fmla="*/ 85 w 109"/>
              <a:gd name="T11" fmla="*/ 5 h 120"/>
              <a:gd name="T12" fmla="*/ 101 w 109"/>
              <a:gd name="T13" fmla="*/ 16 h 120"/>
              <a:gd name="T14" fmla="*/ 107 w 109"/>
              <a:gd name="T15" fmla="*/ 24 h 120"/>
              <a:gd name="T16" fmla="*/ 109 w 109"/>
              <a:gd name="T17" fmla="*/ 29 h 120"/>
              <a:gd name="T18" fmla="*/ 105 w 109"/>
              <a:gd name="T19" fmla="*/ 37 h 120"/>
              <a:gd name="T20" fmla="*/ 100 w 109"/>
              <a:gd name="T21" fmla="*/ 41 h 120"/>
              <a:gd name="T22" fmla="*/ 98 w 109"/>
              <a:gd name="T23" fmla="*/ 41 h 120"/>
              <a:gd name="T24" fmla="*/ 96 w 109"/>
              <a:gd name="T25" fmla="*/ 42 h 120"/>
              <a:gd name="T26" fmla="*/ 86 w 109"/>
              <a:gd name="T27" fmla="*/ 37 h 120"/>
              <a:gd name="T28" fmla="*/ 75 w 109"/>
              <a:gd name="T29" fmla="*/ 29 h 120"/>
              <a:gd name="T30" fmla="*/ 61 w 109"/>
              <a:gd name="T31" fmla="*/ 26 h 120"/>
              <a:gd name="T32" fmla="*/ 36 w 109"/>
              <a:gd name="T33" fmla="*/ 36 h 120"/>
              <a:gd name="T34" fmla="*/ 26 w 109"/>
              <a:gd name="T35" fmla="*/ 60 h 120"/>
              <a:gd name="T36" fmla="*/ 36 w 109"/>
              <a:gd name="T37" fmla="*/ 84 h 120"/>
              <a:gd name="T38" fmla="*/ 61 w 109"/>
              <a:gd name="T39" fmla="*/ 95 h 120"/>
              <a:gd name="T40" fmla="*/ 75 w 109"/>
              <a:gd name="T41" fmla="*/ 91 h 120"/>
              <a:gd name="T42" fmla="*/ 86 w 109"/>
              <a:gd name="T43" fmla="*/ 83 h 120"/>
              <a:gd name="T44" fmla="*/ 96 w 109"/>
              <a:gd name="T45" fmla="*/ 79 h 120"/>
              <a:gd name="T46" fmla="*/ 104 w 109"/>
              <a:gd name="T47" fmla="*/ 81 h 120"/>
              <a:gd name="T48" fmla="*/ 108 w 109"/>
              <a:gd name="T49" fmla="*/ 86 h 120"/>
              <a:gd name="T50" fmla="*/ 109 w 109"/>
              <a:gd name="T51" fmla="*/ 91 h 120"/>
              <a:gd name="T52" fmla="*/ 103 w 109"/>
              <a:gd name="T53" fmla="*/ 103 h 120"/>
              <a:gd name="T54" fmla="*/ 85 w 109"/>
              <a:gd name="T55" fmla="*/ 115 h 120"/>
              <a:gd name="T56" fmla="*/ 61 w 109"/>
              <a:gd name="T57" fmla="*/ 12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09" h="120">
                <a:moveTo>
                  <a:pt x="61" y="120"/>
                </a:moveTo>
                <a:cubicBezTo>
                  <a:pt x="44" y="120"/>
                  <a:pt x="30" y="114"/>
                  <a:pt x="18" y="102"/>
                </a:cubicBezTo>
                <a:cubicBezTo>
                  <a:pt x="6" y="90"/>
                  <a:pt x="0" y="76"/>
                  <a:pt x="0" y="60"/>
                </a:cubicBezTo>
                <a:cubicBezTo>
                  <a:pt x="0" y="43"/>
                  <a:pt x="6" y="29"/>
                  <a:pt x="18" y="18"/>
                </a:cubicBezTo>
                <a:cubicBezTo>
                  <a:pt x="30" y="6"/>
                  <a:pt x="44" y="0"/>
                  <a:pt x="61" y="0"/>
                </a:cubicBezTo>
                <a:cubicBezTo>
                  <a:pt x="69" y="0"/>
                  <a:pt x="77" y="2"/>
                  <a:pt x="85" y="5"/>
                </a:cubicBezTo>
                <a:cubicBezTo>
                  <a:pt x="92" y="9"/>
                  <a:pt x="98" y="12"/>
                  <a:pt x="101" y="16"/>
                </a:cubicBezTo>
                <a:cubicBezTo>
                  <a:pt x="105" y="19"/>
                  <a:pt x="107" y="22"/>
                  <a:pt x="107" y="24"/>
                </a:cubicBezTo>
                <a:cubicBezTo>
                  <a:pt x="108" y="25"/>
                  <a:pt x="109" y="27"/>
                  <a:pt x="109" y="29"/>
                </a:cubicBezTo>
                <a:cubicBezTo>
                  <a:pt x="109" y="33"/>
                  <a:pt x="107" y="35"/>
                  <a:pt x="105" y="37"/>
                </a:cubicBezTo>
                <a:cubicBezTo>
                  <a:pt x="103" y="39"/>
                  <a:pt x="102" y="40"/>
                  <a:pt x="100" y="41"/>
                </a:cubicBezTo>
                <a:cubicBezTo>
                  <a:pt x="99" y="41"/>
                  <a:pt x="99" y="41"/>
                  <a:pt x="98" y="41"/>
                </a:cubicBezTo>
                <a:cubicBezTo>
                  <a:pt x="97" y="41"/>
                  <a:pt x="96" y="41"/>
                  <a:pt x="96" y="42"/>
                </a:cubicBezTo>
                <a:cubicBezTo>
                  <a:pt x="92" y="42"/>
                  <a:pt x="88" y="40"/>
                  <a:pt x="86" y="37"/>
                </a:cubicBezTo>
                <a:cubicBezTo>
                  <a:pt x="83" y="34"/>
                  <a:pt x="79" y="31"/>
                  <a:pt x="75" y="29"/>
                </a:cubicBezTo>
                <a:cubicBezTo>
                  <a:pt x="70" y="27"/>
                  <a:pt x="65" y="26"/>
                  <a:pt x="61" y="26"/>
                </a:cubicBezTo>
                <a:cubicBezTo>
                  <a:pt x="51" y="26"/>
                  <a:pt x="43" y="29"/>
                  <a:pt x="36" y="36"/>
                </a:cubicBezTo>
                <a:cubicBezTo>
                  <a:pt x="30" y="43"/>
                  <a:pt x="26" y="51"/>
                  <a:pt x="26" y="60"/>
                </a:cubicBezTo>
                <a:cubicBezTo>
                  <a:pt x="26" y="69"/>
                  <a:pt x="29" y="77"/>
                  <a:pt x="36" y="84"/>
                </a:cubicBezTo>
                <a:cubicBezTo>
                  <a:pt x="43" y="91"/>
                  <a:pt x="51" y="95"/>
                  <a:pt x="61" y="95"/>
                </a:cubicBezTo>
                <a:cubicBezTo>
                  <a:pt x="66" y="95"/>
                  <a:pt x="71" y="93"/>
                  <a:pt x="75" y="91"/>
                </a:cubicBezTo>
                <a:cubicBezTo>
                  <a:pt x="79" y="89"/>
                  <a:pt x="83" y="87"/>
                  <a:pt x="86" y="83"/>
                </a:cubicBezTo>
                <a:cubicBezTo>
                  <a:pt x="89" y="80"/>
                  <a:pt x="92" y="79"/>
                  <a:pt x="96" y="79"/>
                </a:cubicBezTo>
                <a:cubicBezTo>
                  <a:pt x="100" y="79"/>
                  <a:pt x="102" y="79"/>
                  <a:pt x="104" y="81"/>
                </a:cubicBezTo>
                <a:cubicBezTo>
                  <a:pt x="106" y="83"/>
                  <a:pt x="107" y="84"/>
                  <a:pt x="108" y="86"/>
                </a:cubicBezTo>
                <a:cubicBezTo>
                  <a:pt x="108" y="88"/>
                  <a:pt x="109" y="89"/>
                  <a:pt x="109" y="91"/>
                </a:cubicBezTo>
                <a:cubicBezTo>
                  <a:pt x="109" y="95"/>
                  <a:pt x="107" y="99"/>
                  <a:pt x="103" y="103"/>
                </a:cubicBezTo>
                <a:cubicBezTo>
                  <a:pt x="99" y="107"/>
                  <a:pt x="93" y="111"/>
                  <a:pt x="85" y="115"/>
                </a:cubicBezTo>
                <a:cubicBezTo>
                  <a:pt x="77" y="118"/>
                  <a:pt x="69" y="120"/>
                  <a:pt x="61" y="120"/>
                </a:cubicBezTo>
                <a:close/>
              </a:path>
            </a:pathLst>
          </a:custGeom>
          <a:solidFill>
            <a:srgbClr val="E60012"/>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 name="Freeform 19"/>
          <p:cNvSpPr>
            <a:spLocks noEditPoints="1"/>
          </p:cNvSpPr>
          <p:nvPr/>
        </p:nvSpPr>
        <p:spPr bwMode="auto">
          <a:xfrm>
            <a:off x="7346044" y="5461226"/>
            <a:ext cx="334963" cy="373063"/>
          </a:xfrm>
          <a:custGeom>
            <a:avLst/>
            <a:gdLst>
              <a:gd name="T0" fmla="*/ 13 w 105"/>
              <a:gd name="T1" fmla="*/ 117 h 117"/>
              <a:gd name="T2" fmla="*/ 4 w 105"/>
              <a:gd name="T3" fmla="*/ 114 h 117"/>
              <a:gd name="T4" fmla="*/ 0 w 105"/>
              <a:gd name="T5" fmla="*/ 104 h 117"/>
              <a:gd name="T6" fmla="*/ 0 w 105"/>
              <a:gd name="T7" fmla="*/ 13 h 117"/>
              <a:gd name="T8" fmla="*/ 4 w 105"/>
              <a:gd name="T9" fmla="*/ 3 h 117"/>
              <a:gd name="T10" fmla="*/ 13 w 105"/>
              <a:gd name="T11" fmla="*/ 0 h 117"/>
              <a:gd name="T12" fmla="*/ 43 w 105"/>
              <a:gd name="T13" fmla="*/ 0 h 117"/>
              <a:gd name="T14" fmla="*/ 87 w 105"/>
              <a:gd name="T15" fmla="*/ 16 h 117"/>
              <a:gd name="T16" fmla="*/ 105 w 105"/>
              <a:gd name="T17" fmla="*/ 57 h 117"/>
              <a:gd name="T18" fmla="*/ 89 w 105"/>
              <a:gd name="T19" fmla="*/ 100 h 117"/>
              <a:gd name="T20" fmla="*/ 47 w 105"/>
              <a:gd name="T21" fmla="*/ 117 h 117"/>
              <a:gd name="T22" fmla="*/ 13 w 105"/>
              <a:gd name="T23" fmla="*/ 117 h 117"/>
              <a:gd name="T24" fmla="*/ 43 w 105"/>
              <a:gd name="T25" fmla="*/ 93 h 117"/>
              <a:gd name="T26" fmla="*/ 68 w 105"/>
              <a:gd name="T27" fmla="*/ 83 h 117"/>
              <a:gd name="T28" fmla="*/ 78 w 105"/>
              <a:gd name="T29" fmla="*/ 59 h 117"/>
              <a:gd name="T30" fmla="*/ 67 w 105"/>
              <a:gd name="T31" fmla="*/ 34 h 117"/>
              <a:gd name="T32" fmla="*/ 42 w 105"/>
              <a:gd name="T33" fmla="*/ 24 h 117"/>
              <a:gd name="T34" fmla="*/ 26 w 105"/>
              <a:gd name="T35" fmla="*/ 24 h 117"/>
              <a:gd name="T36" fmla="*/ 26 w 105"/>
              <a:gd name="T37" fmla="*/ 93 h 117"/>
              <a:gd name="T38" fmla="*/ 43 w 105"/>
              <a:gd name="T39" fmla="*/ 93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5" h="117">
                <a:moveTo>
                  <a:pt x="13" y="117"/>
                </a:moveTo>
                <a:cubicBezTo>
                  <a:pt x="10" y="117"/>
                  <a:pt x="7" y="116"/>
                  <a:pt x="4" y="114"/>
                </a:cubicBezTo>
                <a:cubicBezTo>
                  <a:pt x="2" y="111"/>
                  <a:pt x="0" y="108"/>
                  <a:pt x="0" y="104"/>
                </a:cubicBezTo>
                <a:cubicBezTo>
                  <a:pt x="0" y="13"/>
                  <a:pt x="0" y="13"/>
                  <a:pt x="0" y="13"/>
                </a:cubicBezTo>
                <a:cubicBezTo>
                  <a:pt x="0" y="9"/>
                  <a:pt x="1" y="6"/>
                  <a:pt x="4" y="3"/>
                </a:cubicBezTo>
                <a:cubicBezTo>
                  <a:pt x="6" y="1"/>
                  <a:pt x="10" y="0"/>
                  <a:pt x="13" y="0"/>
                </a:cubicBezTo>
                <a:cubicBezTo>
                  <a:pt x="43" y="0"/>
                  <a:pt x="43" y="0"/>
                  <a:pt x="43" y="0"/>
                </a:cubicBezTo>
                <a:cubicBezTo>
                  <a:pt x="61" y="0"/>
                  <a:pt x="75" y="5"/>
                  <a:pt x="87" y="16"/>
                </a:cubicBezTo>
                <a:cubicBezTo>
                  <a:pt x="99" y="27"/>
                  <a:pt x="105" y="40"/>
                  <a:pt x="105" y="57"/>
                </a:cubicBezTo>
                <a:cubicBezTo>
                  <a:pt x="105" y="74"/>
                  <a:pt x="99" y="88"/>
                  <a:pt x="89" y="100"/>
                </a:cubicBezTo>
                <a:cubicBezTo>
                  <a:pt x="78" y="111"/>
                  <a:pt x="64" y="117"/>
                  <a:pt x="47" y="117"/>
                </a:cubicBezTo>
                <a:cubicBezTo>
                  <a:pt x="13" y="117"/>
                  <a:pt x="13" y="117"/>
                  <a:pt x="13" y="117"/>
                </a:cubicBezTo>
                <a:close/>
                <a:moveTo>
                  <a:pt x="43" y="93"/>
                </a:moveTo>
                <a:cubicBezTo>
                  <a:pt x="53" y="93"/>
                  <a:pt x="61" y="90"/>
                  <a:pt x="68" y="83"/>
                </a:cubicBezTo>
                <a:cubicBezTo>
                  <a:pt x="75" y="77"/>
                  <a:pt x="78" y="69"/>
                  <a:pt x="78" y="59"/>
                </a:cubicBezTo>
                <a:cubicBezTo>
                  <a:pt x="78" y="49"/>
                  <a:pt x="74" y="41"/>
                  <a:pt x="67" y="34"/>
                </a:cubicBezTo>
                <a:cubicBezTo>
                  <a:pt x="60" y="28"/>
                  <a:pt x="52" y="24"/>
                  <a:pt x="42" y="24"/>
                </a:cubicBezTo>
                <a:cubicBezTo>
                  <a:pt x="26" y="24"/>
                  <a:pt x="26" y="24"/>
                  <a:pt x="26" y="24"/>
                </a:cubicBezTo>
                <a:cubicBezTo>
                  <a:pt x="26" y="93"/>
                  <a:pt x="26" y="93"/>
                  <a:pt x="26" y="93"/>
                </a:cubicBezTo>
                <a:lnTo>
                  <a:pt x="43" y="93"/>
                </a:lnTo>
                <a:close/>
              </a:path>
            </a:pathLst>
          </a:custGeom>
          <a:solidFill>
            <a:srgbClr val="EB5902"/>
          </a:solidFill>
          <a:ln>
            <a:noFill/>
          </a:ln>
          <a:extLst>
            <a:ext uri="{91240B29-F687-4F45-9708-019B960494DF}">
              <a14:hiddenLine xmlns:a14="http://schemas.microsoft.com/office/drawing/2010/main" xmlns=""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 name="矩形 1"/>
          <p:cNvSpPr/>
          <p:nvPr/>
        </p:nvSpPr>
        <p:spPr>
          <a:xfrm>
            <a:off x="3269344" y="2073379"/>
            <a:ext cx="2160587" cy="1200329"/>
          </a:xfrm>
          <a:prstGeom prst="rect">
            <a:avLst/>
          </a:prstGeom>
        </p:spPr>
        <p:txBody>
          <a:bodyPr wrap="square">
            <a:spAutoFit/>
          </a:bodyPr>
          <a:lstStyle/>
          <a:p>
            <a:r>
              <a:rPr lang="zh-CN" altLang="en-US" sz="3600" b="1" dirty="0" smtClean="0">
                <a:solidFill>
                  <a:schemeClr val="accent5">
                    <a:lumMod val="75000"/>
                  </a:schemeClr>
                </a:solidFill>
              </a:rPr>
              <a:t>光度准确度</a:t>
            </a:r>
            <a:endParaRPr lang="zh-CN" altLang="en-US" sz="3600" dirty="0">
              <a:solidFill>
                <a:schemeClr val="accent5">
                  <a:lumMod val="75000"/>
                </a:schemeClr>
              </a:solidFill>
            </a:endParaRPr>
          </a:p>
        </p:txBody>
      </p:sp>
      <p:sp>
        <p:nvSpPr>
          <p:cNvPr id="3" name="矩形 2"/>
          <p:cNvSpPr/>
          <p:nvPr/>
        </p:nvSpPr>
        <p:spPr>
          <a:xfrm>
            <a:off x="6030064" y="4519565"/>
            <a:ext cx="1574470" cy="646331"/>
          </a:xfrm>
          <a:prstGeom prst="rect">
            <a:avLst/>
          </a:prstGeom>
        </p:spPr>
        <p:txBody>
          <a:bodyPr wrap="none">
            <a:spAutoFit/>
          </a:bodyPr>
          <a:lstStyle/>
          <a:p>
            <a:r>
              <a:rPr lang="zh-CN" altLang="en-US" sz="3600" b="1" dirty="0">
                <a:solidFill>
                  <a:schemeClr val="accent5">
                    <a:lumMod val="75000"/>
                  </a:schemeClr>
                </a:solidFill>
              </a:rPr>
              <a:t>信噪比</a:t>
            </a:r>
            <a:endParaRPr lang="zh-CN" altLang="en-US" sz="3600" dirty="0">
              <a:solidFill>
                <a:schemeClr val="accent5">
                  <a:lumMod val="75000"/>
                </a:schemeClr>
              </a:solidFill>
            </a:endParaRPr>
          </a:p>
        </p:txBody>
      </p:sp>
      <p:sp>
        <p:nvSpPr>
          <p:cNvPr id="7168" name="矩形 7167"/>
          <p:cNvSpPr/>
          <p:nvPr/>
        </p:nvSpPr>
        <p:spPr>
          <a:xfrm>
            <a:off x="3892938" y="4452191"/>
            <a:ext cx="1536993" cy="1200329"/>
          </a:xfrm>
          <a:prstGeom prst="rect">
            <a:avLst/>
          </a:prstGeom>
        </p:spPr>
        <p:txBody>
          <a:bodyPr wrap="square">
            <a:spAutoFit/>
          </a:bodyPr>
          <a:lstStyle/>
          <a:p>
            <a:r>
              <a:rPr lang="zh-CN" altLang="en-US" sz="3600" b="1" dirty="0" smtClean="0">
                <a:solidFill>
                  <a:schemeClr val="accent5">
                    <a:lumMod val="75000"/>
                  </a:schemeClr>
                </a:solidFill>
              </a:rPr>
              <a:t>分析速度</a:t>
            </a:r>
            <a:endParaRPr lang="zh-CN" altLang="en-US" sz="3600" dirty="0">
              <a:solidFill>
                <a:schemeClr val="accent5">
                  <a:lumMod val="75000"/>
                </a:schemeClr>
              </a:solidFill>
            </a:endParaRPr>
          </a:p>
        </p:txBody>
      </p:sp>
      <p:sp>
        <p:nvSpPr>
          <p:cNvPr id="7169" name="矩形 7168"/>
          <p:cNvSpPr/>
          <p:nvPr/>
        </p:nvSpPr>
        <p:spPr>
          <a:xfrm>
            <a:off x="6096794" y="1948202"/>
            <a:ext cx="2254138" cy="1754326"/>
          </a:xfrm>
          <a:prstGeom prst="rect">
            <a:avLst/>
          </a:prstGeom>
        </p:spPr>
        <p:txBody>
          <a:bodyPr wrap="square">
            <a:spAutoFit/>
          </a:bodyPr>
          <a:lstStyle/>
          <a:p>
            <a:r>
              <a:rPr lang="zh-CN" altLang="en-US" sz="3600" b="1" dirty="0">
                <a:solidFill>
                  <a:schemeClr val="accent5">
                    <a:lumMod val="75000"/>
                  </a:schemeClr>
                </a:solidFill>
              </a:rPr>
              <a:t>软件功能及数据处理能力</a:t>
            </a:r>
            <a:endParaRPr lang="en-US" altLang="zh-CN" sz="3600" b="1" dirty="0">
              <a:solidFill>
                <a:schemeClr val="accent5">
                  <a:lumMod val="75000"/>
                </a:schemeClr>
              </a:solidFill>
            </a:endParaRPr>
          </a:p>
        </p:txBody>
      </p:sp>
      <p:sp>
        <p:nvSpPr>
          <p:cNvPr id="7171" name="矩形 7170"/>
          <p:cNvSpPr/>
          <p:nvPr/>
        </p:nvSpPr>
        <p:spPr>
          <a:xfrm>
            <a:off x="214355" y="1026939"/>
            <a:ext cx="2812101" cy="2246769"/>
          </a:xfrm>
          <a:prstGeom prst="rect">
            <a:avLst/>
          </a:prstGeom>
        </p:spPr>
        <p:txBody>
          <a:bodyPr wrap="square">
            <a:spAutoFit/>
          </a:bodyPr>
          <a:lstStyle/>
          <a:p>
            <a:r>
              <a:rPr lang="zh-CN" altLang="en-US" sz="2800" dirty="0"/>
              <a:t>指仪器对某物质进行透射或漫反射测量时，所测光度值与该物质真实值之差。</a:t>
            </a:r>
            <a:endParaRPr lang="en-US" altLang="zh-CN" sz="2800" dirty="0"/>
          </a:p>
        </p:txBody>
      </p:sp>
      <p:sp>
        <p:nvSpPr>
          <p:cNvPr id="7172" name="矩形 7171"/>
          <p:cNvSpPr/>
          <p:nvPr/>
        </p:nvSpPr>
        <p:spPr>
          <a:xfrm>
            <a:off x="8258744" y="4503160"/>
            <a:ext cx="3562943" cy="954107"/>
          </a:xfrm>
          <a:prstGeom prst="rect">
            <a:avLst/>
          </a:prstGeom>
        </p:spPr>
        <p:txBody>
          <a:bodyPr wrap="square">
            <a:spAutoFit/>
          </a:bodyPr>
          <a:lstStyle/>
          <a:p>
            <a:r>
              <a:rPr lang="zh-CN" altLang="en-US" sz="2800" dirty="0" smtClean="0"/>
              <a:t>样品吸光度与仪器吸光度噪声的比值。</a:t>
            </a:r>
            <a:endParaRPr lang="en-US" altLang="zh-CN" sz="2800" dirty="0"/>
          </a:p>
        </p:txBody>
      </p:sp>
      <p:sp>
        <p:nvSpPr>
          <p:cNvPr id="7173" name="矩形 7172"/>
          <p:cNvSpPr/>
          <p:nvPr/>
        </p:nvSpPr>
        <p:spPr>
          <a:xfrm>
            <a:off x="102101" y="3702528"/>
            <a:ext cx="3371238" cy="2677656"/>
          </a:xfrm>
          <a:prstGeom prst="rect">
            <a:avLst/>
          </a:prstGeom>
        </p:spPr>
        <p:txBody>
          <a:bodyPr wrap="square">
            <a:spAutoFit/>
          </a:bodyPr>
          <a:lstStyle/>
          <a:p>
            <a:r>
              <a:rPr lang="zh-CN" altLang="en-US" sz="2800" dirty="0"/>
              <a:t>主要由仪器的扫描速度决定，仪器的扫描指的是仪器波长范围内，完成一次扫描，得到一个光谱所需要的时间。</a:t>
            </a:r>
            <a:endParaRPr lang="en-US" altLang="zh-CN" sz="2800"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0" y="0"/>
            <a:ext cx="12192000" cy="6858000"/>
          </a:xfrm>
          <a:prstGeom prst="rect">
            <a:avLst/>
          </a:prstGeom>
        </p:spPr>
      </p:pic>
      <p:sp>
        <p:nvSpPr>
          <p:cNvPr id="5" name="文本框 4"/>
          <p:cNvSpPr txBox="1"/>
          <p:nvPr/>
        </p:nvSpPr>
        <p:spPr>
          <a:xfrm>
            <a:off x="3730170" y="1877625"/>
            <a:ext cx="7663543" cy="1015663"/>
          </a:xfrm>
          <a:prstGeom prst="rect">
            <a:avLst/>
          </a:prstGeom>
          <a:noFill/>
        </p:spPr>
        <p:txBody>
          <a:bodyPr wrap="square" rtlCol="0">
            <a:spAutoFit/>
          </a:bodyPr>
          <a:lstStyle/>
          <a:p>
            <a:r>
              <a:rPr lang="zh-CN" altLang="en-US" sz="6000" dirty="0" smtClean="0">
                <a:solidFill>
                  <a:srgbClr val="5B9BD5">
                    <a:lumMod val="75000"/>
                  </a:srgbClr>
                </a:solidFill>
                <a:latin typeface="微软雅黑" panose="020B0503020204020204" pitchFamily="34" charset="-122"/>
                <a:ea typeface="微软雅黑" panose="020B0503020204020204" pitchFamily="34" charset="-122"/>
              </a:rPr>
              <a:t>         数据分析</a:t>
            </a:r>
            <a:endParaRPr lang="zh-CN" altLang="en-US" sz="6000" b="1" dirty="0">
              <a:solidFill>
                <a:srgbClr val="FFC000">
                  <a:lumMod val="75000"/>
                </a:srgb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635" y="0"/>
            <a:ext cx="8686800" cy="914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标题 3"/>
          <p:cNvSpPr>
            <a:spLocks noGrp="1"/>
          </p:cNvSpPr>
          <p:nvPr>
            <p:ph type="title"/>
          </p:nvPr>
        </p:nvSpPr>
        <p:spPr>
          <a:xfrm>
            <a:off x="1" y="-1"/>
            <a:ext cx="5892799" cy="914401"/>
          </a:xfrm>
        </p:spPr>
        <p:txBody>
          <a:bodyPr>
            <a:normAutofit/>
          </a:bodyPr>
          <a:lstStyle/>
          <a:p>
            <a:r>
              <a:rPr lang="zh-CN" altLang="en-US" sz="3600" b="1" dirty="0">
                <a:latin typeface="微软雅黑" panose="020B0503020204020204" pitchFamily="34" charset="-122"/>
                <a:ea typeface="微软雅黑" panose="020B0503020204020204" pitchFamily="34" charset="-122"/>
              </a:rPr>
              <a:t>一、近红外光谱的定量分析</a:t>
            </a:r>
          </a:p>
        </p:txBody>
      </p:sp>
      <p:sp>
        <p:nvSpPr>
          <p:cNvPr id="5" name="内容占位符 4"/>
          <p:cNvSpPr>
            <a:spLocks noGrp="1"/>
          </p:cNvSpPr>
          <p:nvPr>
            <p:ph idx="1"/>
          </p:nvPr>
        </p:nvSpPr>
        <p:spPr>
          <a:xfrm>
            <a:off x="838994" y="1128939"/>
            <a:ext cx="10515600" cy="4351338"/>
          </a:xfrm>
        </p:spPr>
        <p:txBody>
          <a:bodyPr/>
          <a:lstStyle/>
          <a:p>
            <a:pPr algn="l">
              <a:lnSpc>
                <a:spcPct val="100000"/>
              </a:lnSpc>
            </a:pPr>
            <a:r>
              <a:rPr lang="zh-CN" altLang="en-US">
                <a:solidFill>
                  <a:srgbClr val="FF0000"/>
                </a:solidFill>
                <a:sym typeface="+mn-ea"/>
              </a:rPr>
              <a:t>近红外光谱的定量分析</a:t>
            </a:r>
            <a:r>
              <a:rPr lang="zh-CN" altLang="en-US">
                <a:sym typeface="+mn-ea"/>
              </a:rPr>
              <a:t>是指利用化学分析数据和近红外光谱构成一个模型，确定模型参数,然后以这个模型定量预测某些信息(如浓度) 的方法。</a:t>
            </a:r>
            <a:endParaRPr lang="zh-CN" altLang="en-US" sz="3200"/>
          </a:p>
          <a:p>
            <a:pPr algn="l">
              <a:lnSpc>
                <a:spcPct val="100000"/>
              </a:lnSpc>
            </a:pPr>
            <a:r>
              <a:rPr lang="zh-CN" altLang="en-US">
                <a:sym typeface="+mn-ea"/>
              </a:rPr>
              <a:t>分析流程图：</a:t>
            </a:r>
            <a:endParaRPr lang="zh-CN" altLang="en-US"/>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0" y="6334579"/>
            <a:ext cx="12193588" cy="530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6" name="图片 5" descr="~4EC9$1}_%RH4Z6PJM26`@4"/>
          <p:cNvPicPr>
            <a:picLocks noChangeAspect="1"/>
          </p:cNvPicPr>
          <p:nvPr/>
        </p:nvPicPr>
        <p:blipFill>
          <a:blip r:embed="rId4"/>
          <a:stretch>
            <a:fillRect/>
          </a:stretch>
        </p:blipFill>
        <p:spPr>
          <a:xfrm>
            <a:off x="3633816" y="2336801"/>
            <a:ext cx="5865150" cy="3707674"/>
          </a:xfrm>
          <a:prstGeom prst="rect">
            <a:avLst/>
          </a:prstGeom>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0" y="0"/>
            <a:ext cx="8686800" cy="914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 name="标题 1"/>
          <p:cNvSpPr>
            <a:spLocks noGrp="1"/>
          </p:cNvSpPr>
          <p:nvPr>
            <p:ph type="title"/>
          </p:nvPr>
        </p:nvSpPr>
        <p:spPr>
          <a:xfrm>
            <a:off x="838200" y="365125"/>
            <a:ext cx="10515600" cy="1015405"/>
          </a:xfrm>
        </p:spPr>
        <p:txBody>
          <a:bodyPr/>
          <a:lstStyle/>
          <a:p>
            <a:pPr algn="ctr"/>
            <a:endParaRPr lang="zh-CN" altLang="en-US" b="1" dirty="0"/>
          </a:p>
        </p:txBody>
      </p:sp>
      <p:sp>
        <p:nvSpPr>
          <p:cNvPr id="3" name="内容占位符 2"/>
          <p:cNvSpPr>
            <a:spLocks noGrp="1"/>
          </p:cNvSpPr>
          <p:nvPr>
            <p:ph idx="1"/>
          </p:nvPr>
        </p:nvSpPr>
        <p:spPr>
          <a:xfrm>
            <a:off x="838200" y="1117600"/>
            <a:ext cx="10515600" cy="5059680"/>
          </a:xfrm>
        </p:spPr>
        <p:txBody>
          <a:bodyPr>
            <a:normAutofit fontScale="65000" lnSpcReduction="20000"/>
          </a:bodyPr>
          <a:lstStyle/>
          <a:p>
            <a:pPr marL="0" indent="0" algn="l">
              <a:lnSpc>
                <a:spcPct val="100000"/>
              </a:lnSpc>
              <a:buNone/>
            </a:pPr>
            <a:endParaRPr lang="zh-CN" altLang="en-US" sz="3200" dirty="0">
              <a:sym typeface="+mn-ea"/>
            </a:endParaRPr>
          </a:p>
          <a:p>
            <a:pPr algn="l">
              <a:lnSpc>
                <a:spcPct val="100000"/>
              </a:lnSpc>
            </a:pPr>
            <a:r>
              <a:rPr lang="zh-CN" altLang="en-US" sz="4000" b="1" dirty="0">
                <a:sym typeface="+mn-ea"/>
              </a:rPr>
              <a:t>(一) 具有代表性的建模样品的</a:t>
            </a:r>
            <a:r>
              <a:rPr lang="zh-CN" altLang="en-US" sz="4000" b="1" dirty="0" smtClean="0">
                <a:sym typeface="+mn-ea"/>
              </a:rPr>
              <a:t>收集</a:t>
            </a:r>
            <a:endParaRPr lang="zh-CN" altLang="en-US" sz="3200" b="1" dirty="0"/>
          </a:p>
          <a:p>
            <a:pPr lvl="1" algn="l">
              <a:lnSpc>
                <a:spcPct val="100000"/>
              </a:lnSpc>
            </a:pPr>
            <a:r>
              <a:rPr lang="zh-CN" altLang="en-US" sz="3300" dirty="0">
                <a:sym typeface="+mn-ea"/>
              </a:rPr>
              <a:t>建模样品为从总体中抽取的有限个(一般是几十个)能代表研究对象总体的适合分析的样品。</a:t>
            </a:r>
          </a:p>
          <a:p>
            <a:pPr lvl="1" algn="l">
              <a:lnSpc>
                <a:spcPct val="100000"/>
              </a:lnSpc>
            </a:pPr>
            <a:r>
              <a:rPr lang="zh-CN" altLang="en-US" sz="3300" dirty="0">
                <a:sym typeface="+mn-ea"/>
              </a:rPr>
              <a:t>代表性指的是同一材料中的不同举型、不同品种、不同来源以及待测组分含量分布等。</a:t>
            </a:r>
            <a:endParaRPr lang="zh-CN" altLang="en-US" sz="3300" dirty="0"/>
          </a:p>
          <a:p>
            <a:pPr algn="l">
              <a:lnSpc>
                <a:spcPct val="100000"/>
              </a:lnSpc>
            </a:pPr>
            <a:r>
              <a:rPr lang="zh-CN" altLang="en-US" sz="4000" b="1" dirty="0">
                <a:sym typeface="+mn-ea"/>
              </a:rPr>
              <a:t>(二) 建模样品被测组分化学分析值的测定</a:t>
            </a:r>
            <a:endParaRPr lang="zh-CN" altLang="en-US" sz="3200" b="1" dirty="0"/>
          </a:p>
          <a:p>
            <a:pPr lvl="1" algn="l">
              <a:lnSpc>
                <a:spcPct val="100000"/>
              </a:lnSpc>
            </a:pPr>
            <a:r>
              <a:rPr lang="zh-CN" altLang="en-US" sz="3300" dirty="0">
                <a:sym typeface="+mn-ea"/>
              </a:rPr>
              <a:t>校正模型是由建模样品被测组分的化学值和相关近红外光谱的吸光度或光密度值经回归得到的，因此模型</a:t>
            </a:r>
            <a:r>
              <a:rPr lang="zh-CN" altLang="en-US" sz="3300" b="1" dirty="0">
                <a:solidFill>
                  <a:srgbClr val="FF0000"/>
                </a:solidFill>
                <a:sym typeface="+mn-ea"/>
              </a:rPr>
              <a:t>预测结果的准确性</a:t>
            </a:r>
            <a:r>
              <a:rPr lang="zh-CN" altLang="en-US" sz="3300" dirty="0">
                <a:sym typeface="+mn-ea"/>
              </a:rPr>
              <a:t>很大程度上取决于标准方法测得的</a:t>
            </a:r>
            <a:r>
              <a:rPr lang="zh-CN" altLang="en-US" sz="3300" b="1" dirty="0">
                <a:solidFill>
                  <a:srgbClr val="FF0000"/>
                </a:solidFill>
                <a:sym typeface="+mn-ea"/>
              </a:rPr>
              <a:t>化学值的稳定性</a:t>
            </a:r>
            <a:r>
              <a:rPr lang="zh-CN" altLang="en-US" sz="3300" dirty="0">
                <a:sym typeface="+mn-ea"/>
              </a:rPr>
              <a:t>。</a:t>
            </a:r>
            <a:endParaRPr lang="zh-CN" altLang="en-US" sz="3300" dirty="0"/>
          </a:p>
          <a:p>
            <a:pPr lvl="1" algn="l">
              <a:lnSpc>
                <a:spcPct val="100000"/>
              </a:lnSpc>
            </a:pPr>
            <a:r>
              <a:rPr lang="zh-CN" altLang="en-US" sz="3300" dirty="0">
                <a:sym typeface="+mn-ea"/>
              </a:rPr>
              <a:t>保证化学值的准确性：</a:t>
            </a:r>
            <a:endParaRPr lang="zh-CN" altLang="en-US" sz="3300" dirty="0"/>
          </a:p>
          <a:p>
            <a:pPr lvl="2" algn="l">
              <a:lnSpc>
                <a:spcPct val="100000"/>
              </a:lnSpc>
            </a:pPr>
            <a:r>
              <a:rPr lang="zh-CN" altLang="en-US" sz="3300" dirty="0">
                <a:sym typeface="+mn-ea"/>
              </a:rPr>
              <a:t>①选用国际或国内标准方法测定建模样品;②在不同时间测定2-3 个平行样品，平行样之间的相对误差不能大于方法允许的误差范围；③测定结果建议以干基含量表示，这样表示的结果不会因空气湿度的变化而波动。</a:t>
            </a:r>
            <a:endParaRPr lang="zh-CN" altLang="en-US" sz="3300" dirty="0"/>
          </a:p>
          <a:p>
            <a:endParaRPr lang="zh-CN" altLang="en-US" dirty="0"/>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0" y="6334579"/>
            <a:ext cx="12193588" cy="530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矩形 3"/>
          <p:cNvSpPr/>
          <p:nvPr/>
        </p:nvSpPr>
        <p:spPr>
          <a:xfrm>
            <a:off x="4343399" y="602343"/>
            <a:ext cx="3218543" cy="923330"/>
          </a:xfrm>
          <a:prstGeom prst="rect">
            <a:avLst/>
          </a:prstGeom>
          <a:noFill/>
        </p:spPr>
        <p:txBody>
          <a:bodyPr wrap="square" lIns="91440" tIns="45720" rIns="91440" bIns="45720">
            <a:spAutoFit/>
          </a:bodyPr>
          <a:lstStyle/>
          <a:p>
            <a:pPr algn="ctr"/>
            <a:r>
              <a:rPr lang="zh-CN" altLang="en-US" sz="54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主要步骤</a:t>
            </a:r>
            <a:endParaRPr lang="zh-CN" altLang="en-US" sz="54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7" name="标题 3"/>
          <p:cNvSpPr txBox="1"/>
          <p:nvPr/>
        </p:nvSpPr>
        <p:spPr>
          <a:xfrm>
            <a:off x="1" y="-1"/>
            <a:ext cx="5892799" cy="9144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smtClean="0">
                <a:latin typeface="微软雅黑" panose="020B0503020204020204" pitchFamily="34" charset="-122"/>
                <a:ea typeface="微软雅黑" panose="020B0503020204020204" pitchFamily="34" charset="-122"/>
              </a:rPr>
              <a:t>一、近红外光谱的定量分析</a:t>
            </a:r>
            <a:endParaRPr lang="zh-CN" altLang="en-US" sz="3600" b="1"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0" y="0"/>
            <a:ext cx="8686800" cy="914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 name="内容占位符 1"/>
          <p:cNvSpPr>
            <a:spLocks noGrp="1"/>
          </p:cNvSpPr>
          <p:nvPr>
            <p:ph/>
          </p:nvPr>
        </p:nvSpPr>
        <p:spPr>
          <a:xfrm>
            <a:off x="839470" y="913765"/>
            <a:ext cx="10515600" cy="5420995"/>
          </a:xfrm>
        </p:spPr>
        <p:txBody>
          <a:bodyPr>
            <a:normAutofit lnSpcReduction="10000"/>
          </a:bodyPr>
          <a:lstStyle/>
          <a:p>
            <a:pPr algn="l">
              <a:lnSpc>
                <a:spcPct val="100000"/>
              </a:lnSpc>
            </a:pPr>
            <a:r>
              <a:rPr lang="zh-CN" altLang="en-US" sz="3600" b="1" dirty="0">
                <a:sym typeface="+mn-ea"/>
              </a:rPr>
              <a:t>(三) 光谱数据的测量</a:t>
            </a:r>
            <a:endParaRPr lang="zh-CN" altLang="en-US" sz="3200" b="1" dirty="0"/>
          </a:p>
          <a:p>
            <a:pPr lvl="1" algn="l">
              <a:lnSpc>
                <a:spcPct val="100000"/>
              </a:lnSpc>
            </a:pPr>
            <a:r>
              <a:rPr lang="zh-CN" altLang="en-US" sz="2800" dirty="0">
                <a:sym typeface="+mn-ea"/>
              </a:rPr>
              <a:t>在测定光谱数据时，应注意到仪器状态和环境因素的变化，测量条件尽量保持一致。</a:t>
            </a:r>
            <a:endParaRPr lang="zh-CN" altLang="en-US" sz="2800" dirty="0"/>
          </a:p>
          <a:p>
            <a:pPr algn="l">
              <a:lnSpc>
                <a:spcPct val="100000"/>
              </a:lnSpc>
            </a:pPr>
            <a:r>
              <a:rPr lang="zh-CN" altLang="en-US" sz="3600" b="1" dirty="0">
                <a:sym typeface="+mn-ea"/>
              </a:rPr>
              <a:t>(四) </a:t>
            </a:r>
            <a:r>
              <a:rPr lang="zh-CN" altLang="en-US" sz="3600" b="1" dirty="0">
                <a:solidFill>
                  <a:srgbClr val="FF0000"/>
                </a:solidFill>
                <a:sym typeface="+mn-ea"/>
              </a:rPr>
              <a:t>光谱数据的预处理</a:t>
            </a:r>
            <a:endParaRPr lang="zh-CN" altLang="en-US" sz="3200" b="1" dirty="0"/>
          </a:p>
          <a:p>
            <a:pPr lvl="1" algn="l">
              <a:lnSpc>
                <a:spcPct val="100000"/>
              </a:lnSpc>
            </a:pPr>
            <a:r>
              <a:rPr lang="zh-CN" altLang="en-US" sz="2800" dirty="0">
                <a:sym typeface="+mn-ea"/>
              </a:rPr>
              <a:t>目的是针对特定的样品体系通过对光谱的适当处理减弱以至于消除各种非目标因素对光谱的影响，净化谱图信息为校正模型的建立和未知样品组成或性质的预测奠定基础。</a:t>
            </a:r>
            <a:endParaRPr lang="zh-CN" altLang="en-US" sz="3200" dirty="0"/>
          </a:p>
          <a:p>
            <a:pPr lvl="1" algn="l">
              <a:lnSpc>
                <a:spcPct val="100000"/>
              </a:lnSpc>
            </a:pPr>
            <a:r>
              <a:rPr lang="zh-CN" altLang="en-US" sz="2800" dirty="0">
                <a:sym typeface="+mn-ea"/>
              </a:rPr>
              <a:t>常用的</a:t>
            </a:r>
            <a:r>
              <a:rPr lang="zh-CN" altLang="en-US" sz="2800" b="1" dirty="0">
                <a:solidFill>
                  <a:srgbClr val="FF0000"/>
                </a:solidFill>
                <a:sym typeface="+mn-ea"/>
              </a:rPr>
              <a:t>预处理方法</a:t>
            </a:r>
            <a:r>
              <a:rPr lang="zh-CN" altLang="en-US" sz="2800" dirty="0">
                <a:sym typeface="+mn-ea"/>
              </a:rPr>
              <a:t>包括：高频噪声滤除(卷积平滑、傅里叶变换、小波变换等)，光谱信号的代数运算(</a:t>
            </a:r>
            <a:r>
              <a:rPr lang="zh-CN" altLang="en-US" sz="2800" dirty="0">
                <a:solidFill>
                  <a:srgbClr val="FF0000"/>
                </a:solidFill>
                <a:sym typeface="+mn-ea"/>
              </a:rPr>
              <a:t> </a:t>
            </a:r>
            <a:r>
              <a:rPr lang="zh-CN" altLang="en-US" sz="2800" b="1" dirty="0" smtClean="0">
                <a:solidFill>
                  <a:srgbClr val="FF0000"/>
                </a:solidFill>
                <a:sym typeface="+mn-ea"/>
              </a:rPr>
              <a:t>中心化</a:t>
            </a:r>
            <a:r>
              <a:rPr lang="zh-CN" altLang="en-US" sz="2800" b="1" dirty="0" smtClean="0">
                <a:sym typeface="+mn-ea"/>
              </a:rPr>
              <a:t>、</a:t>
            </a:r>
            <a:r>
              <a:rPr lang="zh-CN" altLang="en-US" sz="2800" b="1" dirty="0" smtClean="0">
                <a:solidFill>
                  <a:srgbClr val="FF0000"/>
                </a:solidFill>
                <a:sym typeface="+mn-ea"/>
              </a:rPr>
              <a:t>标准化</a:t>
            </a:r>
            <a:r>
              <a:rPr lang="zh-CN" altLang="en-US" sz="2800" dirty="0" smtClean="0">
                <a:sym typeface="+mn-ea"/>
              </a:rPr>
              <a:t>处理</a:t>
            </a:r>
            <a:r>
              <a:rPr lang="zh-CN" altLang="en-US" sz="2800" dirty="0">
                <a:sym typeface="+mn-ea"/>
              </a:rPr>
              <a:t>等)，光谱信号的微分，</a:t>
            </a:r>
            <a:r>
              <a:rPr lang="zh-CN" altLang="en-US" sz="2800" b="1" dirty="0">
                <a:solidFill>
                  <a:srgbClr val="FF0000"/>
                </a:solidFill>
                <a:sym typeface="+mn-ea"/>
              </a:rPr>
              <a:t>基线校正</a:t>
            </a:r>
            <a:r>
              <a:rPr lang="zh-CN" altLang="en-US" sz="2800" dirty="0">
                <a:sym typeface="+mn-ea"/>
              </a:rPr>
              <a:t>，对光谱信号的坐标变换( 横轴的波长、波数等单位变换，纵轴的吸光度、透过率、反射率等单位变换) 等。</a:t>
            </a:r>
            <a:endParaRPr lang="zh-CN" altLang="en-US" dirty="0"/>
          </a:p>
          <a:p>
            <a:endParaRPr lang="zh-CN" altLang="en-US" dirty="0"/>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0" y="6334579"/>
            <a:ext cx="12193588" cy="530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5" name="标题 3"/>
          <p:cNvSpPr txBox="1"/>
          <p:nvPr/>
        </p:nvSpPr>
        <p:spPr>
          <a:xfrm>
            <a:off x="1" y="-1"/>
            <a:ext cx="5892799" cy="914401"/>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3600" b="1" smtClean="0">
                <a:latin typeface="微软雅黑" panose="020B0503020204020204" pitchFamily="34" charset="-122"/>
                <a:ea typeface="微软雅黑" panose="020B0503020204020204" pitchFamily="34" charset="-122"/>
              </a:rPr>
              <a:t>一、近红外光谱的定量分析</a:t>
            </a:r>
            <a:endParaRPr lang="zh-CN" altLang="en-US" sz="3600" b="1"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0" y="6349819"/>
            <a:ext cx="12193588" cy="530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1266"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0" y="0"/>
            <a:ext cx="8686800" cy="914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 name="内容占位符 1"/>
          <p:cNvSpPr>
            <a:spLocks noGrp="1"/>
          </p:cNvSpPr>
          <p:nvPr>
            <p:ph/>
          </p:nvPr>
        </p:nvSpPr>
        <p:spPr>
          <a:xfrm>
            <a:off x="838200" y="903605"/>
            <a:ext cx="10515600" cy="5446395"/>
          </a:xfrm>
        </p:spPr>
        <p:txBody>
          <a:bodyPr>
            <a:normAutofit lnSpcReduction="10000"/>
          </a:bodyPr>
          <a:lstStyle/>
          <a:p>
            <a:pPr algn="l">
              <a:lnSpc>
                <a:spcPct val="100000"/>
              </a:lnSpc>
            </a:pPr>
            <a:r>
              <a:rPr lang="zh-CN" altLang="en-US" sz="3600" b="1" dirty="0">
                <a:sym typeface="+mn-ea"/>
              </a:rPr>
              <a:t>(五) </a:t>
            </a:r>
            <a:r>
              <a:rPr lang="zh-CN" altLang="en-US" sz="3600" b="1" dirty="0">
                <a:solidFill>
                  <a:srgbClr val="FF0000"/>
                </a:solidFill>
                <a:sym typeface="+mn-ea"/>
              </a:rPr>
              <a:t>校正模型的建立</a:t>
            </a:r>
            <a:endParaRPr lang="zh-CN" altLang="en-US" sz="3600" b="1" dirty="0">
              <a:solidFill>
                <a:srgbClr val="FF0000"/>
              </a:solidFill>
            </a:endParaRPr>
          </a:p>
          <a:p>
            <a:pPr lvl="1" algn="l">
              <a:lnSpc>
                <a:spcPct val="100000"/>
              </a:lnSpc>
            </a:pPr>
            <a:r>
              <a:rPr lang="zh-CN" altLang="en-US" dirty="0">
                <a:sym typeface="+mn-ea"/>
              </a:rPr>
              <a:t>目的是对未知样品的组成或性质进行预测。</a:t>
            </a:r>
            <a:endParaRPr lang="zh-CN" altLang="en-US" sz="2800" dirty="0"/>
          </a:p>
          <a:p>
            <a:pPr lvl="1" algn="l">
              <a:lnSpc>
                <a:spcPct val="100000"/>
              </a:lnSpc>
            </a:pPr>
            <a:r>
              <a:rPr lang="zh-CN" altLang="en-US" dirty="0">
                <a:sym typeface="+mn-ea"/>
              </a:rPr>
              <a:t>常用的三种建立校正模型的方法：主成分回归( PCR)、偏最小二乘归( PIS)  和多元线性回归(MIR)。</a:t>
            </a:r>
            <a:endParaRPr lang="zh-CN" altLang="en-US" sz="2800" dirty="0"/>
          </a:p>
          <a:p>
            <a:pPr lvl="1" algn="l">
              <a:lnSpc>
                <a:spcPct val="100000"/>
              </a:lnSpc>
            </a:pPr>
            <a:r>
              <a:rPr lang="zh-CN" altLang="en-US" dirty="0">
                <a:sym typeface="+mn-ea"/>
              </a:rPr>
              <a:t>常见的非线性校正模型建立技术区域权重回归( LMR )和人工神经网络( ANN )。</a:t>
            </a:r>
            <a:endParaRPr lang="zh-CN" altLang="en-US" sz="2800" dirty="0"/>
          </a:p>
          <a:p>
            <a:pPr algn="l">
              <a:lnSpc>
                <a:spcPct val="100000"/>
              </a:lnSpc>
              <a:buFont typeface="Wingdings" panose="05000000000000000000" pitchFamily="2" charset="2"/>
              <a:buChar char="u"/>
            </a:pPr>
            <a:r>
              <a:rPr lang="zh-CN" altLang="en-US" sz="3600" b="1" dirty="0">
                <a:sym typeface="+mn-ea"/>
              </a:rPr>
              <a:t> 优化算法介绍</a:t>
            </a:r>
            <a:endParaRPr lang="zh-CN" altLang="en-US" sz="3600" b="1" dirty="0"/>
          </a:p>
          <a:p>
            <a:pPr lvl="1" algn="l">
              <a:lnSpc>
                <a:spcPct val="100000"/>
              </a:lnSpc>
            </a:pPr>
            <a:r>
              <a:rPr lang="zh-CN" altLang="en-US" sz="3200" dirty="0">
                <a:sym typeface="+mn-ea"/>
              </a:rPr>
              <a:t>1.主成分分析法</a:t>
            </a:r>
            <a:endParaRPr lang="zh-CN" altLang="en-US" sz="3200" dirty="0"/>
          </a:p>
          <a:p>
            <a:pPr lvl="2" algn="l">
              <a:lnSpc>
                <a:spcPct val="100000"/>
              </a:lnSpc>
            </a:pPr>
            <a:r>
              <a:rPr lang="zh-CN" altLang="en-US" dirty="0">
                <a:sym typeface="+mn-ea"/>
              </a:rPr>
              <a:t>是将数据降维，以排出众多化学信息共存下的相互重叠的信息。它是将原变量进行转换，用少数几个新变量作为原变量的线性组合，同时，这些新变量应尽可能多的表征原变量的数据结构特征而不丢失信息。</a:t>
            </a:r>
            <a:endParaRPr lang="zh-CN" altLang="en-US" sz="2800" dirty="0"/>
          </a:p>
          <a:p>
            <a:pPr lvl="2" algn="l">
              <a:lnSpc>
                <a:spcPct val="100000"/>
              </a:lnSpc>
            </a:pPr>
            <a:r>
              <a:rPr lang="zh-CN" altLang="en-US" dirty="0">
                <a:sym typeface="+mn-ea"/>
              </a:rPr>
              <a:t>通过主成分回归，可以去除噪声，解决了回归中的共线性问题，有效地提高了信息利用，提高了模型的稳定性。</a:t>
            </a:r>
            <a:endParaRPr lang="zh-CN" altLang="en-US" sz="2800" dirty="0"/>
          </a:p>
          <a:p>
            <a:endParaRPr lang="zh-CN" altLang="en-US" dirty="0"/>
          </a:p>
        </p:txBody>
      </p:sp>
      <p:sp>
        <p:nvSpPr>
          <p:cNvPr id="5" name="标题 3"/>
          <p:cNvSpPr txBox="1"/>
          <p:nvPr/>
        </p:nvSpPr>
        <p:spPr>
          <a:xfrm>
            <a:off x="1" y="-1"/>
            <a:ext cx="5892799" cy="914401"/>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3600" b="1" smtClean="0">
                <a:latin typeface="微软雅黑" panose="020B0503020204020204" pitchFamily="34" charset="-122"/>
                <a:ea typeface="微软雅黑" panose="020B0503020204020204" pitchFamily="34" charset="-122"/>
              </a:rPr>
              <a:t>一、近红外光谱的定量分析</a:t>
            </a:r>
            <a:endParaRPr lang="zh-CN" altLang="en-US" sz="3600" b="1"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0" y="0"/>
            <a:ext cx="8686800" cy="914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 name="内容占位符 1"/>
          <p:cNvSpPr>
            <a:spLocks noGrp="1"/>
          </p:cNvSpPr>
          <p:nvPr>
            <p:ph/>
          </p:nvPr>
        </p:nvSpPr>
        <p:spPr>
          <a:xfrm>
            <a:off x="838200" y="957580"/>
            <a:ext cx="10515600" cy="4943475"/>
          </a:xfrm>
        </p:spPr>
        <p:txBody>
          <a:bodyPr>
            <a:noAutofit/>
          </a:bodyPr>
          <a:lstStyle/>
          <a:p>
            <a:pPr lvl="1" algn="l">
              <a:lnSpc>
                <a:spcPct val="100000"/>
              </a:lnSpc>
            </a:pPr>
            <a:r>
              <a:rPr lang="zh-CN" altLang="en-US" sz="3200" dirty="0">
                <a:sym typeface="+mn-ea"/>
              </a:rPr>
              <a:t>2.偏最小二乘法( PLS)</a:t>
            </a:r>
          </a:p>
          <a:p>
            <a:pPr lvl="2" algn="l">
              <a:lnSpc>
                <a:spcPct val="100000"/>
              </a:lnSpc>
            </a:pPr>
            <a:r>
              <a:rPr lang="zh-CN" altLang="en-US" sz="2800" dirty="0">
                <a:sym typeface="+mn-ea"/>
              </a:rPr>
              <a:t>偏最小二乘法与主成分分析很相似，二者的差别是对变量Y 中的因子进行描述的同时也对变量X 所含的信息进行了描述。</a:t>
            </a:r>
          </a:p>
          <a:p>
            <a:pPr lvl="2" algn="l">
              <a:lnSpc>
                <a:spcPct val="100000"/>
              </a:lnSpc>
            </a:pPr>
            <a:r>
              <a:rPr lang="zh-CN" altLang="en-US" sz="2800" dirty="0">
                <a:solidFill>
                  <a:srgbClr val="FF0000"/>
                </a:solidFill>
                <a:sym typeface="+mn-ea"/>
              </a:rPr>
              <a:t>特点</a:t>
            </a:r>
            <a:r>
              <a:rPr lang="zh-CN" altLang="en-US" sz="2800" dirty="0">
                <a:sym typeface="+mn-ea"/>
              </a:rPr>
              <a:t>：快速、可靠、预测能力强、克服数据间多重相关等。</a:t>
            </a:r>
          </a:p>
          <a:p>
            <a:pPr lvl="1" algn="l"/>
            <a:endParaRPr lang="zh-CN" altLang="en-US" sz="3600" dirty="0"/>
          </a:p>
          <a:p>
            <a:pPr lvl="1" algn="l">
              <a:buFont typeface="Wingdings" panose="05000000000000000000" pitchFamily="2" charset="2"/>
              <a:buChar char="u"/>
            </a:pPr>
            <a:r>
              <a:rPr lang="zh-CN" altLang="en-US" sz="3600" b="1" dirty="0">
                <a:sym typeface="+mn-ea"/>
              </a:rPr>
              <a:t>建立校正模型注意事项：</a:t>
            </a:r>
            <a:endParaRPr lang="zh-CN" altLang="en-US" sz="3600" b="1" dirty="0"/>
          </a:p>
          <a:p>
            <a:pPr lvl="2" algn="l"/>
            <a:r>
              <a:rPr lang="en-US" altLang="zh-CN" sz="2800" dirty="0">
                <a:sym typeface="+mn-ea"/>
              </a:rPr>
              <a:t>1.</a:t>
            </a:r>
            <a:r>
              <a:rPr lang="zh-CN" altLang="en-US" sz="2800" dirty="0">
                <a:sym typeface="+mn-ea"/>
              </a:rPr>
              <a:t>防止拟合不足( 主成分太少)和过拟合(主成分过多)；</a:t>
            </a:r>
            <a:endParaRPr lang="zh-CN" altLang="en-US" sz="3600" dirty="0"/>
          </a:p>
          <a:p>
            <a:pPr lvl="3" algn="l"/>
            <a:r>
              <a:rPr lang="zh-CN" altLang="en-US" sz="2400" dirty="0">
                <a:sym typeface="+mn-ea"/>
              </a:rPr>
              <a:t>拟合不足会导致模型的预测结果不可靠；</a:t>
            </a:r>
            <a:endParaRPr lang="zh-CN" altLang="en-US" sz="3600" dirty="0"/>
          </a:p>
          <a:p>
            <a:pPr lvl="3" algn="l"/>
            <a:r>
              <a:rPr lang="zh-CN" altLang="en-US" sz="2400" dirty="0">
                <a:sym typeface="+mn-ea"/>
              </a:rPr>
              <a:t>过拟合会导致预测误差增大。</a:t>
            </a:r>
            <a:endParaRPr lang="zh-CN" altLang="en-US" sz="3600" dirty="0"/>
          </a:p>
          <a:p>
            <a:pPr lvl="2" algn="l"/>
            <a:r>
              <a:rPr lang="en-US" altLang="zh-CN" sz="2800" dirty="0">
                <a:sym typeface="+mn-ea"/>
              </a:rPr>
              <a:t>2.</a:t>
            </a:r>
            <a:r>
              <a:rPr lang="zh-CN" altLang="en-US" sz="2800" dirty="0">
                <a:sym typeface="+mn-ea"/>
              </a:rPr>
              <a:t>充分检查样品的均匀性和类别</a:t>
            </a:r>
            <a:r>
              <a:rPr lang="zh-CN" altLang="en-US" sz="4000" dirty="0">
                <a:sym typeface="+mn-ea"/>
              </a:rPr>
              <a:t>。</a:t>
            </a:r>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0" y="6334579"/>
            <a:ext cx="12193588" cy="530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5" name="标题 3"/>
          <p:cNvSpPr txBox="1"/>
          <p:nvPr/>
        </p:nvSpPr>
        <p:spPr>
          <a:xfrm>
            <a:off x="1" y="-1"/>
            <a:ext cx="5892799" cy="914401"/>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3600" b="1" smtClean="0">
                <a:latin typeface="微软雅黑" panose="020B0503020204020204" pitchFamily="34" charset="-122"/>
                <a:ea typeface="微软雅黑" panose="020B0503020204020204" pitchFamily="34" charset="-122"/>
              </a:rPr>
              <a:t>一、近红外光谱的定量分析</a:t>
            </a:r>
            <a:endParaRPr lang="zh-CN" altLang="en-US" sz="3600" b="1"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0" y="6334579"/>
            <a:ext cx="12193588" cy="530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1266"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0" y="0"/>
            <a:ext cx="8686800" cy="914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 name="内容占位符 1"/>
          <p:cNvSpPr>
            <a:spLocks noGrp="1"/>
          </p:cNvSpPr>
          <p:nvPr>
            <p:ph/>
          </p:nvPr>
        </p:nvSpPr>
        <p:spPr>
          <a:xfrm>
            <a:off x="838994" y="457200"/>
            <a:ext cx="10515600" cy="5969635"/>
          </a:xfrm>
        </p:spPr>
        <p:txBody>
          <a:bodyPr/>
          <a:lstStyle/>
          <a:p>
            <a:pPr algn="l">
              <a:lnSpc>
                <a:spcPct val="100000"/>
              </a:lnSpc>
            </a:pPr>
            <a:r>
              <a:rPr lang="zh-CN" altLang="en-US" sz="3600" b="1" dirty="0">
                <a:sym typeface="+mn-ea"/>
              </a:rPr>
              <a:t>(六) </a:t>
            </a:r>
            <a:r>
              <a:rPr lang="zh-CN" altLang="en-US" sz="3600" b="1" dirty="0">
                <a:solidFill>
                  <a:srgbClr val="FF0000"/>
                </a:solidFill>
                <a:sym typeface="+mn-ea"/>
              </a:rPr>
              <a:t>校正模型的校验</a:t>
            </a:r>
            <a:endParaRPr lang="zh-CN" altLang="en-US" sz="3600" b="1" dirty="0"/>
          </a:p>
          <a:p>
            <a:pPr lvl="1" algn="l">
              <a:lnSpc>
                <a:spcPct val="100000"/>
              </a:lnSpc>
            </a:pPr>
            <a:r>
              <a:rPr lang="zh-CN" altLang="en-US" dirty="0">
                <a:sym typeface="+mn-ea"/>
              </a:rPr>
              <a:t>交互校验法</a:t>
            </a:r>
            <a:endParaRPr lang="zh-CN" altLang="en-US" sz="2800" dirty="0"/>
          </a:p>
          <a:p>
            <a:pPr lvl="2" algn="l">
              <a:lnSpc>
                <a:spcPct val="100000"/>
              </a:lnSpc>
            </a:pPr>
            <a:r>
              <a:rPr lang="zh-CN" altLang="en-US" sz="2400" dirty="0">
                <a:sym typeface="+mn-ea"/>
              </a:rPr>
              <a:t>优点：校正样品集中不包含用于校正模型的样品，可以独立地对校正模型进行校验。</a:t>
            </a:r>
            <a:endParaRPr lang="zh-CN" altLang="en-US" sz="2400" dirty="0"/>
          </a:p>
          <a:p>
            <a:pPr lvl="1" algn="l">
              <a:lnSpc>
                <a:spcPct val="100000"/>
              </a:lnSpc>
            </a:pPr>
            <a:r>
              <a:rPr lang="zh-CN" altLang="en-US" dirty="0">
                <a:sym typeface="+mn-ea"/>
              </a:rPr>
              <a:t>评定模型质量好坏的几个统计量</a:t>
            </a:r>
            <a:endParaRPr lang="zh-CN" altLang="en-US" sz="2800" dirty="0"/>
          </a:p>
          <a:p>
            <a:pPr lvl="2" algn="l">
              <a:lnSpc>
                <a:spcPct val="100000"/>
              </a:lnSpc>
            </a:pPr>
            <a:r>
              <a:rPr lang="zh-CN" altLang="en-US" sz="2400" dirty="0">
                <a:sym typeface="+mn-ea"/>
              </a:rPr>
              <a:t>①相关系数</a:t>
            </a:r>
            <a:r>
              <a:rPr lang="en-US" altLang="zh-CN" sz="2400" dirty="0">
                <a:sym typeface="+mn-ea"/>
              </a:rPr>
              <a:t>(R)</a:t>
            </a:r>
            <a:r>
              <a:rPr lang="zh-CN" altLang="en-US" sz="2400" dirty="0">
                <a:sym typeface="+mn-ea"/>
              </a:rPr>
              <a:t>：描述两个定量结果的相关程度，</a:t>
            </a:r>
            <a:r>
              <a:rPr lang="zh-CN" altLang="en-US" sz="2000" dirty="0">
                <a:sym typeface="+mn-ea"/>
              </a:rPr>
              <a:t>在浓度范围相同的前提下，相关系数越大，准确性越高。</a:t>
            </a:r>
            <a:endParaRPr lang="zh-CN" altLang="en-US" dirty="0">
              <a:sym typeface="+mn-ea"/>
            </a:endParaRPr>
          </a:p>
          <a:p>
            <a:pPr lvl="2" algn="l">
              <a:lnSpc>
                <a:spcPct val="100000"/>
              </a:lnSpc>
            </a:pPr>
            <a:r>
              <a:rPr lang="zh-CN" altLang="en-US" sz="2400" dirty="0">
                <a:sym typeface="+mn-ea"/>
              </a:rPr>
              <a:t>②校正集样品的标准偏差</a:t>
            </a:r>
            <a:r>
              <a:rPr lang="en-US" altLang="zh-CN" sz="2400" dirty="0">
                <a:sym typeface="+mn-ea"/>
              </a:rPr>
              <a:t>(SEC)</a:t>
            </a:r>
            <a:endParaRPr lang="en-US" altLang="zh-CN" dirty="0"/>
          </a:p>
          <a:p>
            <a:pPr lvl="2" algn="l">
              <a:lnSpc>
                <a:spcPct val="100000"/>
              </a:lnSpc>
            </a:pPr>
            <a:r>
              <a:rPr lang="zh-CN" altLang="en-US" sz="2400" dirty="0">
                <a:sym typeface="+mn-ea"/>
              </a:rPr>
              <a:t>③预测集样品的标准偏差</a:t>
            </a:r>
            <a:r>
              <a:rPr lang="en-US" altLang="zh-CN" sz="2400" dirty="0">
                <a:sym typeface="+mn-ea"/>
              </a:rPr>
              <a:t>(SEP)</a:t>
            </a:r>
            <a:r>
              <a:rPr lang="zh-CN" altLang="en-US" sz="2400" dirty="0">
                <a:sym typeface="+mn-ea"/>
              </a:rPr>
              <a:t>：</a:t>
            </a:r>
            <a:r>
              <a:rPr lang="en-US" altLang="zh-CN" sz="2400" dirty="0">
                <a:sym typeface="+mn-ea"/>
              </a:rPr>
              <a:t>S</a:t>
            </a:r>
            <a:r>
              <a:rPr lang="zh-CN" altLang="en-US" sz="2400" dirty="0">
                <a:sym typeface="+mn-ea"/>
              </a:rPr>
              <a:t>EP越小，结果越准确，通常SEP应与参考测量方法的重复性相当；</a:t>
            </a:r>
            <a:endParaRPr lang="zh-CN" altLang="en-US" sz="2400" dirty="0"/>
          </a:p>
          <a:p>
            <a:pPr lvl="2" algn="l">
              <a:lnSpc>
                <a:spcPct val="100000"/>
              </a:lnSpc>
            </a:pPr>
            <a:r>
              <a:rPr lang="zh-CN" altLang="en-US" sz="2400" dirty="0">
                <a:sym typeface="+mn-ea"/>
              </a:rPr>
              <a:t>④预测相对标准偏差</a:t>
            </a:r>
            <a:r>
              <a:rPr lang="en-US" altLang="zh-CN" sz="2400" dirty="0">
                <a:sym typeface="+mn-ea"/>
              </a:rPr>
              <a:t>(RPD)</a:t>
            </a:r>
            <a:r>
              <a:rPr lang="zh-CN" altLang="en-US" sz="2400" dirty="0">
                <a:sym typeface="+mn-ea"/>
              </a:rPr>
              <a:t>：预测样本标准偏差与模型预测标准差之比，用来</a:t>
            </a:r>
            <a:r>
              <a:rPr lang="zh-CN" altLang="en-US" sz="2400" dirty="0">
                <a:solidFill>
                  <a:srgbClr val="FF0000"/>
                </a:solidFill>
                <a:sym typeface="+mn-ea"/>
              </a:rPr>
              <a:t>评价所建模型的质量</a:t>
            </a:r>
            <a:r>
              <a:rPr lang="zh-CN" altLang="en-US" sz="2400" dirty="0">
                <a:sym typeface="+mn-ea"/>
              </a:rPr>
              <a:t>。</a:t>
            </a:r>
            <a:endParaRPr lang="zh-CN" altLang="en-US" sz="2400" dirty="0"/>
          </a:p>
          <a:p>
            <a:pPr lvl="1" algn="l">
              <a:lnSpc>
                <a:spcPct val="100000"/>
              </a:lnSpc>
            </a:pPr>
            <a:r>
              <a:rPr lang="zh-CN" altLang="en-US" sz="2400" dirty="0">
                <a:sym typeface="+mn-ea"/>
              </a:rPr>
              <a:t>在国内外的研究论文中 ，多采用 SEP和决定系数来评价近红外光谱法的准确性，但在实际应用中 ，应将以上四种方法结合起来，进行综合评价</a:t>
            </a:r>
            <a:r>
              <a:rPr lang="zh-CN" altLang="en-US" dirty="0">
                <a:sym typeface="+mn-ea"/>
              </a:rPr>
              <a:t>。</a:t>
            </a:r>
            <a:endParaRPr lang="zh-CN" altLang="en-US" sz="2800" dirty="0"/>
          </a:p>
          <a:p>
            <a:endParaRPr lang="zh-CN" altLang="en-US" dirty="0"/>
          </a:p>
        </p:txBody>
      </p:sp>
      <p:sp>
        <p:nvSpPr>
          <p:cNvPr id="5" name="标题 3"/>
          <p:cNvSpPr txBox="1"/>
          <p:nvPr/>
        </p:nvSpPr>
        <p:spPr>
          <a:xfrm>
            <a:off x="1" y="-1"/>
            <a:ext cx="5892799" cy="914401"/>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3600" b="1" smtClean="0">
                <a:latin typeface="微软雅黑" panose="020B0503020204020204" pitchFamily="34" charset="-122"/>
                <a:ea typeface="微软雅黑" panose="020B0503020204020204" pitchFamily="34" charset="-122"/>
              </a:rPr>
              <a:t>一、近红外光谱的定量分析</a:t>
            </a:r>
            <a:endParaRPr lang="zh-CN" altLang="en-US" sz="3600" b="1"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0" y="0"/>
            <a:ext cx="8686800" cy="914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 name="内容占位符 1"/>
          <p:cNvSpPr>
            <a:spLocks noGrp="1"/>
          </p:cNvSpPr>
          <p:nvPr>
            <p:ph/>
          </p:nvPr>
        </p:nvSpPr>
        <p:spPr>
          <a:xfrm>
            <a:off x="838200" y="914400"/>
            <a:ext cx="10515600" cy="5081270"/>
          </a:xfrm>
        </p:spPr>
        <p:txBody>
          <a:bodyPr>
            <a:normAutofit fontScale="97500" lnSpcReduction="10000"/>
          </a:bodyPr>
          <a:lstStyle/>
          <a:p>
            <a:pPr lvl="1" algn="l">
              <a:lnSpc>
                <a:spcPct val="100000"/>
              </a:lnSpc>
            </a:pPr>
            <a:r>
              <a:rPr lang="zh-CN" altLang="en-US" dirty="0">
                <a:sym typeface="+mn-ea"/>
              </a:rPr>
              <a:t>通过RPD 可以对预测集样品的标准偏差( SEP) 进行标准化处理，以增加评定模型的准确度。</a:t>
            </a:r>
            <a:endParaRPr lang="zh-CN" altLang="en-US" dirty="0"/>
          </a:p>
          <a:p>
            <a:pPr lvl="2" algn="l">
              <a:lnSpc>
                <a:spcPct val="100000"/>
              </a:lnSpc>
            </a:pPr>
            <a:r>
              <a:rPr lang="zh-CN" altLang="en-US" sz="2400" dirty="0">
                <a:sym typeface="+mn-ea"/>
              </a:rPr>
              <a:t>如果RPD &gt; 10，说明所建模型的准确性、稳定性非常好，可以准确的预测相关参数；</a:t>
            </a:r>
            <a:endParaRPr lang="zh-CN" altLang="en-US" sz="2400" dirty="0"/>
          </a:p>
          <a:p>
            <a:pPr lvl="2" algn="l">
              <a:lnSpc>
                <a:spcPct val="100000"/>
              </a:lnSpc>
            </a:pPr>
            <a:r>
              <a:rPr lang="zh-CN" altLang="en-US" sz="2400" dirty="0">
                <a:sym typeface="+mn-ea"/>
              </a:rPr>
              <a:t>如果RPD 在5</a:t>
            </a:r>
            <a:r>
              <a:rPr lang="en-US" altLang="zh-CN" sz="2400" dirty="0">
                <a:sym typeface="+mn-ea"/>
              </a:rPr>
              <a:t>~</a:t>
            </a:r>
            <a:r>
              <a:rPr lang="zh-CN" altLang="en-US" sz="2400" dirty="0">
                <a:sym typeface="+mn-ea"/>
              </a:rPr>
              <a:t>10 之间，说明模型可以用于质量控制;</a:t>
            </a:r>
            <a:endParaRPr lang="zh-CN" altLang="en-US" sz="2400" dirty="0"/>
          </a:p>
          <a:p>
            <a:pPr lvl="2" algn="l">
              <a:lnSpc>
                <a:spcPct val="100000"/>
              </a:lnSpc>
            </a:pPr>
            <a:r>
              <a:rPr lang="zh-CN" altLang="en-US" sz="2400" dirty="0">
                <a:sym typeface="+mn-ea"/>
              </a:rPr>
              <a:t>如果RPD 在2.5~ 5 之间，说明该模型只能对样品中所测成分的含量进行高、中、低的判定，不能用于定量分析；</a:t>
            </a:r>
            <a:endParaRPr lang="zh-CN" altLang="en-US" sz="2400" dirty="0"/>
          </a:p>
          <a:p>
            <a:pPr lvl="2" algn="l">
              <a:lnSpc>
                <a:spcPct val="100000"/>
              </a:lnSpc>
            </a:pPr>
            <a:r>
              <a:rPr lang="zh-CN" altLang="en-US" sz="2400" dirty="0">
                <a:sym typeface="+mn-ea"/>
              </a:rPr>
              <a:t>如果RPD 接近1,说明SEP 与SD 基本相等，因此模型不能准确有效的预测成分含量。</a:t>
            </a:r>
            <a:endParaRPr lang="zh-CN" altLang="en-US" sz="2400" dirty="0"/>
          </a:p>
          <a:p>
            <a:pPr algn="l">
              <a:lnSpc>
                <a:spcPct val="100000"/>
              </a:lnSpc>
            </a:pPr>
            <a:r>
              <a:rPr lang="zh-CN" altLang="en-US" sz="3700" b="1" dirty="0">
                <a:sym typeface="+mn-ea"/>
              </a:rPr>
              <a:t>(七) 预测</a:t>
            </a:r>
            <a:endParaRPr lang="zh-CN" altLang="en-US" sz="3700" b="1" dirty="0"/>
          </a:p>
          <a:p>
            <a:pPr lvl="1" algn="l">
              <a:lnSpc>
                <a:spcPct val="100000"/>
              </a:lnSpc>
            </a:pPr>
            <a:r>
              <a:rPr lang="zh-CN" altLang="en-US" dirty="0">
                <a:sym typeface="+mn-ea"/>
              </a:rPr>
              <a:t>通过得到的校正模型进行预测。需注意未知样品与校正样品集必须属于同一类</a:t>
            </a:r>
            <a:r>
              <a:rPr lang="zh-CN" altLang="en-US" sz="3600" dirty="0">
                <a:sym typeface="+mn-ea"/>
              </a:rPr>
              <a:t>。</a:t>
            </a:r>
            <a:endParaRPr lang="zh-CN" altLang="en-US" sz="2800" dirty="0"/>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0" y="6334579"/>
            <a:ext cx="12193588" cy="530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5" name="标题 3"/>
          <p:cNvSpPr txBox="1"/>
          <p:nvPr/>
        </p:nvSpPr>
        <p:spPr>
          <a:xfrm>
            <a:off x="1" y="-1"/>
            <a:ext cx="5892799" cy="914401"/>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3600" b="1" smtClean="0">
                <a:latin typeface="微软雅黑" panose="020B0503020204020204" pitchFamily="34" charset="-122"/>
                <a:ea typeface="微软雅黑" panose="020B0503020204020204" pitchFamily="34" charset="-122"/>
              </a:rPr>
              <a:t>一、近红外光谱的定量分析</a:t>
            </a:r>
            <a:endParaRPr lang="zh-CN" altLang="en-US" sz="3600" b="1"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0" y="0"/>
            <a:ext cx="8686800" cy="914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 name="标题 1"/>
          <p:cNvSpPr>
            <a:spLocks noGrp="1"/>
          </p:cNvSpPr>
          <p:nvPr>
            <p:ph type="title"/>
          </p:nvPr>
        </p:nvSpPr>
        <p:spPr>
          <a:xfrm>
            <a:off x="0" y="174173"/>
            <a:ext cx="10515600" cy="963295"/>
          </a:xfrm>
        </p:spPr>
        <p:txBody>
          <a:bodyPr>
            <a:normAutofit fontScale="90000"/>
          </a:bodyPr>
          <a:lstStyle/>
          <a:p>
            <a:r>
              <a:rPr lang="zh-CN" altLang="en-US" sz="4000" b="1" dirty="0">
                <a:latin typeface="微软雅黑" panose="020B0503020204020204" pitchFamily="34" charset="-122"/>
                <a:ea typeface="微软雅黑" panose="020B0503020204020204" pitchFamily="34" charset="-122"/>
                <a:sym typeface="+mn-ea"/>
              </a:rPr>
              <a:t>二、近红外光谱的定性分析</a:t>
            </a:r>
            <a:r>
              <a:rPr lang="zh-CN" altLang="en-US" dirty="0"/>
              <a:t/>
            </a:r>
            <a:br>
              <a:rPr lang="zh-CN" altLang="en-US" dirty="0"/>
            </a:br>
            <a:endParaRPr lang="zh-CN" altLang="en-US" dirty="0"/>
          </a:p>
        </p:txBody>
      </p:sp>
      <p:sp>
        <p:nvSpPr>
          <p:cNvPr id="3" name="内容占位符 2"/>
          <p:cNvSpPr>
            <a:spLocks noGrp="1"/>
          </p:cNvSpPr>
          <p:nvPr>
            <p:ph idx="1"/>
          </p:nvPr>
        </p:nvSpPr>
        <p:spPr>
          <a:xfrm>
            <a:off x="723355" y="1500324"/>
            <a:ext cx="10515600" cy="4335780"/>
          </a:xfrm>
        </p:spPr>
        <p:txBody>
          <a:bodyPr>
            <a:noAutofit/>
          </a:bodyPr>
          <a:lstStyle/>
          <a:p>
            <a:pPr>
              <a:buFont typeface="Wingdings" panose="05000000000000000000" pitchFamily="2" charset="2"/>
              <a:buChar char="u"/>
            </a:pPr>
            <a:r>
              <a:rPr lang="zh-CN" altLang="en-US" sz="3600" dirty="0">
                <a:sym typeface="+mn-ea"/>
              </a:rPr>
              <a:t>只需要知道</a:t>
            </a:r>
            <a:r>
              <a:rPr lang="zh-CN" altLang="en-US" sz="3600" dirty="0">
                <a:solidFill>
                  <a:srgbClr val="FF0000"/>
                </a:solidFill>
                <a:sym typeface="+mn-ea"/>
              </a:rPr>
              <a:t>样品的类别或等级</a:t>
            </a:r>
            <a:r>
              <a:rPr lang="zh-CN" altLang="en-US" sz="3600" dirty="0">
                <a:sym typeface="+mn-ea"/>
              </a:rPr>
              <a:t>，并不需要知道样品的组分及其含量，用定性分析更为方便。</a:t>
            </a:r>
            <a:endParaRPr lang="zh-CN" altLang="en-US" sz="3600" dirty="0"/>
          </a:p>
          <a:p>
            <a:pPr>
              <a:buFont typeface="Wingdings" panose="05000000000000000000" pitchFamily="2" charset="2"/>
              <a:buChar char="u"/>
            </a:pPr>
            <a:r>
              <a:rPr lang="zh-CN" altLang="en-US" sz="3600" dirty="0">
                <a:solidFill>
                  <a:srgbClr val="FF0000"/>
                </a:solidFill>
                <a:sym typeface="+mn-ea"/>
              </a:rPr>
              <a:t>定性分析</a:t>
            </a:r>
            <a:r>
              <a:rPr lang="zh-CN" altLang="en-US" sz="3600" dirty="0">
                <a:sym typeface="+mn-ea"/>
              </a:rPr>
              <a:t>是依靠已知样品及未知样品谱图的比较来完成的，已有一些方法可以应用于近红外光谱的定性分析。</a:t>
            </a:r>
            <a:endParaRPr lang="zh-CN" altLang="en-US" sz="3600" dirty="0"/>
          </a:p>
          <a:p>
            <a:pPr>
              <a:buFont typeface="Wingdings" panose="05000000000000000000" pitchFamily="2" charset="2"/>
              <a:buChar char="u"/>
            </a:pPr>
            <a:r>
              <a:rPr lang="zh-CN" altLang="en-US" sz="3600" dirty="0">
                <a:sym typeface="+mn-ea"/>
              </a:rPr>
              <a:t>光谱的定性分析常利用模式识别方法，该方法</a:t>
            </a:r>
            <a:r>
              <a:rPr lang="zh-CN" altLang="en-US" sz="3600" dirty="0" smtClean="0">
                <a:sym typeface="+mn-ea"/>
              </a:rPr>
              <a:t>又  可</a:t>
            </a:r>
            <a:r>
              <a:rPr lang="zh-CN" altLang="en-US" sz="3600" dirty="0">
                <a:sym typeface="+mn-ea"/>
              </a:rPr>
              <a:t>分为</a:t>
            </a:r>
            <a:r>
              <a:rPr lang="zh-CN" altLang="en-US" sz="3600" dirty="0">
                <a:solidFill>
                  <a:srgbClr val="FF0000"/>
                </a:solidFill>
                <a:sym typeface="+mn-ea"/>
              </a:rPr>
              <a:t>有监督的方法</a:t>
            </a:r>
            <a:r>
              <a:rPr lang="zh-CN" altLang="en-US" sz="3600" dirty="0">
                <a:sym typeface="+mn-ea"/>
              </a:rPr>
              <a:t>、</a:t>
            </a:r>
            <a:r>
              <a:rPr lang="zh-CN" altLang="en-US" sz="3600" dirty="0">
                <a:solidFill>
                  <a:srgbClr val="FF0000"/>
                </a:solidFill>
                <a:sym typeface="+mn-ea"/>
              </a:rPr>
              <a:t>无监督的方法</a:t>
            </a:r>
            <a:r>
              <a:rPr lang="zh-CN" altLang="en-US" sz="3600" dirty="0">
                <a:sym typeface="+mn-ea"/>
              </a:rPr>
              <a:t>和</a:t>
            </a:r>
            <a:r>
              <a:rPr lang="zh-CN" altLang="en-US" sz="3600" dirty="0">
                <a:solidFill>
                  <a:srgbClr val="FF0000"/>
                </a:solidFill>
                <a:sym typeface="+mn-ea"/>
              </a:rPr>
              <a:t>图形显示识别</a:t>
            </a:r>
            <a:r>
              <a:rPr lang="zh-CN" altLang="en-US" sz="3600" dirty="0">
                <a:sym typeface="+mn-ea"/>
              </a:rPr>
              <a:t>三类。</a:t>
            </a:r>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0" y="6334579"/>
            <a:ext cx="12193588" cy="530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0" y="0"/>
            <a:ext cx="12192000" cy="6858000"/>
          </a:xfrm>
          <a:prstGeom prst="rect">
            <a:avLst/>
          </a:prstGeom>
        </p:spPr>
      </p:pic>
      <p:sp>
        <p:nvSpPr>
          <p:cNvPr id="5" name="文本框 4"/>
          <p:cNvSpPr txBox="1"/>
          <p:nvPr/>
        </p:nvSpPr>
        <p:spPr>
          <a:xfrm>
            <a:off x="3730170" y="1877625"/>
            <a:ext cx="7663543" cy="1015663"/>
          </a:xfrm>
          <a:prstGeom prst="rect">
            <a:avLst/>
          </a:prstGeom>
          <a:noFill/>
        </p:spPr>
        <p:txBody>
          <a:bodyPr wrap="square" rtlCol="0">
            <a:spAutoFit/>
          </a:bodyPr>
          <a:lstStyle/>
          <a:p>
            <a:r>
              <a:rPr lang="zh-CN" altLang="en-US" sz="6000" dirty="0" smtClean="0">
                <a:solidFill>
                  <a:srgbClr val="5B9BD5">
                    <a:lumMod val="75000"/>
                  </a:srgbClr>
                </a:solidFill>
                <a:latin typeface="微软雅黑" panose="020B0503020204020204" pitchFamily="34" charset="-122"/>
                <a:ea typeface="微软雅黑" panose="020B0503020204020204" pitchFamily="34" charset="-122"/>
              </a:rPr>
              <a:t>           应用</a:t>
            </a:r>
            <a:endParaRPr lang="zh-CN" altLang="en-US" sz="6000" b="1" dirty="0">
              <a:solidFill>
                <a:srgbClr val="FFC000">
                  <a:lumMod val="75000"/>
                </a:srgb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588" y="6327775"/>
            <a:ext cx="12193588" cy="530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6" name="图片 5"/>
          <p:cNvPicPr>
            <a:picLocks noChangeAspect="1"/>
          </p:cNvPicPr>
          <p:nvPr/>
        </p:nvPicPr>
        <p:blipFill>
          <a:blip r:embed="rId3"/>
          <a:stretch>
            <a:fillRect/>
          </a:stretch>
        </p:blipFill>
        <p:spPr>
          <a:xfrm rot="5400000">
            <a:off x="5830825" y="496825"/>
            <a:ext cx="530354" cy="12192000"/>
          </a:xfrm>
          <a:prstGeom prst="rect">
            <a:avLst/>
          </a:prstGeom>
        </p:spPr>
      </p:pic>
      <p:sp>
        <p:nvSpPr>
          <p:cNvPr id="7" name="椭圆 6"/>
          <p:cNvSpPr/>
          <p:nvPr/>
        </p:nvSpPr>
        <p:spPr>
          <a:xfrm>
            <a:off x="77656" y="1085983"/>
            <a:ext cx="886264" cy="886264"/>
          </a:xfrm>
          <a:prstGeom prst="ellipse">
            <a:avLst/>
          </a:prstGeom>
          <a:solidFill>
            <a:schemeClr val="accent2">
              <a:lumMod val="20000"/>
              <a:lumOff val="80000"/>
            </a:schemeClr>
          </a:solidFill>
          <a:ln w="28575">
            <a:solidFill>
              <a:srgbClr val="DC70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kern="0">
              <a:solidFill>
                <a:sysClr val="windowText" lastClr="000000"/>
              </a:solidFill>
            </a:endParaRPr>
          </a:p>
        </p:txBody>
      </p:sp>
      <p:sp>
        <p:nvSpPr>
          <p:cNvPr id="8" name="MH_Other_4"/>
          <p:cNvSpPr txBox="1">
            <a:spLocks noChangeArrowheads="1"/>
          </p:cNvSpPr>
          <p:nvPr/>
        </p:nvSpPr>
        <p:spPr bwMode="auto">
          <a:xfrm>
            <a:off x="234" y="1205702"/>
            <a:ext cx="1042323"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latinLnBrk="1">
              <a:defRPr>
                <a:solidFill>
                  <a:schemeClr val="tx1"/>
                </a:solidFill>
                <a:latin typeface="Arial" panose="020B0604020202020204" pitchFamily="34" charset="0"/>
                <a:ea typeface="宋体" panose="02010600030101010101" pitchFamily="2" charset="-122"/>
              </a:defRPr>
            </a:lvl1pPr>
            <a:lvl2pPr marL="742950" indent="-285750" latinLnBrk="1">
              <a:defRPr>
                <a:solidFill>
                  <a:schemeClr val="tx1"/>
                </a:solidFill>
                <a:latin typeface="Arial" panose="020B0604020202020204" pitchFamily="34" charset="0"/>
                <a:ea typeface="宋体" panose="02010600030101010101" pitchFamily="2" charset="-122"/>
              </a:defRPr>
            </a:lvl2pPr>
            <a:lvl3pPr marL="1143000" indent="-228600" latinLnBrk="1">
              <a:defRPr>
                <a:solidFill>
                  <a:schemeClr val="tx1"/>
                </a:solidFill>
                <a:latin typeface="Arial" panose="020B0604020202020204" pitchFamily="34" charset="0"/>
                <a:ea typeface="宋体" panose="02010600030101010101" pitchFamily="2" charset="-122"/>
              </a:defRPr>
            </a:lvl3pPr>
            <a:lvl4pPr marL="1600200" indent="-228600" latinLnBrk="1">
              <a:defRPr>
                <a:solidFill>
                  <a:schemeClr val="tx1"/>
                </a:solidFill>
                <a:latin typeface="Arial" panose="020B0604020202020204" pitchFamily="34" charset="0"/>
                <a:ea typeface="宋体" panose="02010600030101010101" pitchFamily="2" charset="-122"/>
              </a:defRPr>
            </a:lvl4pPr>
            <a:lvl5pPr marL="2057400" indent="-228600" latinLnBrk="1">
              <a:defRPr>
                <a:solidFill>
                  <a:schemeClr val="tx1"/>
                </a:solidFill>
                <a:latin typeface="Arial" panose="020B0604020202020204" pitchFamily="34" charset="0"/>
                <a:ea typeface="宋体" panose="02010600030101010101" pitchFamily="2" charset="-122"/>
              </a:defRPr>
            </a:lvl5pPr>
            <a:lvl6pPr marL="2514600" indent="-228600" eaLnBrk="0" fontAlgn="base" latinLnBrk="1"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latinLnBrk="1"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latinLnBrk="1"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latinLnBrk="1"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defRPr/>
            </a:pPr>
            <a:r>
              <a:rPr lang="en-US" sz="3600" kern="0" dirty="0">
                <a:solidFill>
                  <a:srgbClr val="44546A"/>
                </a:solidFill>
                <a:ea typeface="幼圆" pitchFamily="49" charset="-122"/>
              </a:rPr>
              <a:t>01</a:t>
            </a:r>
          </a:p>
        </p:txBody>
      </p:sp>
      <p:sp>
        <p:nvSpPr>
          <p:cNvPr id="5" name="TextBox 4"/>
          <p:cNvSpPr txBox="1"/>
          <p:nvPr/>
        </p:nvSpPr>
        <p:spPr>
          <a:xfrm>
            <a:off x="1354182" y="819732"/>
            <a:ext cx="10320292" cy="1200329"/>
          </a:xfrm>
          <a:prstGeom prst="rect">
            <a:avLst/>
          </a:prstGeom>
          <a:noFill/>
        </p:spPr>
        <p:txBody>
          <a:bodyPr wrap="square" rtlCol="0">
            <a:spAutoFit/>
          </a:bodyPr>
          <a:lstStyle/>
          <a:p>
            <a:r>
              <a:rPr lang="zh-CN" altLang="zh-CN" sz="2400" dirty="0">
                <a:solidFill>
                  <a:prstClr val="black"/>
                </a:solidFill>
                <a:cs typeface="+mn-ea"/>
                <a:sym typeface="+mn-ea"/>
              </a:rPr>
              <a:t>由于红外测定方法具有方使快捷、无污染的特点</a:t>
            </a:r>
            <a:r>
              <a:rPr lang="en-US" altLang="zh-CN" sz="2400" dirty="0">
                <a:solidFill>
                  <a:prstClr val="black"/>
                </a:solidFill>
                <a:cs typeface="+mn-ea"/>
                <a:sym typeface="+mn-ea"/>
              </a:rPr>
              <a:t>,</a:t>
            </a:r>
            <a:r>
              <a:rPr lang="zh-CN" altLang="zh-CN" sz="2400" dirty="0">
                <a:solidFill>
                  <a:prstClr val="black"/>
                </a:solidFill>
                <a:cs typeface="+mn-ea"/>
                <a:sym typeface="+mn-ea"/>
              </a:rPr>
              <a:t>在在粮食、油料加工及</a:t>
            </a:r>
            <a:r>
              <a:rPr lang="zh-CN" altLang="zh-CN" sz="2400" dirty="0" smtClean="0">
                <a:solidFill>
                  <a:prstClr val="black"/>
                </a:solidFill>
                <a:cs typeface="+mn-ea"/>
                <a:sym typeface="+mn-ea"/>
              </a:rPr>
              <a:t>科得了</a:t>
            </a:r>
            <a:r>
              <a:rPr lang="zh-CN" altLang="zh-CN" sz="2400" dirty="0">
                <a:solidFill>
                  <a:prstClr val="black"/>
                </a:solidFill>
                <a:cs typeface="+mn-ea"/>
                <a:sym typeface="+mn-ea"/>
              </a:rPr>
              <a:t>广泛的应用。近红外光谱分析技术不仅可以用来测定样品的水分、粗</a:t>
            </a:r>
            <a:r>
              <a:rPr lang="zh-CN" altLang="zh-CN" sz="2400" dirty="0" smtClean="0">
                <a:solidFill>
                  <a:prstClr val="black"/>
                </a:solidFill>
                <a:cs typeface="+mn-ea"/>
                <a:sym typeface="+mn-ea"/>
              </a:rPr>
              <a:t>蛋白水分</a:t>
            </a:r>
            <a:r>
              <a:rPr lang="zh-CN" altLang="zh-CN" sz="2400" dirty="0">
                <a:solidFill>
                  <a:prstClr val="black"/>
                </a:solidFill>
                <a:cs typeface="+mn-ea"/>
                <a:sym typeface="+mn-ea"/>
              </a:rPr>
              <a:t>含量的正确估计</a:t>
            </a:r>
            <a:r>
              <a:rPr lang="en-US" altLang="zh-CN" sz="2400" dirty="0">
                <a:solidFill>
                  <a:prstClr val="black"/>
                </a:solidFill>
                <a:cs typeface="+mn-ea"/>
                <a:sym typeface="+mn-ea"/>
              </a:rPr>
              <a:t>,</a:t>
            </a:r>
            <a:r>
              <a:rPr lang="zh-CN" altLang="zh-CN" sz="2400" dirty="0">
                <a:solidFill>
                  <a:prstClr val="black"/>
                </a:solidFill>
                <a:cs typeface="+mn-ea"/>
                <a:sym typeface="+mn-ea"/>
              </a:rPr>
              <a:t>是谷物贸易高收益和谷物加工高效率的前提条件</a:t>
            </a:r>
            <a:r>
              <a:rPr lang="zh-CN" altLang="zh-CN" sz="2400" dirty="0" smtClean="0">
                <a:solidFill>
                  <a:prstClr val="black"/>
                </a:solidFill>
                <a:cs typeface="+mn-ea"/>
                <a:sym typeface="+mn-ea"/>
              </a:rPr>
              <a:t>。</a:t>
            </a:r>
            <a:endParaRPr lang="zh-CN" altLang="en-US" sz="2400" dirty="0">
              <a:solidFill>
                <a:prstClr val="black"/>
              </a:solidFill>
              <a:cs typeface="+mn-ea"/>
            </a:endParaRPr>
          </a:p>
        </p:txBody>
      </p:sp>
      <p:sp>
        <p:nvSpPr>
          <p:cNvPr id="10" name="椭圆 9"/>
          <p:cNvSpPr/>
          <p:nvPr/>
        </p:nvSpPr>
        <p:spPr>
          <a:xfrm>
            <a:off x="78243" y="2486041"/>
            <a:ext cx="886264" cy="886264"/>
          </a:xfrm>
          <a:prstGeom prst="ellipse">
            <a:avLst/>
          </a:prstGeom>
          <a:solidFill>
            <a:schemeClr val="accent2">
              <a:lumMod val="20000"/>
              <a:lumOff val="80000"/>
            </a:schemeClr>
          </a:solidFill>
          <a:ln w="28575">
            <a:solidFill>
              <a:srgbClr val="DC70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kern="0">
              <a:solidFill>
                <a:sysClr val="windowText" lastClr="000000"/>
              </a:solidFill>
            </a:endParaRPr>
          </a:p>
        </p:txBody>
      </p:sp>
      <p:sp>
        <p:nvSpPr>
          <p:cNvPr id="11" name="MH_Other_4"/>
          <p:cNvSpPr txBox="1">
            <a:spLocks noChangeArrowheads="1"/>
          </p:cNvSpPr>
          <p:nvPr/>
        </p:nvSpPr>
        <p:spPr bwMode="auto">
          <a:xfrm>
            <a:off x="78291" y="2605760"/>
            <a:ext cx="1042323"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latinLnBrk="1">
              <a:defRPr>
                <a:solidFill>
                  <a:schemeClr val="tx1"/>
                </a:solidFill>
                <a:latin typeface="Arial" panose="020B0604020202020204" pitchFamily="34" charset="0"/>
                <a:ea typeface="宋体" panose="02010600030101010101" pitchFamily="2" charset="-122"/>
              </a:defRPr>
            </a:lvl1pPr>
            <a:lvl2pPr marL="742950" indent="-285750" latinLnBrk="1">
              <a:defRPr>
                <a:solidFill>
                  <a:schemeClr val="tx1"/>
                </a:solidFill>
                <a:latin typeface="Arial" panose="020B0604020202020204" pitchFamily="34" charset="0"/>
                <a:ea typeface="宋体" panose="02010600030101010101" pitchFamily="2" charset="-122"/>
              </a:defRPr>
            </a:lvl2pPr>
            <a:lvl3pPr marL="1143000" indent="-228600" latinLnBrk="1">
              <a:defRPr>
                <a:solidFill>
                  <a:schemeClr val="tx1"/>
                </a:solidFill>
                <a:latin typeface="Arial" panose="020B0604020202020204" pitchFamily="34" charset="0"/>
                <a:ea typeface="宋体" panose="02010600030101010101" pitchFamily="2" charset="-122"/>
              </a:defRPr>
            </a:lvl3pPr>
            <a:lvl4pPr marL="1600200" indent="-228600" latinLnBrk="1">
              <a:defRPr>
                <a:solidFill>
                  <a:schemeClr val="tx1"/>
                </a:solidFill>
                <a:latin typeface="Arial" panose="020B0604020202020204" pitchFamily="34" charset="0"/>
                <a:ea typeface="宋体" panose="02010600030101010101" pitchFamily="2" charset="-122"/>
              </a:defRPr>
            </a:lvl4pPr>
            <a:lvl5pPr marL="2057400" indent="-228600" latinLnBrk="1">
              <a:defRPr>
                <a:solidFill>
                  <a:schemeClr val="tx1"/>
                </a:solidFill>
                <a:latin typeface="Arial" panose="020B0604020202020204" pitchFamily="34" charset="0"/>
                <a:ea typeface="宋体" panose="02010600030101010101" pitchFamily="2" charset="-122"/>
              </a:defRPr>
            </a:lvl5pPr>
            <a:lvl6pPr marL="2514600" indent="-228600" eaLnBrk="0" fontAlgn="base" latinLnBrk="1"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latinLnBrk="1"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latinLnBrk="1"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latinLnBrk="1"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defRPr/>
            </a:pPr>
            <a:r>
              <a:rPr lang="en-US" sz="3600" kern="0" dirty="0">
                <a:solidFill>
                  <a:srgbClr val="44546A"/>
                </a:solidFill>
                <a:ea typeface="幼圆" pitchFamily="49" charset="-122"/>
              </a:rPr>
              <a:t>02</a:t>
            </a:r>
          </a:p>
        </p:txBody>
      </p:sp>
      <p:sp>
        <p:nvSpPr>
          <p:cNvPr id="9" name="TextBox 8"/>
          <p:cNvSpPr txBox="1"/>
          <p:nvPr/>
        </p:nvSpPr>
        <p:spPr>
          <a:xfrm>
            <a:off x="1354183" y="2094624"/>
            <a:ext cx="10533017" cy="1569660"/>
          </a:xfrm>
          <a:prstGeom prst="rect">
            <a:avLst/>
          </a:prstGeom>
          <a:noFill/>
        </p:spPr>
        <p:txBody>
          <a:bodyPr wrap="square" rtlCol="0">
            <a:spAutoFit/>
          </a:bodyPr>
          <a:lstStyle/>
          <a:p>
            <a:r>
              <a:rPr lang="zh-CN" altLang="zh-CN" sz="2400" dirty="0" smtClean="0">
                <a:solidFill>
                  <a:prstClr val="black"/>
                </a:solidFill>
                <a:ea typeface="+mn-lt"/>
                <a:cs typeface="+mn-lt"/>
                <a:sym typeface="+mn-ea"/>
              </a:rPr>
              <a:t>尽管</a:t>
            </a:r>
            <a:r>
              <a:rPr lang="zh-CN" altLang="zh-CN" sz="2400" dirty="0">
                <a:solidFill>
                  <a:prstClr val="black"/>
                </a:solidFill>
                <a:ea typeface="+mn-lt"/>
                <a:cs typeface="+mn-lt"/>
                <a:sym typeface="+mn-ea"/>
              </a:rPr>
              <a:t>近红外</a:t>
            </a:r>
            <a:r>
              <a:rPr lang="zh-CN" altLang="zh-CN" sz="2400" dirty="0" smtClean="0">
                <a:solidFill>
                  <a:prstClr val="black"/>
                </a:solidFill>
                <a:ea typeface="+mn-lt"/>
                <a:cs typeface="+mn-lt"/>
                <a:sym typeface="+mn-ea"/>
              </a:rPr>
              <a:t>分析</a:t>
            </a:r>
            <a:r>
              <a:rPr lang="zh-CN" altLang="en-US" sz="2400" b="1" dirty="0" smtClean="0">
                <a:solidFill>
                  <a:srgbClr val="FF0000"/>
                </a:solidFill>
                <a:ea typeface="+mn-lt"/>
                <a:cs typeface="+mn-lt"/>
                <a:sym typeface="+mn-ea"/>
              </a:rPr>
              <a:t>水分</a:t>
            </a:r>
            <a:r>
              <a:rPr lang="zh-CN" altLang="zh-CN" sz="2400" dirty="0" smtClean="0">
                <a:solidFill>
                  <a:prstClr val="black"/>
                </a:solidFill>
                <a:ea typeface="+mn-lt"/>
                <a:cs typeface="+mn-lt"/>
                <a:sym typeface="+mn-ea"/>
              </a:rPr>
              <a:t>的确</a:t>
            </a:r>
            <a:r>
              <a:rPr lang="zh-CN" altLang="zh-CN" sz="2400" dirty="0">
                <a:solidFill>
                  <a:prstClr val="black"/>
                </a:solidFill>
                <a:ea typeface="+mn-lt"/>
                <a:cs typeface="+mn-lt"/>
                <a:sym typeface="+mn-ea"/>
              </a:rPr>
              <a:t>度</a:t>
            </a:r>
            <a:r>
              <a:rPr lang="en-US" altLang="zh-CN" sz="2400" dirty="0">
                <a:solidFill>
                  <a:prstClr val="black"/>
                </a:solidFill>
                <a:ea typeface="+mn-lt"/>
                <a:cs typeface="+mn-lt"/>
                <a:sym typeface="+mn-ea"/>
              </a:rPr>
              <a:t>(1%)</a:t>
            </a:r>
            <a:r>
              <a:rPr lang="zh-CN" altLang="zh-CN" sz="2400" dirty="0">
                <a:solidFill>
                  <a:prstClr val="black"/>
                </a:solidFill>
                <a:ea typeface="+mn-lt"/>
                <a:cs typeface="+mn-lt"/>
                <a:sym typeface="+mn-ea"/>
              </a:rPr>
              <a:t>不足以使其代替标准烘箱法</a:t>
            </a:r>
            <a:r>
              <a:rPr lang="en-US" altLang="zh-CN" sz="2400" dirty="0">
                <a:solidFill>
                  <a:prstClr val="black"/>
                </a:solidFill>
                <a:ea typeface="+mn-lt"/>
                <a:cs typeface="+mn-lt"/>
                <a:sym typeface="+mn-ea"/>
              </a:rPr>
              <a:t>,</a:t>
            </a:r>
            <a:r>
              <a:rPr lang="zh-CN" altLang="zh-CN" sz="2400" dirty="0">
                <a:solidFill>
                  <a:prstClr val="black"/>
                </a:solidFill>
                <a:ea typeface="+mn-lt"/>
                <a:cs typeface="+mn-lt"/>
                <a:sym typeface="+mn-ea"/>
              </a:rPr>
              <a:t>但其对农场、商业、加工业用途来说</a:t>
            </a:r>
            <a:r>
              <a:rPr lang="en-US" altLang="zh-CN" sz="2400" dirty="0">
                <a:solidFill>
                  <a:prstClr val="black"/>
                </a:solidFill>
                <a:ea typeface="+mn-lt"/>
                <a:cs typeface="+mn-lt"/>
                <a:sym typeface="+mn-ea"/>
              </a:rPr>
              <a:t>,</a:t>
            </a:r>
            <a:r>
              <a:rPr lang="zh-CN" altLang="zh-CN" sz="2400" dirty="0">
                <a:solidFill>
                  <a:prstClr val="black"/>
                </a:solidFill>
                <a:ea typeface="+mn-lt"/>
                <a:cs typeface="+mn-lt"/>
                <a:sym typeface="+mn-ea"/>
              </a:rPr>
              <a:t>已具有足够高的</a:t>
            </a:r>
            <a:r>
              <a:rPr lang="zh-CN" altLang="zh-CN" sz="2400" dirty="0" smtClean="0">
                <a:solidFill>
                  <a:prstClr val="black"/>
                </a:solidFill>
                <a:ea typeface="+mn-lt"/>
                <a:cs typeface="+mn-lt"/>
                <a:sym typeface="+mn-ea"/>
              </a:rPr>
              <a:t>精确度</a:t>
            </a:r>
            <a:r>
              <a:rPr lang="zh-CN" altLang="en-US" sz="2400" dirty="0" smtClean="0">
                <a:solidFill>
                  <a:prstClr val="black"/>
                </a:solidFill>
                <a:ea typeface="+mn-lt"/>
                <a:cs typeface="+mn-lt"/>
                <a:sym typeface="+mn-ea"/>
              </a:rPr>
              <a:t>，</a:t>
            </a:r>
            <a:r>
              <a:rPr lang="zh-CN" altLang="zh-CN" sz="2400" dirty="0" smtClean="0">
                <a:solidFill>
                  <a:prstClr val="black"/>
                </a:solidFill>
                <a:ea typeface="+mn-lt"/>
                <a:cs typeface="+mn-lt"/>
                <a:sym typeface="+mn-ea"/>
              </a:rPr>
              <a:t>近红外方法费用低</a:t>
            </a:r>
            <a:r>
              <a:rPr lang="zh-CN" altLang="en-US" sz="2400" dirty="0" smtClean="0">
                <a:solidFill>
                  <a:prstClr val="black"/>
                </a:solidFill>
                <a:ea typeface="+mn-lt"/>
                <a:cs typeface="+mn-lt"/>
                <a:sym typeface="+mn-ea"/>
              </a:rPr>
              <a:t>，速度比较快</a:t>
            </a:r>
            <a:r>
              <a:rPr lang="zh-CN" altLang="zh-CN" sz="2400" dirty="0" smtClean="0">
                <a:solidFill>
                  <a:prstClr val="black"/>
                </a:solidFill>
                <a:ea typeface="+mn-lt"/>
                <a:cs typeface="+mn-lt"/>
                <a:sym typeface="+mn-ea"/>
              </a:rPr>
              <a:t>。植物</a:t>
            </a:r>
            <a:r>
              <a:rPr lang="zh-CN" altLang="zh-CN" sz="2400" dirty="0">
                <a:solidFill>
                  <a:prstClr val="black"/>
                </a:solidFill>
                <a:ea typeface="+mn-lt"/>
                <a:cs typeface="+mn-lt"/>
                <a:sym typeface="+mn-ea"/>
              </a:rPr>
              <a:t>原料中</a:t>
            </a:r>
            <a:r>
              <a:rPr lang="zh-CN" altLang="zh-CN" sz="2400" b="1" dirty="0">
                <a:solidFill>
                  <a:srgbClr val="FF0000"/>
                </a:solidFill>
                <a:ea typeface="+mn-lt"/>
                <a:cs typeface="+mn-lt"/>
                <a:sym typeface="+mn-ea"/>
              </a:rPr>
              <a:t>蛋白质</a:t>
            </a:r>
            <a:r>
              <a:rPr lang="zh-CN" altLang="zh-CN" sz="2400" dirty="0" smtClean="0">
                <a:solidFill>
                  <a:prstClr val="black"/>
                </a:solidFill>
                <a:ea typeface="+mn-lt"/>
                <a:cs typeface="+mn-lt"/>
                <a:sym typeface="+mn-ea"/>
              </a:rPr>
              <a:t>和</a:t>
            </a:r>
            <a:r>
              <a:rPr lang="zh-CN" altLang="en-US" sz="2400" b="1" dirty="0" smtClean="0">
                <a:solidFill>
                  <a:srgbClr val="FF0000"/>
                </a:solidFill>
                <a:ea typeface="+mn-lt"/>
                <a:cs typeface="+mn-lt"/>
                <a:sym typeface="+mn-ea"/>
              </a:rPr>
              <a:t>氨基酸</a:t>
            </a:r>
            <a:r>
              <a:rPr lang="zh-CN" altLang="zh-CN" sz="2400" dirty="0" smtClean="0">
                <a:solidFill>
                  <a:prstClr val="black"/>
                </a:solidFill>
                <a:ea typeface="+mn-lt"/>
                <a:cs typeface="+mn-lt"/>
                <a:sym typeface="+mn-ea"/>
              </a:rPr>
              <a:t>的</a:t>
            </a:r>
            <a:r>
              <a:rPr lang="zh-CN" altLang="zh-CN" sz="2400" dirty="0">
                <a:solidFill>
                  <a:prstClr val="black"/>
                </a:solidFill>
                <a:ea typeface="+mn-lt"/>
                <a:cs typeface="+mn-lt"/>
                <a:sym typeface="+mn-ea"/>
              </a:rPr>
              <a:t>快速测定显得尤其</a:t>
            </a:r>
            <a:r>
              <a:rPr lang="zh-CN" altLang="zh-CN" sz="2400" dirty="0" smtClean="0">
                <a:solidFill>
                  <a:prstClr val="black"/>
                </a:solidFill>
                <a:ea typeface="+mn-lt"/>
                <a:cs typeface="+mn-lt"/>
                <a:sym typeface="+mn-ea"/>
              </a:rPr>
              <a:t>重要</a:t>
            </a:r>
            <a:r>
              <a:rPr lang="zh-CN" altLang="en-US" sz="2400" dirty="0" smtClean="0">
                <a:solidFill>
                  <a:prstClr val="black"/>
                </a:solidFill>
                <a:ea typeface="+mn-lt"/>
                <a:cs typeface="+mn-lt"/>
                <a:sym typeface="+mn-ea"/>
              </a:rPr>
              <a:t>，</a:t>
            </a:r>
            <a:r>
              <a:rPr lang="zh-CN" altLang="zh-CN" sz="2400" dirty="0" smtClean="0">
                <a:solidFill>
                  <a:prstClr val="black"/>
                </a:solidFill>
                <a:ea typeface="+mn-lt"/>
                <a:cs typeface="+mn-lt"/>
                <a:sym typeface="+mn-ea"/>
              </a:rPr>
              <a:t>用</a:t>
            </a:r>
            <a:r>
              <a:rPr lang="zh-CN" altLang="zh-CN" sz="2400" dirty="0">
                <a:solidFill>
                  <a:prstClr val="black"/>
                </a:solidFill>
                <a:ea typeface="+mn-lt"/>
                <a:cs typeface="+mn-lt"/>
                <a:sym typeface="+mn-ea"/>
              </a:rPr>
              <a:t>快速的近红外分析技术是完全可行的</a:t>
            </a:r>
            <a:r>
              <a:rPr lang="zh-CN" altLang="zh-CN" sz="2400" dirty="0" smtClean="0">
                <a:solidFill>
                  <a:prstClr val="black"/>
                </a:solidFill>
                <a:ea typeface="+mn-lt"/>
                <a:cs typeface="+mn-lt"/>
                <a:sym typeface="+mn-ea"/>
              </a:rPr>
              <a:t>。</a:t>
            </a:r>
            <a:endParaRPr lang="zh-CN" altLang="en-US" sz="2400" dirty="0">
              <a:solidFill>
                <a:prstClr val="black"/>
              </a:solidFill>
              <a:ea typeface="+mn-lt"/>
              <a:cs typeface="+mn-lt"/>
            </a:endParaRPr>
          </a:p>
        </p:txBody>
      </p:sp>
      <p:sp>
        <p:nvSpPr>
          <p:cNvPr id="3" name="椭圆 2"/>
          <p:cNvSpPr/>
          <p:nvPr/>
        </p:nvSpPr>
        <p:spPr>
          <a:xfrm>
            <a:off x="78243" y="3883676"/>
            <a:ext cx="886264" cy="886264"/>
          </a:xfrm>
          <a:prstGeom prst="ellipse">
            <a:avLst/>
          </a:prstGeom>
          <a:solidFill>
            <a:schemeClr val="accent2">
              <a:lumMod val="20000"/>
              <a:lumOff val="80000"/>
            </a:schemeClr>
          </a:solidFill>
          <a:ln w="28575">
            <a:solidFill>
              <a:srgbClr val="DC70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defRPr/>
            </a:pPr>
            <a:r>
              <a:rPr lang="en-US" sz="2800" kern="0" dirty="0">
                <a:solidFill>
                  <a:srgbClr val="44546A"/>
                </a:solidFill>
                <a:latin typeface="Arial" panose="020B0604020202020204" pitchFamily="34" charset="0"/>
                <a:ea typeface="幼圆" pitchFamily="49" charset="-122"/>
                <a:sym typeface="+mn-ea"/>
              </a:rPr>
              <a:t>03</a:t>
            </a:r>
            <a:endParaRPr lang="en-US" altLang="zh-CN" sz="2800" kern="0">
              <a:solidFill>
                <a:sysClr val="windowText" lastClr="000000"/>
              </a:solidFill>
              <a:latin typeface="Arial Unicode MS" panose="020B0604020202020204" pitchFamily="34" charset="-122"/>
              <a:ea typeface="Arial Unicode MS" panose="020B0604020202020204" pitchFamily="34" charset="-122"/>
            </a:endParaRPr>
          </a:p>
        </p:txBody>
      </p:sp>
      <p:sp>
        <p:nvSpPr>
          <p:cNvPr id="4" name="文本框 3"/>
          <p:cNvSpPr txBox="1"/>
          <p:nvPr/>
        </p:nvSpPr>
        <p:spPr>
          <a:xfrm>
            <a:off x="1354183" y="3682818"/>
            <a:ext cx="10533017" cy="1198880"/>
          </a:xfrm>
          <a:prstGeom prst="rect">
            <a:avLst/>
          </a:prstGeom>
          <a:noFill/>
        </p:spPr>
        <p:txBody>
          <a:bodyPr wrap="square" rtlCol="0">
            <a:spAutoFit/>
          </a:bodyPr>
          <a:lstStyle/>
          <a:p>
            <a:pPr>
              <a:buFont typeface="Wingdings" panose="05000000000000000000" pitchFamily="2" charset="2"/>
              <a:buNone/>
            </a:pPr>
            <a:r>
              <a:rPr lang="zh-CN" altLang="zh-CN" sz="2400" dirty="0" smtClean="0">
                <a:solidFill>
                  <a:prstClr val="black"/>
                </a:solidFill>
                <a:cs typeface="+mn-ea"/>
                <a:sym typeface="+mn-ea"/>
              </a:rPr>
              <a:t>在</a:t>
            </a:r>
            <a:r>
              <a:rPr lang="zh-CN" altLang="zh-CN" sz="2400" dirty="0">
                <a:solidFill>
                  <a:prstClr val="black"/>
                </a:solidFill>
                <a:cs typeface="+mn-ea"/>
                <a:sym typeface="+mn-ea"/>
              </a:rPr>
              <a:t>油脂工业中</a:t>
            </a:r>
            <a:r>
              <a:rPr lang="en-US" altLang="zh-CN" sz="2400" dirty="0" smtClean="0">
                <a:solidFill>
                  <a:prstClr val="black"/>
                </a:solidFill>
                <a:cs typeface="+mn-ea"/>
                <a:sym typeface="+mn-ea"/>
              </a:rPr>
              <a:t>,</a:t>
            </a:r>
            <a:r>
              <a:rPr lang="zh-CN" altLang="zh-CN" sz="2400" b="1" dirty="0" smtClean="0">
                <a:solidFill>
                  <a:srgbClr val="FF0000"/>
                </a:solidFill>
                <a:cs typeface="+mn-ea"/>
                <a:sym typeface="+mn-ea"/>
              </a:rPr>
              <a:t>油脂</a:t>
            </a:r>
            <a:r>
              <a:rPr lang="zh-CN" altLang="zh-CN" sz="2400" dirty="0" smtClean="0">
                <a:solidFill>
                  <a:prstClr val="black"/>
                </a:solidFill>
                <a:cs typeface="+mn-ea"/>
                <a:sym typeface="+mn-ea"/>
              </a:rPr>
              <a:t>品质通</a:t>
            </a:r>
            <a:r>
              <a:rPr lang="en-US" altLang="zh-CN" sz="2400" dirty="0" smtClean="0">
                <a:solidFill>
                  <a:prstClr val="black"/>
                </a:solidFill>
                <a:cs typeface="+mn-ea"/>
                <a:sym typeface="+mn-ea"/>
              </a:rPr>
              <a:t>NIR</a:t>
            </a:r>
            <a:r>
              <a:rPr lang="zh-CN" altLang="zh-CN" sz="2400" dirty="0" smtClean="0">
                <a:solidFill>
                  <a:prstClr val="black"/>
                </a:solidFill>
                <a:cs typeface="+mn-ea"/>
                <a:sym typeface="+mn-ea"/>
              </a:rPr>
              <a:t>技术测定碘值</a:t>
            </a:r>
            <a:r>
              <a:rPr lang="zh-CN" altLang="zh-CN" sz="2400" dirty="0">
                <a:solidFill>
                  <a:prstClr val="black"/>
                </a:solidFill>
                <a:cs typeface="+mn-ea"/>
                <a:sym typeface="+mn-ea"/>
              </a:rPr>
              <a:t>、过氧化值、游离脂肪酸含量等指标评价</a:t>
            </a:r>
            <a:r>
              <a:rPr lang="en-US" altLang="zh-CN" sz="2400" dirty="0" smtClean="0">
                <a:solidFill>
                  <a:prstClr val="black"/>
                </a:solidFill>
                <a:cs typeface="+mn-ea"/>
                <a:sym typeface="+mn-ea"/>
              </a:rPr>
              <a:t>,</a:t>
            </a:r>
            <a:r>
              <a:rPr lang="zh-CN" altLang="zh-CN" sz="2400" dirty="0" smtClean="0">
                <a:solidFill>
                  <a:prstClr val="black"/>
                </a:solidFill>
                <a:cs typeface="+mn-ea"/>
                <a:sym typeface="+mn-ea"/>
              </a:rPr>
              <a:t> 利用</a:t>
            </a:r>
            <a:r>
              <a:rPr lang="zh-CN" altLang="zh-CN" sz="2400" dirty="0">
                <a:solidFill>
                  <a:prstClr val="black"/>
                </a:solidFill>
                <a:cs typeface="+mn-ea"/>
                <a:sym typeface="+mn-ea"/>
              </a:rPr>
              <a:t>近红外技术根据油的品质进行分级、检测油脂制品的真假、测定不饱和度、识别试和反式等</a:t>
            </a:r>
            <a:r>
              <a:rPr lang="zh-CN" altLang="zh-CN" sz="2400" dirty="0" smtClean="0">
                <a:solidFill>
                  <a:prstClr val="black"/>
                </a:solidFill>
                <a:cs typeface="+mn-ea"/>
                <a:sym typeface="+mn-ea"/>
              </a:rPr>
              <a:t>。</a:t>
            </a:r>
            <a:endParaRPr lang="zh-CN" altLang="en-US" sz="2400" dirty="0">
              <a:solidFill>
                <a:prstClr val="black"/>
              </a:solidFill>
              <a:cs typeface="+mn-ea"/>
            </a:endParaRPr>
          </a:p>
        </p:txBody>
      </p:sp>
      <p:sp>
        <p:nvSpPr>
          <p:cNvPr id="13" name="椭圆 12"/>
          <p:cNvSpPr/>
          <p:nvPr/>
        </p:nvSpPr>
        <p:spPr>
          <a:xfrm>
            <a:off x="78243" y="5223526"/>
            <a:ext cx="886264" cy="886264"/>
          </a:xfrm>
          <a:prstGeom prst="ellipse">
            <a:avLst/>
          </a:prstGeom>
          <a:solidFill>
            <a:schemeClr val="accent2">
              <a:lumMod val="20000"/>
              <a:lumOff val="80000"/>
            </a:schemeClr>
          </a:solidFill>
          <a:ln w="28575">
            <a:solidFill>
              <a:srgbClr val="DC70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altLang="zh-CN" sz="2800" kern="0">
                <a:solidFill>
                  <a:sysClr val="windowText" lastClr="000000"/>
                </a:solidFill>
                <a:latin typeface="Arial Unicode MS" panose="020B0604020202020204" pitchFamily="34" charset="-122"/>
                <a:ea typeface="Arial Unicode MS" panose="020B0604020202020204" pitchFamily="34" charset="-122"/>
              </a:rPr>
              <a:t>04</a:t>
            </a:r>
          </a:p>
        </p:txBody>
      </p:sp>
      <p:sp>
        <p:nvSpPr>
          <p:cNvPr id="14" name="文本框 13"/>
          <p:cNvSpPr txBox="1"/>
          <p:nvPr/>
        </p:nvSpPr>
        <p:spPr>
          <a:xfrm>
            <a:off x="1354183" y="4811759"/>
            <a:ext cx="10663646" cy="1569660"/>
          </a:xfrm>
          <a:prstGeom prst="rect">
            <a:avLst/>
          </a:prstGeom>
          <a:noFill/>
        </p:spPr>
        <p:txBody>
          <a:bodyPr wrap="square" rtlCol="0">
            <a:spAutoFit/>
          </a:bodyPr>
          <a:lstStyle/>
          <a:p>
            <a:r>
              <a:rPr lang="zh-CN" altLang="zh-CN" sz="2400" dirty="0" smtClean="0">
                <a:solidFill>
                  <a:prstClr val="black"/>
                </a:solidFill>
                <a:cs typeface="+mn-ea"/>
                <a:sym typeface="+mn-ea"/>
              </a:rPr>
              <a:t>红外</a:t>
            </a:r>
            <a:r>
              <a:rPr lang="zh-CN" altLang="zh-CN" sz="2400" dirty="0">
                <a:solidFill>
                  <a:prstClr val="black"/>
                </a:solidFill>
                <a:cs typeface="+mn-ea"/>
                <a:sym typeface="+mn-ea"/>
              </a:rPr>
              <a:t>技术测定虫害发生期间水分的变化、虫类代谢物、蛋白质和甲壳质含量</a:t>
            </a:r>
            <a:r>
              <a:rPr lang="en-US" altLang="zh-CN" sz="2400" dirty="0">
                <a:solidFill>
                  <a:prstClr val="black"/>
                </a:solidFill>
                <a:cs typeface="+mn-ea"/>
                <a:sym typeface="+mn-ea"/>
              </a:rPr>
              <a:t>,</a:t>
            </a:r>
            <a:r>
              <a:rPr lang="zh-CN" altLang="zh-CN" sz="2400" dirty="0">
                <a:solidFill>
                  <a:prstClr val="black"/>
                </a:solidFill>
                <a:cs typeface="+mn-ea"/>
                <a:sym typeface="+mn-ea"/>
              </a:rPr>
              <a:t>来判断害发生的程度</a:t>
            </a:r>
            <a:r>
              <a:rPr lang="zh-CN" altLang="zh-CN" sz="2400" dirty="0" smtClean="0">
                <a:solidFill>
                  <a:prstClr val="black"/>
                </a:solidFill>
                <a:cs typeface="+mn-ea"/>
                <a:sym typeface="+mn-ea"/>
              </a:rPr>
              <a:t>。</a:t>
            </a:r>
            <a:r>
              <a:rPr lang="zh-CN" altLang="zh-CN" sz="2400" b="1" dirty="0" smtClean="0">
                <a:solidFill>
                  <a:srgbClr val="FF0000"/>
                </a:solidFill>
                <a:cs typeface="+mn-ea"/>
                <a:sym typeface="+mn-ea"/>
              </a:rPr>
              <a:t>粮食贮存</a:t>
            </a:r>
            <a:r>
              <a:rPr lang="zh-CN" altLang="zh-CN" sz="2400" dirty="0" smtClean="0">
                <a:solidFill>
                  <a:prstClr val="black"/>
                </a:solidFill>
                <a:cs typeface="+mn-ea"/>
                <a:sym typeface="+mn-ea"/>
              </a:rPr>
              <a:t>美国农业研究局</a:t>
            </a:r>
            <a:r>
              <a:rPr lang="zh-CN" altLang="zh-CN" sz="2400" dirty="0">
                <a:solidFill>
                  <a:prstClr val="black"/>
                </a:solidFill>
                <a:cs typeface="+mn-ea"/>
                <a:sym typeface="+mn-ea"/>
              </a:rPr>
              <a:t>已经研究出了一种近红外设备</a:t>
            </a:r>
            <a:r>
              <a:rPr lang="en-US" altLang="zh-CN" sz="2400" dirty="0">
                <a:solidFill>
                  <a:prstClr val="black"/>
                </a:solidFill>
                <a:cs typeface="+mn-ea"/>
                <a:sym typeface="+mn-ea"/>
              </a:rPr>
              <a:t>,</a:t>
            </a:r>
            <a:r>
              <a:rPr lang="zh-CN" altLang="zh-CN" sz="2400" dirty="0">
                <a:solidFill>
                  <a:prstClr val="black"/>
                </a:solidFill>
                <a:cs typeface="+mn-ea"/>
                <a:sym typeface="+mn-ea"/>
              </a:rPr>
              <a:t>能部分自动的将小麦样品逐粒运送到近红外检测池中扫描</a:t>
            </a:r>
            <a:r>
              <a:rPr lang="en-US" altLang="zh-CN" sz="2400" dirty="0">
                <a:solidFill>
                  <a:prstClr val="black"/>
                </a:solidFill>
                <a:cs typeface="+mn-ea"/>
                <a:sym typeface="+mn-ea"/>
              </a:rPr>
              <a:t>,</a:t>
            </a:r>
            <a:r>
              <a:rPr lang="zh-CN" altLang="zh-CN" sz="2400" dirty="0">
                <a:solidFill>
                  <a:prstClr val="black"/>
                </a:solidFill>
                <a:cs typeface="+mn-ea"/>
                <a:sym typeface="+mn-ea"/>
              </a:rPr>
              <a:t>根据麦粒吸收或反射的光谱来判断小麦虫害发生的程度</a:t>
            </a:r>
            <a:endParaRPr lang="zh-CN" altLang="en-US" sz="2400" dirty="0">
              <a:solidFill>
                <a:prstClr val="black"/>
              </a:solidFill>
              <a:cs typeface="+mn-ea"/>
            </a:endParaRPr>
          </a:p>
        </p:txBody>
      </p:sp>
      <p:pic>
        <p:nvPicPr>
          <p:cNvPr id="18434"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03597" y="2012290"/>
            <a:ext cx="12193588" cy="4571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8435" name="Picture 3"/>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0" y="3664284"/>
            <a:ext cx="12193588" cy="49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8436" name="Picture 4"/>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1588" y="4833935"/>
            <a:ext cx="12193588" cy="49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8" name="Picture 2"/>
          <p:cNvPicPr>
            <a:picLocks noChangeAspect="1" noChangeArrowheads="1"/>
          </p:cNvPicPr>
          <p:nvPr/>
        </p:nvPicPr>
        <p:blipFill>
          <a:blip r:embed="rId5">
            <a:extLst>
              <a:ext uri="{28A0092B-C50C-407E-A947-70E740481C1C}">
                <a14:useLocalDpi xmlns:a14="http://schemas.microsoft.com/office/drawing/2010/main" xmlns="" val="0"/>
              </a:ext>
            </a:extLst>
          </a:blip>
          <a:srcRect/>
          <a:stretch>
            <a:fillRect/>
          </a:stretch>
        </p:blipFill>
        <p:spPr bwMode="auto">
          <a:xfrm>
            <a:off x="0" y="0"/>
            <a:ext cx="8686800" cy="914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19" name="TextBox 18"/>
          <p:cNvSpPr txBox="1"/>
          <p:nvPr/>
        </p:nvSpPr>
        <p:spPr>
          <a:xfrm>
            <a:off x="116840" y="139700"/>
            <a:ext cx="11557635" cy="645160"/>
          </a:xfrm>
          <a:prstGeom prst="rect">
            <a:avLst/>
          </a:prstGeom>
          <a:noFill/>
        </p:spPr>
        <p:txBody>
          <a:bodyPr wrap="square" rtlCol="0">
            <a:spAutoFit/>
          </a:bodyPr>
          <a:lstStyle/>
          <a:p>
            <a:r>
              <a:rPr lang="zh-CN" altLang="en-US" sz="3600" b="1" dirty="0">
                <a:solidFill>
                  <a:prstClr val="black"/>
                </a:solidFill>
                <a:latin typeface="微软雅黑" panose="020B0503020204020204" pitchFamily="34" charset="-122"/>
                <a:ea typeface="微软雅黑" panose="020B0503020204020204" pitchFamily="34" charset="-122"/>
                <a:sym typeface="+mn-ea"/>
              </a:rPr>
              <a:t>一、</a:t>
            </a:r>
            <a:r>
              <a:rPr lang="zh-CN" altLang="zh-CN" sz="3600" b="1" dirty="0">
                <a:solidFill>
                  <a:prstClr val="black"/>
                </a:solidFill>
                <a:latin typeface="微软雅黑" panose="020B0503020204020204" pitchFamily="34" charset="-122"/>
                <a:ea typeface="微软雅黑" panose="020B0503020204020204" pitchFamily="34" charset="-122"/>
                <a:sym typeface="+mn-ea"/>
              </a:rPr>
              <a:t>近红外光谱分析技术</a:t>
            </a:r>
            <a:r>
              <a:rPr lang="zh-CN" altLang="zh-CN" sz="3600" b="1" dirty="0" smtClean="0">
                <a:solidFill>
                  <a:prstClr val="black"/>
                </a:solidFill>
                <a:latin typeface="微软雅黑" panose="020B0503020204020204" pitchFamily="34" charset="-122"/>
                <a:ea typeface="微软雅黑" panose="020B0503020204020204" pitchFamily="34" charset="-122"/>
                <a:sym typeface="+mn-ea"/>
              </a:rPr>
              <a:t>在</a:t>
            </a:r>
            <a:r>
              <a:rPr lang="zh-CN" altLang="en-US" sz="3600" b="1" dirty="0" smtClean="0">
                <a:solidFill>
                  <a:prstClr val="black"/>
                </a:solidFill>
                <a:latin typeface="微软雅黑" panose="020B0503020204020204" pitchFamily="34" charset="-122"/>
                <a:ea typeface="微软雅黑" panose="020B0503020204020204" pitchFamily="34" charset="-122"/>
                <a:sym typeface="+mn-ea"/>
              </a:rPr>
              <a:t>作</a:t>
            </a:r>
            <a:r>
              <a:rPr lang="zh-CN" altLang="zh-CN" sz="3600" b="1" dirty="0" smtClean="0">
                <a:solidFill>
                  <a:prstClr val="black"/>
                </a:solidFill>
                <a:latin typeface="微软雅黑" panose="020B0503020204020204" pitchFamily="34" charset="-122"/>
                <a:ea typeface="微软雅黑" panose="020B0503020204020204" pitchFamily="34" charset="-122"/>
                <a:sym typeface="+mn-ea"/>
              </a:rPr>
              <a:t>物</a:t>
            </a:r>
            <a:r>
              <a:rPr lang="zh-CN" altLang="zh-CN" sz="3600" b="1" dirty="0">
                <a:solidFill>
                  <a:prstClr val="black"/>
                </a:solidFill>
                <a:latin typeface="微软雅黑" panose="020B0503020204020204" pitchFamily="34" charset="-122"/>
                <a:ea typeface="微软雅黑" panose="020B0503020204020204" pitchFamily="34" charset="-122"/>
                <a:sym typeface="+mn-ea"/>
              </a:rPr>
              <a:t>品质中的</a:t>
            </a:r>
            <a:r>
              <a:rPr lang="zh-CN" altLang="zh-CN" sz="3600" b="1" dirty="0" smtClean="0">
                <a:solidFill>
                  <a:prstClr val="black"/>
                </a:solidFill>
                <a:latin typeface="微软雅黑" panose="020B0503020204020204" pitchFamily="34" charset="-122"/>
                <a:ea typeface="微软雅黑" panose="020B0503020204020204" pitchFamily="34" charset="-122"/>
                <a:sym typeface="+mn-ea"/>
              </a:rPr>
              <a:t>应用</a:t>
            </a:r>
            <a:endParaRPr lang="zh-CN" altLang="en-US" dirty="0">
              <a:solidFill>
                <a:prstClr val="black"/>
              </a:solidFill>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588" y="6327775"/>
            <a:ext cx="12193588" cy="530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6" name="图片 5"/>
          <p:cNvPicPr>
            <a:picLocks noChangeAspect="1"/>
          </p:cNvPicPr>
          <p:nvPr/>
        </p:nvPicPr>
        <p:blipFill>
          <a:blip r:embed="rId3"/>
          <a:stretch>
            <a:fillRect/>
          </a:stretch>
        </p:blipFill>
        <p:spPr>
          <a:xfrm rot="5400000">
            <a:off x="5830825" y="496825"/>
            <a:ext cx="530354" cy="12192000"/>
          </a:xfrm>
          <a:prstGeom prst="rect">
            <a:avLst/>
          </a:prstGeom>
        </p:spPr>
      </p:pic>
      <p:sp>
        <p:nvSpPr>
          <p:cNvPr id="7" name="椭圆 6"/>
          <p:cNvSpPr/>
          <p:nvPr/>
        </p:nvSpPr>
        <p:spPr>
          <a:xfrm>
            <a:off x="77656" y="965968"/>
            <a:ext cx="886264" cy="886264"/>
          </a:xfrm>
          <a:prstGeom prst="ellipse">
            <a:avLst/>
          </a:prstGeom>
          <a:solidFill>
            <a:schemeClr val="accent2">
              <a:lumMod val="20000"/>
              <a:lumOff val="80000"/>
            </a:schemeClr>
          </a:solidFill>
          <a:ln w="28575">
            <a:solidFill>
              <a:srgbClr val="DC70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kern="0">
              <a:solidFill>
                <a:sysClr val="windowText" lastClr="000000"/>
              </a:solidFill>
            </a:endParaRPr>
          </a:p>
        </p:txBody>
      </p:sp>
      <p:sp>
        <p:nvSpPr>
          <p:cNvPr id="8" name="MH_Other_4"/>
          <p:cNvSpPr txBox="1">
            <a:spLocks noChangeArrowheads="1"/>
          </p:cNvSpPr>
          <p:nvPr/>
        </p:nvSpPr>
        <p:spPr bwMode="auto">
          <a:xfrm>
            <a:off x="234" y="1205702"/>
            <a:ext cx="1042323"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latinLnBrk="1">
              <a:defRPr>
                <a:solidFill>
                  <a:schemeClr val="tx1"/>
                </a:solidFill>
                <a:latin typeface="Arial" panose="020B0604020202020204" pitchFamily="34" charset="0"/>
                <a:ea typeface="宋体" panose="02010600030101010101" pitchFamily="2" charset="-122"/>
              </a:defRPr>
            </a:lvl1pPr>
            <a:lvl2pPr marL="742950" indent="-285750" latinLnBrk="1">
              <a:defRPr>
                <a:solidFill>
                  <a:schemeClr val="tx1"/>
                </a:solidFill>
                <a:latin typeface="Arial" panose="020B0604020202020204" pitchFamily="34" charset="0"/>
                <a:ea typeface="宋体" panose="02010600030101010101" pitchFamily="2" charset="-122"/>
              </a:defRPr>
            </a:lvl2pPr>
            <a:lvl3pPr marL="1143000" indent="-228600" latinLnBrk="1">
              <a:defRPr>
                <a:solidFill>
                  <a:schemeClr val="tx1"/>
                </a:solidFill>
                <a:latin typeface="Arial" panose="020B0604020202020204" pitchFamily="34" charset="0"/>
                <a:ea typeface="宋体" panose="02010600030101010101" pitchFamily="2" charset="-122"/>
              </a:defRPr>
            </a:lvl3pPr>
            <a:lvl4pPr marL="1600200" indent="-228600" latinLnBrk="1">
              <a:defRPr>
                <a:solidFill>
                  <a:schemeClr val="tx1"/>
                </a:solidFill>
                <a:latin typeface="Arial" panose="020B0604020202020204" pitchFamily="34" charset="0"/>
                <a:ea typeface="宋体" panose="02010600030101010101" pitchFamily="2" charset="-122"/>
              </a:defRPr>
            </a:lvl4pPr>
            <a:lvl5pPr marL="2057400" indent="-228600" latinLnBrk="1">
              <a:defRPr>
                <a:solidFill>
                  <a:schemeClr val="tx1"/>
                </a:solidFill>
                <a:latin typeface="Arial" panose="020B0604020202020204" pitchFamily="34" charset="0"/>
                <a:ea typeface="宋体" panose="02010600030101010101" pitchFamily="2" charset="-122"/>
              </a:defRPr>
            </a:lvl5pPr>
            <a:lvl6pPr marL="2514600" indent="-228600" eaLnBrk="0" fontAlgn="base" latinLnBrk="1"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latinLnBrk="1"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latinLnBrk="1"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latinLnBrk="1"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defRPr/>
            </a:pPr>
            <a:r>
              <a:rPr lang="en-US" sz="3600" kern="0" dirty="0">
                <a:solidFill>
                  <a:srgbClr val="44546A"/>
                </a:solidFill>
                <a:ea typeface="幼圆" pitchFamily="49" charset="-122"/>
              </a:rPr>
              <a:t>01</a:t>
            </a:r>
          </a:p>
        </p:txBody>
      </p:sp>
      <p:sp>
        <p:nvSpPr>
          <p:cNvPr id="5" name="TextBox 4"/>
          <p:cNvSpPr txBox="1"/>
          <p:nvPr/>
        </p:nvSpPr>
        <p:spPr>
          <a:xfrm>
            <a:off x="1354183" y="1021843"/>
            <a:ext cx="9332686" cy="829945"/>
          </a:xfrm>
          <a:prstGeom prst="rect">
            <a:avLst/>
          </a:prstGeom>
          <a:noFill/>
        </p:spPr>
        <p:txBody>
          <a:bodyPr wrap="square" rtlCol="0">
            <a:spAutoFit/>
          </a:bodyPr>
          <a:lstStyle/>
          <a:p>
            <a:r>
              <a:rPr lang="zh-CN" altLang="zh-CN" sz="2400" dirty="0" smtClean="0">
                <a:solidFill>
                  <a:prstClr val="black"/>
                </a:solidFill>
                <a:cs typeface="+mn-ea"/>
                <a:sym typeface="+mn-ea"/>
              </a:rPr>
              <a:t>利用</a:t>
            </a:r>
            <a:r>
              <a:rPr lang="zh-CN" altLang="zh-CN" sz="2400" dirty="0">
                <a:solidFill>
                  <a:prstClr val="black"/>
                </a:solidFill>
                <a:cs typeface="+mn-ea"/>
                <a:sym typeface="+mn-ea"/>
              </a:rPr>
              <a:t>近红外技术对牛奶及乳制品进行了研究</a:t>
            </a:r>
            <a:r>
              <a:rPr lang="en-US" altLang="zh-CN" sz="2400" dirty="0" smtClean="0">
                <a:solidFill>
                  <a:prstClr val="black"/>
                </a:solidFill>
                <a:cs typeface="+mn-ea"/>
                <a:sym typeface="+mn-ea"/>
              </a:rPr>
              <a:t>,</a:t>
            </a:r>
            <a:r>
              <a:rPr lang="zh-CN" altLang="en-US" sz="2400" dirty="0" smtClean="0">
                <a:solidFill>
                  <a:prstClr val="black"/>
                </a:solidFill>
                <a:cs typeface="+mn-ea"/>
                <a:sym typeface="+mn-ea"/>
              </a:rPr>
              <a:t>研究者</a:t>
            </a:r>
            <a:r>
              <a:rPr lang="zh-CN" altLang="zh-CN" sz="2400" dirty="0" smtClean="0">
                <a:solidFill>
                  <a:prstClr val="black"/>
                </a:solidFill>
                <a:cs typeface="+mn-ea"/>
                <a:sym typeface="+mn-ea"/>
              </a:rPr>
              <a:t>建立</a:t>
            </a:r>
            <a:r>
              <a:rPr lang="zh-CN" altLang="zh-CN" sz="2400" dirty="0">
                <a:solidFill>
                  <a:prstClr val="black"/>
                </a:solidFill>
                <a:cs typeface="+mn-ea"/>
                <a:sym typeface="+mn-ea"/>
              </a:rPr>
              <a:t>了许多测定原料奶、奶粉、乳酪及黄油的</a:t>
            </a:r>
            <a:r>
              <a:rPr lang="zh-CN" altLang="zh-CN" sz="2400" dirty="0" smtClean="0">
                <a:solidFill>
                  <a:prstClr val="black"/>
                </a:solidFill>
                <a:cs typeface="+mn-ea"/>
                <a:sym typeface="+mn-ea"/>
              </a:rPr>
              <a:t>模型</a:t>
            </a:r>
            <a:r>
              <a:rPr lang="zh-CN" altLang="en-US" sz="2400" dirty="0" smtClean="0">
                <a:solidFill>
                  <a:prstClr val="black"/>
                </a:solidFill>
                <a:cs typeface="+mn-ea"/>
                <a:sym typeface="+mn-ea"/>
              </a:rPr>
              <a:t>，</a:t>
            </a:r>
            <a:r>
              <a:rPr lang="zh-CN" altLang="zh-CN" sz="2400" dirty="0" smtClean="0">
                <a:solidFill>
                  <a:prstClr val="black"/>
                </a:solidFill>
                <a:cs typeface="+mn-ea"/>
                <a:sym typeface="+mn-ea"/>
              </a:rPr>
              <a:t>预测</a:t>
            </a:r>
            <a:r>
              <a:rPr lang="zh-CN" altLang="zh-CN" sz="2400" dirty="0">
                <a:solidFill>
                  <a:prstClr val="black"/>
                </a:solidFill>
                <a:cs typeface="+mn-ea"/>
                <a:sym typeface="+mn-ea"/>
              </a:rPr>
              <a:t>结果已经相当精确</a:t>
            </a:r>
            <a:r>
              <a:rPr lang="en-US" altLang="zh-CN" sz="2400" dirty="0">
                <a:solidFill>
                  <a:prstClr val="black"/>
                </a:solidFill>
                <a:cs typeface="+mn-ea"/>
                <a:sym typeface="+mn-ea"/>
              </a:rPr>
              <a:t>(</a:t>
            </a:r>
            <a:r>
              <a:rPr lang="en-US" altLang="zh-CN" sz="2400" dirty="0" smtClean="0">
                <a:solidFill>
                  <a:prstClr val="black"/>
                </a:solidFill>
                <a:cs typeface="+mn-ea"/>
                <a:sym typeface="+mn-ea"/>
              </a:rPr>
              <a:t>R&gt;0.9</a:t>
            </a:r>
            <a:r>
              <a:rPr lang="zh-CN" altLang="en-US" sz="2400" dirty="0" smtClean="0">
                <a:solidFill>
                  <a:prstClr val="black"/>
                </a:solidFill>
                <a:cs typeface="+mn-ea"/>
                <a:sym typeface="+mn-ea"/>
              </a:rPr>
              <a:t>）</a:t>
            </a:r>
            <a:endParaRPr lang="zh-CN" altLang="en-US" sz="2400" dirty="0">
              <a:solidFill>
                <a:prstClr val="black"/>
              </a:solidFill>
              <a:cs typeface="+mn-ea"/>
            </a:endParaRPr>
          </a:p>
        </p:txBody>
      </p:sp>
      <p:sp>
        <p:nvSpPr>
          <p:cNvPr id="10" name="椭圆 9"/>
          <p:cNvSpPr/>
          <p:nvPr/>
        </p:nvSpPr>
        <p:spPr>
          <a:xfrm>
            <a:off x="77608" y="2210451"/>
            <a:ext cx="886264" cy="886264"/>
          </a:xfrm>
          <a:prstGeom prst="ellipse">
            <a:avLst/>
          </a:prstGeom>
          <a:solidFill>
            <a:schemeClr val="accent2">
              <a:lumMod val="20000"/>
              <a:lumOff val="80000"/>
            </a:schemeClr>
          </a:solidFill>
          <a:ln w="28575">
            <a:solidFill>
              <a:srgbClr val="DC70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kern="0">
              <a:solidFill>
                <a:sysClr val="windowText" lastClr="000000"/>
              </a:solidFill>
            </a:endParaRPr>
          </a:p>
        </p:txBody>
      </p:sp>
      <p:sp>
        <p:nvSpPr>
          <p:cNvPr id="11" name="MH_Other_4"/>
          <p:cNvSpPr txBox="1">
            <a:spLocks noChangeArrowheads="1"/>
          </p:cNvSpPr>
          <p:nvPr/>
        </p:nvSpPr>
        <p:spPr bwMode="auto">
          <a:xfrm>
            <a:off x="39556" y="2330170"/>
            <a:ext cx="1042323"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latinLnBrk="1">
              <a:defRPr>
                <a:solidFill>
                  <a:schemeClr val="tx1"/>
                </a:solidFill>
                <a:latin typeface="Arial" panose="020B0604020202020204" pitchFamily="34" charset="0"/>
                <a:ea typeface="宋体" panose="02010600030101010101" pitchFamily="2" charset="-122"/>
              </a:defRPr>
            </a:lvl1pPr>
            <a:lvl2pPr marL="742950" indent="-285750" latinLnBrk="1">
              <a:defRPr>
                <a:solidFill>
                  <a:schemeClr val="tx1"/>
                </a:solidFill>
                <a:latin typeface="Arial" panose="020B0604020202020204" pitchFamily="34" charset="0"/>
                <a:ea typeface="宋体" panose="02010600030101010101" pitchFamily="2" charset="-122"/>
              </a:defRPr>
            </a:lvl2pPr>
            <a:lvl3pPr marL="1143000" indent="-228600" latinLnBrk="1">
              <a:defRPr>
                <a:solidFill>
                  <a:schemeClr val="tx1"/>
                </a:solidFill>
                <a:latin typeface="Arial" panose="020B0604020202020204" pitchFamily="34" charset="0"/>
                <a:ea typeface="宋体" panose="02010600030101010101" pitchFamily="2" charset="-122"/>
              </a:defRPr>
            </a:lvl3pPr>
            <a:lvl4pPr marL="1600200" indent="-228600" latinLnBrk="1">
              <a:defRPr>
                <a:solidFill>
                  <a:schemeClr val="tx1"/>
                </a:solidFill>
                <a:latin typeface="Arial" panose="020B0604020202020204" pitchFamily="34" charset="0"/>
                <a:ea typeface="宋体" panose="02010600030101010101" pitchFamily="2" charset="-122"/>
              </a:defRPr>
            </a:lvl4pPr>
            <a:lvl5pPr marL="2057400" indent="-228600" latinLnBrk="1">
              <a:defRPr>
                <a:solidFill>
                  <a:schemeClr val="tx1"/>
                </a:solidFill>
                <a:latin typeface="Arial" panose="020B0604020202020204" pitchFamily="34" charset="0"/>
                <a:ea typeface="宋体" panose="02010600030101010101" pitchFamily="2" charset="-122"/>
              </a:defRPr>
            </a:lvl5pPr>
            <a:lvl6pPr marL="2514600" indent="-228600" eaLnBrk="0" fontAlgn="base" latinLnBrk="1"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latinLnBrk="1"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latinLnBrk="1"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latinLnBrk="1"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defRPr/>
            </a:pPr>
            <a:r>
              <a:rPr lang="en-US" sz="3600" kern="0" dirty="0">
                <a:solidFill>
                  <a:srgbClr val="44546A"/>
                </a:solidFill>
                <a:ea typeface="幼圆" pitchFamily="49" charset="-122"/>
              </a:rPr>
              <a:t>02</a:t>
            </a:r>
          </a:p>
        </p:txBody>
      </p:sp>
      <p:sp>
        <p:nvSpPr>
          <p:cNvPr id="9" name="TextBox 8"/>
          <p:cNvSpPr txBox="1"/>
          <p:nvPr/>
        </p:nvSpPr>
        <p:spPr>
          <a:xfrm>
            <a:off x="1355090" y="1972310"/>
            <a:ext cx="9331960" cy="1568450"/>
          </a:xfrm>
          <a:prstGeom prst="rect">
            <a:avLst/>
          </a:prstGeom>
          <a:noFill/>
        </p:spPr>
        <p:txBody>
          <a:bodyPr wrap="square" rtlCol="0">
            <a:spAutoFit/>
          </a:bodyPr>
          <a:lstStyle/>
          <a:p>
            <a:pPr>
              <a:buFont typeface="Wingdings" panose="05000000000000000000" pitchFamily="2" charset="2"/>
              <a:buNone/>
            </a:pPr>
            <a:r>
              <a:rPr lang="zh-CN" altLang="zh-CN" sz="2400" dirty="0" smtClean="0">
                <a:solidFill>
                  <a:prstClr val="black"/>
                </a:solidFill>
                <a:cs typeface="+mn-ea"/>
                <a:sym typeface="+mn-ea"/>
              </a:rPr>
              <a:t>利用</a:t>
            </a:r>
            <a:r>
              <a:rPr lang="zh-CN" altLang="zh-CN" sz="2400" dirty="0">
                <a:solidFill>
                  <a:prstClr val="black"/>
                </a:solidFill>
                <a:cs typeface="+mn-ea"/>
                <a:sym typeface="+mn-ea"/>
              </a:rPr>
              <a:t>近红外技术对牛奶中体细胞数目</a:t>
            </a:r>
            <a:r>
              <a:rPr lang="en-US" altLang="zh-CN" sz="2400" dirty="0">
                <a:solidFill>
                  <a:prstClr val="black"/>
                </a:solidFill>
                <a:cs typeface="+mn-ea"/>
                <a:sym typeface="+mn-ea"/>
              </a:rPr>
              <a:t>( somatic cell </a:t>
            </a:r>
            <a:r>
              <a:rPr lang="en-US" altLang="zh-CN" sz="2400" dirty="0" err="1">
                <a:solidFill>
                  <a:prstClr val="black"/>
                </a:solidFill>
                <a:cs typeface="+mn-ea"/>
                <a:sym typeface="+mn-ea"/>
              </a:rPr>
              <a:t>count,SCC</a:t>
            </a:r>
            <a:r>
              <a:rPr lang="en-US" altLang="zh-CN" sz="2400" dirty="0">
                <a:solidFill>
                  <a:prstClr val="black"/>
                </a:solidFill>
                <a:cs typeface="+mn-ea"/>
                <a:sym typeface="+mn-ea"/>
              </a:rPr>
              <a:t>)</a:t>
            </a:r>
            <a:r>
              <a:rPr lang="zh-CN" altLang="zh-CN" sz="2400" dirty="0">
                <a:solidFill>
                  <a:prstClr val="black"/>
                </a:solidFill>
                <a:cs typeface="+mn-ea"/>
                <a:sym typeface="+mn-ea"/>
              </a:rPr>
              <a:t>进行测定</a:t>
            </a:r>
            <a:r>
              <a:rPr lang="en-US" altLang="zh-CN" sz="2400" dirty="0">
                <a:solidFill>
                  <a:prstClr val="black"/>
                </a:solidFill>
                <a:cs typeface="+mn-ea"/>
                <a:sym typeface="+mn-ea"/>
              </a:rPr>
              <a:t>,</a:t>
            </a:r>
            <a:r>
              <a:rPr lang="zh-CN" altLang="zh-CN" sz="2400" dirty="0">
                <a:solidFill>
                  <a:prstClr val="black"/>
                </a:solidFill>
                <a:cs typeface="+mn-ea"/>
                <a:sym typeface="+mn-ea"/>
              </a:rPr>
              <a:t>可以用来诊断奶牛是否患有乳腺炎</a:t>
            </a:r>
            <a:r>
              <a:rPr lang="en-US" altLang="zh-CN" sz="2400" dirty="0">
                <a:solidFill>
                  <a:prstClr val="black"/>
                </a:solidFill>
                <a:cs typeface="+mn-ea"/>
                <a:sym typeface="+mn-ea"/>
              </a:rPr>
              <a:t>,</a:t>
            </a:r>
            <a:r>
              <a:rPr lang="zh-CN" altLang="zh-CN" sz="2400" dirty="0">
                <a:solidFill>
                  <a:prstClr val="black"/>
                </a:solidFill>
                <a:cs typeface="+mn-ea"/>
                <a:sym typeface="+mn-ea"/>
              </a:rPr>
              <a:t>从而在发病的早期对奶牛进行治疗</a:t>
            </a:r>
            <a:r>
              <a:rPr lang="en-US" altLang="zh-CN" sz="2400" dirty="0">
                <a:solidFill>
                  <a:prstClr val="black"/>
                </a:solidFill>
                <a:cs typeface="+mn-ea"/>
                <a:sym typeface="+mn-ea"/>
              </a:rPr>
              <a:t>,</a:t>
            </a:r>
            <a:r>
              <a:rPr lang="zh-CN" altLang="zh-CN" sz="2400" dirty="0">
                <a:solidFill>
                  <a:prstClr val="black"/>
                </a:solidFill>
                <a:cs typeface="+mn-ea"/>
                <a:sym typeface="+mn-ea"/>
              </a:rPr>
              <a:t>使奶农的损失到</a:t>
            </a:r>
            <a:r>
              <a:rPr lang="zh-CN" altLang="zh-CN" sz="2400" dirty="0" smtClean="0">
                <a:solidFill>
                  <a:prstClr val="black"/>
                </a:solidFill>
                <a:cs typeface="+mn-ea"/>
                <a:sym typeface="+mn-ea"/>
              </a:rPr>
              <a:t>最低</a:t>
            </a:r>
            <a:r>
              <a:rPr lang="zh-CN" altLang="en-US" sz="2400" dirty="0" smtClean="0">
                <a:solidFill>
                  <a:prstClr val="black"/>
                </a:solidFill>
                <a:cs typeface="+mn-ea"/>
                <a:sym typeface="+mn-ea"/>
              </a:rPr>
              <a:t>，是</a:t>
            </a:r>
            <a:r>
              <a:rPr lang="zh-CN" altLang="zh-CN" sz="2400" dirty="0" smtClean="0">
                <a:solidFill>
                  <a:prstClr val="black"/>
                </a:solidFill>
                <a:cs typeface="+mn-ea"/>
                <a:sym typeface="+mn-ea"/>
              </a:rPr>
              <a:t>奶牛厂的科学化管理的重要参数</a:t>
            </a:r>
            <a:endParaRPr lang="en-US" altLang="zh-CN" sz="2400" dirty="0" smtClean="0">
              <a:solidFill>
                <a:prstClr val="black"/>
              </a:solidFill>
              <a:cs typeface="+mn-ea"/>
            </a:endParaRPr>
          </a:p>
          <a:p>
            <a:pPr>
              <a:buFont typeface="Wingdings" panose="05000000000000000000" pitchFamily="2" charset="2"/>
              <a:buChar char="u"/>
            </a:pPr>
            <a:endParaRPr lang="zh-CN" altLang="en-US" sz="2400" dirty="0">
              <a:solidFill>
                <a:prstClr val="black"/>
              </a:solidFill>
              <a:cs typeface="+mn-ea"/>
            </a:endParaRPr>
          </a:p>
        </p:txBody>
      </p:sp>
      <p:sp>
        <p:nvSpPr>
          <p:cNvPr id="3" name="椭圆 2"/>
          <p:cNvSpPr/>
          <p:nvPr/>
        </p:nvSpPr>
        <p:spPr>
          <a:xfrm>
            <a:off x="78243" y="3540776"/>
            <a:ext cx="886264" cy="886264"/>
          </a:xfrm>
          <a:prstGeom prst="ellipse">
            <a:avLst/>
          </a:prstGeom>
          <a:solidFill>
            <a:schemeClr val="accent2">
              <a:lumMod val="20000"/>
              <a:lumOff val="80000"/>
            </a:schemeClr>
          </a:solidFill>
          <a:ln w="28575">
            <a:solidFill>
              <a:srgbClr val="DC70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defRPr/>
            </a:pPr>
            <a:r>
              <a:rPr lang="en-US" sz="2800" kern="0" dirty="0">
                <a:solidFill>
                  <a:srgbClr val="44546A"/>
                </a:solidFill>
                <a:latin typeface="Arial" panose="020B0604020202020204" pitchFamily="34" charset="0"/>
                <a:ea typeface="幼圆" pitchFamily="49" charset="-122"/>
                <a:sym typeface="+mn-ea"/>
              </a:rPr>
              <a:t>03</a:t>
            </a:r>
            <a:endParaRPr lang="en-US" altLang="zh-CN" sz="2800" kern="0">
              <a:solidFill>
                <a:sysClr val="windowText" lastClr="000000"/>
              </a:solidFill>
              <a:latin typeface="Arial Unicode MS" panose="020B0604020202020204" pitchFamily="34" charset="-122"/>
              <a:ea typeface="Arial Unicode MS" panose="020B0604020202020204" pitchFamily="34" charset="-122"/>
            </a:endParaRPr>
          </a:p>
        </p:txBody>
      </p:sp>
      <p:sp>
        <p:nvSpPr>
          <p:cNvPr id="4" name="文本框 3"/>
          <p:cNvSpPr txBox="1"/>
          <p:nvPr/>
        </p:nvSpPr>
        <p:spPr>
          <a:xfrm>
            <a:off x="1483995" y="3444240"/>
            <a:ext cx="9203055" cy="1198880"/>
          </a:xfrm>
          <a:prstGeom prst="rect">
            <a:avLst/>
          </a:prstGeom>
          <a:noFill/>
        </p:spPr>
        <p:txBody>
          <a:bodyPr wrap="square" rtlCol="0">
            <a:spAutoFit/>
          </a:bodyPr>
          <a:lstStyle/>
          <a:p>
            <a:pPr>
              <a:buFont typeface="Wingdings" panose="05000000000000000000" pitchFamily="2" charset="2"/>
              <a:buNone/>
            </a:pPr>
            <a:r>
              <a:rPr lang="zh-CN" altLang="en-US" sz="2400" dirty="0" smtClean="0">
                <a:solidFill>
                  <a:prstClr val="black"/>
                </a:solidFill>
                <a:cs typeface="+mn-ea"/>
                <a:sym typeface="+mn-ea"/>
              </a:rPr>
              <a:t>缺点：</a:t>
            </a:r>
            <a:r>
              <a:rPr lang="zh-CN" altLang="zh-CN" sz="2400" dirty="0" smtClean="0">
                <a:solidFill>
                  <a:prstClr val="black"/>
                </a:solidFill>
                <a:cs typeface="+mn-ea"/>
                <a:sym typeface="+mn-ea"/>
              </a:rPr>
              <a:t>牛奶作为散射体</a:t>
            </a:r>
            <a:r>
              <a:rPr lang="en-US" altLang="zh-CN" sz="2400" dirty="0" smtClean="0">
                <a:solidFill>
                  <a:prstClr val="black"/>
                </a:solidFill>
                <a:cs typeface="+mn-ea"/>
                <a:sym typeface="+mn-ea"/>
              </a:rPr>
              <a:t>,</a:t>
            </a:r>
            <a:r>
              <a:rPr lang="zh-CN" altLang="zh-CN" sz="2400" dirty="0" smtClean="0">
                <a:solidFill>
                  <a:prstClr val="black"/>
                </a:solidFill>
                <a:cs typeface="+mn-ea"/>
                <a:sym typeface="+mn-ea"/>
              </a:rPr>
              <a:t>光谱信息的取比较复</a:t>
            </a:r>
            <a:r>
              <a:rPr lang="en-US" altLang="zh-CN" sz="2400" dirty="0" smtClean="0">
                <a:solidFill>
                  <a:prstClr val="black"/>
                </a:solidFill>
                <a:cs typeface="+mn-ea"/>
                <a:sym typeface="+mn-ea"/>
              </a:rPr>
              <a:t>,</a:t>
            </a:r>
            <a:r>
              <a:rPr lang="zh-CN" altLang="zh-CN" sz="2400" dirty="0" smtClean="0">
                <a:solidFill>
                  <a:prstClr val="black"/>
                </a:solidFill>
                <a:cs typeface="+mn-ea"/>
                <a:sym typeface="+mn-ea"/>
              </a:rPr>
              <a:t>年中的水分含量、期防球大小</a:t>
            </a:r>
            <a:r>
              <a:rPr lang="en-US" altLang="zh-CN" sz="2400" dirty="0" smtClean="0">
                <a:solidFill>
                  <a:prstClr val="black"/>
                </a:solidFill>
                <a:cs typeface="+mn-ea"/>
                <a:sym typeface="+mn-ea"/>
              </a:rPr>
              <a:t>,</a:t>
            </a:r>
            <a:r>
              <a:rPr lang="zh-CN" altLang="zh-CN" sz="2400" dirty="0" smtClean="0">
                <a:solidFill>
                  <a:prstClr val="black"/>
                </a:solidFill>
                <a:cs typeface="+mn-ea"/>
                <a:sym typeface="+mn-ea"/>
              </a:rPr>
              <a:t>温度、是经过前处理、其他化学成分等均会对红外的产生个</a:t>
            </a:r>
            <a:r>
              <a:rPr lang="zh-CN" altLang="en-US" sz="2400" dirty="0" smtClean="0">
                <a:solidFill>
                  <a:prstClr val="black"/>
                </a:solidFill>
                <a:cs typeface="+mn-ea"/>
                <a:sym typeface="+mn-ea"/>
              </a:rPr>
              <a:t>不利影响</a:t>
            </a:r>
            <a:endParaRPr lang="zh-CN" altLang="en-US" sz="2400">
              <a:solidFill>
                <a:prstClr val="black"/>
              </a:solidFill>
              <a:cs typeface="+mn-ea"/>
            </a:endParaRPr>
          </a:p>
        </p:txBody>
      </p:sp>
      <p:sp>
        <p:nvSpPr>
          <p:cNvPr id="13" name="椭圆 12"/>
          <p:cNvSpPr/>
          <p:nvPr/>
        </p:nvSpPr>
        <p:spPr>
          <a:xfrm>
            <a:off x="116978" y="4934601"/>
            <a:ext cx="886264" cy="886264"/>
          </a:xfrm>
          <a:prstGeom prst="ellipse">
            <a:avLst/>
          </a:prstGeom>
          <a:solidFill>
            <a:schemeClr val="accent2">
              <a:lumMod val="20000"/>
              <a:lumOff val="80000"/>
            </a:schemeClr>
          </a:solidFill>
          <a:ln w="28575">
            <a:solidFill>
              <a:srgbClr val="DC70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altLang="zh-CN" sz="2800" kern="0">
                <a:solidFill>
                  <a:sysClr val="windowText" lastClr="000000"/>
                </a:solidFill>
                <a:latin typeface="Arial Unicode MS" panose="020B0604020202020204" pitchFamily="34" charset="-122"/>
                <a:ea typeface="Arial Unicode MS" panose="020B0604020202020204" pitchFamily="34" charset="-122"/>
              </a:rPr>
              <a:t>04</a:t>
            </a:r>
          </a:p>
        </p:txBody>
      </p:sp>
      <p:sp>
        <p:nvSpPr>
          <p:cNvPr id="14" name="文本框 13"/>
          <p:cNvSpPr txBox="1"/>
          <p:nvPr/>
        </p:nvSpPr>
        <p:spPr>
          <a:xfrm>
            <a:off x="1415415" y="4770120"/>
            <a:ext cx="8959850" cy="2183765"/>
          </a:xfrm>
          <a:prstGeom prst="rect">
            <a:avLst/>
          </a:prstGeom>
          <a:noFill/>
        </p:spPr>
        <p:txBody>
          <a:bodyPr wrap="square" rtlCol="0">
            <a:spAutoFit/>
          </a:bodyPr>
          <a:lstStyle/>
          <a:p>
            <a:pPr>
              <a:buFont typeface="Wingdings" panose="05000000000000000000" pitchFamily="2" charset="2"/>
              <a:buNone/>
            </a:pPr>
            <a:r>
              <a:rPr lang="zh-CN" altLang="en-US" sz="2400" dirty="0" smtClean="0">
                <a:solidFill>
                  <a:prstClr val="black"/>
                </a:solidFill>
                <a:cs typeface="+mn-ea"/>
                <a:sym typeface="+mn-ea"/>
              </a:rPr>
              <a:t>现状：</a:t>
            </a:r>
            <a:r>
              <a:rPr lang="zh-CN" altLang="zh-CN" sz="2400" dirty="0" smtClean="0">
                <a:solidFill>
                  <a:prstClr val="black"/>
                </a:solidFill>
                <a:cs typeface="+mn-ea"/>
                <a:sym typeface="+mn-ea"/>
              </a:rPr>
              <a:t>国外有的公司已应用该技术开发了乳品综合成分指标分析光仪。利用近红外技术对牛奶主成分的研究</a:t>
            </a:r>
            <a:r>
              <a:rPr lang="en-US" altLang="zh-CN" sz="2400" dirty="0" smtClean="0">
                <a:solidFill>
                  <a:prstClr val="black"/>
                </a:solidFill>
                <a:cs typeface="+mn-ea"/>
                <a:sym typeface="+mn-ea"/>
              </a:rPr>
              <a:t>,</a:t>
            </a:r>
            <a:r>
              <a:rPr lang="zh-CN" altLang="zh-CN" sz="2400" dirty="0" smtClean="0">
                <a:solidFill>
                  <a:prstClr val="black"/>
                </a:solidFill>
                <a:cs typeface="+mn-ea"/>
                <a:sym typeface="+mn-ea"/>
              </a:rPr>
              <a:t>可以方便、快捷、无破坏的实现牛奶收购的按质论价、打击掺假、为牛奶质量的标准化提供</a:t>
            </a:r>
            <a:r>
              <a:rPr lang="zh-CN" altLang="en-US" sz="2400" dirty="0" smtClean="0">
                <a:solidFill>
                  <a:prstClr val="black"/>
                </a:solidFill>
                <a:cs typeface="+mn-ea"/>
                <a:sym typeface="+mn-ea"/>
              </a:rPr>
              <a:t>依据。</a:t>
            </a:r>
            <a:endParaRPr lang="zh-CN" altLang="zh-CN" sz="2000" b="1" dirty="0" smtClean="0">
              <a:solidFill>
                <a:prstClr val="black"/>
              </a:solidFill>
              <a:latin typeface="微软雅黑" panose="020B0503020204020204" pitchFamily="34" charset="-122"/>
              <a:ea typeface="微软雅黑" panose="020B0503020204020204" pitchFamily="34" charset="-122"/>
            </a:endParaRPr>
          </a:p>
          <a:p>
            <a:pPr>
              <a:buFont typeface="Wingdings" panose="05000000000000000000" pitchFamily="2" charset="2"/>
              <a:buChar char="u"/>
            </a:pPr>
            <a:endParaRPr lang="en-US" altLang="zh-CN" sz="2000" b="1" dirty="0" smtClean="0">
              <a:solidFill>
                <a:prstClr val="black"/>
              </a:solidFill>
              <a:latin typeface="微软雅黑" panose="020B0503020204020204" pitchFamily="34" charset="-122"/>
              <a:ea typeface="微软雅黑" panose="020B0503020204020204" pitchFamily="34" charset="-122"/>
            </a:endParaRPr>
          </a:p>
          <a:p>
            <a:pPr>
              <a:buFont typeface="Wingdings" panose="05000000000000000000" pitchFamily="2" charset="2"/>
              <a:buChar char="u"/>
            </a:pPr>
            <a:endParaRPr lang="zh-CN" altLang="en-US" sz="2000">
              <a:solidFill>
                <a:prstClr val="black"/>
              </a:solidFill>
              <a:cs typeface="+mn-ea"/>
            </a:endParaRPr>
          </a:p>
        </p:txBody>
      </p:sp>
      <p:pic>
        <p:nvPicPr>
          <p:cNvPr id="15" name="Picture 2"/>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0" y="0"/>
            <a:ext cx="8686800" cy="914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16" name="TextBox 15"/>
          <p:cNvSpPr txBox="1"/>
          <p:nvPr/>
        </p:nvSpPr>
        <p:spPr>
          <a:xfrm>
            <a:off x="116840" y="139700"/>
            <a:ext cx="11557635" cy="645160"/>
          </a:xfrm>
          <a:prstGeom prst="rect">
            <a:avLst/>
          </a:prstGeom>
          <a:noFill/>
        </p:spPr>
        <p:txBody>
          <a:bodyPr wrap="square" rtlCol="0">
            <a:spAutoFit/>
          </a:bodyPr>
          <a:lstStyle/>
          <a:p>
            <a:r>
              <a:rPr lang="zh-CN" altLang="zh-CN" sz="3600" b="1" dirty="0">
                <a:solidFill>
                  <a:prstClr val="black"/>
                </a:solidFill>
                <a:latin typeface="微软雅黑" panose="020B0503020204020204" pitchFamily="34" charset="-122"/>
                <a:ea typeface="微软雅黑" panose="020B0503020204020204" pitchFamily="34" charset="-122"/>
                <a:sym typeface="+mn-ea"/>
              </a:rPr>
              <a:t>二、近红外光谱分析技术在牛奶和乳制品中的</a:t>
            </a:r>
            <a:r>
              <a:rPr lang="zh-CN" altLang="zh-CN" sz="3600" b="1" dirty="0" smtClean="0">
                <a:solidFill>
                  <a:prstClr val="black"/>
                </a:solidFill>
                <a:latin typeface="微软雅黑" panose="020B0503020204020204" pitchFamily="34" charset="-122"/>
                <a:ea typeface="微软雅黑" panose="020B0503020204020204" pitchFamily="34" charset="-122"/>
                <a:sym typeface="+mn-ea"/>
              </a:rPr>
              <a:t>应用</a:t>
            </a:r>
            <a:endParaRPr lang="zh-CN" altLang="en-US" sz="3600" b="1" dirty="0">
              <a:solidFill>
                <a:prstClr val="black"/>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0" y="6327775"/>
            <a:ext cx="12193588" cy="530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文本框 3"/>
          <p:cNvSpPr txBox="1"/>
          <p:nvPr/>
        </p:nvSpPr>
        <p:spPr>
          <a:xfrm>
            <a:off x="278765" y="1383030"/>
            <a:ext cx="7308215" cy="4893647"/>
          </a:xfrm>
          <a:prstGeom prst="rect">
            <a:avLst/>
          </a:prstGeom>
          <a:noFill/>
        </p:spPr>
        <p:txBody>
          <a:bodyPr wrap="square" rtlCol="0">
            <a:spAutoFit/>
          </a:bodyPr>
          <a:lstStyle/>
          <a:p>
            <a:pPr marL="342900" indent="-342900">
              <a:buFont typeface="Wingdings" panose="05000000000000000000" pitchFamily="2" charset="2"/>
              <a:buChar char="u"/>
            </a:pPr>
            <a:r>
              <a:rPr lang="zh-CN" altLang="zh-CN" sz="2400" dirty="0" smtClean="0">
                <a:solidFill>
                  <a:prstClr val="black"/>
                </a:solidFill>
                <a:cs typeface="+mn-ea"/>
                <a:sym typeface="+mn-ea"/>
              </a:rPr>
              <a:t>近红外光</a:t>
            </a:r>
            <a:r>
              <a:rPr lang="zh-CN" altLang="en-US" sz="2400" dirty="0" smtClean="0">
                <a:solidFill>
                  <a:prstClr val="black"/>
                </a:solidFill>
                <a:cs typeface="+mn-ea"/>
                <a:sym typeface="+mn-ea"/>
              </a:rPr>
              <a:t>谱</a:t>
            </a:r>
            <a:r>
              <a:rPr lang="zh-CN" altLang="zh-CN" sz="2400" dirty="0" smtClean="0">
                <a:solidFill>
                  <a:prstClr val="black"/>
                </a:solidFill>
                <a:cs typeface="+mn-ea"/>
                <a:sym typeface="+mn-ea"/>
              </a:rPr>
              <a:t>技术借助于光导纤维非破坏性检测成熟水果和蔬菜中的</a:t>
            </a:r>
            <a:r>
              <a:rPr lang="zh-CN" altLang="zh-CN" sz="2400" dirty="0">
                <a:solidFill>
                  <a:prstClr val="black"/>
                </a:solidFill>
                <a:cs typeface="+mn-ea"/>
                <a:sym typeface="+mn-ea"/>
              </a:rPr>
              <a:t>甜度、酸度、硬度</a:t>
            </a:r>
            <a:r>
              <a:rPr lang="en-US" altLang="zh-CN" sz="2400" dirty="0" smtClean="0">
                <a:solidFill>
                  <a:prstClr val="black"/>
                </a:solidFill>
                <a:cs typeface="+mn-ea"/>
                <a:sym typeface="+mn-ea"/>
              </a:rPr>
              <a:t>,</a:t>
            </a:r>
            <a:r>
              <a:rPr lang="zh-CN" altLang="en-US" sz="2400" dirty="0" smtClean="0">
                <a:solidFill>
                  <a:prstClr val="black"/>
                </a:solidFill>
                <a:cs typeface="+mn-ea"/>
                <a:sym typeface="+mn-ea"/>
              </a:rPr>
              <a:t>还</a:t>
            </a:r>
            <a:r>
              <a:rPr lang="zh-CN" altLang="zh-CN" sz="2400" dirty="0" smtClean="0">
                <a:solidFill>
                  <a:prstClr val="black"/>
                </a:solidFill>
                <a:cs typeface="+mn-ea"/>
                <a:sym typeface="+mn-ea"/>
              </a:rPr>
              <a:t>可以在植物生长过程中无损检测其化学成分</a:t>
            </a:r>
            <a:r>
              <a:rPr lang="en-US" altLang="zh-CN" sz="2400" dirty="0" smtClean="0">
                <a:solidFill>
                  <a:prstClr val="black"/>
                </a:solidFill>
                <a:cs typeface="+mn-ea"/>
                <a:sym typeface="+mn-ea"/>
              </a:rPr>
              <a:t>,</a:t>
            </a:r>
            <a:r>
              <a:rPr lang="zh-CN" altLang="zh-CN" sz="2400" dirty="0" smtClean="0">
                <a:solidFill>
                  <a:prstClr val="black"/>
                </a:solidFill>
                <a:cs typeface="+mn-ea"/>
                <a:sym typeface="+mn-ea"/>
              </a:rPr>
              <a:t>从而确定植物在生长循环过程中是否从土壤中得到合适的营养成分</a:t>
            </a:r>
            <a:r>
              <a:rPr lang="zh-CN" altLang="en-US" sz="2400" dirty="0" smtClean="0">
                <a:solidFill>
                  <a:prstClr val="black"/>
                </a:solidFill>
                <a:cs typeface="+mn-ea"/>
                <a:sym typeface="+mn-ea"/>
              </a:rPr>
              <a:t>，</a:t>
            </a:r>
            <a:r>
              <a:rPr lang="zh-CN" altLang="zh-CN" sz="2400" dirty="0" smtClean="0">
                <a:solidFill>
                  <a:prstClr val="black"/>
                </a:solidFill>
                <a:cs typeface="+mn-ea"/>
                <a:sym typeface="+mn-ea"/>
              </a:rPr>
              <a:t>确定适合植物栽培的土壤类类型。</a:t>
            </a:r>
            <a:r>
              <a:rPr lang="zh-CN" altLang="zh-CN" sz="2400" dirty="0">
                <a:solidFill>
                  <a:prstClr val="black"/>
                </a:solidFill>
                <a:cs typeface="+mn-ea"/>
                <a:sym typeface="+mn-ea"/>
              </a:rPr>
              <a:t>同时获得多个品质参数</a:t>
            </a:r>
            <a:r>
              <a:rPr lang="en-US" altLang="zh-CN" sz="2400" dirty="0">
                <a:solidFill>
                  <a:prstClr val="black"/>
                </a:solidFill>
                <a:cs typeface="+mn-ea"/>
                <a:sym typeface="+mn-ea"/>
              </a:rPr>
              <a:t>,</a:t>
            </a:r>
            <a:r>
              <a:rPr lang="zh-CN" altLang="zh-CN" sz="2400" dirty="0" smtClean="0">
                <a:solidFill>
                  <a:prstClr val="black"/>
                </a:solidFill>
                <a:cs typeface="+mn-ea"/>
                <a:sym typeface="+mn-ea"/>
              </a:rPr>
              <a:t>实现</a:t>
            </a:r>
            <a:r>
              <a:rPr lang="zh-CN" altLang="zh-CN" sz="2400" b="1" dirty="0" smtClean="0">
                <a:solidFill>
                  <a:prstClr val="black"/>
                </a:solidFill>
                <a:cs typeface="+mn-ea"/>
                <a:sym typeface="+mn-ea"/>
              </a:rPr>
              <a:t>果蔬</a:t>
            </a:r>
            <a:r>
              <a:rPr lang="zh-CN" altLang="zh-CN" sz="2400" dirty="0" smtClean="0">
                <a:solidFill>
                  <a:prstClr val="black"/>
                </a:solidFill>
                <a:cs typeface="+mn-ea"/>
                <a:sym typeface="+mn-ea"/>
              </a:rPr>
              <a:t>意义</a:t>
            </a:r>
            <a:r>
              <a:rPr lang="zh-CN" altLang="zh-CN" sz="2400" dirty="0">
                <a:solidFill>
                  <a:prstClr val="black"/>
                </a:solidFill>
                <a:cs typeface="+mn-ea"/>
                <a:sym typeface="+mn-ea"/>
              </a:rPr>
              <a:t>上的按质</a:t>
            </a:r>
            <a:r>
              <a:rPr lang="zh-CN" altLang="zh-CN" sz="2400" dirty="0" smtClean="0">
                <a:solidFill>
                  <a:prstClr val="black"/>
                </a:solidFill>
                <a:cs typeface="+mn-ea"/>
                <a:sym typeface="+mn-ea"/>
              </a:rPr>
              <a:t>分级</a:t>
            </a:r>
            <a:endParaRPr lang="en-US" altLang="zh-CN" sz="2400" dirty="0">
              <a:solidFill>
                <a:prstClr val="black"/>
              </a:solidFill>
              <a:cs typeface="+mn-ea"/>
            </a:endParaRPr>
          </a:p>
          <a:p>
            <a:pPr marL="342900" indent="-342900">
              <a:buFont typeface="Wingdings" panose="05000000000000000000" pitchFamily="2" charset="2"/>
              <a:buChar char="u"/>
            </a:pPr>
            <a:r>
              <a:rPr lang="zh-CN" altLang="zh-CN" sz="2400" dirty="0" smtClean="0">
                <a:solidFill>
                  <a:prstClr val="black"/>
                </a:solidFill>
                <a:cs typeface="+mn-ea"/>
                <a:sym typeface="+mn-ea"/>
              </a:rPr>
              <a:t>近红外分析法</a:t>
            </a:r>
            <a:r>
              <a:rPr lang="zh-CN" altLang="en-US" sz="2400" dirty="0" smtClean="0">
                <a:solidFill>
                  <a:prstClr val="black"/>
                </a:solidFill>
                <a:cs typeface="+mn-ea"/>
                <a:sym typeface="+mn-ea"/>
              </a:rPr>
              <a:t>检测</a:t>
            </a:r>
            <a:r>
              <a:rPr lang="zh-CN" altLang="en-US" sz="2400" b="1" dirty="0" smtClean="0">
                <a:solidFill>
                  <a:prstClr val="black"/>
                </a:solidFill>
                <a:cs typeface="+mn-ea"/>
                <a:sym typeface="+mn-ea"/>
              </a:rPr>
              <a:t>维生素</a:t>
            </a:r>
            <a:r>
              <a:rPr lang="en-US" altLang="zh-CN" sz="2400" b="1" dirty="0" smtClean="0">
                <a:solidFill>
                  <a:prstClr val="black"/>
                </a:solidFill>
                <a:cs typeface="+mn-ea"/>
                <a:sym typeface="+mn-ea"/>
              </a:rPr>
              <a:t>C</a:t>
            </a:r>
            <a:r>
              <a:rPr lang="zh-CN" altLang="en-US" sz="2400" dirty="0" smtClean="0">
                <a:solidFill>
                  <a:prstClr val="black"/>
                </a:solidFill>
                <a:cs typeface="+mn-ea"/>
                <a:sym typeface="+mn-ea"/>
              </a:rPr>
              <a:t>含量</a:t>
            </a:r>
            <a:r>
              <a:rPr lang="zh-CN" altLang="zh-CN" sz="2400" dirty="0" smtClean="0">
                <a:solidFill>
                  <a:prstClr val="black"/>
                </a:solidFill>
                <a:cs typeface="+mn-ea"/>
                <a:sym typeface="+mn-ea"/>
              </a:rPr>
              <a:t>提供了一种分析果蔬维生素</a:t>
            </a:r>
            <a:r>
              <a:rPr lang="en-US" altLang="zh-CN" sz="2400" dirty="0" smtClean="0">
                <a:solidFill>
                  <a:prstClr val="black"/>
                </a:solidFill>
                <a:cs typeface="+mn-ea"/>
                <a:sym typeface="+mn-ea"/>
              </a:rPr>
              <a:t>C</a:t>
            </a:r>
            <a:r>
              <a:rPr lang="zh-CN" altLang="zh-CN" sz="2400" dirty="0" smtClean="0">
                <a:solidFill>
                  <a:prstClr val="black"/>
                </a:solidFill>
                <a:cs typeface="+mn-ea"/>
                <a:sym typeface="+mn-ea"/>
              </a:rPr>
              <a:t>含量的快速、简便的方法</a:t>
            </a:r>
            <a:r>
              <a:rPr lang="zh-CN" altLang="en-US" sz="2400" dirty="0" smtClean="0">
                <a:solidFill>
                  <a:prstClr val="black"/>
                </a:solidFill>
                <a:cs typeface="+mn-ea"/>
                <a:sym typeface="+mn-ea"/>
              </a:rPr>
              <a:t>，</a:t>
            </a:r>
            <a:r>
              <a:rPr lang="zh-CN" altLang="zh-CN" sz="2400" dirty="0" smtClean="0">
                <a:solidFill>
                  <a:prstClr val="black"/>
                </a:solidFill>
                <a:cs typeface="+mn-ea"/>
                <a:sym typeface="+mn-ea"/>
              </a:rPr>
              <a:t>分析维生素</a:t>
            </a:r>
            <a:r>
              <a:rPr lang="en-US" altLang="zh-CN" sz="2400" dirty="0" smtClean="0">
                <a:solidFill>
                  <a:prstClr val="black"/>
                </a:solidFill>
                <a:cs typeface="+mn-ea"/>
                <a:sym typeface="+mn-ea"/>
              </a:rPr>
              <a:t>C</a:t>
            </a:r>
            <a:r>
              <a:rPr lang="zh-CN" altLang="zh-CN" sz="2400" dirty="0" smtClean="0">
                <a:solidFill>
                  <a:prstClr val="black"/>
                </a:solidFill>
                <a:cs typeface="+mn-ea"/>
                <a:sym typeface="+mn-ea"/>
              </a:rPr>
              <a:t>的</a:t>
            </a:r>
            <a:r>
              <a:rPr lang="zh-CN" altLang="en-US" sz="2400" dirty="0" smtClean="0">
                <a:solidFill>
                  <a:prstClr val="black"/>
                </a:solidFill>
                <a:cs typeface="+mn-ea"/>
                <a:sym typeface="+mn-ea"/>
              </a:rPr>
              <a:t>其他</a:t>
            </a:r>
            <a:r>
              <a:rPr lang="zh-CN" altLang="zh-CN" sz="2400" dirty="0" smtClean="0">
                <a:solidFill>
                  <a:prstClr val="black"/>
                </a:solidFill>
                <a:cs typeface="+mn-ea"/>
                <a:sym typeface="+mn-ea"/>
              </a:rPr>
              <a:t>方法主</a:t>
            </a:r>
            <a:r>
              <a:rPr lang="zh-CN" altLang="en-US" sz="2400" dirty="0" smtClean="0">
                <a:solidFill>
                  <a:prstClr val="black"/>
                </a:solidFill>
                <a:cs typeface="+mn-ea"/>
                <a:sym typeface="+mn-ea"/>
              </a:rPr>
              <a:t>有</a:t>
            </a:r>
            <a:r>
              <a:rPr lang="en-US" altLang="zh-CN" sz="2400" dirty="0" smtClean="0">
                <a:solidFill>
                  <a:prstClr val="black"/>
                </a:solidFill>
                <a:cs typeface="+mn-ea"/>
                <a:sym typeface="+mn-ea"/>
              </a:rPr>
              <a:t>2,6-</a:t>
            </a:r>
            <a:r>
              <a:rPr lang="zh-CN" altLang="zh-CN" sz="2400" dirty="0" smtClean="0">
                <a:solidFill>
                  <a:prstClr val="black"/>
                </a:solidFill>
                <a:cs typeface="+mn-ea"/>
                <a:sym typeface="+mn-ea"/>
              </a:rPr>
              <a:t>二氯旋酚滴定法等</a:t>
            </a:r>
            <a:r>
              <a:rPr lang="en-US" altLang="zh-CN" sz="2400" dirty="0" smtClean="0">
                <a:solidFill>
                  <a:prstClr val="black"/>
                </a:solidFill>
                <a:cs typeface="+mn-ea"/>
                <a:sym typeface="+mn-ea"/>
              </a:rPr>
              <a:t>,</a:t>
            </a:r>
            <a:r>
              <a:rPr lang="zh-CN" altLang="zh-CN" sz="2400" dirty="0" smtClean="0">
                <a:solidFill>
                  <a:prstClr val="black"/>
                </a:solidFill>
                <a:cs typeface="+mn-ea"/>
                <a:sym typeface="+mn-ea"/>
              </a:rPr>
              <a:t> 需要进行化学预处理</a:t>
            </a:r>
            <a:r>
              <a:rPr lang="en-US" altLang="zh-CN" sz="2400" dirty="0" smtClean="0">
                <a:solidFill>
                  <a:prstClr val="black"/>
                </a:solidFill>
                <a:cs typeface="+mn-ea"/>
                <a:sym typeface="+mn-ea"/>
              </a:rPr>
              <a:t>,</a:t>
            </a:r>
            <a:r>
              <a:rPr lang="zh-CN" altLang="zh-CN" sz="2400" dirty="0" smtClean="0">
                <a:solidFill>
                  <a:prstClr val="black"/>
                </a:solidFill>
                <a:cs typeface="+mn-ea"/>
                <a:sym typeface="+mn-ea"/>
              </a:rPr>
              <a:t>费时费力</a:t>
            </a:r>
            <a:r>
              <a:rPr lang="en-US" altLang="zh-CN" sz="2400" dirty="0" smtClean="0">
                <a:solidFill>
                  <a:prstClr val="black"/>
                </a:solidFill>
                <a:cs typeface="+mn-ea"/>
                <a:sym typeface="+mn-ea"/>
              </a:rPr>
              <a:t>,</a:t>
            </a:r>
            <a:r>
              <a:rPr lang="zh-CN" altLang="zh-CN" sz="2400" dirty="0" smtClean="0">
                <a:solidFill>
                  <a:prstClr val="black"/>
                </a:solidFill>
                <a:cs typeface="+mn-ea"/>
                <a:sym typeface="+mn-ea"/>
              </a:rPr>
              <a:t>还要昂贵的化学试剂。</a:t>
            </a:r>
            <a:endParaRPr lang="en-US" altLang="zh-CN" sz="2400" dirty="0">
              <a:solidFill>
                <a:prstClr val="black"/>
              </a:solidFill>
              <a:cs typeface="+mn-ea"/>
            </a:endParaRPr>
          </a:p>
          <a:p>
            <a:pPr marL="342900" indent="-342900">
              <a:buFont typeface="Wingdings" panose="05000000000000000000" pitchFamily="2" charset="2"/>
              <a:buChar char="u"/>
            </a:pPr>
            <a:r>
              <a:rPr lang="zh-CN" altLang="zh-CN" sz="2400" dirty="0" smtClean="0">
                <a:solidFill>
                  <a:prstClr val="black"/>
                </a:solidFill>
                <a:cs typeface="+mn-ea"/>
                <a:sym typeface="+mn-ea"/>
              </a:rPr>
              <a:t>随着使携式近红外光谐仪的诞生</a:t>
            </a:r>
            <a:r>
              <a:rPr lang="en-US" altLang="zh-CN" sz="2400" dirty="0" smtClean="0">
                <a:solidFill>
                  <a:prstClr val="black"/>
                </a:solidFill>
                <a:cs typeface="+mn-ea"/>
                <a:sym typeface="+mn-ea"/>
              </a:rPr>
              <a:t>,</a:t>
            </a:r>
            <a:r>
              <a:rPr lang="zh-CN" altLang="zh-CN" sz="2400" dirty="0" smtClean="0">
                <a:solidFill>
                  <a:prstClr val="black"/>
                </a:solidFill>
                <a:cs typeface="+mn-ea"/>
                <a:sym typeface="+mn-ea"/>
              </a:rPr>
              <a:t>对于农田农作物、果园水果和蔬菜等可实时监测</a:t>
            </a:r>
            <a:r>
              <a:rPr lang="en-US" altLang="zh-CN" sz="2400" dirty="0" smtClean="0">
                <a:solidFill>
                  <a:prstClr val="black"/>
                </a:solidFill>
                <a:cs typeface="+mn-ea"/>
                <a:sym typeface="+mn-ea"/>
              </a:rPr>
              <a:t>,</a:t>
            </a:r>
            <a:r>
              <a:rPr lang="zh-CN" altLang="zh-CN" sz="2400" dirty="0" smtClean="0">
                <a:solidFill>
                  <a:prstClr val="black"/>
                </a:solidFill>
                <a:cs typeface="+mn-ea"/>
                <a:sym typeface="+mn-ea"/>
              </a:rPr>
              <a:t>确定最佳收获期和采摘期。</a:t>
            </a:r>
            <a:endParaRPr lang="zh-CN" altLang="en-US" sz="2400" dirty="0">
              <a:solidFill>
                <a:prstClr val="black"/>
              </a:solidFill>
              <a:cs typeface="+mn-ea"/>
            </a:endParaRPr>
          </a:p>
        </p:txBody>
      </p:sp>
      <p:pic>
        <p:nvPicPr>
          <p:cNvPr id="6" name="Picture 4"/>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8465842" y="2005885"/>
            <a:ext cx="2808312" cy="4032448"/>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7" name="Picture 2"/>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0" y="0"/>
            <a:ext cx="8686800" cy="914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8" name="TextBox 7"/>
          <p:cNvSpPr txBox="1"/>
          <p:nvPr/>
        </p:nvSpPr>
        <p:spPr>
          <a:xfrm>
            <a:off x="116024" y="150768"/>
            <a:ext cx="11655062" cy="646331"/>
          </a:xfrm>
          <a:prstGeom prst="rect">
            <a:avLst/>
          </a:prstGeom>
          <a:noFill/>
        </p:spPr>
        <p:txBody>
          <a:bodyPr wrap="square" rtlCol="0">
            <a:spAutoFit/>
          </a:bodyPr>
          <a:lstStyle/>
          <a:p>
            <a:r>
              <a:rPr lang="zh-CN" altLang="zh-CN" sz="3600" b="1" dirty="0">
                <a:solidFill>
                  <a:prstClr val="black"/>
                </a:solidFill>
                <a:latin typeface="微软雅黑" panose="020B0503020204020204" pitchFamily="34" charset="-122"/>
                <a:ea typeface="微软雅黑" panose="020B0503020204020204" pitchFamily="34" charset="-122"/>
                <a:sym typeface="+mn-ea"/>
              </a:rPr>
              <a:t>三、近红外光谱分析技术</a:t>
            </a:r>
            <a:r>
              <a:rPr lang="zh-CN" altLang="zh-CN" sz="3600" b="1" dirty="0" smtClean="0">
                <a:solidFill>
                  <a:prstClr val="black"/>
                </a:solidFill>
                <a:latin typeface="微软雅黑" panose="020B0503020204020204" pitchFamily="34" charset="-122"/>
                <a:ea typeface="微软雅黑" panose="020B0503020204020204" pitchFamily="34" charset="-122"/>
                <a:sym typeface="+mn-ea"/>
              </a:rPr>
              <a:t>在果蔬加工</a:t>
            </a:r>
            <a:r>
              <a:rPr lang="zh-CN" altLang="zh-CN" sz="3600" b="1" dirty="0">
                <a:solidFill>
                  <a:prstClr val="black"/>
                </a:solidFill>
                <a:latin typeface="微软雅黑" panose="020B0503020204020204" pitchFamily="34" charset="-122"/>
                <a:ea typeface="微软雅黑" panose="020B0503020204020204" pitchFamily="34" charset="-122"/>
                <a:sym typeface="+mn-ea"/>
              </a:rPr>
              <a:t>和贮藏中的</a:t>
            </a:r>
            <a:r>
              <a:rPr lang="zh-CN" altLang="zh-CN" sz="3600" b="1" dirty="0" smtClean="0">
                <a:solidFill>
                  <a:prstClr val="black"/>
                </a:solidFill>
                <a:latin typeface="微软雅黑" panose="020B0503020204020204" pitchFamily="34" charset="-122"/>
                <a:ea typeface="微软雅黑" panose="020B0503020204020204" pitchFamily="34" charset="-122"/>
                <a:sym typeface="+mn-ea"/>
              </a:rPr>
              <a:t>应用</a:t>
            </a:r>
            <a:endParaRPr lang="zh-CN" altLang="en-US" sz="3600" b="1" dirty="0">
              <a:solidFill>
                <a:prstClr val="black"/>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0" y="6334579"/>
            <a:ext cx="12193588" cy="530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3" name="文本框 2"/>
          <p:cNvSpPr txBox="1"/>
          <p:nvPr/>
        </p:nvSpPr>
        <p:spPr>
          <a:xfrm>
            <a:off x="305435" y="1210945"/>
            <a:ext cx="5086350" cy="5262245"/>
          </a:xfrm>
          <a:prstGeom prst="rect">
            <a:avLst/>
          </a:prstGeom>
          <a:noFill/>
        </p:spPr>
        <p:txBody>
          <a:bodyPr wrap="square" rtlCol="0">
            <a:spAutoFit/>
          </a:bodyPr>
          <a:lstStyle/>
          <a:p>
            <a:pPr marL="457200" indent="-457200">
              <a:buFont typeface="Wingdings" panose="05000000000000000000" pitchFamily="2" charset="2"/>
              <a:buChar char="u"/>
            </a:pPr>
            <a:r>
              <a:rPr lang="zh-CN" altLang="zh-CN" sz="2800" dirty="0">
                <a:solidFill>
                  <a:prstClr val="black"/>
                </a:solidFill>
                <a:cs typeface="+mn-ea"/>
                <a:sym typeface="+mn-ea"/>
              </a:rPr>
              <a:t>肉制品加工中</a:t>
            </a:r>
            <a:r>
              <a:rPr lang="en-US" altLang="zh-CN" sz="2800" dirty="0">
                <a:solidFill>
                  <a:prstClr val="black"/>
                </a:solidFill>
                <a:cs typeface="+mn-ea"/>
                <a:sym typeface="+mn-ea"/>
              </a:rPr>
              <a:t>,</a:t>
            </a:r>
            <a:r>
              <a:rPr lang="zh-CN" altLang="zh-CN" sz="2800" dirty="0">
                <a:solidFill>
                  <a:prstClr val="black"/>
                </a:solidFill>
                <a:cs typeface="+mn-ea"/>
                <a:sym typeface="+mn-ea"/>
              </a:rPr>
              <a:t>它可以用来测定原料肉或肉制品的水分、蛋白质、脂防含量、</a:t>
            </a:r>
            <a:r>
              <a:rPr lang="zh-CN" altLang="zh-CN" sz="2800" dirty="0" smtClean="0">
                <a:solidFill>
                  <a:prstClr val="black"/>
                </a:solidFill>
                <a:cs typeface="+mn-ea"/>
                <a:sym typeface="+mn-ea"/>
              </a:rPr>
              <a:t>做度</a:t>
            </a:r>
            <a:r>
              <a:rPr lang="zh-CN" altLang="zh-CN" sz="2800" dirty="0">
                <a:solidFill>
                  <a:prstClr val="black"/>
                </a:solidFill>
                <a:cs typeface="+mn-ea"/>
                <a:sym typeface="+mn-ea"/>
              </a:rPr>
              <a:t>等指标</a:t>
            </a:r>
            <a:r>
              <a:rPr lang="en-US" altLang="zh-CN" sz="2800" dirty="0">
                <a:solidFill>
                  <a:prstClr val="black"/>
                </a:solidFill>
                <a:cs typeface="+mn-ea"/>
                <a:sym typeface="+mn-ea"/>
              </a:rPr>
              <a:t>,</a:t>
            </a:r>
            <a:r>
              <a:rPr lang="zh-CN" altLang="zh-CN" sz="2800" dirty="0">
                <a:solidFill>
                  <a:prstClr val="black"/>
                </a:solidFill>
                <a:cs typeface="+mn-ea"/>
                <a:sym typeface="+mn-ea"/>
              </a:rPr>
              <a:t>甚至可以在屠宰分割过程中实时测定肉的水分、蛋白质含量及颜色</a:t>
            </a:r>
            <a:r>
              <a:rPr lang="zh-CN" altLang="zh-CN" sz="2800" dirty="0" smtClean="0">
                <a:solidFill>
                  <a:prstClr val="black"/>
                </a:solidFill>
                <a:cs typeface="+mn-ea"/>
                <a:sym typeface="+mn-ea"/>
              </a:rPr>
              <a:t>。</a:t>
            </a:r>
            <a:endParaRPr lang="en-US" altLang="zh-CN" sz="2800" dirty="0" smtClean="0">
              <a:solidFill>
                <a:prstClr val="black"/>
              </a:solidFill>
              <a:cs typeface="+mn-ea"/>
            </a:endParaRPr>
          </a:p>
          <a:p>
            <a:pPr marL="457200" indent="-457200">
              <a:buFont typeface="Wingdings" panose="05000000000000000000" pitchFamily="2" charset="2"/>
              <a:buChar char="u"/>
            </a:pPr>
            <a:r>
              <a:rPr lang="zh-CN" altLang="zh-CN" sz="2800" dirty="0" smtClean="0">
                <a:solidFill>
                  <a:prstClr val="black"/>
                </a:solidFill>
                <a:cs typeface="+mn-ea"/>
                <a:sym typeface="+mn-ea"/>
              </a:rPr>
              <a:t>冷冻和</a:t>
            </a:r>
            <a:r>
              <a:rPr lang="zh-CN" altLang="zh-CN" sz="2800" dirty="0">
                <a:solidFill>
                  <a:prstClr val="black"/>
                </a:solidFill>
                <a:cs typeface="+mn-ea"/>
                <a:sym typeface="+mn-ea"/>
              </a:rPr>
              <a:t>解冻对肉的品质有较大的影响</a:t>
            </a:r>
            <a:r>
              <a:rPr lang="en-US" altLang="zh-CN" sz="2800" dirty="0">
                <a:solidFill>
                  <a:prstClr val="black"/>
                </a:solidFill>
                <a:cs typeface="+mn-ea"/>
                <a:sym typeface="+mn-ea"/>
              </a:rPr>
              <a:t>,</a:t>
            </a:r>
            <a:r>
              <a:rPr lang="zh-CN" altLang="zh-CN" sz="2800" dirty="0">
                <a:solidFill>
                  <a:prstClr val="black"/>
                </a:solidFill>
                <a:cs typeface="+mn-ea"/>
                <a:sym typeface="+mn-ea"/>
              </a:rPr>
              <a:t>利用近红外技术可以将经过冷冻的肉鉴别分离</a:t>
            </a:r>
            <a:r>
              <a:rPr lang="zh-CN" altLang="zh-CN" sz="2800" dirty="0" smtClean="0">
                <a:solidFill>
                  <a:prstClr val="black"/>
                </a:solidFill>
                <a:cs typeface="+mn-ea"/>
                <a:sym typeface="+mn-ea"/>
              </a:rPr>
              <a:t>出来</a:t>
            </a:r>
            <a:r>
              <a:rPr lang="en-US" altLang="zh-CN" sz="2800" dirty="0">
                <a:solidFill>
                  <a:prstClr val="black"/>
                </a:solidFill>
                <a:cs typeface="+mn-ea"/>
                <a:sym typeface="+mn-ea"/>
              </a:rPr>
              <a:t>,</a:t>
            </a:r>
            <a:r>
              <a:rPr lang="zh-CN" altLang="zh-CN" sz="2800" dirty="0">
                <a:solidFill>
                  <a:prstClr val="black"/>
                </a:solidFill>
                <a:cs typeface="+mn-ea"/>
                <a:sym typeface="+mn-ea"/>
              </a:rPr>
              <a:t>同时还可以测定肉的保水性及渗透性</a:t>
            </a:r>
            <a:r>
              <a:rPr lang="en-US" altLang="zh-CN" sz="2800" dirty="0">
                <a:solidFill>
                  <a:prstClr val="black"/>
                </a:solidFill>
                <a:cs typeface="+mn-ea"/>
                <a:sym typeface="+mn-ea"/>
              </a:rPr>
              <a:t>,</a:t>
            </a:r>
            <a:r>
              <a:rPr lang="zh-CN" altLang="zh-CN" sz="2800" dirty="0">
                <a:solidFill>
                  <a:prstClr val="black"/>
                </a:solidFill>
                <a:cs typeface="+mn-ea"/>
                <a:sym typeface="+mn-ea"/>
              </a:rPr>
              <a:t>肉汁的失落率及干物质的含量</a:t>
            </a:r>
            <a:r>
              <a:rPr lang="zh-CN" altLang="zh-CN" sz="2800" dirty="0" smtClean="0">
                <a:solidFill>
                  <a:prstClr val="black"/>
                </a:solidFill>
                <a:cs typeface="+mn-ea"/>
                <a:sym typeface="+mn-ea"/>
              </a:rPr>
              <a:t>。</a:t>
            </a:r>
            <a:endParaRPr lang="zh-CN" altLang="en-US" sz="2800" dirty="0">
              <a:solidFill>
                <a:prstClr val="black"/>
              </a:solidFill>
              <a:cs typeface="+mn-ea"/>
            </a:endParaRPr>
          </a:p>
        </p:txBody>
      </p:sp>
      <p:sp>
        <p:nvSpPr>
          <p:cNvPr id="4" name="文本框 3"/>
          <p:cNvSpPr txBox="1"/>
          <p:nvPr/>
        </p:nvSpPr>
        <p:spPr>
          <a:xfrm>
            <a:off x="6636385" y="1351280"/>
            <a:ext cx="4954905" cy="4832092"/>
          </a:xfrm>
          <a:prstGeom prst="rect">
            <a:avLst/>
          </a:prstGeom>
          <a:noFill/>
        </p:spPr>
        <p:txBody>
          <a:bodyPr wrap="square" rtlCol="0">
            <a:spAutoFit/>
          </a:bodyPr>
          <a:lstStyle/>
          <a:p>
            <a:pPr marL="457200" indent="-457200">
              <a:buFont typeface="Wingdings" panose="05000000000000000000" pitchFamily="2" charset="2"/>
              <a:buChar char="u"/>
            </a:pPr>
            <a:r>
              <a:rPr lang="zh-CN" altLang="zh-CN" sz="2800" dirty="0" smtClean="0">
                <a:solidFill>
                  <a:prstClr val="black"/>
                </a:solidFill>
                <a:cs typeface="+mn-ea"/>
                <a:sym typeface="+mn-ea"/>
              </a:rPr>
              <a:t>国外有的研究者利用近红外技术研究了肉制品加工过程中添加剂对脂肪、水分、蛋白质含量测定的影响</a:t>
            </a:r>
            <a:r>
              <a:rPr lang="en-US" altLang="zh-CN" sz="2800" dirty="0" smtClean="0">
                <a:solidFill>
                  <a:prstClr val="black"/>
                </a:solidFill>
                <a:cs typeface="+mn-ea"/>
                <a:sym typeface="+mn-ea"/>
              </a:rPr>
              <a:t>,</a:t>
            </a:r>
            <a:r>
              <a:rPr lang="zh-CN" altLang="zh-CN" sz="2800" dirty="0" smtClean="0">
                <a:solidFill>
                  <a:prstClr val="black"/>
                </a:solidFill>
                <a:cs typeface="+mn-ea"/>
                <a:sym typeface="+mn-ea"/>
              </a:rPr>
              <a:t> 结果发现大多数添加剂对近红外的吸收有影响。</a:t>
            </a:r>
            <a:endParaRPr lang="zh-CN" altLang="zh-CN" sz="2800" dirty="0" smtClean="0">
              <a:solidFill>
                <a:prstClr val="black"/>
              </a:solidFill>
              <a:cs typeface="+mn-ea"/>
            </a:endParaRPr>
          </a:p>
          <a:p>
            <a:pPr marL="457200" indent="-457200">
              <a:buFont typeface="Wingdings" panose="05000000000000000000" pitchFamily="2" charset="2"/>
              <a:buChar char="u"/>
            </a:pPr>
            <a:r>
              <a:rPr lang="zh-CN" altLang="zh-CN" sz="2800" dirty="0" smtClean="0">
                <a:solidFill>
                  <a:prstClr val="black"/>
                </a:solidFill>
                <a:cs typeface="+mn-ea"/>
                <a:sym typeface="+mn-ea"/>
              </a:rPr>
              <a:t>另外</a:t>
            </a:r>
            <a:r>
              <a:rPr lang="en-US" altLang="zh-CN" sz="2800" dirty="0" smtClean="0">
                <a:solidFill>
                  <a:prstClr val="black"/>
                </a:solidFill>
                <a:cs typeface="+mn-ea"/>
                <a:sym typeface="+mn-ea"/>
              </a:rPr>
              <a:t>,2000</a:t>
            </a:r>
            <a:r>
              <a:rPr lang="zh-CN" altLang="zh-CN" sz="2800" dirty="0" smtClean="0">
                <a:solidFill>
                  <a:prstClr val="black"/>
                </a:solidFill>
                <a:cs typeface="+mn-ea"/>
                <a:sym typeface="+mn-ea"/>
              </a:rPr>
              <a:t>年</a:t>
            </a:r>
            <a:r>
              <a:rPr lang="en-US" altLang="zh-CN" sz="2800" dirty="0" smtClean="0">
                <a:solidFill>
                  <a:prstClr val="black"/>
                </a:solidFill>
                <a:cs typeface="+mn-ea"/>
                <a:sym typeface="+mn-ea"/>
              </a:rPr>
              <a:t>,Ding</a:t>
            </a:r>
            <a:r>
              <a:rPr lang="zh-CN" altLang="zh-CN" sz="2800" dirty="0" smtClean="0">
                <a:solidFill>
                  <a:prstClr val="black"/>
                </a:solidFill>
                <a:cs typeface="+mn-ea"/>
                <a:sym typeface="+mn-ea"/>
              </a:rPr>
              <a:t>和</a:t>
            </a:r>
            <a:r>
              <a:rPr lang="en-US" altLang="zh-CN" sz="2800" dirty="0" smtClean="0">
                <a:solidFill>
                  <a:prstClr val="black"/>
                </a:solidFill>
                <a:cs typeface="+mn-ea"/>
                <a:sym typeface="+mn-ea"/>
              </a:rPr>
              <a:t>Xu</a:t>
            </a:r>
            <a:r>
              <a:rPr lang="zh-CN" altLang="zh-CN" sz="2800" dirty="0" smtClean="0">
                <a:solidFill>
                  <a:prstClr val="black"/>
                </a:solidFill>
                <a:cs typeface="+mn-ea"/>
                <a:sym typeface="+mn-ea"/>
              </a:rPr>
              <a:t>还利用近红外技术对牛肉汉堡中的牛肉掺假问题进行了研究。而且摻假量越多</a:t>
            </a:r>
            <a:r>
              <a:rPr lang="en-US" altLang="zh-CN" sz="2800" dirty="0" smtClean="0">
                <a:solidFill>
                  <a:prstClr val="black"/>
                </a:solidFill>
                <a:cs typeface="+mn-ea"/>
                <a:sym typeface="+mn-ea"/>
              </a:rPr>
              <a:t>,</a:t>
            </a:r>
            <a:r>
              <a:rPr lang="zh-CN" altLang="zh-CN" sz="2800" dirty="0" smtClean="0">
                <a:solidFill>
                  <a:prstClr val="black"/>
                </a:solidFill>
                <a:cs typeface="+mn-ea"/>
                <a:sym typeface="+mn-ea"/>
              </a:rPr>
              <a:t>判断结果越准确。</a:t>
            </a:r>
            <a:endParaRPr lang="zh-CN" altLang="en-US" sz="2800" dirty="0">
              <a:solidFill>
                <a:prstClr val="black"/>
              </a:solidFill>
              <a:cs typeface="+mn-ea"/>
            </a:endParaRPr>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0" y="0"/>
            <a:ext cx="8686800" cy="914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7" name="文本框 1"/>
          <p:cNvSpPr txBox="1"/>
          <p:nvPr/>
        </p:nvSpPr>
        <p:spPr>
          <a:xfrm>
            <a:off x="90804" y="200025"/>
            <a:ext cx="11246485" cy="645160"/>
          </a:xfrm>
          <a:prstGeom prst="rect">
            <a:avLst/>
          </a:prstGeom>
          <a:noFill/>
        </p:spPr>
        <p:txBody>
          <a:bodyPr wrap="square" rtlCol="0">
            <a:spAutoFit/>
          </a:bodyPr>
          <a:lstStyle/>
          <a:p>
            <a:r>
              <a:rPr lang="zh-CN" altLang="zh-CN" sz="3600" b="1" dirty="0">
                <a:solidFill>
                  <a:prstClr val="black"/>
                </a:solidFill>
                <a:latin typeface="微软雅黑" panose="020B0503020204020204" pitchFamily="34" charset="-122"/>
                <a:ea typeface="微软雅黑" panose="020B0503020204020204" pitchFamily="34" charset="-122"/>
                <a:sym typeface="+mn-ea"/>
              </a:rPr>
              <a:t>四、近红外光谱分析技术在肉制品加工和贮藏中的</a:t>
            </a:r>
            <a:r>
              <a:rPr lang="zh-CN" altLang="zh-CN" sz="3600" b="1" dirty="0" smtClean="0">
                <a:solidFill>
                  <a:prstClr val="black"/>
                </a:solidFill>
                <a:latin typeface="微软雅黑" panose="020B0503020204020204" pitchFamily="34" charset="-122"/>
                <a:ea typeface="微软雅黑" panose="020B0503020204020204" pitchFamily="34" charset="-122"/>
                <a:sym typeface="+mn-ea"/>
              </a:rPr>
              <a:t>应用</a:t>
            </a:r>
            <a:endParaRPr lang="zh-CN" altLang="en-US" sz="3600" dirty="0">
              <a:solidFill>
                <a:prstClr val="black"/>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flipV="1">
            <a:off x="0" y="0"/>
            <a:ext cx="8688271" cy="914400"/>
          </a:xfrm>
          <a:prstGeom prst="rtTriangle">
            <a:avLst/>
          </a:prstGeom>
        </p:spPr>
      </p:pic>
      <p:pic>
        <p:nvPicPr>
          <p:cNvPr id="4" name="图片 3"/>
          <p:cNvPicPr>
            <a:picLocks noChangeAspect="1"/>
          </p:cNvPicPr>
          <p:nvPr/>
        </p:nvPicPr>
        <p:blipFill>
          <a:blip r:embed="rId3"/>
          <a:stretch>
            <a:fillRect/>
          </a:stretch>
        </p:blipFill>
        <p:spPr>
          <a:xfrm rot="5400000">
            <a:off x="5830825" y="496825"/>
            <a:ext cx="530354" cy="12192000"/>
          </a:xfrm>
          <a:prstGeom prst="rect">
            <a:avLst/>
          </a:prstGeom>
        </p:spPr>
      </p:pic>
      <p:sp>
        <p:nvSpPr>
          <p:cNvPr id="5" name="矩形 4"/>
          <p:cNvSpPr/>
          <p:nvPr/>
        </p:nvSpPr>
        <p:spPr>
          <a:xfrm>
            <a:off x="0" y="93980"/>
            <a:ext cx="11540490" cy="645160"/>
          </a:xfrm>
          <a:prstGeom prst="rect">
            <a:avLst/>
          </a:prstGeom>
        </p:spPr>
        <p:txBody>
          <a:bodyPr wrap="square">
            <a:spAutoFit/>
          </a:bodyPr>
          <a:lstStyle/>
          <a:p>
            <a:r>
              <a:rPr lang="zh-CN" altLang="en-US" sz="3600" b="1" dirty="0">
                <a:solidFill>
                  <a:prstClr val="black"/>
                </a:solidFill>
                <a:latin typeface="微软雅黑" panose="020B0503020204020204" pitchFamily="34" charset="-122"/>
                <a:ea typeface="微软雅黑" panose="020B0503020204020204" pitchFamily="34" charset="-122"/>
              </a:rPr>
              <a:t>五、近红外光谱分析技术在食品生产线上的应用</a:t>
            </a:r>
            <a:endParaRPr lang="zh-CN" altLang="en-US" sz="3600" b="1" dirty="0">
              <a:solidFill>
                <a:prstClr val="black"/>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 name="文本框 1"/>
          <p:cNvSpPr txBox="1"/>
          <p:nvPr/>
        </p:nvSpPr>
        <p:spPr>
          <a:xfrm>
            <a:off x="232410" y="1071880"/>
            <a:ext cx="5861050" cy="4831080"/>
          </a:xfrm>
          <a:prstGeom prst="rect">
            <a:avLst/>
          </a:prstGeom>
          <a:noFill/>
        </p:spPr>
        <p:txBody>
          <a:bodyPr wrap="square" rtlCol="0">
            <a:spAutoFit/>
          </a:bodyPr>
          <a:lstStyle/>
          <a:p>
            <a:pPr>
              <a:buFont typeface="Wingdings" panose="05000000000000000000" pitchFamily="2" charset="2"/>
              <a:buChar char="l"/>
            </a:pPr>
            <a:r>
              <a:rPr lang="zh-CN" altLang="zh-CN" sz="2800" dirty="0">
                <a:solidFill>
                  <a:prstClr val="black"/>
                </a:solidFill>
                <a:cs typeface="+mn-ea"/>
                <a:sym typeface="+mn-ea"/>
              </a:rPr>
              <a:t>近红外技术在食品工业中广泛应用</a:t>
            </a:r>
            <a:r>
              <a:rPr lang="zh-CN" altLang="zh-CN" sz="2800" dirty="0" smtClean="0">
                <a:solidFill>
                  <a:prstClr val="black"/>
                </a:solidFill>
                <a:cs typeface="+mn-ea"/>
                <a:sym typeface="+mn-ea"/>
              </a:rPr>
              <a:t>的原因</a:t>
            </a:r>
            <a:r>
              <a:rPr lang="zh-CN" altLang="zh-CN" sz="2800" dirty="0">
                <a:solidFill>
                  <a:prstClr val="black"/>
                </a:solidFill>
                <a:cs typeface="+mn-ea"/>
                <a:sym typeface="+mn-ea"/>
              </a:rPr>
              <a:t>是</a:t>
            </a:r>
            <a:r>
              <a:rPr lang="en-US" altLang="zh-CN" sz="2800" dirty="0" smtClean="0">
                <a:solidFill>
                  <a:prstClr val="black"/>
                </a:solidFill>
                <a:cs typeface="+mn-ea"/>
                <a:sym typeface="+mn-ea"/>
              </a:rPr>
              <a:t>,</a:t>
            </a:r>
            <a:r>
              <a:rPr lang="zh-CN" altLang="zh-CN" sz="2800" dirty="0" smtClean="0">
                <a:solidFill>
                  <a:prstClr val="black"/>
                </a:solidFill>
                <a:cs typeface="+mn-ea"/>
                <a:sym typeface="+mn-ea"/>
              </a:rPr>
              <a:t>可以</a:t>
            </a:r>
            <a:r>
              <a:rPr lang="zh-CN" altLang="zh-CN" sz="2800" dirty="0">
                <a:solidFill>
                  <a:prstClr val="black"/>
                </a:solidFill>
                <a:cs typeface="+mn-ea"/>
                <a:sym typeface="+mn-ea"/>
              </a:rPr>
              <a:t>直接应用到</a:t>
            </a:r>
            <a:r>
              <a:rPr lang="zh-CN" altLang="zh-CN" sz="2800" dirty="0" smtClean="0">
                <a:solidFill>
                  <a:prstClr val="black"/>
                </a:solidFill>
                <a:cs typeface="+mn-ea"/>
                <a:sym typeface="+mn-ea"/>
              </a:rPr>
              <a:t>生产过程</a:t>
            </a:r>
            <a:r>
              <a:rPr lang="zh-CN" altLang="zh-CN" sz="2800" dirty="0">
                <a:solidFill>
                  <a:prstClr val="black"/>
                </a:solidFill>
                <a:cs typeface="+mn-ea"/>
                <a:sym typeface="+mn-ea"/>
              </a:rPr>
              <a:t>中</a:t>
            </a:r>
            <a:r>
              <a:rPr lang="en-US" altLang="zh-CN" sz="2800" dirty="0">
                <a:solidFill>
                  <a:prstClr val="black"/>
                </a:solidFill>
                <a:cs typeface="+mn-ea"/>
                <a:sym typeface="+mn-ea"/>
              </a:rPr>
              <a:t>,</a:t>
            </a:r>
            <a:r>
              <a:rPr lang="zh-CN" altLang="zh-CN" sz="2800" dirty="0">
                <a:solidFill>
                  <a:prstClr val="black"/>
                </a:solidFill>
                <a:cs typeface="+mn-ea"/>
                <a:sym typeface="+mn-ea"/>
              </a:rPr>
              <a:t>真正地将实验室检测变为无损伤的在线检测</a:t>
            </a:r>
            <a:r>
              <a:rPr lang="zh-CN" altLang="zh-CN" sz="2800" dirty="0" smtClean="0">
                <a:solidFill>
                  <a:prstClr val="black"/>
                </a:solidFill>
                <a:cs typeface="+mn-ea"/>
                <a:sym typeface="+mn-ea"/>
              </a:rPr>
              <a:t>。</a:t>
            </a:r>
            <a:endParaRPr lang="en-US" altLang="zh-CN" sz="2800" dirty="0" smtClean="0">
              <a:solidFill>
                <a:prstClr val="black"/>
              </a:solidFill>
              <a:cs typeface="+mn-ea"/>
            </a:endParaRPr>
          </a:p>
          <a:p>
            <a:pPr>
              <a:buFont typeface="Wingdings" panose="05000000000000000000" pitchFamily="2" charset="2"/>
              <a:buChar char="l"/>
            </a:pPr>
            <a:r>
              <a:rPr lang="zh-CN" altLang="zh-CN" sz="2800" dirty="0" smtClean="0">
                <a:solidFill>
                  <a:prstClr val="black"/>
                </a:solidFill>
                <a:cs typeface="+mn-ea"/>
                <a:sym typeface="+mn-ea"/>
              </a:rPr>
              <a:t>通过</a:t>
            </a:r>
            <a:r>
              <a:rPr lang="zh-CN" altLang="zh-CN" sz="2800" dirty="0">
                <a:solidFill>
                  <a:prstClr val="black"/>
                </a:solidFill>
                <a:cs typeface="+mn-ea"/>
                <a:sym typeface="+mn-ea"/>
              </a:rPr>
              <a:t>将光纤探头装入</a:t>
            </a:r>
            <a:r>
              <a:rPr lang="zh-CN" altLang="zh-CN" sz="2800" dirty="0" smtClean="0">
                <a:solidFill>
                  <a:prstClr val="black"/>
                </a:solidFill>
                <a:cs typeface="+mn-ea"/>
                <a:sym typeface="+mn-ea"/>
              </a:rPr>
              <a:t>干燥室品质</a:t>
            </a:r>
            <a:r>
              <a:rPr lang="en-US" altLang="zh-CN" sz="2800" dirty="0">
                <a:solidFill>
                  <a:prstClr val="black"/>
                </a:solidFill>
                <a:cs typeface="+mn-ea"/>
                <a:sym typeface="+mn-ea"/>
              </a:rPr>
              <a:t>,</a:t>
            </a:r>
            <a:r>
              <a:rPr lang="zh-CN" altLang="zh-CN" sz="2800" dirty="0">
                <a:solidFill>
                  <a:prstClr val="black"/>
                </a:solidFill>
                <a:cs typeface="+mn-ea"/>
                <a:sym typeface="+mn-ea"/>
              </a:rPr>
              <a:t>又节省了能源</a:t>
            </a:r>
            <a:r>
              <a:rPr lang="en-US" altLang="zh-CN" sz="2800" dirty="0">
                <a:solidFill>
                  <a:prstClr val="black"/>
                </a:solidFill>
                <a:cs typeface="+mn-ea"/>
                <a:sym typeface="+mn-ea"/>
              </a:rPr>
              <a:t>;</a:t>
            </a:r>
            <a:r>
              <a:rPr lang="zh-CN" altLang="zh-CN" sz="2800" dirty="0">
                <a:solidFill>
                  <a:prstClr val="black"/>
                </a:solidFill>
                <a:cs typeface="+mn-ea"/>
                <a:sym typeface="+mn-ea"/>
              </a:rPr>
              <a:t>如果将光线探头接人混合罐内</a:t>
            </a:r>
            <a:r>
              <a:rPr lang="en-US" altLang="zh-CN" sz="2800" dirty="0">
                <a:solidFill>
                  <a:prstClr val="black"/>
                </a:solidFill>
                <a:cs typeface="+mn-ea"/>
                <a:sym typeface="+mn-ea"/>
              </a:rPr>
              <a:t>,</a:t>
            </a:r>
            <a:r>
              <a:rPr lang="zh-CN" altLang="zh-CN" sz="2800" dirty="0">
                <a:solidFill>
                  <a:prstClr val="black"/>
                </a:solidFill>
                <a:cs typeface="+mn-ea"/>
                <a:sym typeface="+mn-ea"/>
              </a:rPr>
              <a:t>可以实时检测罐内各种混合物</a:t>
            </a:r>
            <a:r>
              <a:rPr lang="zh-CN" altLang="zh-CN" sz="2800" dirty="0" smtClean="0">
                <a:solidFill>
                  <a:prstClr val="black"/>
                </a:solidFill>
                <a:cs typeface="+mn-ea"/>
                <a:sym typeface="+mn-ea"/>
              </a:rPr>
              <a:t>的含量</a:t>
            </a:r>
            <a:r>
              <a:rPr lang="zh-CN" altLang="zh-CN" sz="2800" dirty="0">
                <a:solidFill>
                  <a:prstClr val="black"/>
                </a:solidFill>
                <a:cs typeface="+mn-ea"/>
                <a:sym typeface="+mn-ea"/>
              </a:rPr>
              <a:t>高低</a:t>
            </a:r>
            <a:r>
              <a:rPr lang="en-US" altLang="zh-CN" sz="2800" dirty="0">
                <a:solidFill>
                  <a:prstClr val="black"/>
                </a:solidFill>
                <a:cs typeface="+mn-ea"/>
                <a:sym typeface="+mn-ea"/>
              </a:rPr>
              <a:t>,</a:t>
            </a:r>
            <a:r>
              <a:rPr lang="zh-CN" altLang="zh-CN" sz="2800" dirty="0">
                <a:solidFill>
                  <a:prstClr val="black"/>
                </a:solidFill>
                <a:cs typeface="+mn-ea"/>
                <a:sym typeface="+mn-ea"/>
              </a:rPr>
              <a:t>当其含量达到预先设定的域值时</a:t>
            </a:r>
            <a:r>
              <a:rPr lang="en-US" altLang="zh-CN" sz="2800" dirty="0">
                <a:solidFill>
                  <a:prstClr val="black"/>
                </a:solidFill>
                <a:cs typeface="+mn-ea"/>
                <a:sym typeface="+mn-ea"/>
              </a:rPr>
              <a:t>,</a:t>
            </a:r>
            <a:r>
              <a:rPr lang="zh-CN" altLang="zh-CN" sz="2800" dirty="0">
                <a:solidFill>
                  <a:prstClr val="black"/>
                </a:solidFill>
                <a:cs typeface="+mn-ea"/>
                <a:sym typeface="+mn-ea"/>
              </a:rPr>
              <a:t>判断混合过程结</a:t>
            </a:r>
            <a:r>
              <a:rPr lang="zh-CN" altLang="zh-CN" sz="2800" dirty="0" smtClean="0">
                <a:solidFill>
                  <a:prstClr val="black"/>
                </a:solidFill>
                <a:cs typeface="+mn-ea"/>
                <a:sym typeface="+mn-ea"/>
              </a:rPr>
              <a:t>東</a:t>
            </a:r>
            <a:r>
              <a:rPr lang="zh-CN" altLang="en-US" sz="2800" dirty="0" smtClean="0">
                <a:solidFill>
                  <a:prstClr val="black"/>
                </a:solidFill>
                <a:cs typeface="+mn-ea"/>
                <a:sym typeface="+mn-ea"/>
              </a:rPr>
              <a:t>。</a:t>
            </a:r>
            <a:endParaRPr lang="en-US" altLang="zh-CN" sz="2800" dirty="0" smtClean="0">
              <a:solidFill>
                <a:prstClr val="black"/>
              </a:solidFill>
              <a:cs typeface="+mn-ea"/>
            </a:endParaRPr>
          </a:p>
          <a:p>
            <a:pPr>
              <a:buFont typeface="Wingdings" panose="05000000000000000000" pitchFamily="2" charset="2"/>
              <a:buChar char="l"/>
            </a:pPr>
            <a:r>
              <a:rPr lang="zh-CN" altLang="zh-CN" sz="2800" dirty="0" smtClean="0">
                <a:solidFill>
                  <a:prstClr val="black"/>
                </a:solidFill>
                <a:cs typeface="+mn-ea"/>
                <a:sym typeface="+mn-ea"/>
              </a:rPr>
              <a:t>对于</a:t>
            </a:r>
            <a:r>
              <a:rPr lang="zh-CN" altLang="zh-CN" sz="2800" dirty="0">
                <a:solidFill>
                  <a:prstClr val="black"/>
                </a:solidFill>
                <a:cs typeface="+mn-ea"/>
                <a:sym typeface="+mn-ea"/>
              </a:rPr>
              <a:t>酸酒工业则</a:t>
            </a:r>
            <a:r>
              <a:rPr lang="zh-CN" altLang="zh-CN" sz="2800" dirty="0" smtClean="0">
                <a:solidFill>
                  <a:prstClr val="black"/>
                </a:solidFill>
                <a:cs typeface="+mn-ea"/>
                <a:sym typeface="+mn-ea"/>
              </a:rPr>
              <a:t>可以实时</a:t>
            </a:r>
            <a:r>
              <a:rPr lang="zh-CN" altLang="zh-CN" sz="2800" dirty="0">
                <a:solidFill>
                  <a:prstClr val="black"/>
                </a:solidFill>
                <a:cs typeface="+mn-ea"/>
                <a:sym typeface="+mn-ea"/>
              </a:rPr>
              <a:t>在线发酵控制</a:t>
            </a:r>
            <a:r>
              <a:rPr lang="en-US" altLang="zh-CN" sz="2800" dirty="0">
                <a:solidFill>
                  <a:prstClr val="black"/>
                </a:solidFill>
                <a:cs typeface="+mn-ea"/>
                <a:sym typeface="+mn-ea"/>
              </a:rPr>
              <a:t>,</a:t>
            </a:r>
            <a:r>
              <a:rPr lang="zh-CN" altLang="zh-CN" sz="2800" dirty="0">
                <a:solidFill>
                  <a:prstClr val="black"/>
                </a:solidFill>
                <a:cs typeface="+mn-ea"/>
                <a:sym typeface="+mn-ea"/>
              </a:rPr>
              <a:t>确定发酵终点</a:t>
            </a:r>
            <a:r>
              <a:rPr lang="zh-CN" altLang="zh-CN" b="1" dirty="0">
                <a:solidFill>
                  <a:prstClr val="black"/>
                </a:solidFill>
                <a:latin typeface="华文新魏" panose="02010800040101010101" pitchFamily="2" charset="-122"/>
                <a:ea typeface="华文新魏" panose="02010800040101010101" pitchFamily="2" charset="-122"/>
                <a:sym typeface="+mn-ea"/>
              </a:rPr>
              <a:t>。</a:t>
            </a:r>
            <a:endParaRPr lang="zh-CN" altLang="en-US">
              <a:solidFill>
                <a:prstClr val="black"/>
              </a:solidFill>
            </a:endParaRP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7045960" y="1202055"/>
            <a:ext cx="4494530" cy="442023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flipV="1">
            <a:off x="0" y="0"/>
            <a:ext cx="8688271" cy="914400"/>
          </a:xfrm>
          <a:prstGeom prst="rtTriangle">
            <a:avLst/>
          </a:prstGeom>
        </p:spPr>
      </p:pic>
      <p:pic>
        <p:nvPicPr>
          <p:cNvPr id="4" name="图片 3"/>
          <p:cNvPicPr>
            <a:picLocks noChangeAspect="1"/>
          </p:cNvPicPr>
          <p:nvPr/>
        </p:nvPicPr>
        <p:blipFill>
          <a:blip r:embed="rId3"/>
          <a:stretch>
            <a:fillRect/>
          </a:stretch>
        </p:blipFill>
        <p:spPr>
          <a:xfrm rot="5400000">
            <a:off x="5830825" y="496825"/>
            <a:ext cx="530354" cy="12192000"/>
          </a:xfrm>
          <a:prstGeom prst="rect">
            <a:avLst/>
          </a:prstGeom>
        </p:spPr>
      </p:pic>
      <p:sp>
        <p:nvSpPr>
          <p:cNvPr id="3" name="文本框 2"/>
          <p:cNvSpPr txBox="1"/>
          <p:nvPr/>
        </p:nvSpPr>
        <p:spPr>
          <a:xfrm>
            <a:off x="232410" y="335280"/>
            <a:ext cx="9994265" cy="645160"/>
          </a:xfrm>
          <a:prstGeom prst="rect">
            <a:avLst/>
          </a:prstGeom>
          <a:noFill/>
        </p:spPr>
        <p:txBody>
          <a:bodyPr wrap="square" rtlCol="0">
            <a:spAutoFit/>
          </a:bodyPr>
          <a:lstStyle/>
          <a:p>
            <a:r>
              <a:rPr lang="zh-CN" altLang="zh-CN" sz="3600" b="1" dirty="0">
                <a:solidFill>
                  <a:prstClr val="black"/>
                </a:solidFill>
                <a:latin typeface="微软雅黑" panose="020B0503020204020204" pitchFamily="34" charset="-122"/>
                <a:ea typeface="微软雅黑" panose="020B0503020204020204" pitchFamily="34" charset="-122"/>
                <a:sym typeface="+mn-ea"/>
              </a:rPr>
              <a:t>六、近红外光谱分析技术在食品其他方面的</a:t>
            </a:r>
            <a:r>
              <a:rPr lang="zh-CN" altLang="zh-CN" sz="3600" b="1" dirty="0" smtClean="0">
                <a:solidFill>
                  <a:prstClr val="black"/>
                </a:solidFill>
                <a:latin typeface="微软雅黑" panose="020B0503020204020204" pitchFamily="34" charset="-122"/>
                <a:ea typeface="微软雅黑" panose="020B0503020204020204" pitchFamily="34" charset="-122"/>
                <a:sym typeface="+mn-ea"/>
              </a:rPr>
              <a:t>应用</a:t>
            </a:r>
            <a:endParaRPr lang="zh-CN" altLang="en-US" sz="3600">
              <a:solidFill>
                <a:prstClr val="black"/>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232410" y="1027339"/>
            <a:ext cx="11282045" cy="5293757"/>
          </a:xfrm>
          <a:prstGeom prst="rect">
            <a:avLst/>
          </a:prstGeom>
          <a:noFill/>
        </p:spPr>
        <p:txBody>
          <a:bodyPr wrap="square" rtlCol="0">
            <a:spAutoFit/>
          </a:bodyPr>
          <a:lstStyle/>
          <a:p>
            <a:r>
              <a:rPr lang="zh-CN" altLang="zh-CN" sz="2800" dirty="0">
                <a:solidFill>
                  <a:prstClr val="black"/>
                </a:solidFill>
                <a:cs typeface="+mn-ea"/>
                <a:sym typeface="+mn-ea"/>
              </a:rPr>
              <a:t>近年来关于近红外技术的研究比较厂广泛</a:t>
            </a:r>
            <a:r>
              <a:rPr lang="en-US" altLang="zh-CN" sz="2800" dirty="0">
                <a:solidFill>
                  <a:prstClr val="black"/>
                </a:solidFill>
                <a:cs typeface="+mn-ea"/>
                <a:sym typeface="+mn-ea"/>
              </a:rPr>
              <a:t>,</a:t>
            </a:r>
            <a:r>
              <a:rPr lang="zh-CN" altLang="zh-CN" sz="2800" dirty="0">
                <a:solidFill>
                  <a:prstClr val="black"/>
                </a:solidFill>
                <a:cs typeface="+mn-ea"/>
                <a:sym typeface="+mn-ea"/>
              </a:rPr>
              <a:t>近红外技术已经渗透到各行各业的快</a:t>
            </a:r>
            <a:r>
              <a:rPr lang="zh-CN" altLang="zh-CN" sz="2800" dirty="0" smtClean="0">
                <a:solidFill>
                  <a:prstClr val="black"/>
                </a:solidFill>
                <a:cs typeface="+mn-ea"/>
                <a:sym typeface="+mn-ea"/>
              </a:rPr>
              <a:t>表检测</a:t>
            </a:r>
            <a:r>
              <a:rPr lang="zh-CN" altLang="zh-CN" sz="2800" dirty="0">
                <a:solidFill>
                  <a:prstClr val="black"/>
                </a:solidFill>
                <a:cs typeface="+mn-ea"/>
                <a:sym typeface="+mn-ea"/>
              </a:rPr>
              <a:t>体系中</a:t>
            </a:r>
            <a:r>
              <a:rPr lang="zh-CN" altLang="zh-CN" sz="2000" dirty="0">
                <a:solidFill>
                  <a:prstClr val="black"/>
                </a:solidFill>
                <a:sym typeface="+mn-ea"/>
              </a:rPr>
              <a:t>。</a:t>
            </a:r>
            <a:endParaRPr lang="zh-CN" altLang="zh-CN" sz="2000" dirty="0">
              <a:solidFill>
                <a:prstClr val="black"/>
              </a:solidFill>
            </a:endParaRPr>
          </a:p>
          <a:p>
            <a:endParaRPr lang="en-US" altLang="zh-CN" dirty="0" smtClean="0">
              <a:solidFill>
                <a:prstClr val="black"/>
              </a:solidFill>
            </a:endParaRPr>
          </a:p>
          <a:p>
            <a:endParaRPr lang="en-US" altLang="zh-CN" dirty="0">
              <a:solidFill>
                <a:prstClr val="black"/>
              </a:solidFill>
            </a:endParaRPr>
          </a:p>
          <a:p>
            <a:endParaRPr lang="en-US" altLang="zh-CN" dirty="0" smtClean="0">
              <a:solidFill>
                <a:prstClr val="black"/>
              </a:solidFill>
            </a:endParaRPr>
          </a:p>
          <a:p>
            <a:endParaRPr lang="en-US" altLang="zh-CN" dirty="0">
              <a:solidFill>
                <a:prstClr val="black"/>
              </a:solidFill>
            </a:endParaRPr>
          </a:p>
          <a:p>
            <a:endParaRPr lang="en-US" altLang="zh-CN" dirty="0" smtClean="0">
              <a:solidFill>
                <a:prstClr val="black"/>
              </a:solidFill>
            </a:endParaRPr>
          </a:p>
          <a:p>
            <a:endParaRPr lang="en-US" altLang="zh-CN" dirty="0">
              <a:solidFill>
                <a:prstClr val="black"/>
              </a:solidFill>
            </a:endParaRPr>
          </a:p>
          <a:p>
            <a:endParaRPr lang="en-US" altLang="zh-CN" dirty="0" smtClean="0">
              <a:solidFill>
                <a:prstClr val="black"/>
              </a:solidFill>
            </a:endParaRPr>
          </a:p>
          <a:p>
            <a:endParaRPr lang="zh-CN" altLang="zh-CN" dirty="0" smtClean="0">
              <a:solidFill>
                <a:prstClr val="black"/>
              </a:solidFill>
              <a:sym typeface="+mn-ea"/>
            </a:endParaRPr>
          </a:p>
          <a:p>
            <a:endParaRPr lang="zh-CN" altLang="zh-CN" dirty="0" smtClean="0">
              <a:solidFill>
                <a:prstClr val="black"/>
              </a:solidFill>
              <a:sym typeface="+mn-ea"/>
            </a:endParaRPr>
          </a:p>
          <a:p>
            <a:endParaRPr lang="zh-CN" altLang="zh-CN" dirty="0" smtClean="0">
              <a:solidFill>
                <a:prstClr val="black"/>
              </a:solidFill>
              <a:sym typeface="+mn-ea"/>
            </a:endParaRPr>
          </a:p>
          <a:p>
            <a:endParaRPr lang="zh-CN" altLang="zh-CN" dirty="0" smtClean="0">
              <a:solidFill>
                <a:prstClr val="black"/>
              </a:solidFill>
              <a:sym typeface="+mn-ea"/>
            </a:endParaRPr>
          </a:p>
          <a:p>
            <a:r>
              <a:rPr lang="zh-CN" altLang="zh-CN" sz="2800" dirty="0" smtClean="0">
                <a:solidFill>
                  <a:prstClr val="black"/>
                </a:solidFill>
                <a:cs typeface="+mn-ea"/>
                <a:sym typeface="+mn-ea"/>
              </a:rPr>
              <a:t>总之</a:t>
            </a:r>
            <a:r>
              <a:rPr lang="en-US" altLang="zh-CN" sz="2800" dirty="0" smtClean="0">
                <a:solidFill>
                  <a:prstClr val="black"/>
                </a:solidFill>
                <a:cs typeface="+mn-ea"/>
                <a:sym typeface="+mn-ea"/>
              </a:rPr>
              <a:t>,</a:t>
            </a:r>
            <a:r>
              <a:rPr lang="zh-CN" altLang="zh-CN" sz="2800" dirty="0" smtClean="0">
                <a:solidFill>
                  <a:prstClr val="black"/>
                </a:solidFill>
                <a:cs typeface="+mn-ea"/>
                <a:sym typeface="+mn-ea"/>
              </a:rPr>
              <a:t>随着</a:t>
            </a:r>
            <a:r>
              <a:rPr lang="zh-CN" altLang="zh-CN" sz="2800" dirty="0">
                <a:solidFill>
                  <a:prstClr val="black"/>
                </a:solidFill>
                <a:cs typeface="+mn-ea"/>
                <a:sym typeface="+mn-ea"/>
              </a:rPr>
              <a:t>近红外光谱分析技术的不断发展和人们对它的深入认识</a:t>
            </a:r>
            <a:r>
              <a:rPr lang="en-US" altLang="zh-CN" sz="2800" dirty="0">
                <a:solidFill>
                  <a:prstClr val="black"/>
                </a:solidFill>
                <a:cs typeface="+mn-ea"/>
                <a:sym typeface="+mn-ea"/>
              </a:rPr>
              <a:t>,</a:t>
            </a:r>
            <a:r>
              <a:rPr lang="zh-CN" altLang="zh-CN" sz="2800" dirty="0">
                <a:solidFill>
                  <a:prstClr val="black"/>
                </a:solidFill>
                <a:cs typeface="+mn-ea"/>
                <a:sym typeface="+mn-ea"/>
              </a:rPr>
              <a:t>作为一种</a:t>
            </a:r>
            <a:r>
              <a:rPr lang="zh-CN" altLang="zh-CN" sz="2800" dirty="0" smtClean="0">
                <a:solidFill>
                  <a:prstClr val="black"/>
                </a:solidFill>
                <a:cs typeface="+mn-ea"/>
                <a:sym typeface="+mn-ea"/>
              </a:rPr>
              <a:t>能便</a:t>
            </a:r>
            <a:r>
              <a:rPr lang="zh-CN" altLang="zh-CN" sz="2800" dirty="0">
                <a:solidFill>
                  <a:prstClr val="black"/>
                </a:solidFill>
                <a:cs typeface="+mn-ea"/>
                <a:sym typeface="+mn-ea"/>
              </a:rPr>
              <a:t>快速的分析方法</a:t>
            </a:r>
            <a:r>
              <a:rPr lang="en-US" altLang="zh-CN" sz="2800" dirty="0">
                <a:solidFill>
                  <a:prstClr val="black"/>
                </a:solidFill>
                <a:cs typeface="+mn-ea"/>
                <a:sym typeface="+mn-ea"/>
              </a:rPr>
              <a:t>,</a:t>
            </a:r>
            <a:r>
              <a:rPr lang="zh-CN" altLang="zh-CN" sz="2800" dirty="0">
                <a:solidFill>
                  <a:prstClr val="black"/>
                </a:solidFill>
                <a:cs typeface="+mn-ea"/>
                <a:sym typeface="+mn-ea"/>
              </a:rPr>
              <a:t>近红外方法的用途会进一步拓展</a:t>
            </a:r>
            <a:r>
              <a:rPr lang="en-US" altLang="zh-CN" sz="2800" dirty="0">
                <a:solidFill>
                  <a:prstClr val="black"/>
                </a:solidFill>
                <a:cs typeface="+mn-ea"/>
                <a:sym typeface="+mn-ea"/>
              </a:rPr>
              <a:t>,</a:t>
            </a:r>
            <a:r>
              <a:rPr lang="zh-CN" altLang="zh-CN" sz="2800" dirty="0">
                <a:solidFill>
                  <a:prstClr val="black"/>
                </a:solidFill>
                <a:cs typeface="+mn-ea"/>
                <a:sym typeface="+mn-ea"/>
              </a:rPr>
              <a:t>准确性也会得到提高</a:t>
            </a:r>
            <a:r>
              <a:rPr lang="en-US" altLang="zh-CN" sz="2800" dirty="0">
                <a:solidFill>
                  <a:prstClr val="black"/>
                </a:solidFill>
                <a:cs typeface="+mn-ea"/>
                <a:sym typeface="+mn-ea"/>
              </a:rPr>
              <a:t>,</a:t>
            </a:r>
            <a:r>
              <a:rPr lang="zh-CN" altLang="zh-CN" sz="2800" dirty="0">
                <a:solidFill>
                  <a:prstClr val="black"/>
                </a:solidFill>
                <a:cs typeface="+mn-ea"/>
                <a:sym typeface="+mn-ea"/>
              </a:rPr>
              <a:t>有</a:t>
            </a:r>
            <a:r>
              <a:rPr lang="zh-CN" altLang="zh-CN" sz="2800" dirty="0" smtClean="0">
                <a:solidFill>
                  <a:prstClr val="black"/>
                </a:solidFill>
                <a:cs typeface="+mn-ea"/>
                <a:sym typeface="+mn-ea"/>
              </a:rPr>
              <a:t>可成为</a:t>
            </a:r>
            <a:r>
              <a:rPr lang="zh-CN" altLang="zh-CN" sz="2800" dirty="0">
                <a:solidFill>
                  <a:prstClr val="black"/>
                </a:solidFill>
                <a:cs typeface="+mn-ea"/>
                <a:sym typeface="+mn-ea"/>
              </a:rPr>
              <a:t>食品工业的重要分析技术</a:t>
            </a:r>
            <a:r>
              <a:rPr lang="zh-CN" altLang="zh-CN" sz="2800" dirty="0" smtClean="0">
                <a:solidFill>
                  <a:prstClr val="black"/>
                </a:solidFill>
                <a:cs typeface="+mn-ea"/>
                <a:sym typeface="+mn-ea"/>
              </a:rPr>
              <a:t>。</a:t>
            </a:r>
            <a:endParaRPr lang="zh-CN" altLang="en-US" sz="2800" dirty="0">
              <a:solidFill>
                <a:prstClr val="black"/>
              </a:solidFill>
              <a:cs typeface="+mn-ea"/>
            </a:endParaRPr>
          </a:p>
        </p:txBody>
      </p:sp>
      <p:graphicFrame>
        <p:nvGraphicFramePr>
          <p:cNvPr id="8" name="图示 7"/>
          <p:cNvGraphicFramePr/>
          <p:nvPr/>
        </p:nvGraphicFramePr>
        <p:xfrm>
          <a:off x="232410" y="1944914"/>
          <a:ext cx="11783060" cy="287707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0" y="0"/>
            <a:ext cx="12192000" cy="6858000"/>
          </a:xfrm>
          <a:prstGeom prst="rect">
            <a:avLst/>
          </a:prstGeom>
        </p:spPr>
      </p:pic>
      <p:sp>
        <p:nvSpPr>
          <p:cNvPr id="5" name="文本框 4"/>
          <p:cNvSpPr txBox="1"/>
          <p:nvPr/>
        </p:nvSpPr>
        <p:spPr>
          <a:xfrm>
            <a:off x="3730170" y="1877625"/>
            <a:ext cx="7663543" cy="1015663"/>
          </a:xfrm>
          <a:prstGeom prst="rect">
            <a:avLst/>
          </a:prstGeom>
          <a:noFill/>
        </p:spPr>
        <p:txBody>
          <a:bodyPr wrap="square" rtlCol="0">
            <a:spAutoFit/>
          </a:bodyPr>
          <a:lstStyle/>
          <a:p>
            <a:r>
              <a:rPr lang="zh-CN" altLang="en-US" sz="6000" dirty="0" smtClean="0">
                <a:solidFill>
                  <a:srgbClr val="5B9BD5">
                    <a:lumMod val="75000"/>
                  </a:srgbClr>
                </a:solidFill>
                <a:latin typeface="微软雅黑" panose="020B0503020204020204" pitchFamily="34" charset="-122"/>
                <a:ea typeface="微软雅黑" panose="020B0503020204020204" pitchFamily="34" charset="-122"/>
              </a:rPr>
              <a:t>           谢谢！</a:t>
            </a:r>
            <a:endParaRPr lang="zh-CN" altLang="en-US" sz="6000" b="1" dirty="0">
              <a:solidFill>
                <a:srgbClr val="FFC000">
                  <a:lumMod val="75000"/>
                </a:srgb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4.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5.xml><?xml version="1.0" encoding="utf-8"?>
<a:theme xmlns:a="http://schemas.openxmlformats.org/drawingml/2006/main" name="3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6.xml><?xml version="1.0" encoding="utf-8"?>
<a:theme xmlns:a="http://schemas.openxmlformats.org/drawingml/2006/main" name="4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7.xml><?xml version="1.0" encoding="utf-8"?>
<a:theme xmlns:a="http://schemas.openxmlformats.org/drawingml/2006/main" name="5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8.xml><?xml version="1.0" encoding="utf-8"?>
<a:theme xmlns:a="http://schemas.openxmlformats.org/drawingml/2006/main" name="6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9.xml><?xml version="1.0" encoding="utf-8"?>
<a:theme xmlns:a="http://schemas.openxmlformats.org/drawingml/2006/main" name="7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10.xml><?xml version="1.0" encoding="utf-8"?>
<a:theme xmlns:a="http://schemas.openxmlformats.org/drawingml/2006/main" name="8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11.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12.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13.xml><?xml version="1.0" encoding="utf-8"?>
<a:theme xmlns:a="http://schemas.openxmlformats.org/drawingml/2006/main" name="3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14.xml><?xml version="1.0" encoding="utf-8"?>
<a:theme xmlns:a="http://schemas.openxmlformats.org/drawingml/2006/main" name="4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15.xml><?xml version="1.0" encoding="utf-8"?>
<a:theme xmlns:a="http://schemas.openxmlformats.org/drawingml/2006/main" name="5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16.xml><?xml version="1.0" encoding="utf-8"?>
<a:theme xmlns:a="http://schemas.openxmlformats.org/drawingml/2006/main" name="6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17.xml><?xml version="1.0" encoding="utf-8"?>
<a:theme xmlns:a="http://schemas.openxmlformats.org/drawingml/2006/main" name="7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1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3974</Words>
  <Application>WPS 演示</Application>
  <PresentationFormat>自定义</PresentationFormat>
  <Paragraphs>303</Paragraphs>
  <Slides>48</Slides>
  <Notes>0</Notes>
  <HiddenSlides>0</HiddenSlides>
  <MMClips>0</MMClips>
  <ScaleCrop>false</ScaleCrop>
  <HeadingPairs>
    <vt:vector size="6" baseType="variant">
      <vt:variant>
        <vt:lpstr>主题</vt:lpstr>
      </vt:variant>
      <vt:variant>
        <vt:i4>17</vt:i4>
      </vt:variant>
      <vt:variant>
        <vt:lpstr>嵌入 OLE 服务器</vt:lpstr>
      </vt:variant>
      <vt:variant>
        <vt:i4>1</vt:i4>
      </vt:variant>
      <vt:variant>
        <vt:lpstr>幻灯片标题</vt:lpstr>
      </vt:variant>
      <vt:variant>
        <vt:i4>48</vt:i4>
      </vt:variant>
    </vt:vector>
  </HeadingPairs>
  <TitlesOfParts>
    <vt:vector size="66" baseType="lpstr">
      <vt:lpstr>Office 主题​​</vt:lpstr>
      <vt:lpstr>Office 主题</vt:lpstr>
      <vt:lpstr>1_Office 主题</vt:lpstr>
      <vt:lpstr>2_Office 主题</vt:lpstr>
      <vt:lpstr>3_Office 主题</vt:lpstr>
      <vt:lpstr>4_Office 主题</vt:lpstr>
      <vt:lpstr>5_Office 主题</vt:lpstr>
      <vt:lpstr>6_Office 主题</vt:lpstr>
      <vt:lpstr>7_Office 主题</vt:lpstr>
      <vt:lpstr>8_Office 主题</vt:lpstr>
      <vt:lpstr>1_Office 主题​​</vt:lpstr>
      <vt:lpstr>2_Office 主题​​</vt:lpstr>
      <vt:lpstr>3_Office 主题​​</vt:lpstr>
      <vt:lpstr>4_Office 主题​​</vt:lpstr>
      <vt:lpstr>5_Office 主题​​</vt:lpstr>
      <vt:lpstr>6_Office 主题​​</vt:lpstr>
      <vt:lpstr>7_Office 主题​​</vt:lpstr>
      <vt:lpstr>Microsoft 公式 3.0</vt:lpstr>
      <vt:lpstr>幻灯片 1</vt:lpstr>
      <vt:lpstr>幻灯片 2</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幻灯片 18</vt:lpstr>
      <vt:lpstr>幻灯片 19</vt:lpstr>
      <vt:lpstr>幻灯片 20</vt:lpstr>
      <vt:lpstr>幻灯片 21</vt:lpstr>
      <vt:lpstr>幻灯片 22</vt:lpstr>
      <vt:lpstr>幻灯片 23</vt:lpstr>
      <vt:lpstr>幻灯片 24</vt:lpstr>
      <vt:lpstr>幻灯片 25</vt:lpstr>
      <vt:lpstr>幻灯片 26</vt:lpstr>
      <vt:lpstr>幻灯片 27</vt:lpstr>
      <vt:lpstr>幻灯片 28</vt:lpstr>
      <vt:lpstr>幻灯片 29</vt:lpstr>
      <vt:lpstr>幻灯片 30</vt:lpstr>
      <vt:lpstr>幻灯片 31</vt:lpstr>
      <vt:lpstr>幻灯片 32</vt:lpstr>
      <vt:lpstr>一、近红外光谱的定量分析</vt:lpstr>
      <vt:lpstr>幻灯片 34</vt:lpstr>
      <vt:lpstr>幻灯片 35</vt:lpstr>
      <vt:lpstr>幻灯片 36</vt:lpstr>
      <vt:lpstr>幻灯片 37</vt:lpstr>
      <vt:lpstr>幻灯片 38</vt:lpstr>
      <vt:lpstr>幻灯片 39</vt:lpstr>
      <vt:lpstr>二、近红外光谱的定性分析 </vt:lpstr>
      <vt:lpstr>幻灯片 41</vt:lpstr>
      <vt:lpstr>幻灯片 42</vt:lpstr>
      <vt:lpstr>幻灯片 43</vt:lpstr>
      <vt:lpstr>幻灯片 44</vt:lpstr>
      <vt:lpstr>幻灯片 45</vt:lpstr>
      <vt:lpstr>幻灯片 46</vt:lpstr>
      <vt:lpstr>幻灯片 47</vt:lpstr>
      <vt:lpstr>幻灯片 48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dc:creator>
  <cp:lastModifiedBy>微软用户</cp:lastModifiedBy>
  <cp:revision>35</cp:revision>
  <dcterms:created xsi:type="dcterms:W3CDTF">2016-06-16T09:10:00Z</dcterms:created>
  <dcterms:modified xsi:type="dcterms:W3CDTF">2018-05-08T07:22:23Z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2052-10.1.0.6929</vt:lpwstr>
  </property>
</Properties>
</file>